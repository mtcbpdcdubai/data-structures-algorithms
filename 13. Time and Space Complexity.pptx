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96" r:id="rId28"/>
    <p:sldId id="297" r:id="rId29"/>
    <p:sldId id="284" r:id="rId30"/>
    <p:sldId id="285" r:id="rId31"/>
    <p:sldId id="286" r:id="rId32"/>
    <p:sldId id="287" r:id="rId33"/>
    <p:sldId id="288" r:id="rId34"/>
    <p:sldId id="293" r:id="rId35"/>
    <p:sldId id="289" r:id="rId36"/>
    <p:sldId id="292" r:id="rId37"/>
    <p:sldId id="291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143000"/>
            <a:ext cx="7696200" cy="44958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4400" b="1" dirty="0" smtClean="0">
                <a:solidFill>
                  <a:schemeClr val="tx1"/>
                </a:solidFill>
              </a:rPr>
              <a:t>Time and Space Requirements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38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 smtClean="0"/>
              <a:t>Basics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Algorithm:</a:t>
            </a:r>
          </a:p>
          <a:p>
            <a:pPr lvl="1"/>
            <a:r>
              <a:rPr lang="en-US" dirty="0" smtClean="0"/>
              <a:t>For any particular application</a:t>
            </a:r>
          </a:p>
          <a:p>
            <a:pPr lvl="2"/>
            <a:r>
              <a:rPr lang="en-US" dirty="0" smtClean="0"/>
              <a:t>Choose the data structure</a:t>
            </a:r>
          </a:p>
          <a:p>
            <a:pPr lvl="2"/>
            <a:r>
              <a:rPr lang="en-US" dirty="0" smtClean="0"/>
              <a:t>Develop an </a:t>
            </a:r>
            <a:r>
              <a:rPr lang="en-US" dirty="0" err="1" smtClean="0"/>
              <a:t>algo</a:t>
            </a:r>
            <a:r>
              <a:rPr lang="en-US" dirty="0" smtClean="0"/>
              <a:t> to manipulate the data items</a:t>
            </a:r>
          </a:p>
          <a:p>
            <a:pPr lvl="2"/>
            <a:r>
              <a:rPr lang="en-US" dirty="0" smtClean="0"/>
              <a:t>It is a step-by-step finite sequence of instructions, to solve a well-defined computational problem.</a:t>
            </a:r>
          </a:p>
          <a:p>
            <a:r>
              <a:rPr lang="en-US" b="1" dirty="0" smtClean="0"/>
              <a:t>Features of an Algorithm</a:t>
            </a:r>
          </a:p>
          <a:p>
            <a:pPr lvl="1"/>
            <a:r>
              <a:rPr lang="en-US" dirty="0" smtClean="0"/>
              <a:t>Should be free of ambiguity</a:t>
            </a:r>
          </a:p>
          <a:p>
            <a:pPr lvl="1"/>
            <a:r>
              <a:rPr lang="en-US" dirty="0" smtClean="0"/>
              <a:t>Should be concise</a:t>
            </a:r>
          </a:p>
          <a:p>
            <a:pPr lvl="1"/>
            <a:r>
              <a:rPr lang="en-US" dirty="0" smtClean="0"/>
              <a:t>Should be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5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 smtClean="0"/>
              <a:t>Basics…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Every </a:t>
            </a:r>
            <a:r>
              <a:rPr lang="en-US" dirty="0" err="1" smtClean="0"/>
              <a:t>algo</a:t>
            </a:r>
            <a:r>
              <a:rPr lang="en-US" dirty="0" smtClean="0"/>
              <a:t> should satisfy the following criteria:</a:t>
            </a:r>
          </a:p>
          <a:p>
            <a:r>
              <a:rPr lang="en-US" b="1" dirty="0" smtClean="0"/>
              <a:t>Input</a:t>
            </a:r>
            <a:r>
              <a:rPr lang="en-US" dirty="0" smtClean="0"/>
              <a:t>: zero/more</a:t>
            </a:r>
          </a:p>
          <a:p>
            <a:r>
              <a:rPr lang="en-US" b="1" dirty="0" smtClean="0"/>
              <a:t>Output</a:t>
            </a:r>
            <a:r>
              <a:rPr lang="en-US" dirty="0" smtClean="0"/>
              <a:t> : </a:t>
            </a:r>
            <a:r>
              <a:rPr lang="en-US" dirty="0" err="1" smtClean="0"/>
              <a:t>atleast</a:t>
            </a:r>
            <a:r>
              <a:rPr lang="en-US" dirty="0" smtClean="0"/>
              <a:t> one</a:t>
            </a:r>
          </a:p>
          <a:p>
            <a:r>
              <a:rPr lang="en-US" b="1" dirty="0" smtClean="0"/>
              <a:t>Definiteness</a:t>
            </a:r>
            <a:r>
              <a:rPr lang="en-US" dirty="0" smtClean="0"/>
              <a:t>: each instruction – clear and unambiguous.</a:t>
            </a:r>
          </a:p>
          <a:p>
            <a:r>
              <a:rPr lang="en-US" b="1" dirty="0" smtClean="0"/>
              <a:t>Finiteness</a:t>
            </a:r>
            <a:r>
              <a:rPr lang="en-US" dirty="0" smtClean="0"/>
              <a:t> : for all cases, it has to terminate after a finite no. of steps.</a:t>
            </a:r>
          </a:p>
          <a:p>
            <a:r>
              <a:rPr lang="en-US" b="1" dirty="0" smtClean="0"/>
              <a:t>Effectiveness</a:t>
            </a:r>
            <a:r>
              <a:rPr lang="en-US" dirty="0" smtClean="0"/>
              <a:t>: every instruction must also be feasible.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 err="1" smtClean="0"/>
              <a:t>Algo</a:t>
            </a:r>
            <a:r>
              <a:rPr lang="en-US" b="1" dirty="0" smtClean="0"/>
              <a:t> Design Techniques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906963"/>
          </a:xfrm>
        </p:spPr>
        <p:txBody>
          <a:bodyPr/>
          <a:lstStyle/>
          <a:p>
            <a:r>
              <a:rPr lang="en-US" b="1" u="sng" dirty="0" smtClean="0"/>
              <a:t>Top-down design:</a:t>
            </a:r>
          </a:p>
          <a:p>
            <a:r>
              <a:rPr lang="en-US" dirty="0" smtClean="0"/>
              <a:t>Divide a program into a main module and its related modules.</a:t>
            </a:r>
          </a:p>
          <a:p>
            <a:r>
              <a:rPr lang="en-US" dirty="0" smtClean="0"/>
              <a:t>Subdivide each module further into smaller and smaller modules – each module has elementary processes – understood easily and cannot be further subdivided.</a:t>
            </a:r>
          </a:p>
          <a:p>
            <a:r>
              <a:rPr lang="en-US" dirty="0" smtClean="0"/>
              <a:t>Ex: Problem solving using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8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err="1"/>
              <a:t>Algo</a:t>
            </a:r>
            <a:r>
              <a:rPr lang="en-US" dirty="0"/>
              <a:t> Design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 smtClean="0"/>
              <a:t>Bottom-up design :</a:t>
            </a:r>
          </a:p>
          <a:p>
            <a:r>
              <a:rPr lang="en-US" dirty="0" smtClean="0"/>
              <a:t>An application is constructed from the existing primitives of the language.</a:t>
            </a:r>
          </a:p>
          <a:p>
            <a:r>
              <a:rPr lang="en-US" dirty="0" smtClean="0"/>
              <a:t>Gradually construct more and more complex features</a:t>
            </a:r>
          </a:p>
          <a:p>
            <a:r>
              <a:rPr lang="en-US" dirty="0" smtClean="0"/>
              <a:t>Use : for testing – lowest level functions are written and tested first.</a:t>
            </a:r>
          </a:p>
          <a:p>
            <a:r>
              <a:rPr lang="en-US" dirty="0" smtClean="0"/>
              <a:t>Then the next level functions are tested.</a:t>
            </a:r>
          </a:p>
          <a:p>
            <a:r>
              <a:rPr lang="en-US" dirty="0" smtClean="0"/>
              <a:t>Process continues until the main function is tested.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0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err="1" smtClean="0"/>
              <a:t>Algo</a:t>
            </a:r>
            <a:r>
              <a:rPr lang="en-US" dirty="0" smtClean="0"/>
              <a:t> design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85000" lnSpcReduction="10000"/>
          </a:bodyPr>
          <a:lstStyle/>
          <a:p>
            <a:r>
              <a:rPr lang="en-US" b="1" u="sng" dirty="0" smtClean="0"/>
              <a:t>Incremental :</a:t>
            </a:r>
          </a:p>
          <a:p>
            <a:r>
              <a:rPr lang="en-US" dirty="0" smtClean="0"/>
              <a:t>Ex: insertion sort </a:t>
            </a:r>
          </a:p>
          <a:p>
            <a:r>
              <a:rPr lang="en-US" dirty="0" smtClean="0"/>
              <a:t>Having sorted </a:t>
            </a:r>
            <a:r>
              <a:rPr lang="en-US" dirty="0" err="1" smtClean="0"/>
              <a:t>subarray</a:t>
            </a:r>
            <a:r>
              <a:rPr lang="en-US" dirty="0" smtClean="0"/>
              <a:t>[1…j-1], the </a:t>
            </a:r>
            <a:r>
              <a:rPr lang="en-US" dirty="0" err="1" smtClean="0"/>
              <a:t>algo</a:t>
            </a:r>
            <a:r>
              <a:rPr lang="en-US" dirty="0" smtClean="0"/>
              <a:t> inserts a[j] appropriately giving the sorted </a:t>
            </a:r>
            <a:r>
              <a:rPr lang="en-US" dirty="0" err="1" smtClean="0"/>
              <a:t>subarray</a:t>
            </a:r>
            <a:r>
              <a:rPr lang="en-US" dirty="0" smtClean="0"/>
              <a:t>[1…j]</a:t>
            </a:r>
          </a:p>
          <a:p>
            <a:r>
              <a:rPr lang="en-US" b="1" dirty="0" smtClean="0"/>
              <a:t>Divide and Conquer Approach:</a:t>
            </a:r>
          </a:p>
          <a:p>
            <a:r>
              <a:rPr lang="en-US" dirty="0" smtClean="0"/>
              <a:t>Divide the original problem into a set of sub-problems</a:t>
            </a:r>
          </a:p>
          <a:p>
            <a:r>
              <a:rPr lang="en-US" dirty="0" smtClean="0"/>
              <a:t>Solve every sub problem separately, recursively</a:t>
            </a:r>
          </a:p>
          <a:p>
            <a:r>
              <a:rPr lang="en-US" dirty="0" smtClean="0"/>
              <a:t>Combine their solutions into  a solution of the whole original problem</a:t>
            </a:r>
          </a:p>
          <a:p>
            <a:r>
              <a:rPr lang="en-US" dirty="0" smtClean="0"/>
              <a:t>Ex : quick-sort, merge-sort, multiplying large numbers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2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err="1" smtClean="0"/>
              <a:t>Algo</a:t>
            </a:r>
            <a:r>
              <a:rPr lang="en-US" dirty="0" smtClean="0"/>
              <a:t> </a:t>
            </a:r>
            <a:r>
              <a:rPr lang="en-US" dirty="0"/>
              <a:t>design </a:t>
            </a:r>
            <a:r>
              <a:rPr lang="en-US" dirty="0" smtClean="0"/>
              <a:t>approaches…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85000" lnSpcReduction="10000"/>
          </a:bodyPr>
          <a:lstStyle/>
          <a:p>
            <a:r>
              <a:rPr lang="en-US" b="1" u="sng" dirty="0" smtClean="0"/>
              <a:t>Greedy: </a:t>
            </a:r>
          </a:p>
          <a:p>
            <a:r>
              <a:rPr lang="en-US" dirty="0" smtClean="0"/>
              <a:t>Try to </a:t>
            </a:r>
            <a:r>
              <a:rPr lang="en-US" dirty="0" err="1" smtClean="0"/>
              <a:t>optimise</a:t>
            </a:r>
            <a:r>
              <a:rPr lang="en-US" dirty="0" smtClean="0"/>
              <a:t> a function based on a local criteria.</a:t>
            </a:r>
          </a:p>
          <a:p>
            <a:r>
              <a:rPr lang="en-US" dirty="0" smtClean="0"/>
              <a:t>Give a good solution, not necessarily the best one.</a:t>
            </a:r>
          </a:p>
          <a:p>
            <a:r>
              <a:rPr lang="en-US" dirty="0" smtClean="0"/>
              <a:t>At each phase: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algo</a:t>
            </a:r>
            <a:r>
              <a:rPr lang="en-US" dirty="0" smtClean="0"/>
              <a:t> takes the best it can at that moment, without regard for future consequences.</a:t>
            </a:r>
          </a:p>
          <a:p>
            <a:r>
              <a:rPr lang="en-US" dirty="0" smtClean="0"/>
              <a:t>Never reconsiders its earlier decisions.</a:t>
            </a:r>
          </a:p>
          <a:p>
            <a:r>
              <a:rPr lang="en-US" dirty="0" smtClean="0"/>
              <a:t>Hope that by choosing a local optimum at each step, will end up at a global optimum.</a:t>
            </a:r>
          </a:p>
          <a:p>
            <a:r>
              <a:rPr lang="en-US" dirty="0" smtClean="0"/>
              <a:t>Ex: determining minimum no. of coins to give while making change.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96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err="1"/>
              <a:t>Algo</a:t>
            </a:r>
            <a:r>
              <a:rPr lang="en-US" dirty="0"/>
              <a:t> design approaches…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r>
              <a:rPr lang="en-US" b="1" u="sng" dirty="0" smtClean="0"/>
              <a:t>Dynamic programming:</a:t>
            </a:r>
          </a:p>
          <a:p>
            <a:r>
              <a:rPr lang="en-US" dirty="0" smtClean="0"/>
              <a:t>Solving complex problems by breaking them into simpler </a:t>
            </a:r>
            <a:r>
              <a:rPr lang="en-US" dirty="0" err="1" smtClean="0"/>
              <a:t>subproblems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Mainly used in problems with the property of overlapping </a:t>
            </a:r>
            <a:r>
              <a:rPr lang="en-US" dirty="0" err="1" smtClean="0"/>
              <a:t>subproblems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Each </a:t>
            </a:r>
            <a:r>
              <a:rPr lang="en-US" dirty="0" err="1" smtClean="0"/>
              <a:t>subproblem</a:t>
            </a:r>
            <a:r>
              <a:rPr lang="en-US" dirty="0" smtClean="0"/>
              <a:t> is solved once and its solution is stored or </a:t>
            </a:r>
            <a:r>
              <a:rPr lang="en-US" b="1" dirty="0" smtClean="0"/>
              <a:t>memo-</a:t>
            </a:r>
            <a:r>
              <a:rPr lang="en-US" b="1" dirty="0" err="1" smtClean="0"/>
              <a:t>ized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Next time when the solution is needed, it is simply looked up.</a:t>
            </a:r>
          </a:p>
          <a:p>
            <a:r>
              <a:rPr lang="en-US" dirty="0" smtClean="0"/>
              <a:t>Ex: computing the nth </a:t>
            </a:r>
            <a:r>
              <a:rPr lang="en-US" dirty="0" err="1" smtClean="0"/>
              <a:t>fibonacci</a:t>
            </a:r>
            <a:r>
              <a:rPr lang="en-US" dirty="0" smtClean="0"/>
              <a:t> number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7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err="1"/>
              <a:t>Algo</a:t>
            </a:r>
            <a:r>
              <a:rPr lang="en-US" dirty="0"/>
              <a:t> design approaches…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Branch and bound  – </a:t>
            </a:r>
          </a:p>
          <a:p>
            <a:pPr lvl="1"/>
            <a:r>
              <a:rPr lang="en-US" dirty="0" smtClean="0"/>
              <a:t>Used to find an optimal solution from a set of solutions. </a:t>
            </a:r>
          </a:p>
          <a:p>
            <a:pPr lvl="1"/>
            <a:r>
              <a:rPr lang="en-US" dirty="0" smtClean="0"/>
              <a:t>uses a systematic enumeration of all candidate solutions</a:t>
            </a:r>
          </a:p>
          <a:p>
            <a:pPr lvl="1"/>
            <a:r>
              <a:rPr lang="en-US" dirty="0" smtClean="0"/>
              <a:t>Discards fruitless candidate solutions using the upper and lower bounds of the quantity being optimized. </a:t>
            </a:r>
          </a:p>
          <a:p>
            <a:pPr lvl="1"/>
            <a:r>
              <a:rPr lang="en-US" dirty="0" smtClean="0"/>
              <a:t>Ex: Travelling salesman problem </a:t>
            </a:r>
          </a:p>
          <a:p>
            <a:r>
              <a:rPr lang="en-US" dirty="0" smtClean="0"/>
              <a:t>Randomized </a:t>
            </a:r>
            <a:r>
              <a:rPr lang="en-US" dirty="0" err="1" smtClean="0"/>
              <a:t>algo</a:t>
            </a:r>
            <a:r>
              <a:rPr lang="en-US" dirty="0" smtClean="0"/>
              <a:t> – use a degree of randomness in their logic</a:t>
            </a:r>
          </a:p>
          <a:p>
            <a:r>
              <a:rPr lang="en-US" dirty="0" smtClean="0"/>
              <a:t>Backtracking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92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 smtClean="0"/>
              <a:t>Analysis of </a:t>
            </a:r>
            <a:r>
              <a:rPr lang="en-US" b="1" dirty="0" err="1" smtClean="0"/>
              <a:t>Algos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To predict its correctness – analysis – measures its efficiency</a:t>
            </a:r>
          </a:p>
          <a:p>
            <a:r>
              <a:rPr lang="en-US" b="1" dirty="0" smtClean="0"/>
              <a:t>Methods for </a:t>
            </a:r>
            <a:r>
              <a:rPr lang="en-US" b="1" dirty="0" err="1" smtClean="0"/>
              <a:t>analysing</a:t>
            </a:r>
            <a:r>
              <a:rPr lang="en-US" b="1" dirty="0" smtClean="0"/>
              <a:t> </a:t>
            </a:r>
            <a:r>
              <a:rPr lang="en-US" b="1" dirty="0" err="1" smtClean="0"/>
              <a:t>algos</a:t>
            </a:r>
            <a:r>
              <a:rPr lang="en-US" b="1" dirty="0" smtClean="0">
                <a:sym typeface="Wingdings" pitchFamily="2" charset="2"/>
              </a:rPr>
              <a:t>: </a:t>
            </a:r>
            <a:r>
              <a:rPr lang="en-US" dirty="0" smtClean="0">
                <a:sym typeface="Wingdings" pitchFamily="2" charset="2"/>
              </a:rPr>
              <a:t>(T1 1.1 – 1.4)</a:t>
            </a:r>
          </a:p>
          <a:p>
            <a:r>
              <a:rPr lang="en-US" b="1" dirty="0" smtClean="0">
                <a:sym typeface="Wingdings" pitchFamily="2" charset="2"/>
              </a:rPr>
              <a:t>Experimental Framework :</a:t>
            </a:r>
            <a:endParaRPr lang="en-US" b="1" dirty="0" smtClean="0"/>
          </a:p>
          <a:p>
            <a:r>
              <a:rPr lang="en-US" dirty="0" smtClean="0"/>
              <a:t>The running time :</a:t>
            </a:r>
          </a:p>
          <a:p>
            <a:pPr lvl="1"/>
            <a:r>
              <a:rPr lang="en-US" dirty="0" smtClean="0"/>
              <a:t>Execute it on various test inputs and record the actual time spent in each execution.</a:t>
            </a:r>
          </a:p>
          <a:p>
            <a:pPr lvl="1"/>
            <a:r>
              <a:rPr lang="en-US" dirty="0" smtClean="0"/>
              <a:t>Use system calls built into the language or the OS for which the </a:t>
            </a:r>
            <a:r>
              <a:rPr lang="en-US" dirty="0" err="1" smtClean="0"/>
              <a:t>algo</a:t>
            </a:r>
            <a:r>
              <a:rPr lang="en-US" dirty="0" smtClean="0"/>
              <a:t> is written</a:t>
            </a:r>
          </a:p>
          <a:p>
            <a:pPr lvl="1"/>
            <a:r>
              <a:rPr lang="en-US" dirty="0" smtClean="0"/>
              <a:t>Visualize the results :</a:t>
            </a:r>
          </a:p>
          <a:p>
            <a:pPr lvl="2"/>
            <a:r>
              <a:rPr lang="en-US" dirty="0" smtClean="0"/>
              <a:t>Plot a graph : </a:t>
            </a:r>
          </a:p>
          <a:p>
            <a:pPr lvl="2"/>
            <a:r>
              <a:rPr lang="en-US" dirty="0" smtClean="0"/>
              <a:t>x axis  - input size, n</a:t>
            </a:r>
          </a:p>
          <a:p>
            <a:pPr lvl="2"/>
            <a:r>
              <a:rPr lang="en-US" dirty="0" smtClean="0"/>
              <a:t>Y axis – running time, t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1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2117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Running time increases  with the input size.</a:t>
            </a:r>
          </a:p>
          <a:p>
            <a:r>
              <a:rPr lang="en-US" dirty="0" smtClean="0"/>
              <a:t>It may vary with distinct inputs of the same size.</a:t>
            </a:r>
          </a:p>
          <a:p>
            <a:r>
              <a:rPr lang="en-US" dirty="0" smtClean="0"/>
              <a:t>It is also affected by the hardware environment (processor, memory, disk,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r>
              <a:rPr lang="en-US" dirty="0"/>
              <a:t>It is also affected by the </a:t>
            </a:r>
            <a:r>
              <a:rPr lang="en-US" dirty="0" smtClean="0"/>
              <a:t>software </a:t>
            </a:r>
            <a:r>
              <a:rPr lang="en-US" dirty="0"/>
              <a:t>environment </a:t>
            </a:r>
            <a:r>
              <a:rPr lang="en-US" dirty="0" smtClean="0"/>
              <a:t>(OS, programming language, compiler,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b="1" dirty="0" smtClean="0"/>
              <a:t>Limitations of running time:</a:t>
            </a:r>
          </a:p>
          <a:p>
            <a:r>
              <a:rPr lang="en-US" dirty="0" smtClean="0"/>
              <a:t>Not possible to experiment on all possible test inputs</a:t>
            </a:r>
          </a:p>
          <a:p>
            <a:r>
              <a:rPr lang="en-US" dirty="0" smtClean="0"/>
              <a:t>Test inputs – best representatives</a:t>
            </a:r>
          </a:p>
          <a:p>
            <a:r>
              <a:rPr lang="en-US" dirty="0" smtClean="0"/>
              <a:t>To compare the efficiency of two </a:t>
            </a:r>
            <a:r>
              <a:rPr lang="en-US" dirty="0" err="1" smtClean="0"/>
              <a:t>algos</a:t>
            </a:r>
            <a:r>
              <a:rPr lang="en-US" dirty="0" smtClean="0"/>
              <a:t> using their running time, use same hardware and software environments.</a:t>
            </a:r>
          </a:p>
          <a:p>
            <a:r>
              <a:rPr lang="en-US" dirty="0" smtClean="0"/>
              <a:t>Necessary to implement and execute an </a:t>
            </a:r>
            <a:r>
              <a:rPr lang="en-US" dirty="0" err="1" smtClean="0"/>
              <a:t>algo</a:t>
            </a:r>
            <a:r>
              <a:rPr lang="en-US" dirty="0"/>
              <a:t> </a:t>
            </a:r>
            <a:r>
              <a:rPr lang="en-US" dirty="0" smtClean="0"/>
              <a:t>to study its running time.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5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Analytic Framework:</a:t>
            </a:r>
          </a:p>
          <a:p>
            <a:r>
              <a:rPr lang="en-US" dirty="0" smtClean="0"/>
              <a:t>Takes into account all possible inputs</a:t>
            </a:r>
          </a:p>
          <a:p>
            <a:r>
              <a:rPr lang="en-US" dirty="0" smtClean="0"/>
              <a:t>Allows us to evaluate the relative efficiency of two </a:t>
            </a:r>
            <a:r>
              <a:rPr lang="en-US" dirty="0" err="1" smtClean="0"/>
              <a:t>algos</a:t>
            </a:r>
            <a:r>
              <a:rPr lang="en-US" dirty="0" smtClean="0"/>
              <a:t>, independent of the h/w and s/w environments</a:t>
            </a:r>
          </a:p>
          <a:p>
            <a:r>
              <a:rPr lang="en-US" dirty="0" smtClean="0"/>
              <a:t>Can be done without implementing the </a:t>
            </a:r>
            <a:r>
              <a:rPr lang="en-US" dirty="0" err="1" smtClean="0"/>
              <a:t>algo</a:t>
            </a:r>
            <a:r>
              <a:rPr lang="en-US" dirty="0"/>
              <a:t> </a:t>
            </a:r>
            <a:r>
              <a:rPr lang="en-US" dirty="0" smtClean="0"/>
              <a:t>– using its high-level description.</a:t>
            </a:r>
          </a:p>
          <a:p>
            <a:r>
              <a:rPr lang="en-US" dirty="0" smtClean="0"/>
              <a:t>It associates a function f(n) with each </a:t>
            </a:r>
            <a:r>
              <a:rPr lang="en-US" dirty="0" err="1" smtClean="0"/>
              <a:t>algo</a:t>
            </a:r>
            <a:r>
              <a:rPr lang="en-US" dirty="0" smtClean="0"/>
              <a:t> – defines its running time in terms of the input 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21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“</a:t>
                </a:r>
                <a:r>
                  <a:rPr lang="en-US" dirty="0" err="1" smtClean="0"/>
                  <a:t>Algo</a:t>
                </a:r>
                <a:r>
                  <a:rPr lang="en-US" dirty="0" smtClean="0"/>
                  <a:t> A runs in time proportional to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” – running time of A on any input size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, never exceeds </a:t>
                </a:r>
                <a:r>
                  <a:rPr lang="en-US" i="1" dirty="0" err="1" smtClean="0"/>
                  <a:t>cn</a:t>
                </a:r>
                <a:r>
                  <a:rPr lang="en-US" dirty="0" smtClean="0"/>
                  <a:t>, where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 is a constant that depends on h/w and s/w used.</a:t>
                </a:r>
              </a:p>
              <a:p>
                <a:r>
                  <a:rPr lang="en-US" dirty="0" smtClean="0"/>
                  <a:t>Two </a:t>
                </a:r>
                <a:r>
                  <a:rPr lang="en-US" dirty="0" err="1" smtClean="0"/>
                  <a:t>algos</a:t>
                </a:r>
                <a:r>
                  <a:rPr lang="en-US" dirty="0" smtClean="0"/>
                  <a:t> A and B</a:t>
                </a:r>
              </a:p>
              <a:p>
                <a:pPr lvl="1"/>
                <a:r>
                  <a:rPr lang="en-US" dirty="0" smtClean="0"/>
                  <a:t>A runs in time proportional to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.</a:t>
                </a:r>
              </a:p>
              <a:p>
                <a:pPr lvl="1"/>
                <a:r>
                  <a:rPr lang="en-US" dirty="0" smtClean="0"/>
                  <a:t>B runs in time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i="1" dirty="0" smtClean="0"/>
                  <a:t>.</a:t>
                </a:r>
              </a:p>
              <a:p>
                <a:pPr lvl="1"/>
                <a:r>
                  <a:rPr lang="en-US" dirty="0" smtClean="0"/>
                  <a:t>Which one to prefer?</a:t>
                </a:r>
              </a:p>
              <a:p>
                <a:pPr lvl="2"/>
                <a:r>
                  <a:rPr lang="en-US" dirty="0" err="1" smtClean="0"/>
                  <a:t>Ans</a:t>
                </a:r>
                <a:r>
                  <a:rPr lang="en-US" dirty="0" smtClean="0"/>
                  <a:t>: A , since function n grows at a smaller rate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 rotWithShape="1">
                <a:blip r:embed="rId2"/>
                <a:stretch>
                  <a:fillRect l="-1630" t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79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Methodology for </a:t>
            </a:r>
            <a:r>
              <a:rPr lang="en-US" dirty="0" err="1" smtClean="0"/>
              <a:t>algo</a:t>
            </a:r>
            <a:r>
              <a:rPr lang="en-US" dirty="0" smtClean="0"/>
              <a:t>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 smtClean="0"/>
              <a:t>Requires</a:t>
            </a:r>
          </a:p>
          <a:p>
            <a:pPr lvl="1"/>
            <a:r>
              <a:rPr lang="en-US" dirty="0" smtClean="0"/>
              <a:t>A language for describing the </a:t>
            </a:r>
            <a:r>
              <a:rPr lang="en-US" dirty="0" err="1" smtClean="0"/>
              <a:t>algo</a:t>
            </a:r>
            <a:endParaRPr lang="en-US" dirty="0" smtClean="0"/>
          </a:p>
          <a:p>
            <a:pPr lvl="1"/>
            <a:r>
              <a:rPr lang="en-US" dirty="0" smtClean="0"/>
              <a:t>A computational model that </a:t>
            </a:r>
            <a:r>
              <a:rPr lang="en-US" dirty="0" err="1" smtClean="0"/>
              <a:t>algos</a:t>
            </a:r>
            <a:r>
              <a:rPr lang="en-US" dirty="0" smtClean="0"/>
              <a:t> execute within</a:t>
            </a:r>
          </a:p>
          <a:p>
            <a:pPr lvl="1"/>
            <a:r>
              <a:rPr lang="en-US" dirty="0" smtClean="0"/>
              <a:t>A metric to measure its running time</a:t>
            </a:r>
          </a:p>
          <a:p>
            <a:pPr lvl="1"/>
            <a:r>
              <a:rPr lang="en-US" dirty="0" smtClean="0"/>
              <a:t>An approach for characterizing the running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1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2400" b="1" dirty="0" smtClean="0"/>
              <a:t>Pseudo-code : A language for describing the </a:t>
            </a:r>
            <a:r>
              <a:rPr lang="en-US" sz="2400" b="1" dirty="0" err="1" smtClean="0"/>
              <a:t>algo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dirty="0" smtClean="0"/>
              <a:t>Are descriptions that are :</a:t>
            </a:r>
          </a:p>
          <a:p>
            <a:pPr lvl="1"/>
            <a:r>
              <a:rPr lang="en-US" dirty="0" smtClean="0"/>
              <a:t>Not computer programs</a:t>
            </a:r>
          </a:p>
          <a:p>
            <a:pPr lvl="1"/>
            <a:r>
              <a:rPr lang="en-US" dirty="0" smtClean="0"/>
              <a:t>More structured than usual prose.</a:t>
            </a:r>
          </a:p>
          <a:p>
            <a:pPr lvl="1"/>
            <a:r>
              <a:rPr lang="en-US" dirty="0" smtClean="0"/>
              <a:t>Facilitate the high-level analysis of a data structure/</a:t>
            </a:r>
            <a:r>
              <a:rPr lang="en-US" dirty="0" err="1" smtClean="0"/>
              <a:t>algo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Easier to read and understand</a:t>
            </a:r>
          </a:p>
          <a:p>
            <a:pPr lvl="1"/>
            <a:r>
              <a:rPr lang="en-US" dirty="0" smtClean="0"/>
              <a:t>Is a mixture of natural language and high-level programming constructs </a:t>
            </a:r>
          </a:p>
          <a:p>
            <a:pPr lvl="1"/>
            <a:r>
              <a:rPr lang="en-US" dirty="0" smtClean="0"/>
              <a:t>Are </a:t>
            </a:r>
            <a:r>
              <a:rPr lang="en-US" dirty="0"/>
              <a:t>used to </a:t>
            </a:r>
            <a:r>
              <a:rPr lang="en-US" dirty="0" err="1"/>
              <a:t>analyse</a:t>
            </a:r>
            <a:r>
              <a:rPr lang="en-US" dirty="0"/>
              <a:t> the correctness of an </a:t>
            </a:r>
            <a:r>
              <a:rPr lang="en-US" dirty="0" err="1"/>
              <a:t>algo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77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Pseudo-code…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High-level constructs used in a Pseudo-code:</a:t>
            </a:r>
          </a:p>
          <a:p>
            <a:r>
              <a:rPr lang="en-US" b="1" dirty="0" smtClean="0"/>
              <a:t>Expressions: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 smtClean="0"/>
              <a:t>std</a:t>
            </a:r>
            <a:r>
              <a:rPr lang="en-US" dirty="0" smtClean="0"/>
              <a:t> mathematical symbols – </a:t>
            </a:r>
            <a:r>
              <a:rPr lang="en-US" dirty="0" err="1" smtClean="0"/>
              <a:t>boolean</a:t>
            </a:r>
            <a:r>
              <a:rPr lang="en-US" dirty="0" smtClean="0"/>
              <a:t> and numeric expressions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>
                <a:latin typeface="Cambria Math"/>
                <a:ea typeface="Cambria Math"/>
              </a:rPr>
              <a:t>⟵ for assignment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>
                <a:latin typeface="Cambria Math"/>
                <a:ea typeface="Cambria Math"/>
              </a:rPr>
              <a:t>= for equality relation</a:t>
            </a:r>
          </a:p>
          <a:p>
            <a:r>
              <a:rPr lang="en-US" b="1" dirty="0" smtClean="0">
                <a:latin typeface="Cambria Math"/>
                <a:ea typeface="Cambria Math"/>
              </a:rPr>
              <a:t>Method Declarations</a:t>
            </a:r>
            <a:r>
              <a:rPr lang="en-US" dirty="0" smtClean="0">
                <a:latin typeface="Cambria Math"/>
                <a:ea typeface="Cambria Math"/>
              </a:rPr>
              <a:t>: </a:t>
            </a:r>
          </a:p>
          <a:p>
            <a:pPr marL="400050" lvl="1" indent="0">
              <a:buNone/>
            </a:pPr>
            <a:r>
              <a:rPr lang="en-US" b="1" dirty="0" smtClean="0">
                <a:latin typeface="Cambria Math"/>
                <a:ea typeface="Cambria Math"/>
              </a:rPr>
              <a:t>Algorithm</a:t>
            </a:r>
            <a:r>
              <a:rPr lang="en-US" dirty="0" smtClean="0">
                <a:latin typeface="Cambria Math"/>
                <a:ea typeface="Cambria Math"/>
              </a:rPr>
              <a:t> name(param1, param2,….)</a:t>
            </a:r>
          </a:p>
          <a:p>
            <a:r>
              <a:rPr lang="en-US" b="1" dirty="0" smtClean="0">
                <a:latin typeface="Cambria Math"/>
                <a:ea typeface="Cambria Math"/>
              </a:rPr>
              <a:t>Decision Structures: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  </a:t>
            </a:r>
            <a:r>
              <a:rPr lang="en-US" b="1" dirty="0" smtClean="0">
                <a:latin typeface="Cambria Math"/>
                <a:ea typeface="Cambria Math"/>
              </a:rPr>
              <a:t> if </a:t>
            </a:r>
            <a:r>
              <a:rPr lang="en-US" dirty="0" smtClean="0">
                <a:latin typeface="Cambria Math"/>
                <a:ea typeface="Cambria Math"/>
              </a:rPr>
              <a:t>condition </a:t>
            </a:r>
            <a:r>
              <a:rPr lang="en-US" b="1" dirty="0" smtClean="0">
                <a:latin typeface="Cambria Math"/>
                <a:ea typeface="Cambria Math"/>
              </a:rPr>
              <a:t>then</a:t>
            </a:r>
            <a:r>
              <a:rPr lang="en-US" dirty="0" smtClean="0">
                <a:latin typeface="Cambria Math"/>
                <a:ea typeface="Cambria Math"/>
              </a:rPr>
              <a:t> true-actions </a:t>
            </a:r>
            <a:r>
              <a:rPr lang="en-US" b="1" dirty="0" smtClean="0">
                <a:latin typeface="Cambria Math"/>
                <a:ea typeface="Cambria Math"/>
              </a:rPr>
              <a:t>else</a:t>
            </a:r>
            <a:r>
              <a:rPr lang="en-US" dirty="0" smtClean="0">
                <a:latin typeface="Cambria Math"/>
                <a:ea typeface="Cambria Math"/>
              </a:rPr>
              <a:t> false actions.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8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Pseudo-code…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While-loops:</a:t>
            </a:r>
          </a:p>
          <a:p>
            <a:pPr marL="800100" lvl="2" indent="0">
              <a:buNone/>
            </a:pPr>
            <a:r>
              <a:rPr lang="en-US" b="1" dirty="0" smtClean="0"/>
              <a:t>While</a:t>
            </a:r>
            <a:r>
              <a:rPr lang="en-US" dirty="0" smtClean="0"/>
              <a:t> condition </a:t>
            </a:r>
            <a:r>
              <a:rPr lang="en-US" b="1" dirty="0" smtClean="0"/>
              <a:t>do</a:t>
            </a:r>
            <a:r>
              <a:rPr lang="en-US" dirty="0" smtClean="0"/>
              <a:t> actions</a:t>
            </a:r>
          </a:p>
          <a:p>
            <a:r>
              <a:rPr lang="en-US" b="1" dirty="0" smtClean="0"/>
              <a:t>Repeat-loops</a:t>
            </a:r>
          </a:p>
          <a:p>
            <a:pPr lvl="1"/>
            <a:r>
              <a:rPr lang="en-US" b="1" dirty="0"/>
              <a:t>r</a:t>
            </a:r>
            <a:r>
              <a:rPr lang="en-US" b="1" dirty="0" smtClean="0"/>
              <a:t>epeat</a:t>
            </a:r>
            <a:r>
              <a:rPr lang="en-US" dirty="0" smtClean="0"/>
              <a:t> actions </a:t>
            </a:r>
            <a:r>
              <a:rPr lang="en-US" b="1" dirty="0" smtClean="0"/>
              <a:t>until</a:t>
            </a:r>
            <a:r>
              <a:rPr lang="en-US" dirty="0" smtClean="0"/>
              <a:t> condition</a:t>
            </a:r>
          </a:p>
          <a:p>
            <a:r>
              <a:rPr lang="en-US" b="1" dirty="0" smtClean="0"/>
              <a:t>For loops:</a:t>
            </a:r>
          </a:p>
          <a:p>
            <a:pPr lvl="1"/>
            <a:r>
              <a:rPr lang="en-US" b="1" dirty="0"/>
              <a:t>f</a:t>
            </a:r>
            <a:r>
              <a:rPr lang="en-US" b="1" dirty="0" smtClean="0"/>
              <a:t>or</a:t>
            </a:r>
            <a:r>
              <a:rPr lang="en-US" dirty="0" smtClean="0"/>
              <a:t> variable-increment-definition </a:t>
            </a:r>
            <a:r>
              <a:rPr lang="en-US" b="1" dirty="0" smtClean="0"/>
              <a:t>do</a:t>
            </a:r>
            <a:r>
              <a:rPr lang="en-US" dirty="0" smtClean="0"/>
              <a:t> actions</a:t>
            </a:r>
          </a:p>
          <a:p>
            <a:r>
              <a:rPr lang="en-US" b="1" dirty="0" smtClean="0"/>
              <a:t>Array indexing </a:t>
            </a:r>
            <a:r>
              <a:rPr lang="en-US" dirty="0" smtClean="0"/>
              <a:t>: A[i] represents the </a:t>
            </a:r>
            <a:r>
              <a:rPr lang="en-US" dirty="0" err="1" smtClean="0"/>
              <a:t>ith</a:t>
            </a:r>
            <a:r>
              <a:rPr lang="en-US" dirty="0" smtClean="0"/>
              <a:t> cell in array A. Indexed from A[0] to A[n-1]</a:t>
            </a:r>
          </a:p>
          <a:p>
            <a:r>
              <a:rPr lang="en-US" b="1" dirty="0" smtClean="0"/>
              <a:t>Method calls</a:t>
            </a:r>
            <a:r>
              <a:rPr lang="en-US" dirty="0" smtClean="0"/>
              <a:t>: </a:t>
            </a:r>
            <a:r>
              <a:rPr lang="en-US" dirty="0" err="1" smtClean="0"/>
              <a:t>object.method</a:t>
            </a:r>
            <a:r>
              <a:rPr lang="en-US" dirty="0" smtClean="0"/>
              <a:t>(</a:t>
            </a:r>
            <a:r>
              <a:rPr lang="en-US" dirty="0" err="1" smtClean="0"/>
              <a:t>args</a:t>
            </a:r>
            <a:r>
              <a:rPr lang="en-US" dirty="0" smtClean="0"/>
              <a:t>). Object is optional if understood.</a:t>
            </a:r>
          </a:p>
          <a:p>
            <a:r>
              <a:rPr lang="en-US" b="1" dirty="0" smtClean="0"/>
              <a:t>Method returns </a:t>
            </a:r>
            <a:r>
              <a:rPr lang="en-US" dirty="0" smtClean="0"/>
              <a:t>: </a:t>
            </a:r>
            <a:r>
              <a:rPr lang="en-US" b="1" dirty="0" smtClean="0"/>
              <a:t>return</a:t>
            </a:r>
            <a:r>
              <a:rPr lang="en-US" dirty="0" smtClean="0"/>
              <a:t>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1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Pseudo-code….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Ex : finding the maximum element in an array A having n integers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Algorithm</a:t>
            </a:r>
            <a:r>
              <a:rPr lang="en-US" dirty="0" smtClean="0"/>
              <a:t> </a:t>
            </a:r>
            <a:r>
              <a:rPr lang="en-US" dirty="0" err="1" smtClean="0"/>
              <a:t>arrayMAx</a:t>
            </a:r>
            <a:r>
              <a:rPr lang="en-US" dirty="0" smtClean="0"/>
              <a:t>(</a:t>
            </a:r>
            <a:r>
              <a:rPr lang="en-US" dirty="0" err="1" smtClean="0"/>
              <a:t>A,n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smtClean="0"/>
              <a:t>Input</a:t>
            </a:r>
            <a:r>
              <a:rPr lang="en-US" dirty="0" smtClean="0"/>
              <a:t>: An array A storing n</a:t>
            </a:r>
            <a:r>
              <a:rPr lang="en-US" dirty="0" smtClean="0">
                <a:latin typeface="Cambria Math"/>
                <a:ea typeface="Cambria Math"/>
              </a:rPr>
              <a:t>⩾1 integers.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	</a:t>
            </a:r>
            <a:r>
              <a:rPr lang="en-US" b="1" dirty="0" smtClean="0">
                <a:latin typeface="Cambria Math"/>
                <a:ea typeface="Cambria Math"/>
              </a:rPr>
              <a:t>Output</a:t>
            </a:r>
            <a:r>
              <a:rPr lang="en-US" dirty="0" smtClean="0">
                <a:latin typeface="Cambria Math"/>
                <a:ea typeface="Cambria Math"/>
              </a:rPr>
              <a:t> : the maximum element in A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  </a:t>
            </a:r>
            <a:r>
              <a:rPr lang="en-US" dirty="0" err="1" smtClean="0">
                <a:latin typeface="Cambria Math"/>
                <a:ea typeface="Cambria Math"/>
              </a:rPr>
              <a:t>currentMax</a:t>
            </a:r>
            <a:r>
              <a:rPr lang="en-US" dirty="0" smtClean="0">
                <a:latin typeface="Cambria Math"/>
                <a:ea typeface="Cambria Math"/>
              </a:rPr>
              <a:t> ⟵ A[0]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  </a:t>
            </a:r>
            <a:r>
              <a:rPr lang="en-US" b="1" dirty="0" smtClean="0">
                <a:latin typeface="Cambria Math"/>
                <a:ea typeface="Cambria Math"/>
              </a:rPr>
              <a:t>for</a:t>
            </a:r>
            <a:r>
              <a:rPr lang="en-US" dirty="0" smtClean="0">
                <a:latin typeface="Cambria Math"/>
                <a:ea typeface="Cambria Math"/>
              </a:rPr>
              <a:t> i = 1 to n-1 </a:t>
            </a:r>
            <a:r>
              <a:rPr lang="en-US" b="1" dirty="0" smtClean="0">
                <a:latin typeface="Cambria Math"/>
                <a:ea typeface="Cambria Math"/>
              </a:rPr>
              <a:t>do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    </a:t>
            </a:r>
            <a:r>
              <a:rPr lang="en-US" b="1" dirty="0" smtClean="0">
                <a:latin typeface="Cambria Math"/>
                <a:ea typeface="Cambria Math"/>
              </a:rPr>
              <a:t> if </a:t>
            </a:r>
            <a:r>
              <a:rPr lang="en-US" dirty="0" err="1" smtClean="0">
                <a:latin typeface="Cambria Math"/>
                <a:ea typeface="Cambria Math"/>
              </a:rPr>
              <a:t>currentMax</a:t>
            </a:r>
            <a:r>
              <a:rPr lang="en-US" dirty="0" smtClean="0">
                <a:latin typeface="Cambria Math"/>
                <a:ea typeface="Cambria Math"/>
              </a:rPr>
              <a:t> &lt; A[i] </a:t>
            </a:r>
            <a:r>
              <a:rPr lang="en-US" b="1" dirty="0" smtClean="0">
                <a:latin typeface="Cambria Math"/>
                <a:ea typeface="Cambria Math"/>
              </a:rPr>
              <a:t>then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           </a:t>
            </a:r>
            <a:r>
              <a:rPr lang="en-US" dirty="0" err="1" smtClean="0">
                <a:latin typeface="Cambria Math"/>
                <a:ea typeface="Cambria Math"/>
              </a:rPr>
              <a:t>currentMax</a:t>
            </a:r>
            <a:r>
              <a:rPr lang="en-US" dirty="0" smtClean="0">
                <a:latin typeface="Cambria Math"/>
                <a:ea typeface="Cambria Math"/>
              </a:rPr>
              <a:t> ⟵ A[i]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b="1" dirty="0" smtClean="0">
                <a:latin typeface="Cambria Math"/>
                <a:ea typeface="Cambria Math"/>
              </a:rPr>
              <a:t>return</a:t>
            </a:r>
            <a:r>
              <a:rPr lang="en-US" dirty="0" smtClean="0">
                <a:latin typeface="Cambria Math"/>
                <a:ea typeface="Cambria Math"/>
              </a:rPr>
              <a:t> </a:t>
            </a:r>
            <a:r>
              <a:rPr lang="en-US" dirty="0" err="1" smtClean="0">
                <a:latin typeface="Cambria Math"/>
                <a:ea typeface="Cambria Math"/>
              </a:rPr>
              <a:t>currentMax</a:t>
            </a:r>
            <a:r>
              <a:rPr lang="en-US" dirty="0" smtClean="0">
                <a:latin typeface="Cambria Math"/>
                <a:ea typeface="Cambria Math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12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to analytically characterize </a:t>
            </a:r>
            <a:r>
              <a:rPr lang="en-US" dirty="0" err="1" smtClean="0"/>
              <a:t>algos</a:t>
            </a:r>
            <a:r>
              <a:rPr lang="en-US" dirty="0" smtClean="0"/>
              <a:t> in Pseudo-code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dirty="0" smtClean="0"/>
              <a:t>Determine the running time analytically.</a:t>
            </a:r>
          </a:p>
          <a:p>
            <a:r>
              <a:rPr lang="en-US" dirty="0" smtClean="0"/>
              <a:t>Count the no. of primitive operations.</a:t>
            </a:r>
          </a:p>
          <a:p>
            <a:r>
              <a:rPr lang="en-US" b="1" dirty="0" smtClean="0"/>
              <a:t>Primitive operations: </a:t>
            </a:r>
          </a:p>
          <a:p>
            <a:r>
              <a:rPr lang="en-US" dirty="0" smtClean="0"/>
              <a:t>Operations whose execution time depends on h/w and s/w environment but not constant.</a:t>
            </a:r>
          </a:p>
          <a:p>
            <a:r>
              <a:rPr lang="en-US" dirty="0" smtClean="0"/>
              <a:t>The no. of primitive operations in an </a:t>
            </a:r>
            <a:r>
              <a:rPr lang="en-US" dirty="0" err="1" smtClean="0"/>
              <a:t>algo</a:t>
            </a:r>
            <a:r>
              <a:rPr lang="en-US" dirty="0" smtClean="0"/>
              <a:t> ,  is proportional to its running time.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5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dirty="0" smtClean="0"/>
              <a:t>Primitive operations are:</a:t>
            </a:r>
          </a:p>
          <a:p>
            <a:pPr lvl="1"/>
            <a:r>
              <a:rPr lang="en-US" dirty="0" smtClean="0"/>
              <a:t>Assigning a value to a variable</a:t>
            </a:r>
          </a:p>
          <a:p>
            <a:pPr lvl="1"/>
            <a:r>
              <a:rPr lang="en-US" dirty="0" smtClean="0"/>
              <a:t>Calling a method</a:t>
            </a:r>
          </a:p>
          <a:p>
            <a:pPr lvl="1"/>
            <a:r>
              <a:rPr lang="en-US" dirty="0" smtClean="0"/>
              <a:t>Performing an arithmetic operation</a:t>
            </a:r>
          </a:p>
          <a:p>
            <a:pPr lvl="1"/>
            <a:r>
              <a:rPr lang="en-US" dirty="0" smtClean="0"/>
              <a:t>Comparing two numbers</a:t>
            </a:r>
          </a:p>
          <a:p>
            <a:pPr lvl="1"/>
            <a:r>
              <a:rPr lang="en-US" dirty="0" smtClean="0"/>
              <a:t>Indexing into an array</a:t>
            </a:r>
          </a:p>
          <a:p>
            <a:pPr lvl="1"/>
            <a:r>
              <a:rPr lang="en-US" dirty="0" smtClean="0"/>
              <a:t>Following an object reference</a:t>
            </a:r>
          </a:p>
          <a:p>
            <a:pPr lvl="1"/>
            <a:r>
              <a:rPr lang="en-US" dirty="0" smtClean="0"/>
              <a:t>Returning from a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82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Methodology for </a:t>
            </a:r>
            <a:r>
              <a:rPr lang="en-US" dirty="0" err="1" smtClean="0"/>
              <a:t>algo</a:t>
            </a:r>
            <a:r>
              <a:rPr lang="en-US" dirty="0" smtClean="0"/>
              <a:t>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 smtClean="0"/>
              <a:t>Requires</a:t>
            </a:r>
          </a:p>
          <a:p>
            <a:pPr lvl="1"/>
            <a:r>
              <a:rPr lang="en-US" dirty="0" smtClean="0"/>
              <a:t>A language for describing the </a:t>
            </a:r>
            <a:r>
              <a:rPr lang="en-US" dirty="0" err="1" smtClean="0"/>
              <a:t>algo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 computational model that </a:t>
            </a:r>
            <a:r>
              <a:rPr lang="en-US" b="1" dirty="0" err="1" smtClean="0">
                <a:solidFill>
                  <a:srgbClr val="FF0000"/>
                </a:solidFill>
              </a:rPr>
              <a:t>algos</a:t>
            </a:r>
            <a:r>
              <a:rPr lang="en-US" b="1" dirty="0" smtClean="0">
                <a:solidFill>
                  <a:srgbClr val="FF0000"/>
                </a:solidFill>
              </a:rPr>
              <a:t> execute within</a:t>
            </a:r>
          </a:p>
          <a:p>
            <a:pPr lvl="1"/>
            <a:r>
              <a:rPr lang="en-US" dirty="0" smtClean="0"/>
              <a:t>A metric to measure its running time</a:t>
            </a:r>
          </a:p>
          <a:p>
            <a:pPr lvl="1"/>
            <a:r>
              <a:rPr lang="en-US" dirty="0" smtClean="0"/>
              <a:t>An approach for characterizing the running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9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RAM Machine Model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Computational model within which </a:t>
            </a:r>
            <a:r>
              <a:rPr lang="en-US" dirty="0" err="1" smtClean="0"/>
              <a:t>algos</a:t>
            </a:r>
            <a:r>
              <a:rPr lang="en-US" dirty="0" smtClean="0"/>
              <a:t> execute</a:t>
            </a:r>
          </a:p>
          <a:p>
            <a:r>
              <a:rPr lang="en-US" dirty="0" smtClean="0"/>
              <a:t>Computer is a CPU connected to a set of memory cells.</a:t>
            </a:r>
          </a:p>
          <a:p>
            <a:r>
              <a:rPr lang="en-US" dirty="0" smtClean="0"/>
              <a:t>A number, a character string or an address.</a:t>
            </a:r>
          </a:p>
          <a:p>
            <a:r>
              <a:rPr lang="en-US" dirty="0" smtClean="0"/>
              <a:t>The CPU in the RAM does a primitive operation in constant no. of steps, irrespective of input size.</a:t>
            </a:r>
          </a:p>
          <a:p>
            <a:r>
              <a:rPr lang="en-US" dirty="0" smtClean="0"/>
              <a:t>The no. of primitive operations in an </a:t>
            </a:r>
            <a:r>
              <a:rPr lang="en-US" dirty="0" err="1" smtClean="0"/>
              <a:t>algo</a:t>
            </a:r>
            <a:r>
              <a:rPr lang="en-US" dirty="0" smtClean="0"/>
              <a:t> corresponds directly to its running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94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Counting primitive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 </a:t>
            </a:r>
            <a:r>
              <a:rPr lang="en-US" b="1" dirty="0" err="1" smtClean="0"/>
              <a:t>arrayMax</a:t>
            </a:r>
            <a:r>
              <a:rPr lang="en-US" b="1" dirty="0" smtClean="0"/>
              <a:t>:</a:t>
            </a:r>
          </a:p>
          <a:p>
            <a:r>
              <a:rPr lang="en-US" dirty="0" err="1">
                <a:latin typeface="Cambria Math"/>
                <a:ea typeface="Cambria Math"/>
              </a:rPr>
              <a:t>currentMax</a:t>
            </a:r>
            <a:r>
              <a:rPr lang="en-US" dirty="0">
                <a:latin typeface="Cambria Math"/>
                <a:ea typeface="Cambria Math"/>
              </a:rPr>
              <a:t> ⟵ A[0</a:t>
            </a:r>
            <a:r>
              <a:rPr lang="en-US" dirty="0" smtClean="0">
                <a:latin typeface="Cambria Math"/>
                <a:ea typeface="Cambria Math"/>
              </a:rPr>
              <a:t>] </a:t>
            </a:r>
          </a:p>
          <a:p>
            <a:pPr lvl="1"/>
            <a:r>
              <a:rPr lang="en-US" dirty="0" smtClean="0">
                <a:latin typeface="Cambria Math"/>
                <a:ea typeface="Cambria Math"/>
              </a:rPr>
              <a:t>[ 2 units. Indexing and assigning] </a:t>
            </a:r>
            <a:endParaRPr lang="en-US" dirty="0" smtClean="0"/>
          </a:p>
          <a:p>
            <a:r>
              <a:rPr lang="en-US" dirty="0" smtClean="0"/>
              <a:t>At the beginning of the loop i is </a:t>
            </a:r>
            <a:r>
              <a:rPr lang="en-US" dirty="0" err="1" smtClean="0"/>
              <a:t>initialised</a:t>
            </a:r>
            <a:r>
              <a:rPr lang="en-US" dirty="0" smtClean="0"/>
              <a:t> to 1</a:t>
            </a:r>
          </a:p>
          <a:p>
            <a:pPr lvl="1"/>
            <a:r>
              <a:rPr lang="en-US" dirty="0" smtClean="0"/>
              <a:t>[1 unit. Assignment]</a:t>
            </a:r>
          </a:p>
          <a:p>
            <a:r>
              <a:rPr lang="en-US" dirty="0" smtClean="0"/>
              <a:t>Before entering the loop i &lt; n is verified.</a:t>
            </a:r>
          </a:p>
          <a:p>
            <a:pPr lvl="1"/>
            <a:r>
              <a:rPr lang="en-US" dirty="0" smtClean="0"/>
              <a:t>[1 unit. comparison. This is done n times at the end of each iteration]</a:t>
            </a:r>
          </a:p>
        </p:txBody>
      </p:sp>
    </p:spTree>
    <p:extLst>
      <p:ext uri="{BB962C8B-B14F-4D97-AF65-F5344CB8AC3E}">
        <p14:creationId xmlns:p14="http://schemas.microsoft.com/office/powerpoint/2010/main" val="383674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Body of the loop </a:t>
            </a:r>
            <a:r>
              <a:rPr lang="en-US" dirty="0" smtClean="0"/>
              <a:t>n-1 </a:t>
            </a:r>
            <a:r>
              <a:rPr lang="en-US" dirty="0"/>
              <a:t>times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each iteration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A[i] is compared with </a:t>
            </a:r>
            <a:r>
              <a:rPr lang="en-US" dirty="0" err="1" smtClean="0"/>
              <a:t>currentMax</a:t>
            </a:r>
            <a:r>
              <a:rPr lang="en-US" dirty="0" smtClean="0"/>
              <a:t> – 2 units –indexing and comparison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If A[i] is assigned to </a:t>
            </a:r>
            <a:r>
              <a:rPr lang="en-US" dirty="0" err="1" smtClean="0"/>
              <a:t>currentMax</a:t>
            </a:r>
            <a:r>
              <a:rPr lang="en-US" dirty="0" smtClean="0"/>
              <a:t> – 2 units – indexing and assignment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</a:t>
            </a:r>
            <a:r>
              <a:rPr lang="en-US" dirty="0" smtClean="0"/>
              <a:t> is incremented – 2 units – summing and assigning</a:t>
            </a:r>
          </a:p>
          <a:p>
            <a:r>
              <a:rPr lang="en-US" dirty="0" smtClean="0"/>
              <a:t>So, in each iteration 4 or 6 operations are done.</a:t>
            </a:r>
          </a:p>
          <a:p>
            <a:r>
              <a:rPr lang="en-US" dirty="0" smtClean="0"/>
              <a:t>Body of the loop contributes to 4(n-1) or 6(n-1) units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36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dirty="0" smtClean="0"/>
              <a:t>Returning the value of </a:t>
            </a:r>
            <a:r>
              <a:rPr lang="en-US" dirty="0" err="1" smtClean="0"/>
              <a:t>currentMax</a:t>
            </a:r>
            <a:r>
              <a:rPr lang="en-US" dirty="0" smtClean="0"/>
              <a:t> – 1 unit</a:t>
            </a:r>
          </a:p>
          <a:p>
            <a:pPr marL="0" indent="0">
              <a:buNone/>
            </a:pPr>
            <a:r>
              <a:rPr lang="en-US" dirty="0" smtClean="0"/>
              <a:t>So, the no. of primitive operations t(n) executed by the </a:t>
            </a:r>
            <a:r>
              <a:rPr lang="en-US" dirty="0" err="1" smtClean="0"/>
              <a:t>algo</a:t>
            </a:r>
            <a:r>
              <a:rPr lang="en-US" dirty="0" smtClean="0"/>
              <a:t> is </a:t>
            </a:r>
            <a:r>
              <a:rPr lang="en-US" dirty="0" err="1" smtClean="0"/>
              <a:t>atleast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2 + 1 + n + 4(n-1) + 1 = 5n</a:t>
            </a:r>
          </a:p>
          <a:p>
            <a:pPr marL="0" indent="0">
              <a:buNone/>
            </a:pPr>
            <a:r>
              <a:rPr lang="en-US" dirty="0" err="1" smtClean="0"/>
              <a:t>Atmost</a:t>
            </a:r>
            <a:r>
              <a:rPr lang="en-US" dirty="0" smtClean="0"/>
              <a:t> : </a:t>
            </a:r>
            <a:r>
              <a:rPr lang="en-US" dirty="0"/>
              <a:t>2 + 1 + n + </a:t>
            </a:r>
            <a:r>
              <a:rPr lang="en-US" dirty="0" smtClean="0"/>
              <a:t>6(n-1</a:t>
            </a:r>
            <a:r>
              <a:rPr lang="en-US" dirty="0"/>
              <a:t>) + 1 = </a:t>
            </a:r>
            <a:r>
              <a:rPr lang="en-US" dirty="0" smtClean="0"/>
              <a:t>7n –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Best Case : t(n) = 5n occurs, when A[0] is the max.</a:t>
            </a:r>
          </a:p>
          <a:p>
            <a:pPr marL="0" indent="0">
              <a:buNone/>
            </a:pPr>
            <a:r>
              <a:rPr lang="en-US" dirty="0" smtClean="0"/>
              <a:t>Worst Case : t(n) = 7n – 2 occurs when the elements are sorted in ascending order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1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Advantages of using worst case Analysis:</a:t>
            </a:r>
          </a:p>
          <a:p>
            <a:r>
              <a:rPr lang="en-US" dirty="0" smtClean="0"/>
              <a:t>An </a:t>
            </a:r>
            <a:r>
              <a:rPr lang="en-US" dirty="0" err="1" smtClean="0"/>
              <a:t>algo</a:t>
            </a:r>
            <a:r>
              <a:rPr lang="en-US" dirty="0" smtClean="0"/>
              <a:t> may run faster on certain data sets than the others. </a:t>
            </a:r>
          </a:p>
          <a:p>
            <a:r>
              <a:rPr lang="en-US" dirty="0" smtClean="0"/>
              <a:t>Finding the </a:t>
            </a:r>
            <a:r>
              <a:rPr lang="en-US" dirty="0" smtClean="0">
                <a:solidFill>
                  <a:srgbClr val="FF0000"/>
                </a:solidFill>
              </a:rPr>
              <a:t>average case </a:t>
            </a:r>
            <a:r>
              <a:rPr lang="en-US" dirty="0" smtClean="0"/>
              <a:t>can be very difficult, so typically algorithms are measured by the </a:t>
            </a:r>
            <a:r>
              <a:rPr lang="en-US" dirty="0" smtClean="0">
                <a:solidFill>
                  <a:srgbClr val="3333FF"/>
                </a:solidFill>
              </a:rPr>
              <a:t>worst case</a:t>
            </a:r>
            <a:r>
              <a:rPr lang="en-US" dirty="0" smtClean="0"/>
              <a:t> time complexity.</a:t>
            </a:r>
          </a:p>
          <a:p>
            <a:r>
              <a:rPr lang="en-US" dirty="0" smtClean="0"/>
              <a:t>Also, in certain application domain – air traffic control, surgery – knowing the worst case time complexity is of crucial importance.</a:t>
            </a:r>
          </a:p>
          <a:p>
            <a:r>
              <a:rPr lang="en-US" dirty="0"/>
              <a:t>Just requires the ability to identify the worst case input.</a:t>
            </a:r>
          </a:p>
          <a:p>
            <a:r>
              <a:rPr lang="en-US" dirty="0"/>
              <a:t>Designing for worst case can lead to better </a:t>
            </a:r>
            <a:r>
              <a:rPr lang="en-US" dirty="0" err="1"/>
              <a:t>algos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Growth rate of running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106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Algorithm </a:t>
            </a:r>
            <a:r>
              <a:rPr lang="en-US" sz="2800" b="1" dirty="0" err="1" smtClean="0">
                <a:solidFill>
                  <a:srgbClr val="3333FF"/>
                </a:solidFill>
              </a:rPr>
              <a:t>arrayMax</a:t>
            </a:r>
            <a:r>
              <a:rPr lang="en-US" sz="2800" dirty="0" smtClean="0"/>
              <a:t> executes 7n – 2 no. of primitive operations in the worst case.</a:t>
            </a:r>
          </a:p>
          <a:p>
            <a:r>
              <a:rPr lang="en-US" sz="2800" dirty="0" smtClean="0"/>
              <a:t>Define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a = time taken by the fastest primitive operation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b =time </a:t>
            </a:r>
            <a:r>
              <a:rPr lang="en-US" sz="2800" dirty="0"/>
              <a:t>taken by the </a:t>
            </a:r>
            <a:r>
              <a:rPr lang="en-US" sz="2800" dirty="0" smtClean="0"/>
              <a:t>slowest primitive operation</a:t>
            </a:r>
          </a:p>
          <a:p>
            <a:r>
              <a:rPr lang="en-US" sz="2800" dirty="0" smtClean="0"/>
              <a:t>Let </a:t>
            </a:r>
            <a:r>
              <a:rPr lang="en-US" sz="2800" i="1" dirty="0" smtClean="0"/>
              <a:t>T(n)</a:t>
            </a:r>
            <a:r>
              <a:rPr lang="en-US" sz="2800" dirty="0" smtClean="0"/>
              <a:t> be the worst case time of </a:t>
            </a:r>
            <a:r>
              <a:rPr lang="en-US" sz="2800" dirty="0" err="1" smtClean="0"/>
              <a:t>arrayMax</a:t>
            </a:r>
            <a:r>
              <a:rPr lang="en-US" sz="2800" dirty="0" smtClean="0"/>
              <a:t>. Then</a:t>
            </a:r>
          </a:p>
          <a:p>
            <a:pPr marL="0" indent="0">
              <a:buNone/>
            </a:pPr>
            <a:r>
              <a:rPr lang="en-US" sz="2800" dirty="0" smtClean="0"/>
              <a:t>     a(7n – 2) </a:t>
            </a:r>
            <a:r>
              <a:rPr lang="en-US" sz="2800" dirty="0" smtClean="0">
                <a:latin typeface="Cambria Math"/>
                <a:ea typeface="Cambria Math"/>
              </a:rPr>
              <a:t>⩽ </a:t>
            </a:r>
            <a:r>
              <a:rPr lang="en-US" sz="2800" i="1" dirty="0" smtClean="0">
                <a:latin typeface="Cambria Math"/>
                <a:ea typeface="Cambria Math"/>
              </a:rPr>
              <a:t>T(n)</a:t>
            </a:r>
            <a:r>
              <a:rPr lang="en-US" sz="2800" dirty="0" smtClean="0">
                <a:latin typeface="Cambria Math"/>
                <a:ea typeface="Cambria Math"/>
              </a:rPr>
              <a:t> ⩽ b(7n – 2)</a:t>
            </a:r>
          </a:p>
          <a:p>
            <a:r>
              <a:rPr lang="en-US" sz="2800" dirty="0" smtClean="0">
                <a:latin typeface="Cambria Math"/>
                <a:ea typeface="Cambria Math"/>
              </a:rPr>
              <a:t>Hence, the running time T(n) is bounded by two linear functions.</a:t>
            </a:r>
          </a:p>
          <a:p>
            <a:r>
              <a:rPr lang="en-US" sz="2800" dirty="0" smtClean="0">
                <a:latin typeface="Cambria Math"/>
                <a:ea typeface="Cambria Math"/>
              </a:rPr>
              <a:t>Changing the h/w or s/w </a:t>
            </a:r>
          </a:p>
          <a:p>
            <a:pPr lvl="1"/>
            <a:r>
              <a:rPr lang="en-US" sz="2400" dirty="0" smtClean="0">
                <a:latin typeface="Cambria Math"/>
                <a:ea typeface="Cambria Math"/>
              </a:rPr>
              <a:t>Affects </a:t>
            </a:r>
            <a:r>
              <a:rPr lang="en-US" sz="2400" i="1" dirty="0" smtClean="0">
                <a:latin typeface="Cambria Math"/>
                <a:ea typeface="Cambria Math"/>
              </a:rPr>
              <a:t>T(n)</a:t>
            </a:r>
            <a:r>
              <a:rPr lang="en-US" sz="2400" dirty="0" smtClean="0">
                <a:latin typeface="Cambria Math"/>
                <a:ea typeface="Cambria Math"/>
              </a:rPr>
              <a:t> by a constant factor, but</a:t>
            </a:r>
          </a:p>
          <a:p>
            <a:pPr lvl="1"/>
            <a:r>
              <a:rPr lang="en-US" sz="2400" dirty="0" smtClean="0">
                <a:latin typeface="Cambria Math"/>
                <a:ea typeface="Cambria Math"/>
              </a:rPr>
              <a:t>Does not alter the growth rate of </a:t>
            </a:r>
            <a:r>
              <a:rPr lang="en-US" sz="2400" i="1" dirty="0" smtClean="0">
                <a:latin typeface="Cambria Math"/>
                <a:ea typeface="Cambria Math"/>
              </a:rPr>
              <a:t>T(n)</a:t>
            </a:r>
          </a:p>
          <a:p>
            <a:pPr marL="0" indent="0">
              <a:buNone/>
            </a:pPr>
            <a:endParaRPr lang="en-US" i="1" dirty="0" smtClean="0">
              <a:latin typeface="Cambria Math"/>
              <a:ea typeface="Cambria Math"/>
            </a:endParaRPr>
          </a:p>
          <a:p>
            <a:pPr marL="0" indent="0">
              <a:buNone/>
            </a:pPr>
            <a:endParaRPr lang="en-US" sz="2800" dirty="0" smtClean="0">
              <a:latin typeface="Cambria Math"/>
              <a:ea typeface="Cambria Math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474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Growth rate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25780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Growth rate is not affected by</a:t>
                </a:r>
              </a:p>
              <a:p>
                <a:pPr lvl="1"/>
                <a:r>
                  <a:rPr lang="en-US" dirty="0" smtClean="0"/>
                  <a:t>Constant factors and</a:t>
                </a:r>
              </a:p>
              <a:p>
                <a:pPr lvl="1"/>
                <a:r>
                  <a:rPr lang="en-US" dirty="0" smtClean="0"/>
                  <a:t>Lower order terms</a:t>
                </a:r>
              </a:p>
              <a:p>
                <a:r>
                  <a:rPr lang="en-US" dirty="0" smtClean="0"/>
                  <a:t>Ex :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US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is a linear function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 smtClean="0"/>
                  <a:t> is a quadratic function</a:t>
                </a:r>
              </a:p>
              <a:p>
                <a:r>
                  <a:rPr lang="en-US" dirty="0" smtClean="0"/>
                  <a:t>2n and 10n have same relative growth rates</a:t>
                </a:r>
              </a:p>
              <a:p>
                <a:r>
                  <a:rPr lang="en-US" dirty="0" smtClean="0"/>
                  <a:t>10n and 10n + 4 </a:t>
                </a:r>
                <a:r>
                  <a:rPr lang="en-US" dirty="0"/>
                  <a:t>have same relative growth </a:t>
                </a:r>
                <a:r>
                  <a:rPr lang="en-US" dirty="0" smtClean="0"/>
                  <a:t>rates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+7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have same relative growth rates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257800"/>
              </a:xfrm>
              <a:blipFill rotWithShape="1">
                <a:blip r:embed="rId2"/>
                <a:stretch>
                  <a:fillRect l="-1481" t="-1392" r="-1630" b="-3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551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Analyzing Recursive </a:t>
            </a:r>
            <a:r>
              <a:rPr lang="en-US" dirty="0" err="1"/>
              <a:t>A</a:t>
            </a:r>
            <a:r>
              <a:rPr lang="en-US" dirty="0" err="1" smtClean="0"/>
              <a:t>lgos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Two techniques of solving a problem are :</a:t>
            </a:r>
          </a:p>
          <a:p>
            <a:pPr lvl="1"/>
            <a:r>
              <a:rPr lang="en-US" dirty="0" smtClean="0"/>
              <a:t>Iteration</a:t>
            </a:r>
          </a:p>
          <a:p>
            <a:pPr lvl="1"/>
            <a:r>
              <a:rPr lang="en-US" dirty="0" smtClean="0"/>
              <a:t>Recursion</a:t>
            </a:r>
          </a:p>
          <a:p>
            <a:r>
              <a:rPr lang="en-US" b="1" dirty="0" smtClean="0"/>
              <a:t>Recursion :</a:t>
            </a:r>
          </a:p>
          <a:p>
            <a:pPr lvl="1"/>
            <a:r>
              <a:rPr lang="en-US" dirty="0" smtClean="0"/>
              <a:t>A procedure P calls itself.</a:t>
            </a:r>
          </a:p>
          <a:p>
            <a:pPr lvl="1"/>
            <a:r>
              <a:rPr lang="en-US" dirty="0" smtClean="0"/>
              <a:t>Each call to P is used to solve a sub problem of smaller size – </a:t>
            </a:r>
            <a:r>
              <a:rPr lang="en-US" b="1" dirty="0" smtClean="0"/>
              <a:t>recursive calls</a:t>
            </a:r>
          </a:p>
          <a:p>
            <a:pPr lvl="1"/>
            <a:r>
              <a:rPr lang="en-US" b="1" dirty="0" smtClean="0"/>
              <a:t>Base case </a:t>
            </a:r>
            <a:r>
              <a:rPr lang="en-US" dirty="0" smtClean="0"/>
              <a:t>: is a small problem which can be solved without recursion.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92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Base Case </a:t>
            </a:r>
            <a:r>
              <a:rPr lang="en-US" dirty="0" smtClean="0"/>
              <a:t>: when n = 1, return A[0] as max</a:t>
            </a:r>
          </a:p>
          <a:p>
            <a:pPr marL="0" indent="0">
              <a:buNone/>
            </a:pPr>
            <a:r>
              <a:rPr lang="en-US" b="1" dirty="0" smtClean="0"/>
              <a:t>Recursive </a:t>
            </a:r>
            <a:r>
              <a:rPr lang="en-US" dirty="0" smtClean="0"/>
              <a:t>: compute largest of first n-1 elements recursively, and return max of this and the last element of the array.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Algorithm</a:t>
            </a:r>
            <a:r>
              <a:rPr lang="en-US" dirty="0" smtClean="0"/>
              <a:t> </a:t>
            </a:r>
            <a:r>
              <a:rPr lang="en-US" dirty="0" err="1" smtClean="0"/>
              <a:t>recursiveMax</a:t>
            </a:r>
            <a:r>
              <a:rPr lang="en-US" dirty="0" smtClean="0"/>
              <a:t>(</a:t>
            </a:r>
            <a:r>
              <a:rPr lang="en-US" dirty="0" err="1" smtClean="0"/>
              <a:t>A,n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b="1" dirty="0" smtClean="0"/>
              <a:t>Input </a:t>
            </a:r>
            <a:r>
              <a:rPr lang="en-US" dirty="0" smtClean="0"/>
              <a:t>: An array A storing n</a:t>
            </a:r>
            <a:r>
              <a:rPr lang="en-US" dirty="0" smtClean="0">
                <a:latin typeface="Cambria Math"/>
                <a:ea typeface="Cambria Math"/>
              </a:rPr>
              <a:t>⩾ 1 integers.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 </a:t>
            </a:r>
            <a:r>
              <a:rPr lang="en-US" b="1" dirty="0" smtClean="0">
                <a:latin typeface="Cambria Math"/>
                <a:ea typeface="Cambria Math"/>
              </a:rPr>
              <a:t>Output</a:t>
            </a:r>
            <a:r>
              <a:rPr lang="en-US" dirty="0" smtClean="0">
                <a:latin typeface="Cambria Math"/>
                <a:ea typeface="Cambria Math"/>
              </a:rPr>
              <a:t> : The maximum element in A.</a:t>
            </a:r>
          </a:p>
          <a:p>
            <a:pPr marL="0" indent="0">
              <a:buNone/>
            </a:pPr>
            <a:r>
              <a:rPr lang="en-US" b="1" dirty="0" smtClean="0">
                <a:latin typeface="Cambria Math"/>
                <a:ea typeface="Cambria Math"/>
              </a:rPr>
              <a:t>if</a:t>
            </a:r>
            <a:r>
              <a:rPr lang="en-US" dirty="0" smtClean="0">
                <a:latin typeface="Cambria Math"/>
                <a:ea typeface="Cambria Math"/>
              </a:rPr>
              <a:t> n = 1 </a:t>
            </a:r>
            <a:r>
              <a:rPr lang="en-US" b="1" dirty="0" smtClean="0">
                <a:latin typeface="Cambria Math"/>
                <a:ea typeface="Cambria Math"/>
              </a:rPr>
              <a:t>then</a:t>
            </a:r>
            <a:r>
              <a:rPr lang="en-US" dirty="0" smtClean="0">
                <a:latin typeface="Cambria Math"/>
                <a:ea typeface="Cambria Math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  </a:t>
            </a:r>
            <a:r>
              <a:rPr lang="en-US" b="1" dirty="0" smtClean="0">
                <a:latin typeface="Cambria Math"/>
                <a:ea typeface="Cambria Math"/>
              </a:rPr>
              <a:t>return</a:t>
            </a:r>
            <a:r>
              <a:rPr lang="en-US" dirty="0" smtClean="0">
                <a:latin typeface="Cambria Math"/>
                <a:ea typeface="Cambria Math"/>
              </a:rPr>
              <a:t> A[0]</a:t>
            </a:r>
          </a:p>
          <a:p>
            <a:pPr marL="0" indent="0">
              <a:buNone/>
            </a:pPr>
            <a:r>
              <a:rPr lang="en-US" b="1" dirty="0">
                <a:latin typeface="Cambria Math"/>
                <a:ea typeface="Cambria Math"/>
              </a:rPr>
              <a:t>r</a:t>
            </a:r>
            <a:r>
              <a:rPr lang="en-US" b="1" dirty="0" smtClean="0">
                <a:latin typeface="Cambria Math"/>
                <a:ea typeface="Cambria Math"/>
              </a:rPr>
              <a:t>eturn</a:t>
            </a:r>
            <a:r>
              <a:rPr lang="en-US" dirty="0" smtClean="0">
                <a:latin typeface="Cambria Math"/>
                <a:ea typeface="Cambria Math"/>
              </a:rPr>
              <a:t> max{</a:t>
            </a:r>
            <a:r>
              <a:rPr lang="en-US" dirty="0" err="1" smtClean="0">
                <a:latin typeface="Cambria Math"/>
                <a:ea typeface="Cambria Math"/>
              </a:rPr>
              <a:t>recursiveMax</a:t>
            </a:r>
            <a:r>
              <a:rPr lang="en-US" dirty="0" smtClean="0">
                <a:latin typeface="Cambria Math"/>
                <a:ea typeface="Cambria Math"/>
              </a:rPr>
              <a:t>(A,n-1), A[n – 1]}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9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Running time of recursive </a:t>
            </a:r>
            <a:r>
              <a:rPr lang="en-US" dirty="0" err="1" smtClean="0"/>
              <a:t>algos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/>
                  <a:t>Use recurrence equation</a:t>
                </a:r>
              </a:p>
              <a:p>
                <a:r>
                  <a:rPr lang="en-US" dirty="0" smtClean="0"/>
                  <a:t>T(n) --- running time of a recursive </a:t>
                </a:r>
                <a:r>
                  <a:rPr lang="en-US" dirty="0" err="1" smtClean="0"/>
                  <a:t>algo</a:t>
                </a:r>
                <a:r>
                  <a:rPr lang="en-US" dirty="0" smtClean="0"/>
                  <a:t> on an input size n.</a:t>
                </a:r>
              </a:p>
              <a:p>
                <a:r>
                  <a:rPr lang="en-US" dirty="0" smtClean="0"/>
                  <a:t>The recurrence equations define mathematical statements that T(n) should satisfy.</a:t>
                </a:r>
              </a:p>
              <a:p>
                <a:r>
                  <a:rPr lang="en-US" dirty="0" smtClean="0"/>
                  <a:t>Each comparison, array reference, recursive call, max calculation, return – single primitive operation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Ex: </a:t>
                </a:r>
                <a:r>
                  <a:rPr lang="en-US" b="1" dirty="0" err="1" smtClean="0"/>
                  <a:t>recursiveMax</a:t>
                </a:r>
                <a:endParaRPr lang="en-US" b="1" dirty="0" smtClean="0"/>
              </a:p>
              <a:p>
                <a:pPr marL="0" indent="0">
                  <a:buNone/>
                </a:pPr>
                <a:r>
                  <a:rPr lang="en-US" dirty="0" smtClean="0"/>
                  <a:t>T(n)  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3                    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=1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/>
                              </a:rPr>
                              <m:t>+7 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𝑜𝑡h𝑒𝑟𝑤𝑖𝑠𝑒</m:t>
                            </m:r>
                          </m:e>
                        </m:eqArr>
                        <m:r>
                          <a:rPr lang="en-US" b="0" i="1" smtClean="0">
                            <a:latin typeface="Cambria Math"/>
                          </a:rPr>
                          <m:t>   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1333" t="-1807" r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43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Closed form : without references to T(n) on the right side :</a:t>
            </a:r>
          </a:p>
          <a:p>
            <a:pPr marL="0" indent="0">
              <a:buNone/>
            </a:pPr>
            <a:r>
              <a:rPr lang="en-US" dirty="0" smtClean="0"/>
              <a:t>T(n) = 7(n-1) + 3. = 7n – 4.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43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 smtClean="0"/>
              <a:t>Asymptotic Notation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dirty="0" smtClean="0"/>
              <a:t>Allows to characterize an </a:t>
            </a:r>
            <a:r>
              <a:rPr lang="en-US" dirty="0" err="1" smtClean="0"/>
              <a:t>algo’s</a:t>
            </a:r>
            <a:r>
              <a:rPr lang="en-US" dirty="0" smtClean="0"/>
              <a:t> running time ignoring the implementation depending factors.</a:t>
            </a:r>
          </a:p>
          <a:p>
            <a:r>
              <a:rPr lang="en-US" dirty="0" smtClean="0"/>
              <a:t>To </a:t>
            </a:r>
            <a:r>
              <a:rPr lang="en-US" dirty="0"/>
              <a:t>perform </a:t>
            </a:r>
            <a:r>
              <a:rPr lang="en-US" dirty="0" err="1"/>
              <a:t>aysmptotic</a:t>
            </a:r>
            <a:r>
              <a:rPr lang="en-US" dirty="0"/>
              <a:t> analysis :</a:t>
            </a:r>
          </a:p>
          <a:p>
            <a:pPr lvl="1"/>
            <a:r>
              <a:rPr lang="en-US" dirty="0"/>
              <a:t>Find the worst case no. of primitive operations executed as a function of the input size.</a:t>
            </a:r>
          </a:p>
          <a:p>
            <a:pPr lvl="1"/>
            <a:r>
              <a:rPr lang="en-US" dirty="0"/>
              <a:t>Express this function in Big – Oh notation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81812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“Big-Oh” Notation: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formal method of expressing the upper bound of an </a:t>
            </a:r>
            <a:r>
              <a:rPr lang="en-US" dirty="0" err="1"/>
              <a:t>algo’s</a:t>
            </a:r>
            <a:r>
              <a:rPr lang="en-US" dirty="0"/>
              <a:t>  running time.</a:t>
            </a:r>
          </a:p>
          <a:p>
            <a:r>
              <a:rPr lang="en-US" dirty="0"/>
              <a:t>It is a measure of the longest amount of time that could possibly take for the </a:t>
            </a:r>
            <a:r>
              <a:rPr lang="en-US" dirty="0" err="1"/>
              <a:t>algo</a:t>
            </a:r>
            <a:r>
              <a:rPr lang="en-US" dirty="0"/>
              <a:t> to complete.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415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58975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f(n) and g(n) are functions that map non-negative integers to real numbers</a:t>
                </a:r>
                <a:endParaRPr lang="en-US" dirty="0" smtClean="0"/>
              </a:p>
              <a:p>
                <a:r>
                  <a:rPr lang="en-US" dirty="0" smtClean="0"/>
                  <a:t>“f(n) is O(g(n))” ---- f(n) is </a:t>
                </a:r>
                <a:r>
                  <a:rPr lang="en-US" b="1" dirty="0"/>
                  <a:t>order </a:t>
                </a:r>
                <a:r>
                  <a:rPr lang="en-US" dirty="0"/>
                  <a:t>g(n</a:t>
                </a:r>
                <a:r>
                  <a:rPr lang="en-US" dirty="0" smtClean="0"/>
                  <a:t>), </a:t>
                </a:r>
              </a:p>
              <a:p>
                <a:pPr lvl="1"/>
                <a:r>
                  <a:rPr lang="en-US" dirty="0" smtClean="0"/>
                  <a:t>if there is a real constant c &gt; </a:t>
                </a:r>
                <a:r>
                  <a:rPr lang="en-US" dirty="0"/>
                  <a:t>0</a:t>
                </a:r>
                <a:r>
                  <a:rPr lang="en-US" dirty="0" smtClean="0"/>
                  <a:t> and </a:t>
                </a:r>
              </a:p>
              <a:p>
                <a:pPr lvl="1"/>
                <a:r>
                  <a:rPr lang="en-US" dirty="0" smtClean="0"/>
                  <a:t>An integer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smtClean="0">
                    <a:latin typeface="Cambria Math"/>
                    <a:ea typeface="Cambria Math"/>
                  </a:rPr>
                  <a:t>⩾ 1 such that </a:t>
                </a:r>
              </a:p>
              <a:p>
                <a:pPr lvl="1"/>
                <a:r>
                  <a:rPr lang="en-US" dirty="0">
                    <a:latin typeface="Cambria Math"/>
                    <a:ea typeface="Cambria Math"/>
                  </a:rPr>
                  <a:t>0 ⩽ </a:t>
                </a:r>
                <a:r>
                  <a:rPr lang="en-US" dirty="0" smtClean="0">
                    <a:latin typeface="Cambria Math"/>
                    <a:ea typeface="Cambria Math"/>
                  </a:rPr>
                  <a:t> f(n) ⩽ cg(n) for every integer n 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if f(n) = O(g(n)) , g(n) is an upper bound on f(n)</a:t>
                </a:r>
              </a:p>
              <a:p>
                <a:r>
                  <a:rPr lang="en-US" dirty="0" smtClean="0"/>
                  <a:t>Fig 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Ex : 2n + 2 is O(n)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Proof </a:t>
                </a:r>
                <a:r>
                  <a:rPr lang="en-US" dirty="0" smtClean="0"/>
                  <a:t>: </a:t>
                </a:r>
              </a:p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dirty="0" smtClean="0"/>
                  <a:t>Find c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, such that </a:t>
                </a:r>
                <a:r>
                  <a:rPr lang="en-US" dirty="0">
                    <a:latin typeface="Cambria Math"/>
                    <a:ea typeface="Cambria Math"/>
                  </a:rPr>
                  <a:t>f(n) ⩽ cg(n) for every integer n 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US" dirty="0" smtClean="0"/>
              </a:p>
              <a:p>
                <a:pPr marL="0" lvl="1" indent="0">
                  <a:buNone/>
                </a:pPr>
                <a:r>
                  <a:rPr lang="en-US" dirty="0" smtClean="0"/>
                  <a:t>    one possible …… c = 3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= 10.</a:t>
                </a: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5897563"/>
              </a:xfrm>
              <a:blipFill rotWithShape="1">
                <a:blip r:embed="rId2"/>
                <a:stretch>
                  <a:fillRect l="-1704" t="-2689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1697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Ex : Running time of </a:t>
            </a:r>
            <a:r>
              <a:rPr lang="en-US" dirty="0" err="1" smtClean="0"/>
              <a:t>arrayMax</a:t>
            </a:r>
            <a:r>
              <a:rPr lang="en-US" dirty="0" smtClean="0"/>
              <a:t> is O(n)</a:t>
            </a:r>
          </a:p>
          <a:p>
            <a:pPr marL="0" indent="0">
              <a:buNone/>
            </a:pPr>
            <a:r>
              <a:rPr lang="en-US" dirty="0" smtClean="0"/>
              <a:t>Proof : </a:t>
            </a:r>
          </a:p>
          <a:p>
            <a:pPr marL="0" indent="0">
              <a:buNone/>
            </a:pPr>
            <a:r>
              <a:rPr lang="en-US" dirty="0" smtClean="0"/>
              <a:t>Running time  = 7n – 2</a:t>
            </a:r>
          </a:p>
          <a:p>
            <a:pPr marL="0" indent="0">
              <a:buNone/>
            </a:pPr>
            <a:r>
              <a:rPr lang="en-US" dirty="0" smtClean="0"/>
              <a:t>7n – 2 </a:t>
            </a:r>
            <a:r>
              <a:rPr lang="en-US" dirty="0" smtClean="0">
                <a:latin typeface="Cambria Math"/>
                <a:ea typeface="Cambria Math"/>
              </a:rPr>
              <a:t>⩽ </a:t>
            </a:r>
            <a:r>
              <a:rPr lang="en-US" dirty="0">
                <a:latin typeface="Cambria Math"/>
                <a:ea typeface="Cambria Math"/>
              </a:rPr>
              <a:t>7</a:t>
            </a:r>
            <a:r>
              <a:rPr lang="en-US" dirty="0" smtClean="0">
                <a:latin typeface="Cambria Math"/>
                <a:ea typeface="Cambria Math"/>
              </a:rPr>
              <a:t>(n), for c = 7 and n⩾ 1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So, </a:t>
            </a:r>
            <a:r>
              <a:rPr lang="en-US" dirty="0"/>
              <a:t>Running time of </a:t>
            </a:r>
            <a:r>
              <a:rPr lang="en-US" dirty="0" err="1"/>
              <a:t>arrayMax</a:t>
            </a:r>
            <a:r>
              <a:rPr lang="en-US" dirty="0"/>
              <a:t> is O(n)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766476"/>
              </p:ext>
            </p:extLst>
          </p:nvPr>
        </p:nvGraphicFramePr>
        <p:xfrm>
          <a:off x="1447800" y="3429000"/>
          <a:ext cx="4572000" cy="18542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7n –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7(n)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: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405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Common terms used in </a:t>
            </a:r>
            <a:r>
              <a:rPr lang="en-US" dirty="0" err="1" smtClean="0"/>
              <a:t>Algo</a:t>
            </a:r>
            <a:r>
              <a:rPr lang="en-US" dirty="0" smtClean="0"/>
              <a:t> 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O(1) …... function that runs in constant time</a:t>
                </a:r>
              </a:p>
              <a:p>
                <a:r>
                  <a:rPr lang="en-US" dirty="0" smtClean="0"/>
                  <a:t>O(n) ……. Function that runs in linear time</a:t>
                </a:r>
              </a:p>
              <a:p>
                <a:r>
                  <a:rPr lang="en-US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…. function that runs in quadratic time</a:t>
                </a:r>
              </a:p>
              <a:p>
                <a:r>
                  <a:rPr lang="en-US" dirty="0" smtClean="0"/>
                  <a:t>O(log n) …… function that runs in logarithmic time</a:t>
                </a:r>
              </a:p>
              <a:p>
                <a:r>
                  <a:rPr lang="en-US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(k </a:t>
                </a:r>
                <a:r>
                  <a:rPr lang="en-US" dirty="0" smtClean="0">
                    <a:latin typeface="Cambria Math"/>
                    <a:ea typeface="Cambria Math"/>
                  </a:rPr>
                  <a:t>⩾ 1) … </a:t>
                </a:r>
                <a:r>
                  <a:rPr lang="en-US" dirty="0"/>
                  <a:t>function that runs in </a:t>
                </a:r>
                <a:r>
                  <a:rPr lang="en-US" dirty="0" smtClean="0"/>
                  <a:t>polynomial time</a:t>
                </a:r>
              </a:p>
              <a:p>
                <a:r>
                  <a:rPr lang="en-US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 smtClean="0"/>
                  <a:t>) (a &gt; 1) …</a:t>
                </a:r>
                <a:r>
                  <a:rPr lang="en-US" dirty="0"/>
                  <a:t>function that runs in </a:t>
                </a:r>
                <a:r>
                  <a:rPr lang="en-US" dirty="0" smtClean="0"/>
                  <a:t>exponential  </a:t>
                </a:r>
                <a:r>
                  <a:rPr lang="en-US" dirty="0"/>
                  <a:t>time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1630" t="-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555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Big-Oh growth rate</a:t>
            </a:r>
          </a:p>
          <a:p>
            <a:r>
              <a:rPr lang="en-US" dirty="0" smtClean="0"/>
              <a:t>Big-Oh rules</a:t>
            </a:r>
          </a:p>
          <a:p>
            <a:r>
              <a:rPr lang="en-US" dirty="0" smtClean="0"/>
              <a:t>Relatives of Big-Oh</a:t>
            </a:r>
          </a:p>
          <a:p>
            <a:r>
              <a:rPr lang="en-US" dirty="0" smtClean="0"/>
              <a:t>Computing </a:t>
            </a:r>
            <a:r>
              <a:rPr lang="en-US" smtClean="0"/>
              <a:t>prefix averages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5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867</TotalTime>
  <Words>2328</Words>
  <Application>Microsoft Office PowerPoint</Application>
  <PresentationFormat>On-screen Show (4:3)</PresentationFormat>
  <Paragraphs>304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Basics</vt:lpstr>
      <vt:lpstr>Basics…</vt:lpstr>
      <vt:lpstr>Algo Design Techniques</vt:lpstr>
      <vt:lpstr>Algo Design Techniques</vt:lpstr>
      <vt:lpstr>Algo design approaches</vt:lpstr>
      <vt:lpstr>Algo design approaches…</vt:lpstr>
      <vt:lpstr>Algo design approaches…</vt:lpstr>
      <vt:lpstr>Algo design approaches…</vt:lpstr>
      <vt:lpstr>Analysis of Algos</vt:lpstr>
      <vt:lpstr>PowerPoint Presentation</vt:lpstr>
      <vt:lpstr>PowerPoint Presentation</vt:lpstr>
      <vt:lpstr>PowerPoint Presentation</vt:lpstr>
      <vt:lpstr>Methodology for algo analysis</vt:lpstr>
      <vt:lpstr>Pseudo-code : A language for describing the algo </vt:lpstr>
      <vt:lpstr>Pseudo-code…</vt:lpstr>
      <vt:lpstr>Pseudo-code…</vt:lpstr>
      <vt:lpstr>Pseudo-code….</vt:lpstr>
      <vt:lpstr>How to analytically characterize algos in Pseudo-code</vt:lpstr>
      <vt:lpstr>PowerPoint Presentation</vt:lpstr>
      <vt:lpstr>Methodology for algo analysis</vt:lpstr>
      <vt:lpstr>RAM Machine Model Definition</vt:lpstr>
      <vt:lpstr>Counting primitive operations</vt:lpstr>
      <vt:lpstr>PowerPoint Presentation</vt:lpstr>
      <vt:lpstr>PowerPoint Presentation</vt:lpstr>
      <vt:lpstr>PowerPoint Presentation</vt:lpstr>
      <vt:lpstr>Growth rate of running time</vt:lpstr>
      <vt:lpstr>Growth rate</vt:lpstr>
      <vt:lpstr>Analyzing Recursive Algos</vt:lpstr>
      <vt:lpstr>Example </vt:lpstr>
      <vt:lpstr>Running time of recursive algos</vt:lpstr>
      <vt:lpstr>PowerPoint Presentation</vt:lpstr>
      <vt:lpstr>Asymptotic Notation</vt:lpstr>
      <vt:lpstr>The “Big-Oh” Notation: </vt:lpstr>
      <vt:lpstr>PowerPoint Presentation</vt:lpstr>
      <vt:lpstr>PowerPoint Presentation</vt:lpstr>
      <vt:lpstr>Common terms used in Algo analysis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manimaran</cp:lastModifiedBy>
  <cp:revision>92</cp:revision>
  <dcterms:created xsi:type="dcterms:W3CDTF">2006-08-16T00:00:00Z</dcterms:created>
  <dcterms:modified xsi:type="dcterms:W3CDTF">2014-03-19T06:19:57Z</dcterms:modified>
</cp:coreProperties>
</file>