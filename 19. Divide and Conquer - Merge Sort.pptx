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81001"/>
            <a:ext cx="7772400" cy="762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Divide and Conquer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447800"/>
            <a:ext cx="7696200" cy="5029200"/>
          </a:xfrm>
        </p:spPr>
        <p:txBody>
          <a:bodyPr/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An algorithmic design pattern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b="1" dirty="0" smtClean="0">
                <a:solidFill>
                  <a:srgbClr val="FF0000"/>
                </a:solidFill>
              </a:rPr>
              <a:t>Divide </a:t>
            </a:r>
            <a:r>
              <a:rPr lang="en-US" dirty="0" smtClean="0">
                <a:solidFill>
                  <a:schemeClr val="tx1"/>
                </a:solidFill>
              </a:rPr>
              <a:t>: If the input size is smaller than a certain threshold (one/two elements), solve the problem directly and return the solution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Else divide the input data into 2/more 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    disjoint subsets.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45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b="1" dirty="0" smtClean="0">
                <a:solidFill>
                  <a:srgbClr val="FF0000"/>
                </a:solidFill>
              </a:rPr>
              <a:t>. Recur : </a:t>
            </a:r>
            <a:r>
              <a:rPr lang="en-US" dirty="0" smtClean="0"/>
              <a:t>recursively solve the sub problems of each subset.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b="1" dirty="0" smtClean="0">
                <a:solidFill>
                  <a:srgbClr val="FF0000"/>
                </a:solidFill>
              </a:rPr>
              <a:t>Conquer : </a:t>
            </a:r>
            <a:r>
              <a:rPr lang="en-US" dirty="0" smtClean="0"/>
              <a:t>Merge the solutions to the sub problems into </a:t>
            </a:r>
            <a:r>
              <a:rPr lang="en-US" dirty="0" smtClean="0"/>
              <a:t>an </a:t>
            </a:r>
            <a:r>
              <a:rPr lang="en-US" dirty="0" smtClean="0"/>
              <a:t>original solution.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 : Merge Sort </a:t>
            </a:r>
          </a:p>
        </p:txBody>
      </p:sp>
    </p:spTree>
    <p:extLst>
      <p:ext uri="{BB962C8B-B14F-4D97-AF65-F5344CB8AC3E}">
        <p14:creationId xmlns:p14="http://schemas.microsoft.com/office/powerpoint/2010/main" val="407448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Using Divide and Conquer for sorting</a:t>
            </a:r>
            <a:endParaRPr 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To sort a sequence S with n elements :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514350" indent="-514350">
                  <a:buAutoNum type="arabicPeriod"/>
                </a:pPr>
                <a:r>
                  <a:rPr lang="en-US" b="1" dirty="0" smtClean="0"/>
                  <a:t>Divide</a:t>
                </a:r>
                <a:r>
                  <a:rPr lang="en-US" dirty="0" smtClean="0"/>
                  <a:t> : If S has zero/one element return S, it is already sorted.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Otherwise, (at least two elements)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remove all elements from S, put them into two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      </m:t>
                        </m:r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, each having half the elements in S. 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has the first n/2 elements of S, (including n/2</a:t>
                </a:r>
                <a:r>
                  <a:rPr lang="en-US" baseline="30000" dirty="0" smtClean="0"/>
                  <a:t>nd</a:t>
                </a:r>
                <a:r>
                  <a:rPr lang="en-US" dirty="0" smtClean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element)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     </m:t>
                        </m:r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has remaining n/2 elements </a:t>
                </a:r>
                <a:r>
                  <a:rPr lang="en-US" dirty="0"/>
                  <a:t>of S </a:t>
                </a:r>
                <a:r>
                  <a:rPr lang="en-US" dirty="0" smtClean="0"/>
                  <a:t>(excluding </a:t>
                </a:r>
                <a:r>
                  <a:rPr lang="en-US" dirty="0"/>
                  <a:t>n/2</a:t>
                </a:r>
                <a:r>
                  <a:rPr lang="en-US" baseline="30000" dirty="0"/>
                  <a:t>nd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  element)</a:t>
                </a:r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1259" t="-2203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71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7200"/>
                <a:ext cx="8229600" cy="5668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2</a:t>
                </a:r>
                <a:r>
                  <a:rPr lang="en-US" b="1" dirty="0" smtClean="0"/>
                  <a:t>. Recur </a:t>
                </a:r>
                <a:r>
                  <a:rPr lang="en-US" dirty="0" smtClean="0"/>
                  <a:t>: recursively sort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dirty="0" smtClean="0"/>
                  <a:t>3. </a:t>
                </a:r>
                <a:r>
                  <a:rPr lang="en-US" b="1" dirty="0" smtClean="0"/>
                  <a:t>Conquer</a:t>
                </a:r>
                <a:r>
                  <a:rPr lang="en-US" dirty="0" smtClean="0"/>
                  <a:t> : Put the elements back into S, by merging the sorted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into a sorted sequence.     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7200"/>
                <a:ext cx="8229600" cy="5668963"/>
              </a:xfrm>
              <a:blipFill rotWithShape="1">
                <a:blip r:embed="rId2"/>
                <a:stretch>
                  <a:fillRect l="-1852" t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Isosceles Triangle 5"/>
              <p:cNvSpPr/>
              <p:nvPr/>
            </p:nvSpPr>
            <p:spPr>
              <a:xfrm>
                <a:off x="5526677" y="4953000"/>
                <a:ext cx="1600200" cy="121920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Isosceles Tri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677" y="4953000"/>
                <a:ext cx="1600200" cy="1219200"/>
              </a:xfrm>
              <a:prstGeom prst="triangle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981200" y="2590800"/>
            <a:ext cx="5519056" cy="4419601"/>
            <a:chOff x="1981200" y="2590800"/>
            <a:chExt cx="5519056" cy="4419601"/>
          </a:xfrm>
        </p:grpSpPr>
        <p:sp>
          <p:nvSpPr>
            <p:cNvPr id="4" name="Rounded Rectangle 3"/>
            <p:cNvSpPr/>
            <p:nvPr/>
          </p:nvSpPr>
          <p:spPr>
            <a:xfrm>
              <a:off x="3200400" y="3200400"/>
              <a:ext cx="3124200" cy="9906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Split list equally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Isosceles Triangle 4"/>
                <p:cNvSpPr/>
                <p:nvPr/>
              </p:nvSpPr>
              <p:spPr>
                <a:xfrm>
                  <a:off x="1981200" y="4953000"/>
                  <a:ext cx="1600200" cy="1219200"/>
                </a:xfrm>
                <a:prstGeom prst="triangl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Isosceles Tri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4953000"/>
                  <a:ext cx="1600200" cy="1219200"/>
                </a:xfrm>
                <a:prstGeom prst="triangle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/>
            <p:cNvCxnSpPr>
              <a:endCxn id="5" idx="0"/>
            </p:cNvCxnSpPr>
            <p:nvPr/>
          </p:nvCxnSpPr>
          <p:spPr>
            <a:xfrm flipH="1">
              <a:off x="2781300" y="4191000"/>
              <a:ext cx="1714500" cy="7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endCxn id="6" idx="0"/>
            </p:cNvCxnSpPr>
            <p:nvPr/>
          </p:nvCxnSpPr>
          <p:spPr>
            <a:xfrm>
              <a:off x="4495800" y="4191000"/>
              <a:ext cx="1830977" cy="76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038600" y="2590800"/>
              <a:ext cx="16764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1. Divide in half 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34540" y="4191000"/>
              <a:ext cx="1220288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2. Recur 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79968" y="4343400"/>
              <a:ext cx="1220288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en-US" dirty="0" smtClean="0"/>
                <a:t>. Recur </a:t>
              </a:r>
              <a:endParaRPr lang="en-US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4343944" y="6400800"/>
              <a:ext cx="4572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Curved Connector 21"/>
            <p:cNvCxnSpPr>
              <a:endCxn id="14" idx="6"/>
            </p:cNvCxnSpPr>
            <p:nvPr/>
          </p:nvCxnSpPr>
          <p:spPr>
            <a:xfrm rot="10800000" flipV="1">
              <a:off x="4801144" y="6172200"/>
              <a:ext cx="1523456" cy="381000"/>
            </a:xfrm>
            <a:prstGeom prst="curved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endCxn id="14" idx="2"/>
            </p:cNvCxnSpPr>
            <p:nvPr/>
          </p:nvCxnSpPr>
          <p:spPr>
            <a:xfrm>
              <a:off x="2781300" y="6172200"/>
              <a:ext cx="1562644" cy="381000"/>
            </a:xfrm>
            <a:prstGeom prst="curvedConnector3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5167449" y="6553201"/>
              <a:ext cx="1220288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3. Merge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04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Merge – Sort Tree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 smtClean="0"/>
                  <a:t>Node, </a:t>
                </a:r>
                <a:r>
                  <a:rPr lang="en-US" dirty="0" smtClean="0"/>
                  <a:t>v : invocation of merge-sort </a:t>
                </a:r>
                <a:r>
                  <a:rPr lang="en-US" dirty="0" err="1" smtClean="0"/>
                  <a:t>algo</a:t>
                </a:r>
                <a:r>
                  <a:rPr lang="en-US" dirty="0" smtClean="0"/>
                  <a:t> with       an associated </a:t>
                </a:r>
                <a:r>
                  <a:rPr lang="en-US" dirty="0" smtClean="0"/>
                  <a:t>sequence S</a:t>
                </a:r>
                <a:endParaRPr lang="en-US" dirty="0" smtClean="0"/>
              </a:p>
              <a:p>
                <a:r>
                  <a:rPr lang="en-US" b="1" dirty="0" smtClean="0"/>
                  <a:t>Children of v </a:t>
                </a:r>
                <a:r>
                  <a:rPr lang="en-US" dirty="0" smtClean="0"/>
                  <a:t>: recursive calls to </a:t>
                </a:r>
                <a:r>
                  <a:rPr lang="en-US" dirty="0" smtClean="0"/>
                  <a:t>process </a:t>
                </a:r>
                <a:r>
                  <a:rPr lang="en-US" dirty="0" smtClean="0"/>
                  <a:t>subsequences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of S.</a:t>
                </a:r>
              </a:p>
              <a:p>
                <a:r>
                  <a:rPr lang="en-US" b="1" dirty="0" smtClean="0"/>
                  <a:t>External nodes </a:t>
                </a:r>
                <a:r>
                  <a:rPr lang="en-US" dirty="0" smtClean="0"/>
                  <a:t>: instances with no recursive calls.</a:t>
                </a:r>
              </a:p>
              <a:p>
                <a:r>
                  <a:rPr lang="en-US" dirty="0" smtClean="0"/>
                  <a:t>Size of the input sequence roughly </a:t>
                </a:r>
                <a:r>
                  <a:rPr lang="en-US" dirty="0" err="1" smtClean="0"/>
                  <a:t>halfs</a:t>
                </a:r>
                <a:r>
                  <a:rPr lang="en-US" dirty="0" smtClean="0"/>
                  <a:t> for each recursive call.</a:t>
                </a:r>
              </a:p>
              <a:p>
                <a:r>
                  <a:rPr lang="en-US" dirty="0" smtClean="0"/>
                  <a:t>Height of the tree is about log n (base 2)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1630" t="-1544" r="-4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16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338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Divide and Conquer</vt:lpstr>
      <vt:lpstr>PowerPoint Presentation</vt:lpstr>
      <vt:lpstr>Using Divide and Conquer for sorting</vt:lpstr>
      <vt:lpstr>PowerPoint Presentation</vt:lpstr>
      <vt:lpstr>Merge – Sort Tree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user1</dc:creator>
  <cp:lastModifiedBy>manimaran</cp:lastModifiedBy>
  <cp:revision>18</cp:revision>
  <dcterms:created xsi:type="dcterms:W3CDTF">2006-08-16T00:00:00Z</dcterms:created>
  <dcterms:modified xsi:type="dcterms:W3CDTF">2014-02-26T06:02:17Z</dcterms:modified>
</cp:coreProperties>
</file>