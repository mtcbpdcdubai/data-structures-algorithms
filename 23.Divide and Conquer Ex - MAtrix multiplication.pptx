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58" r:id="rId6"/>
    <p:sldId id="268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8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609600"/>
            <a:ext cx="7772400" cy="1470025"/>
          </a:xfrm>
        </p:spPr>
        <p:txBody>
          <a:bodyPr/>
          <a:lstStyle/>
          <a:p>
            <a:r>
              <a:rPr lang="en-US" dirty="0" smtClean="0"/>
              <a:t>Matrix Multiplication Using Divide and Conquer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7773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smtClean="0">
                <a:solidFill>
                  <a:srgbClr val="9E189E"/>
                </a:solidFill>
              </a:rPr>
              <a:t>Basic Matrix Multiplication</a:t>
            </a:r>
          </a:p>
        </p:txBody>
      </p:sp>
      <p:sp>
        <p:nvSpPr>
          <p:cNvPr id="6147" name="Rectangle 5"/>
          <p:cNvSpPr>
            <a:spLocks noChangeArrowheads="1"/>
          </p:cNvSpPr>
          <p:nvPr/>
        </p:nvSpPr>
        <p:spPr bwMode="auto">
          <a:xfrm>
            <a:off x="685800" y="1524000"/>
            <a:ext cx="7848600" cy="145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endParaRPr lang="tr-TR" sz="2800" dirty="0">
              <a:latin typeface="Times New Roman" charset="0"/>
            </a:endParaRPr>
          </a:p>
          <a:p>
            <a:pPr>
              <a:spcBef>
                <a:spcPct val="20000"/>
              </a:spcBef>
            </a:pPr>
            <a:r>
              <a:rPr lang="en-US" sz="2800" dirty="0">
                <a:latin typeface="Times New Roman" charset="0"/>
              </a:rPr>
              <a:t>Suppose we want to multiply two matrices of size </a:t>
            </a:r>
            <a:r>
              <a:rPr lang="en-US" sz="2800" i="1" dirty="0">
                <a:latin typeface="Times New Roman" charset="0"/>
              </a:rPr>
              <a:t>N </a:t>
            </a:r>
            <a:r>
              <a:rPr lang="en-US" sz="2800" dirty="0">
                <a:latin typeface="Times New Roman" charset="0"/>
              </a:rPr>
              <a:t>x </a:t>
            </a:r>
            <a:r>
              <a:rPr lang="en-US" sz="2800" i="1" dirty="0">
                <a:latin typeface="Times New Roman" charset="0"/>
              </a:rPr>
              <a:t>N</a:t>
            </a:r>
            <a:r>
              <a:rPr lang="en-US" sz="2800" dirty="0">
                <a:latin typeface="Times New Roman" charset="0"/>
              </a:rPr>
              <a:t>: for example </a:t>
            </a:r>
            <a:r>
              <a:rPr lang="en-US" sz="2800" i="1" dirty="0">
                <a:latin typeface="Times New Roman" charset="0"/>
              </a:rPr>
              <a:t>A</a:t>
            </a:r>
            <a:r>
              <a:rPr lang="en-US" sz="2800" dirty="0">
                <a:latin typeface="Times New Roman" charset="0"/>
              </a:rPr>
              <a:t> x </a:t>
            </a:r>
            <a:r>
              <a:rPr lang="en-US" sz="2800" i="1" dirty="0">
                <a:latin typeface="Times New Roman" charset="0"/>
              </a:rPr>
              <a:t>B = C</a:t>
            </a:r>
            <a:r>
              <a:rPr lang="en-US" sz="2800" dirty="0">
                <a:latin typeface="Times New Roman" charset="0"/>
              </a:rPr>
              <a:t>.</a:t>
            </a:r>
          </a:p>
        </p:txBody>
      </p:sp>
      <p:sp>
        <p:nvSpPr>
          <p:cNvPr id="6148" name="Rectangle 8"/>
          <p:cNvSpPr>
            <a:spLocks noChangeArrowheads="1"/>
          </p:cNvSpPr>
          <p:nvPr/>
        </p:nvSpPr>
        <p:spPr bwMode="auto">
          <a:xfrm>
            <a:off x="685800" y="4419600"/>
            <a:ext cx="4572000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tr-TR" b="1">
                <a:latin typeface="Times New Roman" charset="0"/>
              </a:rPr>
              <a:t>C</a:t>
            </a:r>
            <a:r>
              <a:rPr lang="tr-TR" b="1" baseline="-30000">
                <a:latin typeface="Times New Roman" charset="0"/>
              </a:rPr>
              <a:t>11</a:t>
            </a:r>
            <a:r>
              <a:rPr lang="tr-TR" b="1">
                <a:latin typeface="Times New Roman" charset="0"/>
              </a:rPr>
              <a:t> = a</a:t>
            </a:r>
            <a:r>
              <a:rPr lang="tr-TR" b="1" baseline="-30000">
                <a:latin typeface="Times New Roman" charset="0"/>
              </a:rPr>
              <a:t>11</a:t>
            </a:r>
            <a:r>
              <a:rPr lang="tr-TR" b="1">
                <a:latin typeface="Times New Roman" charset="0"/>
              </a:rPr>
              <a:t>b</a:t>
            </a:r>
            <a:r>
              <a:rPr lang="tr-TR" b="1" baseline="-30000">
                <a:latin typeface="Times New Roman" charset="0"/>
              </a:rPr>
              <a:t>11</a:t>
            </a:r>
            <a:r>
              <a:rPr lang="tr-TR" b="1">
                <a:latin typeface="Times New Roman" charset="0"/>
              </a:rPr>
              <a:t> + a</a:t>
            </a:r>
            <a:r>
              <a:rPr lang="tr-TR" b="1" baseline="-30000">
                <a:latin typeface="Times New Roman" charset="0"/>
              </a:rPr>
              <a:t>12</a:t>
            </a:r>
            <a:r>
              <a:rPr lang="tr-TR" b="1">
                <a:latin typeface="Times New Roman" charset="0"/>
              </a:rPr>
              <a:t>b</a:t>
            </a:r>
            <a:r>
              <a:rPr lang="tr-TR" b="1" baseline="-30000">
                <a:latin typeface="Times New Roman" charset="0"/>
              </a:rPr>
              <a:t>21</a:t>
            </a:r>
            <a:r>
              <a:rPr lang="tr-TR" b="1">
                <a:latin typeface="Times New Roman" charset="0"/>
              </a:rPr>
              <a:t> </a:t>
            </a:r>
          </a:p>
          <a:p>
            <a:pPr eaLnBrk="0" hangingPunct="0">
              <a:spcBef>
                <a:spcPct val="50000"/>
              </a:spcBef>
            </a:pPr>
            <a:r>
              <a:rPr lang="tr-TR" b="1">
                <a:latin typeface="Times New Roman" charset="0"/>
              </a:rPr>
              <a:t>C</a:t>
            </a:r>
            <a:r>
              <a:rPr lang="tr-TR" b="1" baseline="-30000">
                <a:latin typeface="Times New Roman" charset="0"/>
              </a:rPr>
              <a:t>12</a:t>
            </a:r>
            <a:r>
              <a:rPr lang="tr-TR" b="1">
                <a:latin typeface="Times New Roman" charset="0"/>
              </a:rPr>
              <a:t> = a</a:t>
            </a:r>
            <a:r>
              <a:rPr lang="tr-TR" b="1" baseline="-30000">
                <a:latin typeface="Times New Roman" charset="0"/>
              </a:rPr>
              <a:t>11</a:t>
            </a:r>
            <a:r>
              <a:rPr lang="tr-TR" b="1">
                <a:latin typeface="Times New Roman" charset="0"/>
              </a:rPr>
              <a:t>b</a:t>
            </a:r>
            <a:r>
              <a:rPr lang="tr-TR" b="1" baseline="-30000">
                <a:latin typeface="Times New Roman" charset="0"/>
              </a:rPr>
              <a:t>12</a:t>
            </a:r>
            <a:r>
              <a:rPr lang="tr-TR" b="1">
                <a:latin typeface="Times New Roman" charset="0"/>
              </a:rPr>
              <a:t> + a</a:t>
            </a:r>
            <a:r>
              <a:rPr lang="tr-TR" b="1" baseline="-30000">
                <a:latin typeface="Times New Roman" charset="0"/>
              </a:rPr>
              <a:t>12</a:t>
            </a:r>
            <a:r>
              <a:rPr lang="tr-TR" b="1">
                <a:latin typeface="Times New Roman" charset="0"/>
              </a:rPr>
              <a:t>b</a:t>
            </a:r>
            <a:r>
              <a:rPr lang="tr-TR" b="1" baseline="-30000">
                <a:latin typeface="Times New Roman" charset="0"/>
              </a:rPr>
              <a:t>22</a:t>
            </a:r>
            <a:r>
              <a:rPr lang="tr-TR" b="1">
                <a:latin typeface="Times New Roman" charset="0"/>
              </a:rPr>
              <a:t> </a:t>
            </a:r>
          </a:p>
          <a:p>
            <a:pPr eaLnBrk="0" hangingPunct="0">
              <a:spcBef>
                <a:spcPct val="50000"/>
              </a:spcBef>
            </a:pPr>
            <a:r>
              <a:rPr lang="tr-TR" b="1">
                <a:latin typeface="Times New Roman" charset="0"/>
              </a:rPr>
              <a:t>C</a:t>
            </a:r>
            <a:r>
              <a:rPr lang="tr-TR" b="1" baseline="-30000">
                <a:latin typeface="Times New Roman" charset="0"/>
              </a:rPr>
              <a:t>21</a:t>
            </a:r>
            <a:r>
              <a:rPr lang="tr-TR" b="1">
                <a:latin typeface="Times New Roman" charset="0"/>
              </a:rPr>
              <a:t> = a</a:t>
            </a:r>
            <a:r>
              <a:rPr lang="tr-TR" b="1" baseline="-30000">
                <a:latin typeface="Times New Roman" charset="0"/>
              </a:rPr>
              <a:t>21</a:t>
            </a:r>
            <a:r>
              <a:rPr lang="tr-TR" b="1">
                <a:latin typeface="Times New Roman" charset="0"/>
              </a:rPr>
              <a:t>b</a:t>
            </a:r>
            <a:r>
              <a:rPr lang="tr-TR" b="1" baseline="-30000">
                <a:latin typeface="Times New Roman" charset="0"/>
              </a:rPr>
              <a:t>11</a:t>
            </a:r>
            <a:r>
              <a:rPr lang="tr-TR" b="1">
                <a:latin typeface="Times New Roman" charset="0"/>
              </a:rPr>
              <a:t> + a</a:t>
            </a:r>
            <a:r>
              <a:rPr lang="tr-TR" b="1" baseline="-30000">
                <a:latin typeface="Times New Roman" charset="0"/>
              </a:rPr>
              <a:t>22</a:t>
            </a:r>
            <a:r>
              <a:rPr lang="tr-TR" b="1">
                <a:latin typeface="Times New Roman" charset="0"/>
              </a:rPr>
              <a:t>b</a:t>
            </a:r>
            <a:r>
              <a:rPr lang="tr-TR" b="1" baseline="-30000">
                <a:latin typeface="Times New Roman" charset="0"/>
              </a:rPr>
              <a:t>21</a:t>
            </a:r>
            <a:r>
              <a:rPr lang="tr-TR" b="1">
                <a:latin typeface="Times New Roman" charset="0"/>
              </a:rPr>
              <a:t> </a:t>
            </a:r>
          </a:p>
          <a:p>
            <a:pPr eaLnBrk="0" hangingPunct="0">
              <a:spcBef>
                <a:spcPct val="50000"/>
              </a:spcBef>
            </a:pPr>
            <a:r>
              <a:rPr lang="tr-TR" b="1">
                <a:latin typeface="Times New Roman" charset="0"/>
              </a:rPr>
              <a:t>C</a:t>
            </a:r>
            <a:r>
              <a:rPr lang="tr-TR" b="1" baseline="-30000">
                <a:latin typeface="Times New Roman" charset="0"/>
              </a:rPr>
              <a:t>22</a:t>
            </a:r>
            <a:r>
              <a:rPr lang="tr-TR" b="1">
                <a:latin typeface="Times New Roman" charset="0"/>
              </a:rPr>
              <a:t> = a</a:t>
            </a:r>
            <a:r>
              <a:rPr lang="tr-TR" b="1" baseline="-30000">
                <a:latin typeface="Times New Roman" charset="0"/>
              </a:rPr>
              <a:t>21</a:t>
            </a:r>
            <a:r>
              <a:rPr lang="tr-TR" b="1">
                <a:latin typeface="Times New Roman" charset="0"/>
              </a:rPr>
              <a:t>b</a:t>
            </a:r>
            <a:r>
              <a:rPr lang="tr-TR" b="1" baseline="-30000">
                <a:latin typeface="Times New Roman" charset="0"/>
              </a:rPr>
              <a:t>12</a:t>
            </a:r>
            <a:r>
              <a:rPr lang="tr-TR" b="1">
                <a:latin typeface="Times New Roman" charset="0"/>
              </a:rPr>
              <a:t> + a</a:t>
            </a:r>
            <a:r>
              <a:rPr lang="tr-TR" b="1" baseline="-30000">
                <a:latin typeface="Times New Roman" charset="0"/>
              </a:rPr>
              <a:t>22</a:t>
            </a:r>
            <a:r>
              <a:rPr lang="tr-TR" b="1">
                <a:latin typeface="Times New Roman" charset="0"/>
              </a:rPr>
              <a:t>b</a:t>
            </a:r>
            <a:r>
              <a:rPr lang="tr-TR" b="1" baseline="-30000">
                <a:latin typeface="Times New Roman" charset="0"/>
              </a:rPr>
              <a:t>22</a:t>
            </a:r>
          </a:p>
        </p:txBody>
      </p:sp>
      <p:pic>
        <p:nvPicPr>
          <p:cNvPr id="6149" name="Picture 9" descr="D:\GRAFHHHH\matrix\Sunum icin\str1_files\img1_trans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3276600"/>
            <a:ext cx="4495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0" name="Text Box 10"/>
          <p:cNvSpPr txBox="1">
            <a:spLocks noChangeArrowheads="1"/>
          </p:cNvSpPr>
          <p:nvPr/>
        </p:nvSpPr>
        <p:spPr bwMode="auto">
          <a:xfrm>
            <a:off x="4267200" y="5791200"/>
            <a:ext cx="4876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tr-TR" sz="2000" dirty="0">
                <a:latin typeface="Times New Roman" charset="0"/>
              </a:rPr>
              <a:t>2x2 matrix multiplication can be accomplished in  8 multiplication</a:t>
            </a:r>
            <a:r>
              <a:rPr lang="tr-TR" sz="2000" b="1" dirty="0">
                <a:latin typeface="Times New Roman" charset="0"/>
              </a:rPr>
              <a:t>.(2</a:t>
            </a:r>
            <a:r>
              <a:rPr lang="tr-TR" sz="2000" b="1" baseline="30000" dirty="0">
                <a:latin typeface="Times New Roman" charset="0"/>
              </a:rPr>
              <a:t>log</a:t>
            </a:r>
            <a:r>
              <a:rPr lang="tr-TR" sz="2000" b="1" baseline="-25000" dirty="0">
                <a:latin typeface="Times New Roman" charset="0"/>
              </a:rPr>
              <a:t>2</a:t>
            </a:r>
            <a:r>
              <a:rPr lang="tr-TR" sz="2000" b="1" baseline="30000" dirty="0">
                <a:latin typeface="Times New Roman" charset="0"/>
              </a:rPr>
              <a:t>8</a:t>
            </a:r>
            <a:r>
              <a:rPr lang="tr-TR" sz="2000" b="1" dirty="0">
                <a:latin typeface="Times New Roman" charset="0"/>
              </a:rPr>
              <a:t> =2</a:t>
            </a:r>
            <a:r>
              <a:rPr lang="tr-TR" sz="2000" b="1" baseline="30000" dirty="0">
                <a:latin typeface="Times New Roman" charset="0"/>
              </a:rPr>
              <a:t>3</a:t>
            </a:r>
            <a:r>
              <a:rPr lang="tr-TR" sz="2000" b="1" dirty="0">
                <a:latin typeface="Times New Roman" charset="0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smtClean="0">
                <a:solidFill>
                  <a:srgbClr val="9E189E"/>
                </a:solidFill>
              </a:rPr>
              <a:t>Basic Matrix Multiplication</a:t>
            </a:r>
          </a:p>
        </p:txBody>
      </p:sp>
      <p:graphicFrame>
        <p:nvGraphicFramePr>
          <p:cNvPr id="1026" name="Object 6"/>
          <p:cNvGraphicFramePr>
            <a:graphicFrameLocks noChangeAspect="1"/>
          </p:cNvGraphicFramePr>
          <p:nvPr/>
        </p:nvGraphicFramePr>
        <p:xfrm>
          <a:off x="3810000" y="4267200"/>
          <a:ext cx="5029200" cy="1778000"/>
        </p:xfrm>
        <a:graphic>
          <a:graphicData uri="http://schemas.openxmlformats.org/presentationml/2006/ole">
            <p:oleObj spid="_x0000_s15362" name="Equation" r:id="rId3" imgW="2438280" imgH="888840" progId="Equation.3">
              <p:embed/>
            </p:oleObj>
          </a:graphicData>
        </a:graphic>
      </p:graphicFrame>
      <p:sp>
        <p:nvSpPr>
          <p:cNvPr id="1028" name="Rectangle 7"/>
          <p:cNvSpPr>
            <a:spLocks noChangeArrowheads="1"/>
          </p:cNvSpPr>
          <p:nvPr/>
        </p:nvSpPr>
        <p:spPr bwMode="auto">
          <a:xfrm>
            <a:off x="762000" y="1905000"/>
            <a:ext cx="3124200" cy="2185988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Times New Roman" charset="0"/>
              </a:rPr>
              <a:t>void matrix_mult (){</a:t>
            </a:r>
            <a:endParaRPr lang="tr-TR" sz="1800">
              <a:latin typeface="Times New Roman" charset="0"/>
            </a:endParaRPr>
          </a:p>
          <a:p>
            <a:pPr>
              <a:spcBef>
                <a:spcPct val="50000"/>
              </a:spcBef>
            </a:pPr>
            <a:r>
              <a:rPr lang="tr-TR" sz="1800">
                <a:latin typeface="Times New Roman" charset="0"/>
              </a:rPr>
              <a:t> </a:t>
            </a:r>
            <a:r>
              <a:rPr lang="en-US" sz="1800">
                <a:latin typeface="Times New Roman" charset="0"/>
              </a:rPr>
              <a:t> for (i = 1; i &lt;= N; i++) {  </a:t>
            </a:r>
            <a:r>
              <a:rPr lang="tr-TR" sz="1800">
                <a:latin typeface="Times New Roman" charset="0"/>
              </a:rPr>
              <a:t>                                                                </a:t>
            </a:r>
          </a:p>
          <a:p>
            <a:pPr>
              <a:spcBef>
                <a:spcPct val="50000"/>
              </a:spcBef>
            </a:pPr>
            <a:r>
              <a:rPr lang="tr-TR" sz="1800">
                <a:latin typeface="Times New Roman" charset="0"/>
              </a:rPr>
              <a:t>        </a:t>
            </a:r>
            <a:r>
              <a:rPr lang="en-US" sz="1800">
                <a:latin typeface="Times New Roman" charset="0"/>
              </a:rPr>
              <a:t>for (j = 1; j &lt;= N; j++) {            </a:t>
            </a:r>
            <a:r>
              <a:rPr lang="tr-TR" sz="1800">
                <a:latin typeface="Times New Roman" charset="0"/>
              </a:rPr>
              <a:t>      	</a:t>
            </a:r>
            <a:r>
              <a:rPr lang="en-US" sz="1800">
                <a:latin typeface="Times New Roman" charset="0"/>
              </a:rPr>
              <a:t>compute C</a:t>
            </a:r>
            <a:r>
              <a:rPr lang="en-US" sz="1800" baseline="-25000">
                <a:latin typeface="Times New Roman" charset="0"/>
              </a:rPr>
              <a:t>i,j</a:t>
            </a:r>
            <a:r>
              <a:rPr lang="en-US" sz="1800">
                <a:latin typeface="Times New Roman" charset="0"/>
              </a:rPr>
              <a:t>;</a:t>
            </a:r>
            <a:r>
              <a:rPr lang="tr-TR" sz="1800">
                <a:latin typeface="Times New Roman" charset="0"/>
              </a:rPr>
              <a:t>           </a:t>
            </a:r>
            <a:r>
              <a:rPr lang="en-US" sz="1800">
                <a:latin typeface="Times New Roman" charset="0"/>
              </a:rPr>
              <a:t>   </a:t>
            </a:r>
            <a:r>
              <a:rPr lang="tr-TR" sz="1800">
                <a:latin typeface="Times New Roman" charset="0"/>
              </a:rPr>
              <a:t>               	                             </a:t>
            </a:r>
            <a:r>
              <a:rPr lang="en-US" sz="1800">
                <a:latin typeface="Times New Roman" charset="0"/>
              </a:rPr>
              <a:t>}</a:t>
            </a:r>
            <a:endParaRPr lang="tr-TR" sz="1800">
              <a:latin typeface="Times New Roman" charset="0"/>
            </a:endParaRPr>
          </a:p>
          <a:p>
            <a:pPr>
              <a:spcBef>
                <a:spcPct val="50000"/>
              </a:spcBef>
            </a:pPr>
            <a:r>
              <a:rPr lang="tr-TR" sz="1800">
                <a:latin typeface="Times New Roman" charset="0"/>
              </a:rPr>
              <a:t>  }</a:t>
            </a:r>
            <a:r>
              <a:rPr lang="en-US" sz="1800">
                <a:latin typeface="Times New Roman" charset="0"/>
              </a:rPr>
              <a:t>}</a:t>
            </a:r>
          </a:p>
        </p:txBody>
      </p:sp>
      <p:sp>
        <p:nvSpPr>
          <p:cNvPr id="1029" name="Text Box 8"/>
          <p:cNvSpPr txBox="1">
            <a:spLocks noChangeArrowheads="1"/>
          </p:cNvSpPr>
          <p:nvPr/>
        </p:nvSpPr>
        <p:spPr bwMode="auto">
          <a:xfrm>
            <a:off x="4038600" y="2209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algorithm</a:t>
            </a:r>
          </a:p>
        </p:txBody>
      </p:sp>
      <p:sp>
        <p:nvSpPr>
          <p:cNvPr id="1030" name="Text Box 9"/>
          <p:cNvSpPr txBox="1">
            <a:spLocks noChangeArrowheads="1"/>
          </p:cNvSpPr>
          <p:nvPr/>
        </p:nvSpPr>
        <p:spPr bwMode="auto">
          <a:xfrm>
            <a:off x="1447800" y="48006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Time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pPr eaLnBrk="1" hangingPunct="1"/>
            <a:r>
              <a:rPr lang="tr-TR" smtClean="0">
                <a:solidFill>
                  <a:srgbClr val="9E189E"/>
                </a:solidFill>
              </a:rPr>
              <a:t>Strassens’s Matrix Multiplication</a:t>
            </a:r>
          </a:p>
        </p:txBody>
      </p:sp>
      <p:sp>
        <p:nvSpPr>
          <p:cNvPr id="71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tr-TR" sz="2800" dirty="0" smtClean="0">
              <a:latin typeface="Times New Roman" charset="0"/>
            </a:endParaRPr>
          </a:p>
          <a:p>
            <a:pPr eaLnBrk="1" hangingPunct="1"/>
            <a:r>
              <a:rPr lang="tr-TR" sz="2800" dirty="0" smtClean="0">
                <a:latin typeface="Times New Roman" charset="0"/>
              </a:rPr>
              <a:t>Strassen showed that 2x2 matrix multiplication can be accomplished in  7 multiplication and 18 additions or subtractions. </a:t>
            </a:r>
            <a:r>
              <a:rPr lang="tr-TR" sz="2000" b="1" dirty="0" smtClean="0">
                <a:latin typeface="Times New Roman" charset="0"/>
              </a:rPr>
              <a:t>.(2</a:t>
            </a:r>
            <a:r>
              <a:rPr lang="tr-TR" sz="2000" b="1" baseline="30000" dirty="0" smtClean="0">
                <a:latin typeface="Times New Roman" charset="0"/>
              </a:rPr>
              <a:t>log</a:t>
            </a:r>
            <a:r>
              <a:rPr lang="tr-TR" sz="2000" b="1" baseline="-25000" dirty="0" smtClean="0">
                <a:latin typeface="Times New Roman" charset="0"/>
              </a:rPr>
              <a:t>2</a:t>
            </a:r>
            <a:r>
              <a:rPr lang="tr-TR" sz="2000" b="1" baseline="30000" dirty="0" smtClean="0">
                <a:latin typeface="Times New Roman" charset="0"/>
              </a:rPr>
              <a:t>7</a:t>
            </a:r>
            <a:r>
              <a:rPr lang="tr-TR" sz="2000" b="1" dirty="0" smtClean="0">
                <a:latin typeface="Times New Roman" charset="0"/>
              </a:rPr>
              <a:t> =2</a:t>
            </a:r>
            <a:r>
              <a:rPr lang="tr-TR" sz="2000" b="1" baseline="30000" dirty="0" smtClean="0">
                <a:latin typeface="Times New Roman" charset="0"/>
              </a:rPr>
              <a:t>2.807</a:t>
            </a:r>
            <a:r>
              <a:rPr lang="tr-TR" sz="2000" b="1" dirty="0" smtClean="0">
                <a:latin typeface="Times New Roman" charset="0"/>
              </a:rPr>
              <a:t>)</a:t>
            </a:r>
            <a:endParaRPr lang="tr-TR" sz="2800" b="1" dirty="0" smtClean="0">
              <a:latin typeface="Times New Roman" charset="0"/>
            </a:endParaRPr>
          </a:p>
          <a:p>
            <a:pPr eaLnBrk="1" hangingPunct="1"/>
            <a:endParaRPr lang="tr-TR" sz="2800" dirty="0" smtClean="0">
              <a:latin typeface="Times New Roman" charset="0"/>
            </a:endParaRPr>
          </a:p>
          <a:p>
            <a:pPr eaLnBrk="1" hangingPunct="1"/>
            <a:r>
              <a:rPr lang="tr-TR" sz="2800" dirty="0" smtClean="0">
                <a:latin typeface="Times New Roman" charset="0"/>
              </a:rPr>
              <a:t>This reduce can be done by </a:t>
            </a:r>
            <a:r>
              <a:rPr lang="en-US" sz="2800" dirty="0" smtClean="0">
                <a:latin typeface="Times New Roman" charset="0"/>
              </a:rPr>
              <a:t>Divide and Conquer Approach</a:t>
            </a:r>
            <a:r>
              <a:rPr lang="tr-TR" sz="2800" dirty="0" smtClean="0">
                <a:latin typeface="Times New Roman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Divide and Conquer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Step 1: Divide matrices into sub matrices </a:t>
            </a:r>
            <a:r>
              <a:rPr lang="en-US" dirty="0" smtClean="0"/>
              <a:t>of size n/2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Step 2: Multiply each part using recursion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Step 3: Solve the terminating condition (2 x 2) using basic/</a:t>
            </a:r>
            <a:r>
              <a:rPr lang="en-US" dirty="0" err="1" smtClean="0"/>
              <a:t>Strassen’s</a:t>
            </a:r>
            <a:r>
              <a:rPr lang="en-US" dirty="0" smtClean="0"/>
              <a:t> Matrix multiplication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Assume n is power of 2</a:t>
            </a: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529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19400" y="4648200"/>
            <a:ext cx="25146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389206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763000" cy="11430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9E189E"/>
                </a:solidFill>
                <a:latin typeface="Times New Roman" charset="0"/>
              </a:rPr>
              <a:t>Divide and Conquer Matrix Multiply</a:t>
            </a:r>
            <a:endParaRPr lang="tr-TR" smtClean="0">
              <a:solidFill>
                <a:srgbClr val="9E189E"/>
              </a:solidFill>
              <a:latin typeface="Times New Roman" charset="0"/>
            </a:endParaRP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609600" y="1616075"/>
            <a:ext cx="807720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sz="3700">
                <a:cs typeface="Tahoma" pitchFamily="34" charset="0"/>
                <a:sym typeface="Symbol" pitchFamily="18" charset="2"/>
              </a:rPr>
              <a:t>    A</a:t>
            </a:r>
            <a:r>
              <a:rPr lang="en-US" sz="3700" b="1">
                <a:cs typeface="Tahoma" pitchFamily="34" charset="0"/>
                <a:sym typeface="Symbol" pitchFamily="18" charset="2"/>
              </a:rPr>
              <a:t>           </a:t>
            </a:r>
            <a:r>
              <a:rPr lang="en-US" sz="3700">
                <a:cs typeface="Tahoma" pitchFamily="34" charset="0"/>
                <a:sym typeface="Symbol" pitchFamily="18" charset="2"/>
              </a:rPr>
              <a:t>B</a:t>
            </a:r>
            <a:r>
              <a:rPr lang="en-US" sz="3700" b="1">
                <a:cs typeface="Tahoma" pitchFamily="34" charset="0"/>
                <a:sym typeface="Symbol" pitchFamily="18" charset="2"/>
              </a:rPr>
              <a:t>     </a:t>
            </a:r>
            <a:r>
              <a:rPr lang="en-US" sz="3700">
                <a:cs typeface="Tahoma" pitchFamily="34" charset="0"/>
                <a:sym typeface="Symbol" pitchFamily="18" charset="2"/>
              </a:rPr>
              <a:t>=             R</a:t>
            </a:r>
          </a:p>
        </p:txBody>
      </p:sp>
      <p:graphicFrame>
        <p:nvGraphicFramePr>
          <p:cNvPr id="16388" name="Group 4"/>
          <p:cNvGraphicFramePr>
            <a:graphicFrameLocks noGrp="1"/>
          </p:cNvGraphicFramePr>
          <p:nvPr/>
        </p:nvGraphicFramePr>
        <p:xfrm>
          <a:off x="609600" y="2387600"/>
          <a:ext cx="1614488" cy="1422400"/>
        </p:xfrm>
        <a:graphic>
          <a:graphicData uri="http://schemas.openxmlformats.org/drawingml/2006/table">
            <a:tbl>
              <a:tblPr/>
              <a:tblGrid>
                <a:gridCol w="808038"/>
                <a:gridCol w="806450"/>
              </a:tblGrid>
              <a:tr h="711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ct val="3500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428" name="Group 44"/>
          <p:cNvGraphicFramePr>
            <a:graphicFrameLocks noGrp="1"/>
          </p:cNvGraphicFramePr>
          <p:nvPr/>
        </p:nvGraphicFramePr>
        <p:xfrm>
          <a:off x="2667000" y="2362200"/>
          <a:ext cx="1614488" cy="1447800"/>
        </p:xfrm>
        <a:graphic>
          <a:graphicData uri="http://schemas.openxmlformats.org/drawingml/2006/table">
            <a:tbl>
              <a:tblPr/>
              <a:tblGrid>
                <a:gridCol w="808038"/>
                <a:gridCol w="806450"/>
              </a:tblGrid>
              <a:tr h="736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ct val="3500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427" name="Group 43"/>
          <p:cNvGraphicFramePr>
            <a:graphicFrameLocks noGrp="1"/>
          </p:cNvGraphicFramePr>
          <p:nvPr/>
        </p:nvGraphicFramePr>
        <p:xfrm>
          <a:off x="4572000" y="2362200"/>
          <a:ext cx="4419600" cy="1422400"/>
        </p:xfrm>
        <a:graphic>
          <a:graphicData uri="http://schemas.openxmlformats.org/drawingml/2006/table">
            <a:tbl>
              <a:tblPr/>
              <a:tblGrid>
                <a:gridCol w="2286000"/>
                <a:gridCol w="2133600"/>
              </a:tblGrid>
              <a:tr h="711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ct val="3500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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+A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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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+A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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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+A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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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+A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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53" name="Text Box 37"/>
          <p:cNvSpPr txBox="1">
            <a:spLocks noChangeArrowheads="1"/>
          </p:cNvSpPr>
          <p:nvPr/>
        </p:nvSpPr>
        <p:spPr bwMode="auto">
          <a:xfrm>
            <a:off x="2209800" y="2882900"/>
            <a:ext cx="4413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65000"/>
              </a:lnSpc>
              <a:spcBef>
                <a:spcPct val="20000"/>
              </a:spcBef>
            </a:pPr>
            <a:r>
              <a:rPr lang="en-US" sz="3700" b="1">
                <a:cs typeface="Tahoma" pitchFamily="34" charset="0"/>
                <a:sym typeface="Symbol" pitchFamily="18" charset="2"/>
              </a:rPr>
              <a:t></a:t>
            </a:r>
            <a:endParaRPr lang="en-US" sz="3700" b="1"/>
          </a:p>
        </p:txBody>
      </p:sp>
      <p:sp>
        <p:nvSpPr>
          <p:cNvPr id="9254" name="Text Box 38"/>
          <p:cNvSpPr txBox="1">
            <a:spLocks noChangeArrowheads="1"/>
          </p:cNvSpPr>
          <p:nvPr/>
        </p:nvSpPr>
        <p:spPr bwMode="auto">
          <a:xfrm>
            <a:off x="4191000" y="2895600"/>
            <a:ext cx="4413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70000"/>
              </a:lnSpc>
              <a:spcBef>
                <a:spcPct val="20000"/>
              </a:spcBef>
            </a:pPr>
            <a:r>
              <a:rPr lang="en-US" sz="3700">
                <a:cs typeface="Tahoma" pitchFamily="34" charset="0"/>
                <a:sym typeface="Symbol" pitchFamily="18" charset="2"/>
              </a:rPr>
              <a:t>=</a:t>
            </a:r>
            <a:endParaRPr lang="en-US" sz="3700"/>
          </a:p>
        </p:txBody>
      </p:sp>
      <p:sp>
        <p:nvSpPr>
          <p:cNvPr id="9255" name="Rectangle 45"/>
          <p:cNvSpPr>
            <a:spLocks noChangeArrowheads="1"/>
          </p:cNvSpPr>
          <p:nvPr/>
        </p:nvSpPr>
        <p:spPr bwMode="auto">
          <a:xfrm>
            <a:off x="609600" y="3886200"/>
            <a:ext cx="8382000" cy="253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endParaRPr lang="tr-TR">
              <a:latin typeface="Times New Roman" charset="0"/>
            </a:endParaRP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>
                <a:latin typeface="Times New Roman" charset="0"/>
              </a:rPr>
              <a:t>Divide matrices into sub-matrices: A</a:t>
            </a:r>
            <a:r>
              <a:rPr lang="en-US" baseline="-25000">
                <a:latin typeface="Times New Roman" charset="0"/>
              </a:rPr>
              <a:t>0 </a:t>
            </a:r>
            <a:r>
              <a:rPr lang="en-US">
                <a:latin typeface="Times New Roman" charset="0"/>
              </a:rPr>
              <a:t>, A</a:t>
            </a:r>
            <a:r>
              <a:rPr lang="en-US" baseline="-25000">
                <a:latin typeface="Times New Roman" charset="0"/>
              </a:rPr>
              <a:t>1</a:t>
            </a:r>
            <a:r>
              <a:rPr lang="en-US">
                <a:latin typeface="Times New Roman" charset="0"/>
              </a:rPr>
              <a:t>, A</a:t>
            </a:r>
            <a:r>
              <a:rPr lang="en-US" baseline="-25000">
                <a:latin typeface="Times New Roman" charset="0"/>
              </a:rPr>
              <a:t>2</a:t>
            </a:r>
            <a:r>
              <a:rPr lang="en-US">
                <a:latin typeface="Times New Roman" charset="0"/>
              </a:rPr>
              <a:t> etc 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>
                <a:latin typeface="Times New Roman" charset="0"/>
              </a:rPr>
              <a:t>Use blocked matrix multiply equations</a:t>
            </a:r>
            <a:endParaRPr lang="tr-TR">
              <a:latin typeface="Times New Roman" charset="0"/>
            </a:endParaRPr>
          </a:p>
          <a:p>
            <a:pPr eaLnBrk="0" hangingPunct="0">
              <a:spcBef>
                <a:spcPct val="20000"/>
              </a:spcBef>
              <a:buFontTx/>
              <a:buChar char="•"/>
            </a:pPr>
            <a:r>
              <a:rPr lang="en-US">
                <a:latin typeface="Times New Roman" charset="0"/>
              </a:rPr>
              <a:t>Recursively multiply sub-matrices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endParaRPr lang="en-US">
              <a:latin typeface="Times New Roman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Strassen’s</a:t>
            </a:r>
            <a:r>
              <a:rPr lang="en-US" dirty="0" smtClean="0"/>
              <a:t> </a:t>
            </a:r>
            <a:r>
              <a:rPr lang="en-US" dirty="0" smtClean="0"/>
              <a:t>Matrix Multiplication</a:t>
            </a:r>
            <a:br>
              <a:rPr lang="en-US" dirty="0" smtClean="0"/>
            </a:br>
            <a:endParaRPr 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</p:spPr>
            <p:txBody>
              <a:bodyPr>
                <a:normAutofit fontScale="77500" lnSpcReduction="20000"/>
              </a:bodyPr>
              <a:lstStyle/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Define seven sub matrix products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/>
                          </a:rPr>
                          <m:t>𝐹</m:t>
                        </m:r>
                        <m:r>
                          <a:rPr lang="en-US" b="0" i="1" dirty="0" smtClean="0">
                            <a:latin typeface="Cambria Math"/>
                          </a:rPr>
                          <m:t> −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𝐻</m:t>
                        </m:r>
                      </m:e>
                    </m:d>
                  </m:oMath>
                </a14:m>
                <a:endParaRPr lang="en-US" b="0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𝐴</m:t>
                        </m:r>
                        <m:r>
                          <a:rPr lang="en-US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b="0" i="1" dirty="0" smtClean="0">
                        <a:latin typeface="Cambria Math"/>
                      </a:rPr>
                      <m:t>𝐻</m:t>
                    </m:r>
                  </m:oMath>
                </a14:m>
                <a:endParaRPr lang="en-US" b="0" dirty="0" smtClean="0"/>
              </a:p>
              <a:p>
                <a:pPr marL="0" indent="0">
                  <a:buNone/>
                </a:pP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/>
                          </a:rPr>
                          <m:t>𝐶</m:t>
                        </m:r>
                        <m:r>
                          <a:rPr lang="en-US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𝐷</m:t>
                        </m:r>
                      </m:e>
                    </m:d>
                    <m:r>
                      <a:rPr lang="en-US" b="0" i="1" dirty="0" smtClean="0">
                        <a:latin typeface="Cambria Math"/>
                      </a:rPr>
                      <m:t>𝐸</m:t>
                    </m:r>
                  </m:oMath>
                </a14:m>
                <a:endParaRPr lang="en-US" b="0" dirty="0" smtClean="0"/>
              </a:p>
              <a:p>
                <a:pPr marL="0" indent="0">
                  <a:buNone/>
                </a:pP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𝐷</m:t>
                    </m:r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/>
                          </a:rPr>
                          <m:t>𝐺</m:t>
                        </m:r>
                        <m:r>
                          <a:rPr lang="en-US" i="1" dirty="0">
                            <a:latin typeface="Cambria Math"/>
                          </a:rPr>
                          <m:t> −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𝐸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b="0" i="1" dirty="0" smtClean="0">
                        <a:latin typeface="Cambria Math"/>
                      </a:rPr>
                      <m:t>+</m:t>
                    </m:r>
                    <m:r>
                      <a:rPr lang="en-US" b="0" i="1" dirty="0" smtClean="0">
                        <a:latin typeface="Cambria Math"/>
                      </a:rPr>
                      <m:t>𝐷</m:t>
                    </m:r>
                    <m:r>
                      <a:rPr lang="en-US" b="0" i="1" dirty="0" smtClean="0">
                        <a:latin typeface="Cambria Math"/>
                      </a:rPr>
                      <m:t>)</m:t>
                    </m:r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/>
                          </a:rPr>
                          <m:t>𝐸</m:t>
                        </m:r>
                        <m:r>
                          <a:rPr lang="en-US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i="1" dirty="0">
                            <a:latin typeface="Cambria Math"/>
                          </a:rPr>
                          <m:t>𝐻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    </m:t>
                        </m:r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/>
                          </a:rPr>
                          <m:t>𝐵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−</m:t>
                        </m:r>
                        <m:r>
                          <a:rPr lang="en-US" i="1" dirty="0">
                            <a:latin typeface="Cambria Math"/>
                          </a:rPr>
                          <m:t>𝐷</m:t>
                        </m:r>
                      </m:e>
                    </m:d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/>
                          </a:rPr>
                          <m:t>𝐺</m:t>
                        </m:r>
                        <m:r>
                          <a:rPr lang="en-US" i="1" dirty="0">
                            <a:latin typeface="Cambria Math"/>
                          </a:rPr>
                          <m:t>+</m:t>
                        </m:r>
                        <m:r>
                          <a:rPr lang="en-US" i="1" dirty="0">
                            <a:latin typeface="Cambria Math"/>
                          </a:rPr>
                          <m:t>𝐻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    </m:t>
                        </m:r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/>
                          </a:rPr>
                          <m:t>𝐴</m:t>
                        </m:r>
                        <m:r>
                          <a:rPr lang="en-US" i="1" dirty="0">
                            <a:latin typeface="Cambria Math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𝐶</m:t>
                        </m:r>
                      </m:e>
                    </m:d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/>
                          </a:rPr>
                          <m:t>𝐸</m:t>
                        </m:r>
                        <m:r>
                          <a:rPr lang="en-US" i="1" dirty="0">
                            <a:latin typeface="Cambria Math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𝐹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/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  <a:blipFill rotWithShape="1">
                <a:blip r:embed="rId2"/>
                <a:stretch>
                  <a:fillRect l="-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4131164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</p:spPr>
            <p:txBody>
              <a:bodyPr>
                <a:normAutofit fontScale="32500" lnSpcReduction="20000"/>
              </a:bodyPr>
              <a:lstStyle/>
              <a:p>
                <a:r>
                  <a:rPr lang="en-US" sz="6700" dirty="0" smtClean="0"/>
                  <a:t>Compute </a:t>
                </a:r>
                <a14:m>
                  <m:oMath xmlns:m="http://schemas.openxmlformats.org/officeDocument/2006/math">
                    <m:r>
                      <a:rPr lang="en-US" sz="6700" i="1">
                        <a:latin typeface="Cambria Math"/>
                      </a:rPr>
                      <m:t>𝐼</m:t>
                    </m:r>
                    <m:r>
                      <a:rPr lang="en-US" sz="67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67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67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6700" i="1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670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7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67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6700" i="1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sz="6700" i="1">
                        <a:latin typeface="Cambria Math"/>
                      </a:rPr>
                      <m:t>+ </m:t>
                    </m:r>
                    <m:sSub>
                      <m:sSubPr>
                        <m:ctrlPr>
                          <a:rPr lang="en-US" sz="67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67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6700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sz="6700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67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67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67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6700" dirty="0"/>
                  <a:t/>
                </a:r>
              </a:p>
              <a:p>
                <a:pPr lvl="1"/>
                <a:r>
                  <a:rPr lang="en-US" sz="6700" dirty="0"/>
                  <a:t>Check </a:t>
                </a:r>
                <a:r>
                  <a:rPr lang="en-US" sz="6700" dirty="0" smtClean="0"/>
                  <a:t>: whether I = AE + BG ?</a:t>
                </a:r>
              </a:p>
              <a:p>
                <a:pPr marL="457200" lvl="1" indent="0">
                  <a:buNone/>
                </a:pPr>
                <a:endParaRPr lang="en-US" sz="6700" dirty="0" smtClean="0"/>
              </a:p>
              <a:p>
                <a:r>
                  <a:rPr lang="en-US" sz="6700" dirty="0" smtClean="0"/>
                  <a:t>Compute </a:t>
                </a:r>
                <a14:m>
                  <m:oMath xmlns:m="http://schemas.openxmlformats.org/officeDocument/2006/math">
                    <m:r>
                      <a:rPr lang="en-US" sz="6700" b="0" i="1" smtClean="0">
                        <a:latin typeface="Cambria Math"/>
                      </a:rPr>
                      <m:t>𝐽</m:t>
                    </m:r>
                    <m:r>
                      <a:rPr lang="en-US" sz="6700" b="0" i="1" smtClean="0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sz="67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67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67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67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67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67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67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6700" dirty="0" smtClean="0"/>
                  <a:t/>
                </a:r>
              </a:p>
              <a:p>
                <a:pPr lvl="1"/>
                <a:r>
                  <a:rPr lang="en-US" sz="6700" dirty="0"/>
                  <a:t>Check : whether </a:t>
                </a:r>
                <a:r>
                  <a:rPr lang="en-US" sz="6700" dirty="0" smtClean="0"/>
                  <a:t>J </a:t>
                </a:r>
                <a:r>
                  <a:rPr lang="en-US" sz="6700" dirty="0"/>
                  <a:t>= </a:t>
                </a:r>
                <a:r>
                  <a:rPr lang="en-US" sz="6700" dirty="0" smtClean="0"/>
                  <a:t>AF + BH?</a:t>
                </a:r>
              </a:p>
              <a:p>
                <a:pPr marL="457200" lvl="1" indent="0">
                  <a:buNone/>
                </a:pPr>
                <a:endParaRPr lang="en-US" sz="6700" dirty="0" smtClean="0"/>
              </a:p>
              <a:p>
                <a:r>
                  <a:rPr lang="en-US" sz="6700" dirty="0" smtClean="0"/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6700" b="0" i="0" smtClean="0">
                        <a:latin typeface="Cambria Math"/>
                      </a:rPr>
                      <m:t>K</m:t>
                    </m:r>
                    <m:r>
                      <a:rPr lang="en-US" sz="6700" b="0" i="1" smtClean="0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sz="67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67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67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6700" b="0" i="1" smtClean="0">
                        <a:latin typeface="Cambria Math"/>
                      </a:rPr>
                      <m:t>+ </m:t>
                    </m:r>
                    <m:sSub>
                      <m:sSubPr>
                        <m:ctrlPr>
                          <a:rPr lang="en-US" sz="67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67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6700" b="0" i="1" smtClean="0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endParaRPr lang="en-US" sz="6700" dirty="0" smtClean="0"/>
              </a:p>
              <a:p>
                <a:pPr lvl="1"/>
                <a:r>
                  <a:rPr lang="en-US" sz="6700" dirty="0"/>
                  <a:t>Check : whether K</a:t>
                </a:r>
                <a:r>
                  <a:rPr lang="en-US" sz="6700" dirty="0" smtClean="0"/>
                  <a:t/>
                </a:r>
                <a:r>
                  <a:rPr lang="en-US" sz="6700" dirty="0"/>
                  <a:t>= </a:t>
                </a:r>
                <a:r>
                  <a:rPr lang="en-US" sz="6700" dirty="0" smtClean="0"/>
                  <a:t>CE + DG?</a:t>
                </a:r>
              </a:p>
              <a:p>
                <a:pPr marL="457200" lvl="1" indent="0">
                  <a:buNone/>
                </a:pPr>
                <a:endParaRPr lang="en-US" sz="6700" dirty="0" smtClean="0"/>
              </a:p>
              <a:p>
                <a:r>
                  <a:rPr lang="en-US" sz="6700" dirty="0" smtClean="0"/>
                  <a:t>Compute </a:t>
                </a:r>
                <a14:m>
                  <m:oMath xmlns:m="http://schemas.openxmlformats.org/officeDocument/2006/math">
                    <m:r>
                      <a:rPr lang="en-US" sz="6700" b="0" i="1" smtClean="0">
                        <a:latin typeface="Cambria Math"/>
                      </a:rPr>
                      <m:t>𝐿</m:t>
                    </m:r>
                    <m:r>
                      <a:rPr lang="en-US" sz="6700" b="0" i="1" smtClean="0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sz="67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67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67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6700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67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67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6700" b="0" i="1" smtClean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sz="6700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67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67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67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6700" b="0" i="1" smtClean="0">
                        <a:latin typeface="Cambria Math"/>
                      </a:rPr>
                      <m:t>+ </m:t>
                    </m:r>
                    <m:sSub>
                      <m:sSubPr>
                        <m:ctrlPr>
                          <a:rPr lang="en-US" sz="67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67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6700" b="0" i="1" smtClean="0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endParaRPr lang="en-US" sz="6700" dirty="0" smtClean="0"/>
              </a:p>
              <a:p>
                <a:r>
                  <a:rPr lang="en-US" sz="6700" dirty="0"/>
                  <a:t>Check : whether </a:t>
                </a:r>
                <a:r>
                  <a:rPr lang="en-US" sz="6700" dirty="0" smtClean="0"/>
                  <a:t>L </a:t>
                </a:r>
                <a:r>
                  <a:rPr lang="en-US" sz="6700" dirty="0"/>
                  <a:t>= </a:t>
                </a:r>
                <a:r>
                  <a:rPr lang="en-US" sz="6700" dirty="0" smtClean="0"/>
                  <a:t>CF </a:t>
                </a:r>
                <a:r>
                  <a:rPr lang="en-US" sz="6700" dirty="0"/>
                  <a:t>+ </a:t>
                </a:r>
                <a:r>
                  <a:rPr lang="en-US" sz="6700" dirty="0" smtClean="0"/>
                  <a:t>DH?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/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  <a:blipFill rotWithShape="1">
                <a:blip r:embed="rId2"/>
                <a:stretch>
                  <a:fillRect l="-815" t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100605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We can compute Z = XY using seven recursive multiplications of matrices of size (n/2) x (n/2).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=7</m:t>
                    </m:r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𝑏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. For some constant </a:t>
                </a:r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>   b &gt; 0</a:t>
                </a:r>
              </a:p>
              <a:p>
                <a:r>
                  <a:rPr lang="en-US" dirty="0" smtClean="0"/>
                  <a:t>We can multiply two n x n matrices by </a:t>
                </a:r>
                <a:r>
                  <a:rPr lang="en-US" dirty="0" err="1" smtClean="0"/>
                  <a:t>Strassens</a:t>
                </a:r>
                <a:r>
                  <a:rPr lang="en-US" dirty="0" smtClean="0"/>
                  <a:t> in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7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dirty="0" smtClean="0"/>
                  <a:t>) time less than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3454008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r>
              <a:rPr lang="en-US" dirty="0" smtClean="0"/>
              <a:t>Applying this </a:t>
            </a:r>
            <a:r>
              <a:rPr lang="en-US" dirty="0" err="1" smtClean="0"/>
              <a:t>algo</a:t>
            </a:r>
            <a:r>
              <a:rPr lang="en-US" dirty="0" smtClean="0"/>
              <a:t> when n is not in the power of 2,</a:t>
            </a:r>
          </a:p>
          <a:p>
            <a:pPr marL="514350" indent="-514350">
              <a:buAutoNum type="arabicPeriod"/>
            </a:pPr>
            <a:r>
              <a:rPr lang="en-US" dirty="0" smtClean="0"/>
              <a:t>Make the size to the nearest power of 2.</a:t>
            </a:r>
          </a:p>
          <a:p>
            <a:pPr marL="514350" indent="-514350">
              <a:buAutoNum type="arabicPeriod"/>
            </a:pPr>
            <a:r>
              <a:rPr lang="en-US" dirty="0"/>
              <a:t> </a:t>
            </a:r>
            <a:r>
              <a:rPr lang="en-US" dirty="0" smtClean="0"/>
              <a:t>Make the value of all extra rows to be zero.</a:t>
            </a:r>
          </a:p>
          <a:p>
            <a:pPr marL="514350" indent="-514350">
              <a:buAutoNum type="arabicPeriod"/>
            </a:pPr>
            <a:r>
              <a:rPr lang="en-US" dirty="0" smtClean="0"/>
              <a:t>Make the value of all extra columns to be zero.</a:t>
            </a:r>
          </a:p>
          <a:p>
            <a:pPr marL="514350" indent="-514350">
              <a:buAutoNum type="arabicPeriod"/>
            </a:pPr>
            <a:r>
              <a:rPr lang="en-US" dirty="0" smtClean="0"/>
              <a:t>Then apply the </a:t>
            </a:r>
            <a:r>
              <a:rPr lang="en-US" dirty="0" err="1" smtClean="0"/>
              <a:t>algo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Ex : if n = 3, make a 4 x 4 matrix.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56803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311</Words>
  <Application>Microsoft Office PowerPoint</Application>
  <PresentationFormat>On-screen Show (4:3)</PresentationFormat>
  <Paragraphs>59</Paragraphs>
  <Slides>10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Microsoft Equation 3.0</vt:lpstr>
      <vt:lpstr>Matrix Multiplication Using Divide and Conquer</vt:lpstr>
      <vt:lpstr>Basic Matrix Multiplication</vt:lpstr>
      <vt:lpstr>Basic Matrix Multiplication</vt:lpstr>
      <vt:lpstr>Strassens’s Matrix Multiplication</vt:lpstr>
      <vt:lpstr>Using Divide and Conquer</vt:lpstr>
      <vt:lpstr>Divide and Conquer Matrix Multiply</vt:lpstr>
      <vt:lpstr>Strassen’s Matrix Multiplication 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Matrix Multiplication Using Divide and Conquer</dc:title>
  <dc:creator>user1</dc:creator>
  <cp:lastModifiedBy>Admin</cp:lastModifiedBy>
  <cp:revision>23</cp:revision>
  <dcterms:created xsi:type="dcterms:W3CDTF">2006-08-16T00:00:00Z</dcterms:created>
  <dcterms:modified xsi:type="dcterms:W3CDTF">2015-02-22T07:53:09Z</dcterms:modified>
</cp:coreProperties>
</file>