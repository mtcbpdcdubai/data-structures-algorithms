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390" r:id="rId2"/>
    <p:sldId id="407" r:id="rId3"/>
    <p:sldId id="391" r:id="rId4"/>
    <p:sldId id="392" r:id="rId5"/>
    <p:sldId id="397" r:id="rId6"/>
    <p:sldId id="399" r:id="rId7"/>
    <p:sldId id="400" r:id="rId8"/>
    <p:sldId id="408" r:id="rId9"/>
    <p:sldId id="409" r:id="rId10"/>
    <p:sldId id="410" r:id="rId11"/>
    <p:sldId id="411" r:id="rId12"/>
    <p:sldId id="412" r:id="rId13"/>
    <p:sldId id="403" r:id="rId14"/>
    <p:sldId id="404" r:id="rId15"/>
    <p:sldId id="406" r:id="rId16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5674F6"/>
    <a:srgbClr val="6289F8"/>
    <a:srgbClr val="8097F8"/>
    <a:srgbClr val="2C61F6"/>
    <a:srgbClr val="F8F0D0"/>
    <a:srgbClr val="F2E4AA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4" y="10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l" defTabSz="966788">
              <a:defRPr sz="1400"/>
            </a:lvl1pPr>
          </a:lstStyle>
          <a:p>
            <a:r>
              <a:rPr lang="en-US"/>
              <a:t>Merge Sort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r" defTabSz="966788">
              <a:defRPr sz="1400"/>
            </a:lvl1pPr>
          </a:lstStyle>
          <a:p>
            <a:fld id="{5238D581-B70A-4174-832C-22042274008F}" type="datetime8">
              <a:rPr lang="en-US"/>
              <a:pPr/>
              <a:t>4/4/2013 8:04 AM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l" defTabSz="966788">
              <a:defRPr sz="1400"/>
            </a:lvl1pPr>
          </a:lstStyle>
          <a:p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r" defTabSz="966788">
              <a:defRPr sz="1400"/>
            </a:lvl1pPr>
          </a:lstStyle>
          <a:p>
            <a:fld id="{4AE430BE-2D18-4CC2-A57E-DE2B59584CE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06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l" defTabSz="966788">
              <a:defRPr sz="1400"/>
            </a:lvl1pPr>
          </a:lstStyle>
          <a:p>
            <a:r>
              <a:rPr lang="en-US"/>
              <a:t>Merge Sort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r" defTabSz="966788">
              <a:defRPr sz="1400"/>
            </a:lvl1pPr>
          </a:lstStyle>
          <a:p>
            <a:fld id="{CD857837-5E55-4772-AFB1-C411F719F638}" type="datetime8">
              <a:rPr lang="en-US"/>
              <a:pPr/>
              <a:t>4/4/2013 8:03 AM</a:t>
            </a:fld>
            <a:endParaRPr lang="en-US"/>
          </a:p>
        </p:txBody>
      </p:sp>
      <p:sp>
        <p:nvSpPr>
          <p:cNvPr id="10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2313"/>
            <a:ext cx="4799012" cy="3598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l" defTabSz="966788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r" defTabSz="966788">
              <a:defRPr sz="1400"/>
            </a:lvl1pPr>
          </a:lstStyle>
          <a:p>
            <a:fld id="{787D40E2-F496-4C5C-A8C4-71185371DF0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62651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123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5124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125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5126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7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8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9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0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1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2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3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4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5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6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7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8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9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0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1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2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3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4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5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6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7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8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9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0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1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2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3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4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5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6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7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8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9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0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1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2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3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4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5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6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7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8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9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0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1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2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3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4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5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6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17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78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5179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80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81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82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83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5184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85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86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5189" name="Rectangle 69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fld id="{9A470789-1D66-4F83-8A8D-D1EC168644FA}" type="datetime8">
              <a:rPr lang="en-US"/>
              <a:pPr/>
              <a:t>4/4/2013 8:03 AM</a:t>
            </a:fld>
            <a:endParaRPr lang="en-US"/>
          </a:p>
        </p:txBody>
      </p:sp>
      <p:sp>
        <p:nvSpPr>
          <p:cNvPr id="5190" name="Rectangle 7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QuickSort</a:t>
            </a:r>
          </a:p>
        </p:txBody>
      </p:sp>
      <p:sp>
        <p:nvSpPr>
          <p:cNvPr id="5191" name="Rectangle 7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53B205E-0003-498B-99D7-E8D2407B6F9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192" name="Text Box 72"/>
          <p:cNvSpPr txBox="1">
            <a:spLocks noChangeArrowheads="1"/>
          </p:cNvSpPr>
          <p:nvPr userDrawn="1"/>
        </p:nvSpPr>
        <p:spPr bwMode="auto">
          <a:xfrm>
            <a:off x="152400" y="6451600"/>
            <a:ext cx="23876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© 2004 Goodrich, Tamassia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FDE0354-EACE-4EC3-A69F-7DC7547AA4C2}" type="datetime8">
              <a:rPr lang="en-US"/>
              <a:pPr/>
              <a:t>4/4/2013 8:03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QuickSort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5D500E-B9A1-4E05-9999-2323858C7C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90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F1B51C-2CA1-4A8E-9757-2EE879F824A7}" type="datetime8">
              <a:rPr lang="en-US"/>
              <a:pPr/>
              <a:t>4/4/2013 8:03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QuickSort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19E6E5-A59E-4979-B539-3FB64B54B21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17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179B3E-FD4F-42A2-B151-0C6966CD78D6}" type="datetime8">
              <a:rPr lang="en-US"/>
              <a:pPr/>
              <a:t>4/4/2013 8:03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QuickSort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4BA50-AB3E-4ABD-810F-322C89EB9A2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28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ACDF85-5DC2-44E8-A884-55E5D6B65892}" type="datetime8">
              <a:rPr lang="en-US"/>
              <a:pPr/>
              <a:t>4/4/2013 8:03 AM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QuickSort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C34FE9-FE74-431E-851B-5775EA169C8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57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5417E8-4639-445F-AB11-DB54C68D6BC7}" type="datetime8">
              <a:rPr lang="en-US"/>
              <a:pPr/>
              <a:t>4/4/2013 8:03 AM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QuickSort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D7A2FD-30B8-491A-9873-08BFAB0859C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907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F059AFF-2DBA-4363-B2FF-86227B4A4D7E}" type="datetime8">
              <a:rPr lang="en-US"/>
              <a:pPr/>
              <a:t>4/4/2013 8:03 AM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QuickSort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1ED83F-B8E8-425D-A103-22E024228C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8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E48FE2-6FBC-4182-98DA-C6FA7EF5C57D}" type="datetime8">
              <a:rPr lang="en-US"/>
              <a:pPr/>
              <a:t>4/4/2013 8:03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QuickSort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ACCBC5-413C-4A2D-96F6-771ECEB227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95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BF1CC5-EF7D-41C9-9C86-55B371B72B3A}" type="datetime8">
              <a:rPr lang="en-US"/>
              <a:pPr/>
              <a:t>4/4/2013 8:03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QuickSort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C0CD9C-10AB-4E66-A7BC-0F37E985166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61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37AF4E-2FE6-474E-A787-DAC491122B03}" type="datetime8">
              <a:rPr lang="en-US"/>
              <a:pPr/>
              <a:t>4/4/2013 8:03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QuickSort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58860E-4DFE-4654-B3EA-238AC04BB0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84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AD314A7-D4B8-4E4F-B774-BBA28C538A0A}" type="datetime8">
              <a:rPr lang="en-US"/>
              <a:pPr/>
              <a:t>4/4/2013 8:03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QuickSort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EEBD1-F409-49A9-A99A-E9DF4EB9AA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18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00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101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2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3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4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5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6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7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8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9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0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1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2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3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4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5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6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7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8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9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0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1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2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123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4124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5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6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7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8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9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0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1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2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3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4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5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6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7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8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9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0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1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2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3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4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5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6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7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8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9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50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51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52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415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15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415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5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5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15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6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CBC77412-E400-4C26-9CE2-33E0B6843A17}" type="datetime8">
              <a:rPr lang="en-US"/>
              <a:pPr/>
              <a:t>4/4/2013 8:03 AM</a:t>
            </a:fld>
            <a:endParaRPr lang="en-US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/>
              <a:t>QuickSort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3ADF0EE-96D5-4AA4-8073-935A159B5A0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164" name="Text Box 68"/>
          <p:cNvSpPr txBox="1">
            <a:spLocks noChangeArrowheads="1"/>
          </p:cNvSpPr>
          <p:nvPr userDrawn="1"/>
        </p:nvSpPr>
        <p:spPr bwMode="auto">
          <a:xfrm>
            <a:off x="152400" y="6451600"/>
            <a:ext cx="23876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© 2004 Goodrich, Tamassia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QuickSort</a:t>
            </a:r>
          </a:p>
        </p:txBody>
      </p:sp>
      <p:sp>
        <p:nvSpPr>
          <p:cNvPr id="3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4B20-B226-42F9-83A0-91126744609C}" type="slidenum">
              <a:rPr lang="en-US"/>
              <a:pPr/>
              <a:t>1</a:t>
            </a:fld>
            <a:endParaRPr lang="en-US"/>
          </a:p>
        </p:txBody>
      </p:sp>
      <p:sp>
        <p:nvSpPr>
          <p:cNvPr id="171010" name="Rectangle 2"/>
          <p:cNvSpPr>
            <a:spLocks noChangeArrowheads="1"/>
          </p:cNvSpPr>
          <p:nvPr/>
        </p:nvSpPr>
        <p:spPr bwMode="auto">
          <a:xfrm>
            <a:off x="5816600" y="5670550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Quick-Sort </a:t>
            </a:r>
          </a:p>
        </p:txBody>
      </p:sp>
      <p:sp>
        <p:nvSpPr>
          <p:cNvPr id="171012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76400"/>
            <a:ext cx="4114800" cy="4572000"/>
          </a:xfrm>
        </p:spPr>
        <p:txBody>
          <a:bodyPr/>
          <a:lstStyle/>
          <a:p>
            <a:r>
              <a:rPr lang="en-US" sz="2000" dirty="0">
                <a:solidFill>
                  <a:schemeClr val="tx2"/>
                </a:solidFill>
              </a:rPr>
              <a:t>Quick-sort</a:t>
            </a:r>
            <a:r>
              <a:rPr lang="en-US" sz="2000" dirty="0"/>
              <a:t> is a randomized sorting algorithm based on the divide-and-conquer paradigm: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Divide</a:t>
            </a:r>
            <a:r>
              <a:rPr lang="en-US" sz="1800" dirty="0"/>
              <a:t>: </a:t>
            </a:r>
            <a:r>
              <a:rPr lang="en-US" sz="1800" dirty="0" smtClean="0"/>
              <a:t>If S has </a:t>
            </a:r>
            <a:r>
              <a:rPr lang="en-US" sz="1800" dirty="0" err="1" smtClean="0"/>
              <a:t>atleast</a:t>
            </a:r>
            <a:r>
              <a:rPr lang="en-US" sz="1800" dirty="0" smtClean="0"/>
              <a:t> two elements, pick </a:t>
            </a:r>
            <a:r>
              <a:rPr lang="en-US" sz="1800" dirty="0"/>
              <a:t>a random element </a:t>
            </a:r>
            <a:r>
              <a:rPr lang="en-US" sz="1800" b="1" i="1" dirty="0">
                <a:latin typeface="Times New Roman" pitchFamily="18" charset="0"/>
              </a:rPr>
              <a:t>x</a:t>
            </a:r>
            <a:r>
              <a:rPr lang="en-US" sz="1800" dirty="0"/>
              <a:t> (called </a:t>
            </a:r>
            <a:r>
              <a:rPr lang="en-US" sz="1800" dirty="0">
                <a:solidFill>
                  <a:schemeClr val="tx2"/>
                </a:solidFill>
              </a:rPr>
              <a:t>pivot</a:t>
            </a:r>
            <a:r>
              <a:rPr lang="en-US" sz="1800" dirty="0"/>
              <a:t>) and partition </a:t>
            </a:r>
            <a:r>
              <a:rPr lang="en-US" sz="1800" b="1" i="1" dirty="0">
                <a:latin typeface="Times New Roman" pitchFamily="18" charset="0"/>
              </a:rPr>
              <a:t>S</a:t>
            </a:r>
            <a:r>
              <a:rPr lang="en-US" sz="1800" dirty="0"/>
              <a:t> into </a:t>
            </a:r>
          </a:p>
          <a:p>
            <a:pPr lvl="2"/>
            <a:r>
              <a:rPr lang="en-US" sz="1600" b="1" i="1" dirty="0">
                <a:latin typeface="Times New Roman" pitchFamily="18" charset="0"/>
              </a:rPr>
              <a:t>L </a:t>
            </a:r>
            <a:r>
              <a:rPr lang="en-US" sz="1600" dirty="0"/>
              <a:t>elements less than </a:t>
            </a:r>
            <a:r>
              <a:rPr lang="en-US" sz="1600" b="1" i="1" dirty="0">
                <a:latin typeface="Times New Roman" pitchFamily="18" charset="0"/>
              </a:rPr>
              <a:t>x</a:t>
            </a:r>
          </a:p>
          <a:p>
            <a:pPr lvl="2"/>
            <a:r>
              <a:rPr lang="en-US" sz="1600" b="1" i="1" dirty="0">
                <a:latin typeface="Times New Roman" pitchFamily="18" charset="0"/>
              </a:rPr>
              <a:t>E </a:t>
            </a:r>
            <a:r>
              <a:rPr lang="en-US" sz="1600" dirty="0"/>
              <a:t>elements equal to </a:t>
            </a:r>
            <a:r>
              <a:rPr lang="en-US" sz="1600" b="1" i="1" dirty="0">
                <a:latin typeface="Times New Roman" pitchFamily="18" charset="0"/>
              </a:rPr>
              <a:t>x</a:t>
            </a:r>
            <a:endParaRPr lang="en-US" sz="1600" dirty="0"/>
          </a:p>
          <a:p>
            <a:pPr lvl="2"/>
            <a:r>
              <a:rPr lang="en-US" sz="1600" b="1" i="1" dirty="0">
                <a:latin typeface="Times New Roman" pitchFamily="18" charset="0"/>
              </a:rPr>
              <a:t>G </a:t>
            </a:r>
            <a:r>
              <a:rPr lang="en-US" sz="1600" dirty="0"/>
              <a:t>elements greater than </a:t>
            </a:r>
            <a:r>
              <a:rPr lang="en-US" sz="1600" b="1" i="1" dirty="0">
                <a:latin typeface="Times New Roman" pitchFamily="18" charset="0"/>
              </a:rPr>
              <a:t>x</a:t>
            </a:r>
            <a:endParaRPr lang="en-US" sz="1600" dirty="0"/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Recur</a:t>
            </a:r>
            <a:r>
              <a:rPr lang="en-US" sz="1800" dirty="0"/>
              <a:t>: sort </a:t>
            </a:r>
            <a:r>
              <a:rPr lang="en-US" sz="1800" b="1" i="1" dirty="0">
                <a:latin typeface="Times New Roman" pitchFamily="18" charset="0"/>
              </a:rPr>
              <a:t>L </a:t>
            </a:r>
            <a:r>
              <a:rPr lang="en-US" sz="1800" dirty="0"/>
              <a:t>and </a:t>
            </a:r>
            <a:r>
              <a:rPr lang="en-US" sz="1800" b="1" i="1" dirty="0" smtClean="0">
                <a:latin typeface="Times New Roman" pitchFamily="18" charset="0"/>
              </a:rPr>
              <a:t>G recursively</a:t>
            </a:r>
            <a:endParaRPr lang="en-US" sz="1800" dirty="0"/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Conquer</a:t>
            </a:r>
            <a:r>
              <a:rPr lang="en-US" sz="1800" dirty="0"/>
              <a:t>: join </a:t>
            </a:r>
            <a:r>
              <a:rPr lang="en-US" sz="1800" b="1" i="1" dirty="0">
                <a:latin typeface="Times New Roman" pitchFamily="18" charset="0"/>
              </a:rPr>
              <a:t>L</a:t>
            </a:r>
            <a:r>
              <a:rPr lang="en-US" sz="1800" dirty="0"/>
              <a:t>, </a:t>
            </a:r>
            <a:r>
              <a:rPr lang="en-US" sz="1800" b="1" i="1" dirty="0">
                <a:latin typeface="Times New Roman" pitchFamily="18" charset="0"/>
              </a:rPr>
              <a:t>E</a:t>
            </a:r>
            <a:r>
              <a:rPr lang="en-US" sz="1800" b="1" i="1" dirty="0"/>
              <a:t> </a:t>
            </a:r>
            <a:r>
              <a:rPr lang="en-US" sz="1800" dirty="0"/>
              <a:t>and </a:t>
            </a:r>
            <a:r>
              <a:rPr lang="en-US" sz="1800" b="1" i="1" dirty="0" smtClean="0">
                <a:latin typeface="Times New Roman" pitchFamily="18" charset="0"/>
              </a:rPr>
              <a:t>G in order.</a:t>
            </a:r>
            <a:endParaRPr lang="en-US" sz="1800" b="1" i="1" dirty="0">
              <a:latin typeface="Times New Roman" pitchFamily="18" charset="0"/>
            </a:endParaRPr>
          </a:p>
        </p:txBody>
      </p:sp>
      <p:sp>
        <p:nvSpPr>
          <p:cNvPr id="171013" name="Rectangle 5"/>
          <p:cNvSpPr>
            <a:spLocks noChangeArrowheads="1"/>
          </p:cNvSpPr>
          <p:nvPr/>
        </p:nvSpPr>
        <p:spPr bwMode="auto">
          <a:xfrm>
            <a:off x="5410200" y="16351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014" name="Rectangle 6"/>
          <p:cNvSpPr>
            <a:spLocks noChangeArrowheads="1"/>
          </p:cNvSpPr>
          <p:nvPr/>
        </p:nvSpPr>
        <p:spPr bwMode="auto">
          <a:xfrm>
            <a:off x="5816600" y="2238375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015" name="Rectangle 7"/>
          <p:cNvSpPr>
            <a:spLocks noChangeArrowheads="1"/>
          </p:cNvSpPr>
          <p:nvPr/>
        </p:nvSpPr>
        <p:spPr bwMode="auto">
          <a:xfrm>
            <a:off x="6629400" y="2409825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016" name="Rectangle 8"/>
          <p:cNvSpPr>
            <a:spLocks noChangeArrowheads="1"/>
          </p:cNvSpPr>
          <p:nvPr/>
        </p:nvSpPr>
        <p:spPr bwMode="auto">
          <a:xfrm>
            <a:off x="7035800" y="206692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2000" b="1" i="1">
                <a:latin typeface="Times New Roman" pitchFamily="18" charset="0"/>
              </a:rPr>
              <a:t>x</a:t>
            </a:r>
          </a:p>
        </p:txBody>
      </p:sp>
      <p:sp>
        <p:nvSpPr>
          <p:cNvPr id="171017" name="Rectangle 9"/>
          <p:cNvSpPr>
            <a:spLocks noChangeArrowheads="1"/>
          </p:cNvSpPr>
          <p:nvPr/>
        </p:nvSpPr>
        <p:spPr bwMode="auto">
          <a:xfrm>
            <a:off x="7442200" y="17240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018" name="Rectangle 10"/>
          <p:cNvSpPr>
            <a:spLocks noChangeArrowheads="1"/>
          </p:cNvSpPr>
          <p:nvPr/>
        </p:nvSpPr>
        <p:spPr bwMode="auto">
          <a:xfrm>
            <a:off x="7848600" y="2352675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019" name="Rectangle 11"/>
          <p:cNvSpPr>
            <a:spLocks noChangeArrowheads="1"/>
          </p:cNvSpPr>
          <p:nvPr/>
        </p:nvSpPr>
        <p:spPr bwMode="auto">
          <a:xfrm>
            <a:off x="6223000" y="18954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020" name="Rectangle 12"/>
          <p:cNvSpPr>
            <a:spLocks noChangeArrowheads="1"/>
          </p:cNvSpPr>
          <p:nvPr/>
        </p:nvSpPr>
        <p:spPr bwMode="auto">
          <a:xfrm>
            <a:off x="7543800" y="30956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021" name="Rectangle 13"/>
          <p:cNvSpPr>
            <a:spLocks noChangeArrowheads="1"/>
          </p:cNvSpPr>
          <p:nvPr/>
        </p:nvSpPr>
        <p:spPr bwMode="auto">
          <a:xfrm>
            <a:off x="8382000" y="31845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022" name="Rectangle 14"/>
          <p:cNvSpPr>
            <a:spLocks noChangeArrowheads="1"/>
          </p:cNvSpPr>
          <p:nvPr/>
        </p:nvSpPr>
        <p:spPr bwMode="auto">
          <a:xfrm>
            <a:off x="7962900" y="33559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71023" name="Group 15"/>
          <p:cNvGrpSpPr>
            <a:grpSpLocks/>
          </p:cNvGrpSpPr>
          <p:nvPr/>
        </p:nvGrpSpPr>
        <p:grpSpPr bwMode="auto">
          <a:xfrm>
            <a:off x="5111750" y="3705225"/>
            <a:ext cx="1054100" cy="457200"/>
            <a:chOff x="3320" y="2304"/>
            <a:chExt cx="664" cy="384"/>
          </a:xfrm>
        </p:grpSpPr>
        <p:sp>
          <p:nvSpPr>
            <p:cNvPr id="171024" name="Rectangle 16"/>
            <p:cNvSpPr>
              <a:spLocks noChangeArrowheads="1"/>
            </p:cNvSpPr>
            <p:nvPr/>
          </p:nvSpPr>
          <p:spPr bwMode="auto">
            <a:xfrm>
              <a:off x="3320" y="2304"/>
              <a:ext cx="14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1025" name="Rectangle 17"/>
            <p:cNvSpPr>
              <a:spLocks noChangeArrowheads="1"/>
            </p:cNvSpPr>
            <p:nvPr/>
          </p:nvSpPr>
          <p:spPr bwMode="auto">
            <a:xfrm>
              <a:off x="3580" y="2448"/>
              <a:ext cx="144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1026" name="Rectangle 18"/>
            <p:cNvSpPr>
              <a:spLocks noChangeArrowheads="1"/>
            </p:cNvSpPr>
            <p:nvPr/>
          </p:nvSpPr>
          <p:spPr bwMode="auto">
            <a:xfrm>
              <a:off x="3840" y="2400"/>
              <a:ext cx="144" cy="28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1027" name="Rectangle 19"/>
          <p:cNvSpPr>
            <a:spLocks noChangeArrowheads="1"/>
          </p:cNvSpPr>
          <p:nvPr/>
        </p:nvSpPr>
        <p:spPr bwMode="auto">
          <a:xfrm>
            <a:off x="6743700" y="353377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2000" b="1" i="1">
                <a:latin typeface="Times New Roman" pitchFamily="18" charset="0"/>
              </a:rPr>
              <a:t>x</a:t>
            </a:r>
          </a:p>
        </p:txBody>
      </p:sp>
      <p:sp>
        <p:nvSpPr>
          <p:cNvPr id="171028" name="AutoShape 20"/>
          <p:cNvSpPr>
            <a:spLocks/>
          </p:cNvSpPr>
          <p:nvPr/>
        </p:nvSpPr>
        <p:spPr bwMode="auto">
          <a:xfrm rot="-5400000">
            <a:off x="54864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/>
          <a:p>
            <a:r>
              <a:rPr lang="en-US" sz="2000" b="1" i="1">
                <a:latin typeface="Times New Roman" pitchFamily="18" charset="0"/>
              </a:rPr>
              <a:t>L</a:t>
            </a:r>
          </a:p>
        </p:txBody>
      </p:sp>
      <p:sp>
        <p:nvSpPr>
          <p:cNvPr id="171029" name="AutoShape 21"/>
          <p:cNvSpPr>
            <a:spLocks/>
          </p:cNvSpPr>
          <p:nvPr/>
        </p:nvSpPr>
        <p:spPr bwMode="auto">
          <a:xfrm rot="-5400000">
            <a:off x="7886700" y="3648075"/>
            <a:ext cx="304800" cy="1295400"/>
          </a:xfrm>
          <a:prstGeom prst="leftBrace">
            <a:avLst>
              <a:gd name="adj1" fmla="val 3541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/>
          <a:p>
            <a:r>
              <a:rPr lang="en-US" sz="2000" b="1" i="1">
                <a:latin typeface="Times New Roman" pitchFamily="18" charset="0"/>
              </a:rPr>
              <a:t>G</a:t>
            </a:r>
          </a:p>
        </p:txBody>
      </p:sp>
      <p:sp>
        <p:nvSpPr>
          <p:cNvPr id="171030" name="AutoShape 22"/>
          <p:cNvSpPr>
            <a:spLocks/>
          </p:cNvSpPr>
          <p:nvPr/>
        </p:nvSpPr>
        <p:spPr bwMode="auto">
          <a:xfrm rot="-5400000">
            <a:off x="6705600" y="3990975"/>
            <a:ext cx="304800" cy="609600"/>
          </a:xfrm>
          <a:prstGeom prst="leftBrace">
            <a:avLst>
              <a:gd name="adj1" fmla="val 16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/>
          <a:p>
            <a:r>
              <a:rPr lang="en-US" sz="2000" b="1" i="1">
                <a:latin typeface="Times New Roman" pitchFamily="18" charset="0"/>
              </a:rPr>
              <a:t>E</a:t>
            </a:r>
          </a:p>
        </p:txBody>
      </p:sp>
      <p:sp>
        <p:nvSpPr>
          <p:cNvPr id="171031" name="Rectangle 23"/>
          <p:cNvSpPr>
            <a:spLocks noChangeArrowheads="1"/>
          </p:cNvSpPr>
          <p:nvPr/>
        </p:nvSpPr>
        <p:spPr bwMode="auto">
          <a:xfrm>
            <a:off x="7442200" y="5041900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032" name="Rectangle 24"/>
          <p:cNvSpPr>
            <a:spLocks noChangeArrowheads="1"/>
          </p:cNvSpPr>
          <p:nvPr/>
        </p:nvSpPr>
        <p:spPr bwMode="auto">
          <a:xfrm>
            <a:off x="7848600" y="4953000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033" name="Rectangle 25"/>
          <p:cNvSpPr>
            <a:spLocks noChangeArrowheads="1"/>
          </p:cNvSpPr>
          <p:nvPr/>
        </p:nvSpPr>
        <p:spPr bwMode="auto">
          <a:xfrm>
            <a:off x="6223000" y="5556250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034" name="Rectangle 26"/>
          <p:cNvSpPr>
            <a:spLocks noChangeArrowheads="1"/>
          </p:cNvSpPr>
          <p:nvPr/>
        </p:nvSpPr>
        <p:spPr bwMode="auto">
          <a:xfrm>
            <a:off x="6629400" y="5384800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2000" b="1" i="1">
                <a:latin typeface="Times New Roman" pitchFamily="18" charset="0"/>
              </a:rPr>
              <a:t>x</a:t>
            </a:r>
          </a:p>
        </p:txBody>
      </p:sp>
      <p:sp>
        <p:nvSpPr>
          <p:cNvPr id="171035" name="Rectangle 27"/>
          <p:cNvSpPr>
            <a:spLocks noChangeArrowheads="1"/>
          </p:cNvSpPr>
          <p:nvPr/>
        </p:nvSpPr>
        <p:spPr bwMode="auto">
          <a:xfrm>
            <a:off x="5410200" y="5727700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1036" name="Rectangle 28"/>
          <p:cNvSpPr>
            <a:spLocks noChangeArrowheads="1"/>
          </p:cNvSpPr>
          <p:nvPr/>
        </p:nvSpPr>
        <p:spPr bwMode="auto">
          <a:xfrm>
            <a:off x="7035800" y="5213350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QuickSort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4BA50-AB3E-4ABD-810F-322C89EB9A2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819250" y="2175641"/>
            <a:ext cx="3709603" cy="10589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E (=x)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Isosceles Triangle 8"/>
              <p:cNvSpPr/>
              <p:nvPr/>
            </p:nvSpPr>
            <p:spPr>
              <a:xfrm>
                <a:off x="1371600" y="4049110"/>
                <a:ext cx="1900041" cy="1303282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</m:t>
                      </m:r>
                      <m:r>
                        <a:rPr lang="en-US" sz="1400" b="0" i="1" smtClean="0">
                          <a:latin typeface="Cambria Math"/>
                        </a:rPr>
                        <m:t> (&lt;</m:t>
                      </m:r>
                      <m:r>
                        <a:rPr lang="en-US" sz="1400" b="0" i="1" smtClean="0">
                          <a:latin typeface="Cambria Math"/>
                        </a:rPr>
                        <m:t>𝑥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Isosceles Tri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049110"/>
                <a:ext cx="1900041" cy="1303282"/>
              </a:xfrm>
              <a:prstGeom prst="triangle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>
            <a:endCxn id="9" idx="0"/>
          </p:cNvCxnSpPr>
          <p:nvPr/>
        </p:nvCxnSpPr>
        <p:spPr>
          <a:xfrm flipH="1">
            <a:off x="2321620" y="3234558"/>
            <a:ext cx="2035758" cy="8145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357378" y="3234558"/>
            <a:ext cx="2174060" cy="8145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814509" y="1524000"/>
            <a:ext cx="1990519" cy="4887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1. Split Using pivot x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1434935" y="3234558"/>
            <a:ext cx="1448942" cy="4887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2. Recur 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6475858" y="3397469"/>
            <a:ext cx="1448942" cy="4887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  <a:r>
              <a:rPr lang="en-US" sz="1400" dirty="0" smtClean="0"/>
              <a:t>. Recur </a:t>
            </a:r>
            <a:endParaRPr lang="en-US" sz="1400" dirty="0"/>
          </a:p>
        </p:txBody>
      </p:sp>
      <p:sp>
        <p:nvSpPr>
          <p:cNvPr id="15" name="Oval 14"/>
          <p:cNvSpPr/>
          <p:nvPr/>
        </p:nvSpPr>
        <p:spPr>
          <a:xfrm>
            <a:off x="4177068" y="5596758"/>
            <a:ext cx="542869" cy="325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endCxn id="15" idx="6"/>
          </p:cNvCxnSpPr>
          <p:nvPr/>
        </p:nvCxnSpPr>
        <p:spPr>
          <a:xfrm rot="10800000" flipV="1">
            <a:off x="4719937" y="5352392"/>
            <a:ext cx="1808917" cy="40727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/>
          <p:cNvCxnSpPr>
            <a:endCxn id="15" idx="2"/>
          </p:cNvCxnSpPr>
          <p:nvPr/>
        </p:nvCxnSpPr>
        <p:spPr>
          <a:xfrm>
            <a:off x="2321620" y="5352392"/>
            <a:ext cx="1855448" cy="40727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154878" y="5759669"/>
            <a:ext cx="1626921" cy="717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3</a:t>
            </a:r>
            <a:r>
              <a:rPr lang="en-US" dirty="0" smtClean="0"/>
              <a:t>. </a:t>
            </a:r>
            <a:r>
              <a:rPr lang="en-US" sz="1600" dirty="0" smtClean="0"/>
              <a:t>Concatenat</a:t>
            </a:r>
            <a:r>
              <a:rPr lang="en-US" sz="1400" dirty="0"/>
              <a:t>e</a:t>
            </a:r>
            <a:endParaRPr lang="en-US" dirty="0"/>
          </a:p>
        </p:txBody>
      </p:sp>
      <p:sp>
        <p:nvSpPr>
          <p:cNvPr id="31" name="Content Placeholder 30"/>
          <p:cNvSpPr>
            <a:spLocks noGrp="1"/>
          </p:cNvSpPr>
          <p:nvPr>
            <p:ph sz="half" idx="1"/>
          </p:nvPr>
        </p:nvSpPr>
        <p:spPr>
          <a:xfrm>
            <a:off x="5662758" y="4037942"/>
            <a:ext cx="1737360" cy="1371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400" dirty="0" smtClean="0"/>
              <a:t>G ( &gt;x)</a:t>
            </a:r>
            <a:endParaRPr lang="en-US" sz="1400" dirty="0"/>
          </a:p>
        </p:txBody>
      </p:sp>
      <p:cxnSp>
        <p:nvCxnSpPr>
          <p:cNvPr id="33" name="Straight Arrow Connector 32"/>
          <p:cNvCxnSpPr>
            <a:endCxn id="15" idx="0"/>
          </p:cNvCxnSpPr>
          <p:nvPr/>
        </p:nvCxnSpPr>
        <p:spPr bwMode="auto">
          <a:xfrm>
            <a:off x="4357378" y="3234558"/>
            <a:ext cx="91125" cy="236220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42655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QuickSort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4443D-FDC6-4D64-8C76-22C0FABC0A81}" type="slidenum">
              <a:rPr lang="en-US"/>
              <a:pPr/>
              <a:t>3</a:t>
            </a:fld>
            <a:endParaRPr lang="en-US"/>
          </a:p>
        </p:txBody>
      </p: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Partition</a:t>
            </a:r>
          </a:p>
        </p:txBody>
      </p:sp>
      <p:sp>
        <p:nvSpPr>
          <p:cNvPr id="1720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595438"/>
            <a:ext cx="3657600" cy="4652962"/>
          </a:xfrm>
        </p:spPr>
        <p:txBody>
          <a:bodyPr/>
          <a:lstStyle/>
          <a:p>
            <a:r>
              <a:rPr lang="en-US" sz="1800"/>
              <a:t>We partition an input sequence as follows:</a:t>
            </a:r>
          </a:p>
          <a:p>
            <a:pPr lvl="1"/>
            <a:r>
              <a:rPr lang="en-US" sz="1600"/>
              <a:t>We remove, in turn, each element </a:t>
            </a:r>
            <a:r>
              <a:rPr lang="en-US" sz="1600" b="1" i="1">
                <a:latin typeface="Times New Roman" pitchFamily="18" charset="0"/>
              </a:rPr>
              <a:t>y</a:t>
            </a:r>
            <a:r>
              <a:rPr lang="en-US" sz="1600"/>
              <a:t> from </a:t>
            </a:r>
            <a:r>
              <a:rPr lang="en-US" sz="1600" b="1" i="1">
                <a:latin typeface="Times New Roman" pitchFamily="18" charset="0"/>
              </a:rPr>
              <a:t>S</a:t>
            </a:r>
            <a:r>
              <a:rPr lang="en-US" sz="1600"/>
              <a:t> and </a:t>
            </a:r>
          </a:p>
          <a:p>
            <a:pPr lvl="1"/>
            <a:r>
              <a:rPr lang="en-US" sz="1600"/>
              <a:t>We insert </a:t>
            </a:r>
            <a:r>
              <a:rPr lang="en-US" sz="1600" b="1" i="1">
                <a:latin typeface="Times New Roman" pitchFamily="18" charset="0"/>
              </a:rPr>
              <a:t>y</a:t>
            </a:r>
            <a:r>
              <a:rPr lang="en-US" sz="1600"/>
              <a:t> into </a:t>
            </a:r>
            <a:r>
              <a:rPr lang="en-US" sz="1600" b="1" i="1">
                <a:latin typeface="Times New Roman" pitchFamily="18" charset="0"/>
              </a:rPr>
              <a:t>L</a:t>
            </a:r>
            <a:r>
              <a:rPr lang="en-US" sz="1600"/>
              <a:t>, </a:t>
            </a:r>
            <a:r>
              <a:rPr lang="en-US" sz="1600" b="1" i="1">
                <a:latin typeface="Times New Roman" pitchFamily="18" charset="0"/>
              </a:rPr>
              <a:t>E</a:t>
            </a:r>
            <a:r>
              <a:rPr lang="en-US" sz="1600" b="1" i="1"/>
              <a:t> </a:t>
            </a:r>
            <a:r>
              <a:rPr lang="en-US" sz="1600"/>
              <a:t>or </a:t>
            </a:r>
            <a:r>
              <a:rPr lang="en-US" sz="1600" b="1" i="1">
                <a:latin typeface="Times New Roman" pitchFamily="18" charset="0"/>
              </a:rPr>
              <a:t>G</a:t>
            </a:r>
            <a:r>
              <a:rPr lang="en-US" sz="1600"/>
              <a:t>,</a:t>
            </a:r>
            <a:r>
              <a:rPr lang="en-US" sz="1600" b="1" i="1">
                <a:latin typeface="Times New Roman" pitchFamily="18" charset="0"/>
              </a:rPr>
              <a:t> </a:t>
            </a:r>
            <a:r>
              <a:rPr lang="en-US" sz="1600"/>
              <a:t>depending on the result of the comparison with the pivot </a:t>
            </a:r>
            <a:r>
              <a:rPr lang="en-US" sz="1600" b="1" i="1">
                <a:latin typeface="Times New Roman" pitchFamily="18" charset="0"/>
              </a:rPr>
              <a:t>x</a:t>
            </a:r>
          </a:p>
          <a:p>
            <a:r>
              <a:rPr lang="en-US" sz="1800"/>
              <a:t>Each insertion and removal is at the beginning or at the end of a sequence, and hence takes </a:t>
            </a:r>
            <a:r>
              <a:rPr lang="en-US" sz="1800" b="1" i="1">
                <a:latin typeface="Times New Roman" pitchFamily="18" charset="0"/>
              </a:rPr>
              <a:t>O</a:t>
            </a:r>
            <a:r>
              <a:rPr lang="en-US" sz="1800">
                <a:latin typeface="Times New Roman" pitchFamily="18" charset="0"/>
              </a:rPr>
              <a:t>(1)</a:t>
            </a:r>
            <a:r>
              <a:rPr lang="en-US" sz="1800"/>
              <a:t> time</a:t>
            </a:r>
          </a:p>
          <a:p>
            <a:r>
              <a:rPr lang="en-US" sz="1800"/>
              <a:t>Thus, the partition step of quick-sort takes </a:t>
            </a:r>
            <a:r>
              <a:rPr lang="en-US" sz="1800" b="1" i="1">
                <a:latin typeface="Times New Roman" pitchFamily="18" charset="0"/>
              </a:rPr>
              <a:t>O</a:t>
            </a:r>
            <a:r>
              <a:rPr lang="en-US" sz="1800">
                <a:latin typeface="Times New Roman" pitchFamily="18" charset="0"/>
              </a:rPr>
              <a:t>(</a:t>
            </a:r>
            <a:r>
              <a:rPr lang="en-US" sz="1800" b="1" i="1">
                <a:latin typeface="Times New Roman" pitchFamily="18" charset="0"/>
              </a:rPr>
              <a:t>n</a:t>
            </a:r>
            <a:r>
              <a:rPr lang="en-US" sz="1800">
                <a:latin typeface="Times New Roman" pitchFamily="18" charset="0"/>
              </a:rPr>
              <a:t>)</a:t>
            </a:r>
            <a:r>
              <a:rPr lang="en-US" sz="1800"/>
              <a:t> time</a:t>
            </a:r>
          </a:p>
        </p:txBody>
      </p:sp>
      <p:sp>
        <p:nvSpPr>
          <p:cNvPr id="172036" name="Text Box 4"/>
          <p:cNvSpPr txBox="1">
            <a:spLocks noChangeArrowheads="1"/>
          </p:cNvSpPr>
          <p:nvPr/>
        </p:nvSpPr>
        <p:spPr bwMode="auto">
          <a:xfrm>
            <a:off x="4648200" y="1595438"/>
            <a:ext cx="4114800" cy="4786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defTabSz="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342900" algn="l" defTabSz="3429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628650" algn="l" defTabSz="3429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 defTabSz="3429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 defTabSz="3429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defTabSz="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defTabSz="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defTabSz="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defTabSz="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1800" b="1">
                <a:solidFill>
                  <a:srgbClr val="000000"/>
                </a:solidFill>
              </a:rPr>
              <a:t>Algorithm</a:t>
            </a:r>
            <a:r>
              <a:rPr lang="en-US" sz="1800"/>
              <a:t> </a:t>
            </a:r>
            <a:r>
              <a:rPr lang="en-US" sz="1800" b="1" i="1">
                <a:solidFill>
                  <a:schemeClr val="tx2"/>
                </a:solidFill>
              </a:rPr>
              <a:t>partition</a:t>
            </a:r>
            <a:r>
              <a:rPr lang="en-US" sz="1800">
                <a:solidFill>
                  <a:schemeClr val="tx2"/>
                </a:solidFill>
              </a:rPr>
              <a:t>(</a:t>
            </a:r>
            <a:r>
              <a:rPr lang="en-US" sz="1800" b="1" i="1">
                <a:solidFill>
                  <a:schemeClr val="tx2"/>
                </a:solidFill>
              </a:rPr>
              <a:t>S,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b="1" i="1">
                <a:solidFill>
                  <a:schemeClr val="tx2"/>
                </a:solidFill>
              </a:rPr>
              <a:t>p</a:t>
            </a:r>
            <a:r>
              <a:rPr lang="en-US" sz="1800">
                <a:solidFill>
                  <a:schemeClr val="tx2"/>
                </a:solidFill>
              </a:rPr>
              <a:t>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1800">
                <a:solidFill>
                  <a:schemeClr val="tx2"/>
                </a:solidFill>
              </a:rPr>
              <a:t>	</a:t>
            </a:r>
            <a:r>
              <a:rPr lang="en-US" sz="1800" b="1">
                <a:solidFill>
                  <a:srgbClr val="000000"/>
                </a:solidFill>
              </a:rPr>
              <a:t>Input</a:t>
            </a:r>
            <a:r>
              <a:rPr lang="en-US" sz="1800"/>
              <a:t> </a:t>
            </a:r>
            <a:r>
              <a:rPr lang="en-US" sz="1800">
                <a:solidFill>
                  <a:schemeClr val="accent2"/>
                </a:solidFill>
              </a:rPr>
              <a:t>sequence </a:t>
            </a:r>
            <a:r>
              <a:rPr lang="en-US" sz="1800" b="1" i="1">
                <a:solidFill>
                  <a:schemeClr val="accent2"/>
                </a:solidFill>
              </a:rPr>
              <a:t>S</a:t>
            </a:r>
            <a:r>
              <a:rPr lang="en-US" sz="1800">
                <a:solidFill>
                  <a:schemeClr val="accent2"/>
                </a:solidFill>
              </a:rPr>
              <a:t>, position </a:t>
            </a:r>
            <a:r>
              <a:rPr lang="en-US" sz="1800" b="1" i="1">
                <a:solidFill>
                  <a:schemeClr val="accent2"/>
                </a:solidFill>
              </a:rPr>
              <a:t>p</a:t>
            </a:r>
            <a:r>
              <a:rPr lang="en-US" sz="1800">
                <a:solidFill>
                  <a:schemeClr val="accent2"/>
                </a:solidFill>
              </a:rPr>
              <a:t> of pivot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1800">
                <a:solidFill>
                  <a:schemeClr val="accent2"/>
                </a:solidFill>
              </a:rPr>
              <a:t>	</a:t>
            </a:r>
            <a:r>
              <a:rPr lang="en-US" sz="1800" b="1">
                <a:solidFill>
                  <a:srgbClr val="000000"/>
                </a:solidFill>
              </a:rPr>
              <a:t>Output</a:t>
            </a:r>
            <a:r>
              <a:rPr lang="en-US" sz="1800"/>
              <a:t> </a:t>
            </a:r>
            <a:r>
              <a:rPr lang="en-US" sz="1800">
                <a:solidFill>
                  <a:schemeClr val="accent2"/>
                </a:solidFill>
              </a:rPr>
              <a:t>subsequences </a:t>
            </a:r>
            <a:r>
              <a:rPr lang="en-US" sz="1800" b="1" i="1">
                <a:solidFill>
                  <a:schemeClr val="accent2"/>
                </a:solidFill>
              </a:rPr>
              <a:t>L,</a:t>
            </a:r>
            <a:r>
              <a:rPr lang="en-US" sz="1800">
                <a:solidFill>
                  <a:schemeClr val="accent2"/>
                </a:solidFill>
              </a:rPr>
              <a:t> </a:t>
            </a:r>
            <a:r>
              <a:rPr lang="en-US" sz="1800" b="1" i="1">
                <a:solidFill>
                  <a:schemeClr val="accent2"/>
                </a:solidFill>
              </a:rPr>
              <a:t>E, G</a:t>
            </a:r>
            <a:r>
              <a:rPr lang="en-US" sz="1800">
                <a:solidFill>
                  <a:schemeClr val="accent2"/>
                </a:solidFill>
              </a:rPr>
              <a:t> of the </a:t>
            </a:r>
            <a:br>
              <a:rPr lang="en-US" sz="1800">
                <a:solidFill>
                  <a:schemeClr val="accent2"/>
                </a:solidFill>
              </a:rPr>
            </a:br>
            <a:r>
              <a:rPr lang="en-US" sz="1800">
                <a:solidFill>
                  <a:schemeClr val="accent2"/>
                </a:solidFill>
              </a:rPr>
              <a:t>		elements of </a:t>
            </a:r>
            <a:r>
              <a:rPr lang="en-US" sz="1800" b="1" i="1">
                <a:solidFill>
                  <a:schemeClr val="accent2"/>
                </a:solidFill>
              </a:rPr>
              <a:t>S</a:t>
            </a:r>
            <a:r>
              <a:rPr lang="en-US" sz="1800">
                <a:solidFill>
                  <a:schemeClr val="accent2"/>
                </a:solidFill>
              </a:rPr>
              <a:t> less than, equal to,</a:t>
            </a:r>
            <a:br>
              <a:rPr lang="en-US" sz="1800">
                <a:solidFill>
                  <a:schemeClr val="accent2"/>
                </a:solidFill>
              </a:rPr>
            </a:br>
            <a:r>
              <a:rPr lang="en-US" sz="1800">
                <a:solidFill>
                  <a:schemeClr val="accent2"/>
                </a:solidFill>
              </a:rPr>
              <a:t>		or greater than the pivot, resp.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1800">
                <a:solidFill>
                  <a:schemeClr val="accent2"/>
                </a:solidFill>
              </a:rPr>
              <a:t>	</a:t>
            </a:r>
            <a:r>
              <a:rPr lang="en-US" sz="1800" b="1" i="1">
                <a:solidFill>
                  <a:schemeClr val="accent2"/>
                </a:solidFill>
              </a:rPr>
              <a:t>L,</a:t>
            </a:r>
            <a:r>
              <a:rPr lang="en-US" sz="1800">
                <a:solidFill>
                  <a:schemeClr val="accent2"/>
                </a:solidFill>
              </a:rPr>
              <a:t> </a:t>
            </a:r>
            <a:r>
              <a:rPr lang="en-US" sz="1800" b="1" i="1">
                <a:solidFill>
                  <a:schemeClr val="accent2"/>
                </a:solidFill>
              </a:rPr>
              <a:t>E, G </a:t>
            </a:r>
            <a:r>
              <a:rPr lang="en-US" sz="1800">
                <a:solidFill>
                  <a:srgbClr val="000000"/>
                </a:solidFill>
                <a:sym typeface="Symbol" pitchFamily="18" charset="2"/>
              </a:rPr>
              <a:t></a:t>
            </a:r>
            <a:r>
              <a:rPr lang="en-US" sz="1800" b="1" i="1">
                <a:solidFill>
                  <a:schemeClr val="accent2"/>
                </a:solidFill>
                <a:sym typeface="Symbol" pitchFamily="18" charset="2"/>
              </a:rPr>
              <a:t> </a:t>
            </a:r>
            <a:r>
              <a:rPr lang="en-US" sz="1800">
                <a:solidFill>
                  <a:schemeClr val="accent2"/>
                </a:solidFill>
              </a:rPr>
              <a:t>empty sequences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1800" b="1" i="1">
                <a:solidFill>
                  <a:schemeClr val="accent2"/>
                </a:solidFill>
              </a:rPr>
              <a:t>x </a:t>
            </a:r>
            <a:r>
              <a:rPr lang="en-US" sz="1800">
                <a:solidFill>
                  <a:srgbClr val="000000"/>
                </a:solidFill>
                <a:sym typeface="Symbol" pitchFamily="18" charset="2"/>
              </a:rPr>
              <a:t></a:t>
            </a:r>
            <a:r>
              <a:rPr lang="en-US" sz="1800" b="1" i="1">
                <a:solidFill>
                  <a:schemeClr val="accent2"/>
                </a:solidFill>
                <a:sym typeface="Symbol" pitchFamily="18" charset="2"/>
              </a:rPr>
              <a:t> </a:t>
            </a:r>
            <a:r>
              <a:rPr lang="en-US" sz="1800" b="1" i="1">
                <a:solidFill>
                  <a:schemeClr val="accent2"/>
                </a:solidFill>
              </a:rPr>
              <a:t>S.remove</a:t>
            </a:r>
            <a:r>
              <a:rPr lang="en-US" sz="1800">
                <a:solidFill>
                  <a:schemeClr val="accent2"/>
                </a:solidFill>
              </a:rPr>
              <a:t>(</a:t>
            </a:r>
            <a:r>
              <a:rPr lang="en-US" sz="1800" b="1" i="1">
                <a:solidFill>
                  <a:schemeClr val="accent2"/>
                </a:solidFill>
              </a:rPr>
              <a:t>p</a:t>
            </a:r>
            <a:r>
              <a:rPr lang="en-US" sz="1800">
                <a:solidFill>
                  <a:schemeClr val="accent2"/>
                </a:solidFill>
              </a:rPr>
              <a:t>)</a:t>
            </a:r>
            <a:r>
              <a:rPr lang="en-US" sz="1800" b="1">
                <a:solidFill>
                  <a:srgbClr val="000000"/>
                </a:solidFill>
              </a:rPr>
              <a:t>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1800" b="1">
                <a:solidFill>
                  <a:srgbClr val="000000"/>
                </a:solidFill>
              </a:rPr>
              <a:t>while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</a:t>
            </a:r>
            <a:r>
              <a:rPr lang="en-US" sz="1800" b="1" i="1">
                <a:solidFill>
                  <a:schemeClr val="accent2"/>
                </a:solidFill>
              </a:rPr>
              <a:t>S.isEmpty</a:t>
            </a:r>
            <a:r>
              <a:rPr lang="en-US" sz="1800">
                <a:solidFill>
                  <a:schemeClr val="accent2"/>
                </a:solidFill>
              </a:rPr>
              <a:t>()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1800">
                <a:solidFill>
                  <a:schemeClr val="accent2"/>
                </a:solidFill>
              </a:rPr>
              <a:t>	</a:t>
            </a:r>
            <a:r>
              <a:rPr lang="en-US" sz="1800" b="1" i="1">
                <a:solidFill>
                  <a:schemeClr val="accent2"/>
                </a:solidFill>
              </a:rPr>
              <a:t>y </a:t>
            </a:r>
            <a:r>
              <a:rPr lang="en-US" sz="1800">
                <a:solidFill>
                  <a:srgbClr val="000000"/>
                </a:solidFill>
                <a:sym typeface="Symbol" pitchFamily="18" charset="2"/>
              </a:rPr>
              <a:t></a:t>
            </a:r>
            <a:r>
              <a:rPr lang="en-US" sz="1800" b="1" i="1">
                <a:solidFill>
                  <a:schemeClr val="accent2"/>
                </a:solidFill>
                <a:sym typeface="Symbol" pitchFamily="18" charset="2"/>
              </a:rPr>
              <a:t> </a:t>
            </a:r>
            <a:r>
              <a:rPr lang="en-US" sz="1800" b="1" i="1">
                <a:solidFill>
                  <a:schemeClr val="accent2"/>
                </a:solidFill>
              </a:rPr>
              <a:t>S.remove</a:t>
            </a:r>
            <a:r>
              <a:rPr lang="en-US" sz="1800">
                <a:solidFill>
                  <a:schemeClr val="accent2"/>
                </a:solidFill>
              </a:rPr>
              <a:t>(</a:t>
            </a:r>
            <a:r>
              <a:rPr lang="en-US" sz="1800" b="1" i="1">
                <a:solidFill>
                  <a:schemeClr val="accent2"/>
                </a:solidFill>
              </a:rPr>
              <a:t>S.first</a:t>
            </a:r>
            <a:r>
              <a:rPr lang="en-US" sz="1800">
                <a:solidFill>
                  <a:schemeClr val="accent2"/>
                </a:solidFill>
              </a:rPr>
              <a:t>())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1800">
                <a:solidFill>
                  <a:schemeClr val="accent2"/>
                </a:solidFill>
                <a:sym typeface="Symbol" pitchFamily="18" charset="2"/>
              </a:rPr>
              <a:t>	</a:t>
            </a:r>
            <a:r>
              <a:rPr lang="en-US" sz="1800" b="1">
                <a:solidFill>
                  <a:srgbClr val="000000"/>
                </a:solidFill>
              </a:rPr>
              <a:t>if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b="1" i="1">
                <a:solidFill>
                  <a:schemeClr val="accent2"/>
                </a:solidFill>
              </a:rPr>
              <a:t>y</a:t>
            </a:r>
            <a:r>
              <a:rPr lang="en-US" sz="1800">
                <a:solidFill>
                  <a:schemeClr val="accent2"/>
                </a:solidFill>
                <a:sym typeface="Symbol" pitchFamily="18" charset="2"/>
              </a:rPr>
              <a:t> </a:t>
            </a:r>
            <a:r>
              <a:rPr lang="en-US" sz="1800">
                <a:solidFill>
                  <a:srgbClr val="000000"/>
                </a:solidFill>
                <a:sym typeface="Symbol" pitchFamily="18" charset="2"/>
              </a:rPr>
              <a:t>&lt;</a:t>
            </a:r>
            <a:r>
              <a:rPr lang="en-US" sz="1800">
                <a:solidFill>
                  <a:schemeClr val="accent2"/>
                </a:solidFill>
                <a:sym typeface="Symbol" pitchFamily="18" charset="2"/>
              </a:rPr>
              <a:t> </a:t>
            </a:r>
            <a:r>
              <a:rPr lang="en-US" sz="1800" b="1" i="1">
                <a:solidFill>
                  <a:schemeClr val="accent2"/>
                </a:solidFill>
              </a:rPr>
              <a:t>x</a:t>
            </a:r>
            <a:endParaRPr lang="en-US" sz="1800">
              <a:solidFill>
                <a:schemeClr val="accent2"/>
              </a:solidFill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1800">
                <a:solidFill>
                  <a:schemeClr val="accent2"/>
                </a:solidFill>
              </a:rPr>
              <a:t>		</a:t>
            </a:r>
            <a:r>
              <a:rPr lang="en-US" sz="1800" b="1" i="1">
                <a:solidFill>
                  <a:schemeClr val="accent2"/>
                </a:solidFill>
              </a:rPr>
              <a:t>L.insertLast</a:t>
            </a:r>
            <a:r>
              <a:rPr lang="en-US" sz="1800">
                <a:solidFill>
                  <a:schemeClr val="accent2"/>
                </a:solidFill>
              </a:rPr>
              <a:t>(</a:t>
            </a:r>
            <a:r>
              <a:rPr lang="en-US" sz="1800" b="1" i="1">
                <a:solidFill>
                  <a:schemeClr val="accent2"/>
                </a:solidFill>
              </a:rPr>
              <a:t>y</a:t>
            </a:r>
            <a:r>
              <a:rPr lang="en-US" sz="1800">
                <a:solidFill>
                  <a:schemeClr val="accent2"/>
                </a:solidFill>
              </a:rPr>
              <a:t>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1800">
                <a:solidFill>
                  <a:schemeClr val="accent2"/>
                </a:solidFill>
              </a:rPr>
              <a:t>	</a:t>
            </a:r>
            <a:r>
              <a:rPr lang="en-US" sz="1800" b="1">
                <a:solidFill>
                  <a:srgbClr val="000000"/>
                </a:solidFill>
              </a:rPr>
              <a:t>else if </a:t>
            </a:r>
            <a:r>
              <a:rPr lang="en-US" sz="1800" b="1" i="1">
                <a:solidFill>
                  <a:schemeClr val="accent2"/>
                </a:solidFill>
              </a:rPr>
              <a:t>y</a:t>
            </a:r>
            <a:r>
              <a:rPr lang="en-US" sz="1800">
                <a:solidFill>
                  <a:schemeClr val="accent2"/>
                </a:solidFill>
                <a:sym typeface="Symbol" pitchFamily="18" charset="2"/>
              </a:rPr>
              <a:t> </a:t>
            </a:r>
            <a:r>
              <a:rPr lang="en-US" sz="1800">
                <a:solidFill>
                  <a:srgbClr val="000000"/>
                </a:solidFill>
                <a:sym typeface="Symbol" pitchFamily="18" charset="2"/>
              </a:rPr>
              <a:t>=</a:t>
            </a:r>
            <a:r>
              <a:rPr lang="en-US" sz="1800">
                <a:solidFill>
                  <a:schemeClr val="accent2"/>
                </a:solidFill>
                <a:sym typeface="Symbol" pitchFamily="18" charset="2"/>
              </a:rPr>
              <a:t> </a:t>
            </a:r>
            <a:r>
              <a:rPr lang="en-US" sz="1800" b="1" i="1">
                <a:solidFill>
                  <a:schemeClr val="accent2"/>
                </a:solidFill>
              </a:rPr>
              <a:t>x</a:t>
            </a:r>
            <a:endParaRPr lang="en-US" sz="1800">
              <a:solidFill>
                <a:schemeClr val="tx2"/>
              </a:solidFill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1800">
                <a:solidFill>
                  <a:schemeClr val="accent2"/>
                </a:solidFill>
              </a:rPr>
              <a:t>		 </a:t>
            </a:r>
            <a:r>
              <a:rPr lang="en-US" sz="1800" b="1" i="1">
                <a:solidFill>
                  <a:schemeClr val="accent2"/>
                </a:solidFill>
              </a:rPr>
              <a:t>E.insertLast</a:t>
            </a:r>
            <a:r>
              <a:rPr lang="en-US" sz="1800">
                <a:solidFill>
                  <a:schemeClr val="accent2"/>
                </a:solidFill>
              </a:rPr>
              <a:t>(</a:t>
            </a:r>
            <a:r>
              <a:rPr lang="en-US" sz="1800" b="1" i="1">
                <a:solidFill>
                  <a:schemeClr val="accent2"/>
                </a:solidFill>
              </a:rPr>
              <a:t>y</a:t>
            </a:r>
            <a:r>
              <a:rPr lang="en-US" sz="1800">
                <a:solidFill>
                  <a:schemeClr val="accent2"/>
                </a:solidFill>
              </a:rPr>
              <a:t>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1800">
                <a:solidFill>
                  <a:schemeClr val="accent2"/>
                </a:solidFill>
                <a:sym typeface="Symbol" pitchFamily="18" charset="2"/>
              </a:rPr>
              <a:t>	</a:t>
            </a:r>
            <a:r>
              <a:rPr lang="en-US" sz="1800" b="1">
                <a:solidFill>
                  <a:srgbClr val="000000"/>
                </a:solidFill>
              </a:rPr>
              <a:t>else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/>
              <a:t>{ </a:t>
            </a:r>
            <a:r>
              <a:rPr lang="en-US" sz="1800" b="1" i="1"/>
              <a:t>y</a:t>
            </a:r>
            <a:r>
              <a:rPr lang="en-US" sz="1800">
                <a:sym typeface="Symbol" pitchFamily="18" charset="2"/>
              </a:rPr>
              <a:t> &gt; </a:t>
            </a:r>
            <a:r>
              <a:rPr lang="en-US" sz="1800" b="1" i="1"/>
              <a:t>x </a:t>
            </a:r>
            <a:r>
              <a:rPr lang="en-US" sz="1800"/>
              <a:t>}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1800">
                <a:solidFill>
                  <a:schemeClr val="accent2"/>
                </a:solidFill>
              </a:rPr>
              <a:t>		</a:t>
            </a:r>
            <a:r>
              <a:rPr lang="en-US" sz="1800" b="1" i="1">
                <a:solidFill>
                  <a:schemeClr val="accent2"/>
                </a:solidFill>
              </a:rPr>
              <a:t>G.insertLast</a:t>
            </a:r>
            <a:r>
              <a:rPr lang="en-US" sz="1800">
                <a:solidFill>
                  <a:schemeClr val="accent2"/>
                </a:solidFill>
              </a:rPr>
              <a:t>(</a:t>
            </a:r>
            <a:r>
              <a:rPr lang="en-US" sz="1800" b="1" i="1">
                <a:solidFill>
                  <a:schemeClr val="accent2"/>
                </a:solidFill>
              </a:rPr>
              <a:t>y</a:t>
            </a:r>
            <a:r>
              <a:rPr lang="en-US" sz="1800">
                <a:solidFill>
                  <a:schemeClr val="accent2"/>
                </a:solidFill>
              </a:rPr>
              <a:t>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1800" b="1">
                <a:solidFill>
                  <a:srgbClr val="000000"/>
                </a:solidFill>
              </a:rPr>
              <a:t>return </a:t>
            </a:r>
            <a:r>
              <a:rPr lang="en-US" sz="1800" b="1" i="1">
                <a:solidFill>
                  <a:schemeClr val="accent2"/>
                </a:solidFill>
              </a:rPr>
              <a:t>L,</a:t>
            </a:r>
            <a:r>
              <a:rPr lang="en-US" sz="1800">
                <a:solidFill>
                  <a:schemeClr val="accent2"/>
                </a:solidFill>
              </a:rPr>
              <a:t> </a:t>
            </a:r>
            <a:r>
              <a:rPr lang="en-US" sz="1800" b="1" i="1">
                <a:solidFill>
                  <a:schemeClr val="accent2"/>
                </a:solidFill>
              </a:rPr>
              <a:t>E, G</a:t>
            </a:r>
          </a:p>
        </p:txBody>
      </p:sp>
      <p:graphicFrame>
        <p:nvGraphicFramePr>
          <p:cNvPr id="172037" name="Object 5"/>
          <p:cNvGraphicFramePr>
            <a:graphicFrameLocks noChangeAspect="1"/>
          </p:cNvGraphicFramePr>
          <p:nvPr/>
        </p:nvGraphicFramePr>
        <p:xfrm>
          <a:off x="7597775" y="228600"/>
          <a:ext cx="116522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56" name="Clip" r:id="rId3" imgW="1783440" imgH="1867680" progId="MS_ClipArt_Gallery.5">
                  <p:embed/>
                </p:oleObj>
              </mc:Choice>
              <mc:Fallback>
                <p:oleObj name="Clip" r:id="rId3" imgW="1783440" imgH="1867680" progId="MS_ClipArt_Gallery.5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7775" y="228600"/>
                        <a:ext cx="116522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QuickSort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F7916-6032-44B2-BB54-2D8314F03FE8}" type="slidenum">
              <a:rPr lang="en-US"/>
              <a:pPr/>
              <a:t>4</a:t>
            </a:fld>
            <a:endParaRPr lang="en-US"/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Quick-Sort Tree</a:t>
            </a:r>
          </a:p>
        </p:txBody>
      </p:sp>
      <p:sp>
        <p:nvSpPr>
          <p:cNvPr id="1730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7924800" cy="3886200"/>
          </a:xfrm>
        </p:spPr>
        <p:txBody>
          <a:bodyPr/>
          <a:lstStyle/>
          <a:p>
            <a:r>
              <a:rPr lang="en-US" sz="2000" dirty="0"/>
              <a:t>An execution of quick-sort is depicted by a binary </a:t>
            </a:r>
            <a:r>
              <a:rPr lang="en-US" sz="2000" dirty="0" smtClean="0"/>
              <a:t>recursion tree</a:t>
            </a:r>
            <a:endParaRPr lang="en-US" sz="2000" dirty="0"/>
          </a:p>
          <a:p>
            <a:pPr lvl="1"/>
            <a:r>
              <a:rPr lang="en-US" sz="1800" dirty="0"/>
              <a:t>Each node represents a recursive call of quick-sort and stores</a:t>
            </a:r>
          </a:p>
          <a:p>
            <a:pPr lvl="2"/>
            <a:r>
              <a:rPr lang="en-US" sz="1600" dirty="0"/>
              <a:t>Unsorted sequence before the execution and its pivot</a:t>
            </a:r>
          </a:p>
          <a:p>
            <a:pPr lvl="2"/>
            <a:r>
              <a:rPr lang="en-US" sz="1600" dirty="0"/>
              <a:t>Sorted sequence at the end of the execution</a:t>
            </a:r>
          </a:p>
          <a:p>
            <a:pPr lvl="1"/>
            <a:r>
              <a:rPr lang="en-US" sz="1800" dirty="0"/>
              <a:t>The root is the initial call </a:t>
            </a:r>
          </a:p>
          <a:p>
            <a:pPr lvl="1"/>
            <a:r>
              <a:rPr lang="en-US" sz="1800" dirty="0"/>
              <a:t>The leaves are calls on subsequences of size 0 or 1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QuickSort</a:t>
            </a:r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B945B-67D3-4E4F-AF67-046909961BAC}" type="slidenum">
              <a:rPr lang="en-US"/>
              <a:pPr/>
              <a:t>5</a:t>
            </a:fld>
            <a:endParaRPr lang="en-US"/>
          </a:p>
        </p:txBody>
      </p:sp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Execution Example (cont.)</a:t>
            </a:r>
          </a:p>
        </p:txBody>
      </p:sp>
      <p:sp>
        <p:nvSpPr>
          <p:cNvPr id="178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685800"/>
          </a:xfrm>
        </p:spPr>
        <p:txBody>
          <a:bodyPr/>
          <a:lstStyle/>
          <a:p>
            <a:r>
              <a:rPr lang="en-US" sz="2000" dirty="0" smtClean="0"/>
              <a:t>Input Sequences processed at each node of T</a:t>
            </a:r>
            <a:endParaRPr lang="en-US" sz="2000" dirty="0"/>
          </a:p>
        </p:txBody>
      </p:sp>
      <p:sp>
        <p:nvSpPr>
          <p:cNvPr id="178180" name="AutoShape 4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 smtClean="0"/>
              <a:t>85    63       </a:t>
            </a:r>
            <a:r>
              <a:rPr lang="en-US" sz="1800" b="1" dirty="0" smtClean="0"/>
              <a:t>96</a:t>
            </a:r>
            <a:r>
              <a:rPr lang="en-US" sz="1800" b="1" dirty="0" smtClean="0">
                <a:solidFill>
                  <a:schemeClr val="accent1"/>
                </a:solidFill>
              </a:rPr>
              <a:t>1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cxnSp>
        <p:nvCxnSpPr>
          <p:cNvPr id="178182" name="AutoShape 6"/>
          <p:cNvCxnSpPr>
            <a:cxnSpLocks noChangeShapeType="1"/>
            <a:endCxn id="178180" idx="2"/>
          </p:cNvCxnSpPr>
          <p:nvPr/>
        </p:nvCxnSpPr>
        <p:spPr bwMode="auto">
          <a:xfrm flipV="1">
            <a:off x="5834063" y="4064000"/>
            <a:ext cx="1090612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183" name="AutoShape 7"/>
          <p:cNvCxnSpPr>
            <a:cxnSpLocks noChangeShapeType="1"/>
            <a:stCxn id="178197" idx="0"/>
            <a:endCxn id="178180" idx="2"/>
          </p:cNvCxnSpPr>
          <p:nvPr/>
        </p:nvCxnSpPr>
        <p:spPr bwMode="auto">
          <a:xfrm flipH="1" flipV="1">
            <a:off x="6924675" y="4064000"/>
            <a:ext cx="1042988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8184" name="AutoShape 8"/>
          <p:cNvSpPr>
            <a:spLocks noChangeArrowheads="1"/>
          </p:cNvSpPr>
          <p:nvPr/>
        </p:nvSpPr>
        <p:spPr bwMode="auto">
          <a:xfrm>
            <a:off x="2133600" y="2590800"/>
            <a:ext cx="50292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 smtClean="0"/>
              <a:t>   85  24   63    45    17   31    96        </a:t>
            </a:r>
            <a:r>
              <a:rPr lang="en-US" sz="1800" b="1" dirty="0" smtClean="0"/>
              <a:t>50</a:t>
            </a:r>
            <a:r>
              <a:rPr lang="en-US" sz="1800" b="1" dirty="0" smtClean="0">
                <a:solidFill>
                  <a:schemeClr val="accent1"/>
                </a:solidFill>
                <a:sym typeface="Symbol" pitchFamily="18" charset="2"/>
              </a:rPr>
              <a:t></a:t>
            </a:r>
            <a:r>
              <a:rPr lang="en-US" sz="1800" dirty="0" smtClean="0"/>
              <a:t>  </a:t>
            </a:r>
            <a:r>
              <a:rPr lang="en-US" sz="1800" dirty="0">
                <a:solidFill>
                  <a:schemeClr val="accent1"/>
                </a:solidFill>
              </a:rPr>
              <a:t>1 </a:t>
            </a:r>
          </a:p>
        </p:txBody>
      </p:sp>
      <p:cxnSp>
        <p:nvCxnSpPr>
          <p:cNvPr id="178185" name="AutoShape 9"/>
          <p:cNvCxnSpPr>
            <a:cxnSpLocks noChangeShapeType="1"/>
            <a:stCxn id="178191" idx="0"/>
            <a:endCxn id="178184" idx="2"/>
          </p:cNvCxnSpPr>
          <p:nvPr/>
        </p:nvCxnSpPr>
        <p:spPr bwMode="auto">
          <a:xfrm flipV="1">
            <a:off x="2505076" y="3021013"/>
            <a:ext cx="2143124" cy="596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186" name="AutoShape 10"/>
          <p:cNvCxnSpPr>
            <a:cxnSpLocks noChangeShapeType="1"/>
            <a:stCxn id="178180" idx="0"/>
            <a:endCxn id="178184" idx="2"/>
          </p:cNvCxnSpPr>
          <p:nvPr/>
        </p:nvCxnSpPr>
        <p:spPr bwMode="auto">
          <a:xfrm flipH="1" flipV="1">
            <a:off x="4648200" y="3021013"/>
            <a:ext cx="2276476" cy="596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187" name="AutoShape 11"/>
          <p:cNvCxnSpPr>
            <a:cxnSpLocks noChangeShapeType="1"/>
            <a:stCxn id="178192" idx="0"/>
            <a:endCxn id="178191" idx="2"/>
          </p:cNvCxnSpPr>
          <p:nvPr/>
        </p:nvCxnSpPr>
        <p:spPr bwMode="auto">
          <a:xfrm flipV="1">
            <a:off x="1524000" y="4054475"/>
            <a:ext cx="981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188" name="AutoShape 12"/>
          <p:cNvCxnSpPr>
            <a:cxnSpLocks noChangeShapeType="1"/>
            <a:stCxn id="178193" idx="0"/>
            <a:endCxn id="178191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189" name="AutoShape 13"/>
          <p:cNvCxnSpPr>
            <a:cxnSpLocks noChangeShapeType="1"/>
          </p:cNvCxnSpPr>
          <p:nvPr/>
        </p:nvCxnSpPr>
        <p:spPr bwMode="auto">
          <a:xfrm flipV="1">
            <a:off x="1044575" y="5089525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190" name="AutoShape 14"/>
          <p:cNvCxnSpPr>
            <a:cxnSpLocks noChangeShapeType="1"/>
          </p:cNvCxnSpPr>
          <p:nvPr/>
        </p:nvCxnSpPr>
        <p:spPr bwMode="auto">
          <a:xfrm>
            <a:off x="1524000" y="5089525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8191" name="AutoShape 15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 smtClean="0">
                <a:solidFill>
                  <a:srgbClr val="000000"/>
                </a:solidFill>
              </a:rPr>
              <a:t>24   45   17     </a:t>
            </a:r>
            <a:r>
              <a:rPr lang="en-US" sz="1800" b="1" dirty="0" smtClean="0">
                <a:solidFill>
                  <a:srgbClr val="000000"/>
                </a:solidFill>
              </a:rPr>
              <a:t>31</a:t>
            </a:r>
            <a:endParaRPr lang="en-US" sz="1800" b="1" dirty="0">
              <a:solidFill>
                <a:schemeClr val="tx2"/>
              </a:solidFill>
            </a:endParaRPr>
          </a:p>
        </p:txBody>
      </p:sp>
      <p:sp>
        <p:nvSpPr>
          <p:cNvPr id="178192" name="AutoShape 16"/>
          <p:cNvSpPr>
            <a:spLocks noChangeArrowheads="1"/>
          </p:cNvSpPr>
          <p:nvPr/>
        </p:nvSpPr>
        <p:spPr bwMode="auto">
          <a:xfrm>
            <a:off x="1066800" y="4643438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 smtClean="0"/>
              <a:t>24    </a:t>
            </a:r>
            <a:r>
              <a:rPr lang="en-US" sz="1800" b="1" dirty="0" smtClean="0"/>
              <a:t>17</a:t>
            </a:r>
            <a:endParaRPr lang="en-US" sz="1800" b="1" dirty="0">
              <a:solidFill>
                <a:schemeClr val="tx2"/>
              </a:solidFill>
            </a:endParaRPr>
          </a:p>
        </p:txBody>
      </p:sp>
      <p:sp>
        <p:nvSpPr>
          <p:cNvPr id="178193" name="AutoShape 17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 smtClean="0"/>
              <a:t>45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78194" name="AutoShape 18"/>
          <p:cNvSpPr>
            <a:spLocks noChangeArrowheads="1"/>
          </p:cNvSpPr>
          <p:nvPr/>
        </p:nvSpPr>
        <p:spPr bwMode="auto">
          <a:xfrm>
            <a:off x="817563" y="5670551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>
                <a:solidFill>
                  <a:schemeClr val="folHlink"/>
                </a:solidFill>
              </a:rPr>
              <a:t>9 </a:t>
            </a:r>
            <a:r>
              <a:rPr lang="en-US" sz="1800" b="1" dirty="0">
                <a:solidFill>
                  <a:schemeClr val="folHlink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chemeClr val="folHlink"/>
                </a:solidFill>
              </a:rPr>
              <a:t> 9</a:t>
            </a:r>
          </a:p>
        </p:txBody>
      </p:sp>
      <p:sp>
        <p:nvSpPr>
          <p:cNvPr id="178195" name="AutoShape 19"/>
          <p:cNvSpPr>
            <a:spLocks noChangeArrowheads="1"/>
          </p:cNvSpPr>
          <p:nvPr/>
        </p:nvSpPr>
        <p:spPr bwMode="auto">
          <a:xfrm>
            <a:off x="1685131" y="5670551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 smtClean="0"/>
              <a:t>24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78196" name="Line 20"/>
          <p:cNvSpPr>
            <a:spLocks noChangeShapeType="1"/>
          </p:cNvSpPr>
          <p:nvPr/>
        </p:nvSpPr>
        <p:spPr bwMode="auto">
          <a:xfrm>
            <a:off x="6019800" y="3124200"/>
            <a:ext cx="685800" cy="228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8197" name="AutoShape 21"/>
          <p:cNvSpPr>
            <a:spLocks noChangeArrowheads="1"/>
          </p:cNvSpPr>
          <p:nvPr/>
        </p:nvSpPr>
        <p:spPr bwMode="auto">
          <a:xfrm>
            <a:off x="7620000" y="4643438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>
                <a:solidFill>
                  <a:schemeClr val="folHlink"/>
                </a:solidFill>
              </a:rPr>
              <a:t>9 </a:t>
            </a:r>
            <a:r>
              <a:rPr lang="en-US" sz="1800" b="1">
                <a:solidFill>
                  <a:schemeClr val="folHlink"/>
                </a:solidFill>
                <a:sym typeface="Symbol" pitchFamily="18" charset="2"/>
              </a:rPr>
              <a:t></a:t>
            </a:r>
            <a:r>
              <a:rPr lang="en-US" sz="1800">
                <a:solidFill>
                  <a:schemeClr val="folHlink"/>
                </a:solidFill>
              </a:rPr>
              <a:t> 9</a:t>
            </a:r>
          </a:p>
        </p:txBody>
      </p:sp>
      <p:sp>
        <p:nvSpPr>
          <p:cNvPr id="28" name="AutoShape 16"/>
          <p:cNvSpPr>
            <a:spLocks noChangeArrowheads="1"/>
          </p:cNvSpPr>
          <p:nvPr/>
        </p:nvSpPr>
        <p:spPr bwMode="auto">
          <a:xfrm>
            <a:off x="5376863" y="4667251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 smtClean="0"/>
              <a:t>85   </a:t>
            </a:r>
            <a:r>
              <a:rPr lang="en-US" sz="1800" b="1" dirty="0" smtClean="0"/>
              <a:t>63</a:t>
            </a:r>
            <a:endParaRPr lang="en-US" sz="1800" b="1" dirty="0">
              <a:solidFill>
                <a:schemeClr val="tx2"/>
              </a:solidFill>
            </a:endParaRPr>
          </a:p>
        </p:txBody>
      </p:sp>
      <p:cxnSp>
        <p:nvCxnSpPr>
          <p:cNvPr id="29" name="AutoShape 13"/>
          <p:cNvCxnSpPr>
            <a:cxnSpLocks noChangeShapeType="1"/>
          </p:cNvCxnSpPr>
          <p:nvPr/>
        </p:nvCxnSpPr>
        <p:spPr bwMode="auto">
          <a:xfrm flipV="1">
            <a:off x="5307013" y="5101432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AutoShape 14"/>
          <p:cNvCxnSpPr>
            <a:cxnSpLocks noChangeShapeType="1"/>
          </p:cNvCxnSpPr>
          <p:nvPr/>
        </p:nvCxnSpPr>
        <p:spPr bwMode="auto">
          <a:xfrm>
            <a:off x="5786438" y="5101432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AutoShape 18"/>
          <p:cNvSpPr>
            <a:spLocks noChangeArrowheads="1"/>
          </p:cNvSpPr>
          <p:nvPr/>
        </p:nvSpPr>
        <p:spPr bwMode="auto">
          <a:xfrm>
            <a:off x="4908551" y="5680870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>
                <a:solidFill>
                  <a:schemeClr val="folHlink"/>
                </a:solidFill>
              </a:rPr>
              <a:t>9 </a:t>
            </a:r>
            <a:r>
              <a:rPr lang="en-US" sz="1800" b="1" dirty="0">
                <a:solidFill>
                  <a:schemeClr val="folHlink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chemeClr val="folHlink"/>
                </a:solidFill>
              </a:rPr>
              <a:t> 9</a:t>
            </a:r>
          </a:p>
        </p:txBody>
      </p:sp>
      <p:sp>
        <p:nvSpPr>
          <p:cNvPr id="33" name="AutoShape 18"/>
          <p:cNvSpPr>
            <a:spLocks noChangeArrowheads="1"/>
          </p:cNvSpPr>
          <p:nvPr/>
        </p:nvSpPr>
        <p:spPr bwMode="auto">
          <a:xfrm>
            <a:off x="5938044" y="5684046"/>
            <a:ext cx="706437" cy="427037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sz="1800" dirty="0" smtClean="0">
                <a:solidFill>
                  <a:schemeClr val="folHlink"/>
                </a:solidFill>
              </a:rPr>
              <a:t> 85</a:t>
            </a:r>
            <a:endParaRPr lang="en-US" sz="180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QuickSort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27D6C-59D5-4E5D-8681-40DC5E779EA6}" type="slidenum">
              <a:rPr lang="en-US"/>
              <a:pPr/>
              <a:t>6</a:t>
            </a:fld>
            <a:endParaRPr lang="en-US"/>
          </a:p>
        </p:txBody>
      </p:sp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r>
              <a:rPr lang="en-US" dirty="0"/>
              <a:t>Execution Example (cont.)</a:t>
            </a:r>
          </a:p>
        </p:txBody>
      </p:sp>
      <p:sp>
        <p:nvSpPr>
          <p:cNvPr id="1802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772400" cy="685800"/>
          </a:xfrm>
        </p:spPr>
        <p:txBody>
          <a:bodyPr/>
          <a:lstStyle/>
          <a:p>
            <a:r>
              <a:rPr lang="en-US" sz="2000" dirty="0" smtClean="0"/>
              <a:t>Output sequences generated at each node of T</a:t>
            </a:r>
            <a:endParaRPr lang="en-US" sz="2000" dirty="0"/>
          </a:p>
        </p:txBody>
      </p:sp>
      <p:sp>
        <p:nvSpPr>
          <p:cNvPr id="180228" name="AutoShape 4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 smtClean="0">
                <a:solidFill>
                  <a:schemeClr val="tx2"/>
                </a:solidFill>
              </a:rPr>
              <a:t>63   85    </a:t>
            </a:r>
            <a:r>
              <a:rPr lang="en-US" sz="1800" b="1" dirty="0" smtClean="0">
                <a:solidFill>
                  <a:schemeClr val="tx2"/>
                </a:solidFill>
              </a:rPr>
              <a:t>96</a:t>
            </a:r>
            <a:endParaRPr lang="en-US" sz="1800" b="1" dirty="0">
              <a:solidFill>
                <a:schemeClr val="tx2"/>
              </a:solidFill>
            </a:endParaRPr>
          </a:p>
        </p:txBody>
      </p:sp>
      <p:sp>
        <p:nvSpPr>
          <p:cNvPr id="180229" name="AutoShape 5"/>
          <p:cNvSpPr>
            <a:spLocks noChangeArrowheads="1"/>
          </p:cNvSpPr>
          <p:nvPr/>
        </p:nvSpPr>
        <p:spPr bwMode="auto">
          <a:xfrm>
            <a:off x="5486400" y="4643438"/>
            <a:ext cx="876300" cy="427037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sz="1800" b="1" dirty="0" smtClean="0">
                <a:solidFill>
                  <a:schemeClr val="folHlink"/>
                </a:solidFill>
              </a:rPr>
              <a:t>63</a:t>
            </a:r>
            <a:r>
              <a:rPr lang="en-US" sz="1800" dirty="0" smtClean="0">
                <a:solidFill>
                  <a:schemeClr val="folHlink"/>
                </a:solidFill>
              </a:rPr>
              <a:t>   85</a:t>
            </a:r>
            <a:endParaRPr lang="en-US" sz="1800" dirty="0">
              <a:solidFill>
                <a:schemeClr val="folHlink"/>
              </a:solidFill>
            </a:endParaRPr>
          </a:p>
        </p:txBody>
      </p:sp>
      <p:cxnSp>
        <p:nvCxnSpPr>
          <p:cNvPr id="180230" name="AutoShape 6"/>
          <p:cNvCxnSpPr>
            <a:cxnSpLocks noChangeShapeType="1"/>
            <a:stCxn id="180229" idx="0"/>
            <a:endCxn id="180228" idx="2"/>
          </p:cNvCxnSpPr>
          <p:nvPr/>
        </p:nvCxnSpPr>
        <p:spPr bwMode="auto">
          <a:xfrm flipV="1">
            <a:off x="5924550" y="4044950"/>
            <a:ext cx="1000126" cy="5984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231" name="AutoShape 7"/>
          <p:cNvCxnSpPr>
            <a:cxnSpLocks noChangeShapeType="1"/>
            <a:stCxn id="180244" idx="0"/>
            <a:endCxn id="180228" idx="2"/>
          </p:cNvCxnSpPr>
          <p:nvPr/>
        </p:nvCxnSpPr>
        <p:spPr bwMode="auto">
          <a:xfrm flipH="1" flipV="1">
            <a:off x="6924675" y="4054475"/>
            <a:ext cx="1042988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0232" name="AutoShape 8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 smtClean="0">
                <a:solidFill>
                  <a:schemeClr val="tx2"/>
                </a:solidFill>
              </a:rPr>
              <a:t>17  24  31  45    </a:t>
            </a:r>
            <a:r>
              <a:rPr lang="en-US" sz="1800" b="1" dirty="0" smtClean="0">
                <a:solidFill>
                  <a:schemeClr val="tx2"/>
                </a:solidFill>
              </a:rPr>
              <a:t>50</a:t>
            </a:r>
            <a:r>
              <a:rPr lang="en-US" sz="1800" dirty="0" smtClean="0">
                <a:solidFill>
                  <a:schemeClr val="tx2"/>
                </a:solidFill>
              </a:rPr>
              <a:t>  63  85  96</a:t>
            </a:r>
            <a:endParaRPr lang="en-US" sz="1800" dirty="0">
              <a:solidFill>
                <a:schemeClr val="tx2"/>
              </a:solidFill>
            </a:endParaRPr>
          </a:p>
        </p:txBody>
      </p:sp>
      <p:cxnSp>
        <p:nvCxnSpPr>
          <p:cNvPr id="180233" name="AutoShape 9"/>
          <p:cNvCxnSpPr>
            <a:cxnSpLocks noChangeShapeType="1"/>
            <a:stCxn id="180239" idx="0"/>
            <a:endCxn id="180232" idx="2"/>
          </p:cNvCxnSpPr>
          <p:nvPr/>
        </p:nvCxnSpPr>
        <p:spPr bwMode="auto">
          <a:xfrm flipV="1">
            <a:off x="2505075" y="3040063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234" name="AutoShape 10"/>
          <p:cNvCxnSpPr>
            <a:cxnSpLocks noChangeShapeType="1"/>
            <a:stCxn id="180228" idx="0"/>
            <a:endCxn id="180232" idx="2"/>
          </p:cNvCxnSpPr>
          <p:nvPr/>
        </p:nvCxnSpPr>
        <p:spPr bwMode="auto">
          <a:xfrm flipH="1" flipV="1">
            <a:off x="4724400" y="3040063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235" name="AutoShape 11"/>
          <p:cNvCxnSpPr>
            <a:cxnSpLocks noChangeShapeType="1"/>
            <a:stCxn id="180240" idx="0"/>
            <a:endCxn id="180239" idx="2"/>
          </p:cNvCxnSpPr>
          <p:nvPr/>
        </p:nvCxnSpPr>
        <p:spPr bwMode="auto">
          <a:xfrm flipV="1">
            <a:off x="1524000" y="4054475"/>
            <a:ext cx="981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236" name="AutoShape 12"/>
          <p:cNvCxnSpPr>
            <a:cxnSpLocks noChangeShapeType="1"/>
            <a:stCxn id="180241" idx="0"/>
            <a:endCxn id="180239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237" name="AutoShape 13"/>
          <p:cNvCxnSpPr>
            <a:cxnSpLocks noChangeShapeType="1"/>
          </p:cNvCxnSpPr>
          <p:nvPr/>
        </p:nvCxnSpPr>
        <p:spPr bwMode="auto">
          <a:xfrm flipV="1">
            <a:off x="1082675" y="5070475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238" name="AutoShape 14"/>
          <p:cNvCxnSpPr>
            <a:cxnSpLocks noChangeShapeType="1"/>
          </p:cNvCxnSpPr>
          <p:nvPr/>
        </p:nvCxnSpPr>
        <p:spPr bwMode="auto">
          <a:xfrm>
            <a:off x="1566863" y="5089525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0239" name="AutoShape 15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 smtClean="0">
                <a:solidFill>
                  <a:schemeClr val="tx2"/>
                </a:solidFill>
              </a:rPr>
              <a:t>17   24     </a:t>
            </a:r>
            <a:r>
              <a:rPr lang="en-US" sz="1800" b="1" dirty="0" smtClean="0">
                <a:solidFill>
                  <a:schemeClr val="tx2"/>
                </a:solidFill>
              </a:rPr>
              <a:t>31</a:t>
            </a:r>
            <a:r>
              <a:rPr lang="en-US" sz="1800" dirty="0" smtClean="0">
                <a:solidFill>
                  <a:schemeClr val="tx2"/>
                </a:solidFill>
              </a:rPr>
              <a:t>  45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80240" name="AutoShape 16"/>
          <p:cNvSpPr>
            <a:spLocks noChangeArrowheads="1"/>
          </p:cNvSpPr>
          <p:nvPr/>
        </p:nvSpPr>
        <p:spPr bwMode="auto">
          <a:xfrm>
            <a:off x="1066800" y="4643438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b="1" dirty="0" smtClean="0"/>
              <a:t>17</a:t>
            </a:r>
            <a:r>
              <a:rPr lang="en-US" sz="1800" dirty="0" smtClean="0"/>
              <a:t>   24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80241" name="AutoShape 17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 smtClean="0"/>
              <a:t>45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80242" name="AutoShape 18"/>
          <p:cNvSpPr>
            <a:spLocks noChangeArrowheads="1"/>
          </p:cNvSpPr>
          <p:nvPr/>
        </p:nvSpPr>
        <p:spPr bwMode="auto">
          <a:xfrm>
            <a:off x="817563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>
                <a:solidFill>
                  <a:schemeClr val="folHlink"/>
                </a:solidFill>
              </a:rPr>
              <a:t>9 </a:t>
            </a:r>
            <a:r>
              <a:rPr lang="en-US" sz="1800" b="1" dirty="0">
                <a:solidFill>
                  <a:schemeClr val="folHlink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chemeClr val="folHlink"/>
                </a:solidFill>
              </a:rPr>
              <a:t> 9</a:t>
            </a:r>
          </a:p>
        </p:txBody>
      </p:sp>
      <p:sp>
        <p:nvSpPr>
          <p:cNvPr id="180243" name="AutoShape 19"/>
          <p:cNvSpPr>
            <a:spLocks noChangeArrowheads="1"/>
          </p:cNvSpPr>
          <p:nvPr/>
        </p:nvSpPr>
        <p:spPr bwMode="auto">
          <a:xfrm>
            <a:off x="1817688" y="5670551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 smtClean="0"/>
              <a:t>24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80244" name="AutoShape 20"/>
          <p:cNvSpPr>
            <a:spLocks noChangeArrowheads="1"/>
          </p:cNvSpPr>
          <p:nvPr/>
        </p:nvSpPr>
        <p:spPr bwMode="auto">
          <a:xfrm>
            <a:off x="7620000" y="4643438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80245" name="Line 21"/>
          <p:cNvSpPr>
            <a:spLocks noChangeShapeType="1"/>
          </p:cNvSpPr>
          <p:nvPr/>
        </p:nvSpPr>
        <p:spPr bwMode="auto">
          <a:xfrm flipH="1">
            <a:off x="2743200" y="31242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46" name="Line 22"/>
          <p:cNvSpPr>
            <a:spLocks noChangeShapeType="1"/>
          </p:cNvSpPr>
          <p:nvPr/>
        </p:nvSpPr>
        <p:spPr bwMode="auto">
          <a:xfrm>
            <a:off x="6019800" y="31242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AutoShape 18"/>
          <p:cNvSpPr>
            <a:spLocks noChangeArrowheads="1"/>
          </p:cNvSpPr>
          <p:nvPr/>
        </p:nvSpPr>
        <p:spPr bwMode="auto">
          <a:xfrm>
            <a:off x="5273675" y="5661026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 dirty="0">
                <a:solidFill>
                  <a:schemeClr val="folHlink"/>
                </a:solidFill>
              </a:rPr>
              <a:t>9 </a:t>
            </a:r>
            <a:r>
              <a:rPr lang="en-US" sz="1800" b="1" dirty="0">
                <a:solidFill>
                  <a:schemeClr val="folHlink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chemeClr val="folHlink"/>
                </a:solidFill>
              </a:rPr>
              <a:t> 9</a:t>
            </a:r>
          </a:p>
        </p:txBody>
      </p:sp>
      <p:sp>
        <p:nvSpPr>
          <p:cNvPr id="28" name="AutoShape 18"/>
          <p:cNvSpPr>
            <a:spLocks noChangeArrowheads="1"/>
          </p:cNvSpPr>
          <p:nvPr/>
        </p:nvSpPr>
        <p:spPr bwMode="auto">
          <a:xfrm>
            <a:off x="6184901" y="5661026"/>
            <a:ext cx="706437" cy="427037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sz="1800" dirty="0" smtClean="0">
                <a:solidFill>
                  <a:schemeClr val="folHlink"/>
                </a:solidFill>
              </a:rPr>
              <a:t>85</a:t>
            </a:r>
            <a:endParaRPr lang="en-US" sz="1800" dirty="0">
              <a:solidFill>
                <a:schemeClr val="folHlink"/>
              </a:solidFill>
            </a:endParaRPr>
          </a:p>
        </p:txBody>
      </p:sp>
      <p:cxnSp>
        <p:nvCxnSpPr>
          <p:cNvPr id="29" name="AutoShape 13"/>
          <p:cNvCxnSpPr>
            <a:cxnSpLocks noChangeShapeType="1"/>
          </p:cNvCxnSpPr>
          <p:nvPr/>
        </p:nvCxnSpPr>
        <p:spPr bwMode="auto">
          <a:xfrm flipV="1">
            <a:off x="5486400" y="5089525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14"/>
          <p:cNvCxnSpPr>
            <a:cxnSpLocks noChangeShapeType="1"/>
          </p:cNvCxnSpPr>
          <p:nvPr/>
        </p:nvCxnSpPr>
        <p:spPr bwMode="auto">
          <a:xfrm>
            <a:off x="5980112" y="5089525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QuickSort</a:t>
            </a:r>
          </a:p>
        </p:txBody>
      </p:sp>
      <p:sp>
        <p:nvSpPr>
          <p:cNvPr id="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27BC-0226-4710-99B0-250C474190ED}" type="slidenum">
              <a:rPr lang="en-US"/>
              <a:pPr/>
              <a:t>7</a:t>
            </a:fld>
            <a:endParaRPr lang="en-US"/>
          </a:p>
        </p:txBody>
      </p:sp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33400"/>
          </a:xfrm>
        </p:spPr>
        <p:txBody>
          <a:bodyPr/>
          <a:lstStyle/>
          <a:p>
            <a:r>
              <a:rPr lang="en-US" dirty="0"/>
              <a:t>Worst-case Running Time</a:t>
            </a:r>
          </a:p>
        </p:txBody>
      </p:sp>
      <p:sp>
        <p:nvSpPr>
          <p:cNvPr id="181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838200"/>
            <a:ext cx="7848600" cy="2133600"/>
          </a:xfrm>
        </p:spPr>
        <p:txBody>
          <a:bodyPr/>
          <a:lstStyle/>
          <a:p>
            <a:r>
              <a:rPr lang="en-US" sz="1800" dirty="0" smtClean="0"/>
              <a:t>Height of the tree is linear in the worst case</a:t>
            </a:r>
          </a:p>
          <a:p>
            <a:r>
              <a:rPr lang="en-US" sz="1800" dirty="0" smtClean="0"/>
              <a:t>When S has n distinct elements and is sorted already</a:t>
            </a:r>
          </a:p>
          <a:p>
            <a:r>
              <a:rPr lang="en-US" sz="1800" dirty="0" smtClean="0"/>
              <a:t>Standard choice of the </a:t>
            </a:r>
            <a:r>
              <a:rPr lang="en-US" sz="1800" dirty="0"/>
              <a:t>pivot is the unique minimum or maximum element</a:t>
            </a:r>
          </a:p>
          <a:p>
            <a:r>
              <a:rPr lang="en-US" sz="1800" dirty="0"/>
              <a:t>One of </a:t>
            </a:r>
            <a:r>
              <a:rPr lang="en-US" sz="1800" b="1" i="1" dirty="0">
                <a:latin typeface="Times New Roman" pitchFamily="18" charset="0"/>
              </a:rPr>
              <a:t>L</a:t>
            </a:r>
            <a:r>
              <a:rPr lang="en-US" sz="1800" dirty="0"/>
              <a:t> and </a:t>
            </a:r>
            <a:r>
              <a:rPr lang="en-US" sz="1800" b="1" i="1" dirty="0">
                <a:latin typeface="Times New Roman" pitchFamily="18" charset="0"/>
              </a:rPr>
              <a:t>G</a:t>
            </a:r>
            <a:r>
              <a:rPr lang="en-US" sz="1800" dirty="0"/>
              <a:t> has size </a:t>
            </a:r>
            <a:r>
              <a:rPr lang="en-US" sz="1800" b="1" i="1" dirty="0">
                <a:latin typeface="Times New Roman" pitchFamily="18" charset="0"/>
              </a:rPr>
              <a:t>n </a:t>
            </a:r>
            <a:r>
              <a:rPr lang="en-US" sz="1800" b="1" i="1" dirty="0" smtClean="0">
                <a:latin typeface="Times New Roman" pitchFamily="18" charset="0"/>
              </a:rPr>
              <a:t>-</a:t>
            </a:r>
            <a:r>
              <a:rPr lang="en-US" sz="1800" dirty="0" smtClean="0">
                <a:latin typeface="Symbol" pitchFamily="18" charset="2"/>
              </a:rPr>
              <a:t> </a:t>
            </a:r>
            <a:r>
              <a:rPr lang="en-US" sz="1800" dirty="0" smtClean="0">
                <a:latin typeface="Times New Roman" pitchFamily="18" charset="0"/>
              </a:rPr>
              <a:t>1,</a:t>
            </a:r>
            <a:r>
              <a:rPr lang="en-US" sz="1800" dirty="0"/>
              <a:t> </a:t>
            </a:r>
            <a:r>
              <a:rPr lang="en-US" sz="1800" dirty="0" smtClean="0"/>
              <a:t>and </a:t>
            </a:r>
            <a:r>
              <a:rPr lang="en-US" sz="1800" dirty="0" smtClean="0">
                <a:latin typeface="Times New Roman" pitchFamily="18" charset="0"/>
              </a:rPr>
              <a:t>0 and E of size 1</a:t>
            </a:r>
          </a:p>
          <a:p>
            <a:r>
              <a:rPr lang="en-US" sz="1800" dirty="0" smtClean="0">
                <a:latin typeface="Times New Roman" pitchFamily="18" charset="0"/>
              </a:rPr>
              <a:t>So height of the tree is n-1 in the worst case.</a:t>
            </a:r>
            <a:endParaRPr lang="en-US" sz="1800" dirty="0">
              <a:latin typeface="Times New Roman" pitchFamily="18" charset="0"/>
            </a:endParaRPr>
          </a:p>
        </p:txBody>
      </p:sp>
      <p:sp>
        <p:nvSpPr>
          <p:cNvPr id="181252" name="AutoShape 4"/>
          <p:cNvSpPr>
            <a:spLocks noChangeArrowheads="1"/>
          </p:cNvSpPr>
          <p:nvPr/>
        </p:nvSpPr>
        <p:spPr bwMode="auto">
          <a:xfrm>
            <a:off x="5992813" y="4791075"/>
            <a:ext cx="1304925" cy="2174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>
              <a:solidFill>
                <a:schemeClr val="accent1"/>
              </a:solidFill>
            </a:endParaRPr>
          </a:p>
        </p:txBody>
      </p:sp>
      <p:sp>
        <p:nvSpPr>
          <p:cNvPr id="181253" name="AutoShape 5"/>
          <p:cNvSpPr>
            <a:spLocks noChangeArrowheads="1"/>
          </p:cNvSpPr>
          <p:nvPr/>
        </p:nvSpPr>
        <p:spPr bwMode="auto">
          <a:xfrm>
            <a:off x="7340600" y="5600700"/>
            <a:ext cx="762000" cy="2174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>
              <a:solidFill>
                <a:schemeClr val="accent1"/>
              </a:solidFill>
            </a:endParaRPr>
          </a:p>
        </p:txBody>
      </p:sp>
      <p:sp>
        <p:nvSpPr>
          <p:cNvPr id="181254" name="AutoShape 6"/>
          <p:cNvSpPr>
            <a:spLocks noChangeArrowheads="1"/>
          </p:cNvSpPr>
          <p:nvPr/>
        </p:nvSpPr>
        <p:spPr bwMode="auto">
          <a:xfrm>
            <a:off x="4191000" y="4791075"/>
            <a:ext cx="360363" cy="217488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>
              <a:solidFill>
                <a:schemeClr val="folHlink"/>
              </a:solidFill>
            </a:endParaRPr>
          </a:p>
        </p:txBody>
      </p:sp>
      <p:sp>
        <p:nvSpPr>
          <p:cNvPr id="181255" name="AutoShape 7"/>
          <p:cNvSpPr>
            <a:spLocks noChangeArrowheads="1"/>
          </p:cNvSpPr>
          <p:nvPr/>
        </p:nvSpPr>
        <p:spPr bwMode="auto">
          <a:xfrm>
            <a:off x="5943600" y="5327650"/>
            <a:ext cx="352425" cy="217488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>
              <a:solidFill>
                <a:schemeClr val="folHlink"/>
              </a:solidFill>
            </a:endParaRPr>
          </a:p>
        </p:txBody>
      </p:sp>
      <p:sp>
        <p:nvSpPr>
          <p:cNvPr id="181256" name="AutoShape 8"/>
          <p:cNvSpPr>
            <a:spLocks noChangeArrowheads="1"/>
          </p:cNvSpPr>
          <p:nvPr/>
        </p:nvSpPr>
        <p:spPr bwMode="auto">
          <a:xfrm>
            <a:off x="7297738" y="6107113"/>
            <a:ext cx="358775" cy="21748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>
              <a:solidFill>
                <a:schemeClr val="folHlink"/>
              </a:solidFill>
            </a:endParaRPr>
          </a:p>
        </p:txBody>
      </p:sp>
      <p:sp>
        <p:nvSpPr>
          <p:cNvPr id="181257" name="AutoShape 9"/>
          <p:cNvSpPr>
            <a:spLocks noChangeArrowheads="1"/>
          </p:cNvSpPr>
          <p:nvPr/>
        </p:nvSpPr>
        <p:spPr bwMode="auto">
          <a:xfrm>
            <a:off x="7802563" y="6107113"/>
            <a:ext cx="350837" cy="21748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>
              <a:solidFill>
                <a:schemeClr val="folHlink"/>
              </a:solidFill>
            </a:endParaRPr>
          </a:p>
        </p:txBody>
      </p:sp>
      <p:cxnSp>
        <p:nvCxnSpPr>
          <p:cNvPr id="181258" name="AutoShape 10"/>
          <p:cNvCxnSpPr>
            <a:cxnSpLocks noChangeShapeType="1"/>
            <a:stCxn id="181255" idx="0"/>
            <a:endCxn id="181252" idx="2"/>
          </p:cNvCxnSpPr>
          <p:nvPr/>
        </p:nvCxnSpPr>
        <p:spPr bwMode="auto">
          <a:xfrm flipV="1">
            <a:off x="6119813" y="5008563"/>
            <a:ext cx="525462" cy="3190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259" name="AutoShape 11"/>
          <p:cNvCxnSpPr>
            <a:cxnSpLocks noChangeShapeType="1"/>
            <a:endCxn id="181252" idx="2"/>
          </p:cNvCxnSpPr>
          <p:nvPr/>
        </p:nvCxnSpPr>
        <p:spPr bwMode="auto">
          <a:xfrm flipH="1" flipV="1">
            <a:off x="6645275" y="5008563"/>
            <a:ext cx="593725" cy="27781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260" name="AutoShape 12"/>
          <p:cNvCxnSpPr>
            <a:cxnSpLocks noChangeShapeType="1"/>
            <a:stCxn id="181256" idx="0"/>
            <a:endCxn id="181253" idx="2"/>
          </p:cNvCxnSpPr>
          <p:nvPr/>
        </p:nvCxnSpPr>
        <p:spPr bwMode="auto">
          <a:xfrm flipV="1">
            <a:off x="7477125" y="5818188"/>
            <a:ext cx="244475" cy="2889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261" name="AutoShape 13"/>
          <p:cNvCxnSpPr>
            <a:cxnSpLocks noChangeShapeType="1"/>
            <a:stCxn id="181253" idx="2"/>
            <a:endCxn id="181257" idx="0"/>
          </p:cNvCxnSpPr>
          <p:nvPr/>
        </p:nvCxnSpPr>
        <p:spPr bwMode="auto">
          <a:xfrm>
            <a:off x="7721600" y="5818188"/>
            <a:ext cx="257175" cy="2889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1262" name="AutoShape 14"/>
          <p:cNvSpPr>
            <a:spLocks noChangeArrowheads="1"/>
          </p:cNvSpPr>
          <p:nvPr/>
        </p:nvSpPr>
        <p:spPr bwMode="auto">
          <a:xfrm>
            <a:off x="4283075" y="4267200"/>
            <a:ext cx="2482850" cy="2190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>
              <a:solidFill>
                <a:schemeClr val="accent1"/>
              </a:solidFill>
            </a:endParaRPr>
          </a:p>
        </p:txBody>
      </p:sp>
      <p:cxnSp>
        <p:nvCxnSpPr>
          <p:cNvPr id="181263" name="AutoShape 15"/>
          <p:cNvCxnSpPr>
            <a:cxnSpLocks noChangeShapeType="1"/>
            <a:stCxn id="181254" idx="0"/>
            <a:endCxn id="181262" idx="2"/>
          </p:cNvCxnSpPr>
          <p:nvPr/>
        </p:nvCxnSpPr>
        <p:spPr bwMode="auto">
          <a:xfrm flipV="1">
            <a:off x="4371975" y="4486275"/>
            <a:ext cx="115252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264" name="AutoShape 16"/>
          <p:cNvCxnSpPr>
            <a:cxnSpLocks noChangeShapeType="1"/>
            <a:stCxn id="181252" idx="0"/>
            <a:endCxn id="181262" idx="2"/>
          </p:cNvCxnSpPr>
          <p:nvPr/>
        </p:nvCxnSpPr>
        <p:spPr bwMode="auto">
          <a:xfrm flipH="1" flipV="1">
            <a:off x="5524500" y="4486275"/>
            <a:ext cx="112077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81265" name="Group 17"/>
          <p:cNvGraphicFramePr>
            <a:graphicFrameLocks noGrp="1"/>
          </p:cNvGraphicFramePr>
          <p:nvPr/>
        </p:nvGraphicFramePr>
        <p:xfrm>
          <a:off x="2438400" y="3810000"/>
          <a:ext cx="1371600" cy="259080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</a:tblGrid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depth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time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0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sym typeface="Symbol" pitchFamily="18" charset="2"/>
                        </a:rPr>
                        <a:t>-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sym typeface="Symbol" pitchFamily="18" charset="2"/>
                        </a:rPr>
                        <a:t>-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1290" name="Text Box 42"/>
          <p:cNvSpPr txBox="1">
            <a:spLocks noChangeArrowheads="1"/>
          </p:cNvSpPr>
          <p:nvPr/>
        </p:nvSpPr>
        <p:spPr bwMode="auto">
          <a:xfrm rot="2305880">
            <a:off x="7248525" y="5138738"/>
            <a:ext cx="4333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57200"/>
                <a:ext cx="7772400" cy="5562600"/>
              </a:xfrm>
            </p:spPr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sz="2000" dirty="0" smtClean="0"/>
                  <a:t>total time = sum of the time spent at each node v of T</a:t>
                </a:r>
              </a:p>
              <a:p>
                <a:r>
                  <a:rPr lang="en-US" sz="2000" dirty="0" smtClean="0"/>
                  <a:t>Divide and conquer steps can be executed in linear time.</a:t>
                </a:r>
              </a:p>
              <a:p>
                <a:r>
                  <a:rPr lang="en-US" sz="2000" dirty="0" smtClean="0"/>
                  <a:t>Time spent at a node v is proportional to the input size s(v) of node v.</a:t>
                </a:r>
              </a:p>
              <a:p>
                <a:r>
                  <a:rPr lang="en-US" sz="2000" dirty="0" smtClean="0"/>
                  <a:t>Since subsequence E has </a:t>
                </a:r>
                <a:r>
                  <a:rPr lang="en-US" sz="2000" dirty="0" err="1" smtClean="0"/>
                  <a:t>atleast</a:t>
                </a:r>
                <a:r>
                  <a:rPr lang="en-US" sz="2000" dirty="0" smtClean="0"/>
                  <a:t> one element (pivot), sum of the input sizes of children of v is </a:t>
                </a:r>
                <a:r>
                  <a:rPr lang="en-US" sz="2000" dirty="0" err="1" smtClean="0"/>
                  <a:t>atmost</a:t>
                </a:r>
                <a:r>
                  <a:rPr lang="en-US" sz="2000" dirty="0" smtClean="0"/>
                  <a:t> s(v) – 1.</a:t>
                </a:r>
              </a:p>
              <a:p>
                <a:r>
                  <a:rPr lang="en-US" sz="20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be the sum of the input sizes of nodes at depth i in T.</a:t>
                </a:r>
              </a:p>
              <a:p>
                <a:r>
                  <a:rPr lang="en-US" sz="2000" dirty="0" smtClean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 smtClean="0"/>
                  <a:t> = 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Cambria Math"/>
                    <a:ea typeface="Cambria Math"/>
                  </a:rPr>
                  <a:t>⩽ n – 1, since pivot is not propagated to the children of v.</a:t>
                </a:r>
              </a:p>
              <a:p>
                <a:r>
                  <a:rPr lang="en-US" sz="2000" dirty="0" smtClean="0">
                    <a:latin typeface="Cambria Math"/>
                    <a:ea typeface="Cambria Math"/>
                  </a:rPr>
                  <a:t>Next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, if both children of root r have non-zero input size,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= n – 3. Else,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 = n – 2. 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Cambria Math"/>
                    <a:ea typeface="Cambria Math"/>
                  </a:rPr>
                  <a:t>⩽ n – 2.</a:t>
                </a:r>
              </a:p>
              <a:p>
                <a:r>
                  <a:rPr lang="en-US" sz="2000" dirty="0" smtClean="0">
                    <a:latin typeface="Cambria Math"/>
                    <a:ea typeface="Cambria Math"/>
                  </a:rPr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Cambria Math"/>
                    <a:ea typeface="Cambria Math"/>
                  </a:rPr>
                  <a:t>⩽ n – i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57200"/>
                <a:ext cx="7772400" cy="55626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QuickSort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500E-B9A1-4E05-9999-2323858C7CF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97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609600"/>
                <a:ext cx="7772400" cy="5638800"/>
              </a:xfrm>
            </p:spPr>
            <p:txBody>
              <a:bodyPr/>
              <a:lstStyle/>
              <a:p>
                <a:r>
                  <a:rPr lang="en-US" dirty="0" smtClean="0"/>
                  <a:t> As height of the tree T is n-1 in the worst case, running time in worst case is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e>
                        </m:nary>
                      </m:e>
                    </m:d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e>
                        </m:nary>
                      </m:e>
                    </m:d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609600"/>
                <a:ext cx="7772400" cy="5638800"/>
              </a:xfrm>
              <a:blipFill rotWithShape="1">
                <a:blip r:embed="rId2"/>
                <a:stretch>
                  <a:fillRect t="-1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QuickSort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500E-B9A1-4E05-9999-2323858C7CF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1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 Case Analysis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4000"/>
                <a:ext cx="7772400" cy="4495800"/>
              </a:xfrm>
            </p:spPr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sz="2800" dirty="0" smtClean="0"/>
                  <a:t>Sequence has distinct elements 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subsequences L and G are roughly of same size.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In each internal node </a:t>
                </a:r>
              </a:p>
              <a:p>
                <a:pPr lvl="1"/>
                <a:r>
                  <a:rPr lang="en-US" sz="2400" dirty="0"/>
                  <a:t> </a:t>
                </a:r>
                <a:r>
                  <a:rPr lang="en-US" sz="2400" dirty="0" smtClean="0"/>
                  <a:t>save one pivot </a:t>
                </a:r>
              </a:p>
              <a:p>
                <a:pPr lvl="1"/>
                <a:r>
                  <a:rPr lang="en-US" sz="2400" dirty="0"/>
                  <a:t> </a:t>
                </a:r>
                <a:r>
                  <a:rPr lang="en-US" sz="2400" dirty="0" smtClean="0"/>
                  <a:t>make two equal-sized calls for its children</a:t>
                </a:r>
              </a:p>
              <a:p>
                <a:r>
                  <a:rPr lang="en-US" dirty="0"/>
                  <a:t> </a:t>
                </a:r>
                <a:r>
                  <a:rPr lang="en-US" sz="2400" dirty="0" smtClean="0"/>
                  <a:t>So, save 1 pivot at root, 2 at level 1,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 smtClean="0"/>
                  <a:t> at level 2, and so on. 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height of the tree T is O(log n)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4000"/>
                <a:ext cx="7772400" cy="4495800"/>
              </a:xfrm>
              <a:blipFill rotWithShape="1">
                <a:blip r:embed="rId2"/>
                <a:stretch>
                  <a:fillRect t="-2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QuickSort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500E-B9A1-4E05-9999-2323858C7CF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84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990600"/>
                <a:ext cx="7772400" cy="5029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/>
                  <a:t>In the best case :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= n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= n -1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= n – (1 + 2) = n – 3</a:t>
                </a:r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= n – (1 + 2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 smtClean="0"/>
                  <a:t>+…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/>
                          </a:rPr>
                          <m:t>−1 </m:t>
                        </m:r>
                      </m:sup>
                    </m:sSup>
                  </m:oMath>
                </a14:m>
                <a:r>
                  <a:rPr lang="en-US" dirty="0" smtClean="0"/>
                  <a:t>) = n –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 smtClean="0"/>
                  <a:t> - 1)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In best case T has height O( log n)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So running time is O(n log n)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90600"/>
                <a:ext cx="7772400" cy="5029200"/>
              </a:xfrm>
              <a:blipFill rotWithShape="1">
                <a:blip r:embed="rId2"/>
                <a:stretch>
                  <a:fillRect l="-2039" t="-1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QuickSort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500E-B9A1-4E05-9999-2323858C7CF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54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Randomized quick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7772400" cy="4114800"/>
          </a:xfrm>
        </p:spPr>
        <p:txBody>
          <a:bodyPr/>
          <a:lstStyle/>
          <a:p>
            <a:r>
              <a:rPr lang="en-US" dirty="0" smtClean="0"/>
              <a:t> We expect the average running time of quick sort to be similar to the best case running time , O( n log n).</a:t>
            </a:r>
          </a:p>
          <a:p>
            <a:r>
              <a:rPr lang="en-US" dirty="0"/>
              <a:t> </a:t>
            </a:r>
            <a:r>
              <a:rPr lang="en-US" dirty="0" smtClean="0"/>
              <a:t>introducing randomization makes quick-sort behave exactly.  </a:t>
            </a:r>
          </a:p>
          <a:p>
            <a:r>
              <a:rPr lang="en-US" dirty="0"/>
              <a:t> </a:t>
            </a:r>
            <a:r>
              <a:rPr lang="en-US" dirty="0" smtClean="0"/>
              <a:t>the partition step divides S almost equally.</a:t>
            </a:r>
          </a:p>
          <a:p>
            <a:r>
              <a:rPr lang="en-US" dirty="0"/>
              <a:t> </a:t>
            </a:r>
            <a:r>
              <a:rPr lang="en-US" dirty="0" smtClean="0"/>
              <a:t>pivot is a random element of the input sequence.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QuickSort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500E-B9A1-4E05-9999-2323858C7CF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60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QuickSort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EC95-ED19-4AAC-8624-1F244F4D8981}" type="slidenum">
              <a:rPr lang="en-US"/>
              <a:pPr/>
              <a:t>13</a:t>
            </a:fld>
            <a:endParaRPr lang="en-US"/>
          </a:p>
        </p:txBody>
      </p:sp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In-Place Quick-Sort</a:t>
            </a:r>
          </a:p>
        </p:txBody>
      </p:sp>
      <p:sp>
        <p:nvSpPr>
          <p:cNvPr id="1843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3733800"/>
          </a:xfrm>
        </p:spPr>
        <p:txBody>
          <a:bodyPr/>
          <a:lstStyle/>
          <a:p>
            <a:r>
              <a:rPr lang="en-US" sz="2800"/>
              <a:t>Quick-sort can be implemented to run</a:t>
            </a:r>
            <a:br>
              <a:rPr lang="en-US" sz="2800"/>
            </a:br>
            <a:r>
              <a:rPr lang="en-US" sz="2800"/>
              <a:t>in-place</a:t>
            </a:r>
          </a:p>
          <a:p>
            <a:r>
              <a:rPr lang="en-US" sz="2800"/>
              <a:t>In the partition step, we divide into two</a:t>
            </a:r>
            <a:br>
              <a:rPr lang="en-US" sz="2800"/>
            </a:br>
            <a:r>
              <a:rPr lang="en-US" sz="2800"/>
              <a:t>non-empty parts (less than or equal to pivot and greater than or equal to pivot).</a:t>
            </a:r>
          </a:p>
          <a:p>
            <a:r>
              <a:rPr lang="en-US" sz="2800"/>
              <a:t>Recursively divide each part into two smaller parts, etc.</a:t>
            </a:r>
            <a:endParaRPr lang="en-US" sz="2400" b="1" i="1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QuickSort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21938-91DB-4990-89D1-D0942F698FC4}" type="slidenum">
              <a:rPr lang="en-US"/>
              <a:pPr/>
              <a:t>14</a:t>
            </a:fld>
            <a:endParaRPr lang="en-US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7772400" cy="1143000"/>
          </a:xfrm>
        </p:spPr>
        <p:txBody>
          <a:bodyPr/>
          <a:lstStyle/>
          <a:p>
            <a:r>
              <a:rPr lang="en-US"/>
              <a:t>In-Place Partitioning</a:t>
            </a:r>
          </a:p>
        </p:txBody>
      </p:sp>
      <p:sp>
        <p:nvSpPr>
          <p:cNvPr id="1853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820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Perform the partition using indices lo &amp; hi to split S into two non-empty subsets ≤ pivot and ≥ pivot.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Repeat until </a:t>
            </a:r>
            <a:r>
              <a:rPr lang="en-US" sz="2400" dirty="0" smtClean="0"/>
              <a:t>lo </a:t>
            </a:r>
            <a:r>
              <a:rPr lang="en-US" sz="2400" dirty="0"/>
              <a:t>and </a:t>
            </a:r>
            <a:r>
              <a:rPr lang="en-US" sz="2400" dirty="0" smtClean="0"/>
              <a:t>hi </a:t>
            </a:r>
            <a:r>
              <a:rPr lang="en-US" sz="2400" dirty="0"/>
              <a:t>cross: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Scan lo to the right until find an element ≥ x.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Scan hi to the left until find an element ≤ x.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Swap elements at indices lo and hi</a:t>
            </a:r>
          </a:p>
        </p:txBody>
      </p:sp>
      <p:sp>
        <p:nvSpPr>
          <p:cNvPr id="185349" name="AutoShape 5"/>
          <p:cNvSpPr>
            <a:spLocks noChangeArrowheads="1"/>
          </p:cNvSpPr>
          <p:nvPr/>
        </p:nvSpPr>
        <p:spPr bwMode="auto">
          <a:xfrm>
            <a:off x="1371600" y="27432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/>
              <a:t>3  2  5  1  0  7  3  5  </a:t>
            </a:r>
            <a:r>
              <a:rPr lang="en-US" sz="1800" b="1" u="sng">
                <a:solidFill>
                  <a:srgbClr val="000000"/>
                </a:solidFill>
              </a:rPr>
              <a:t>6 </a:t>
            </a:r>
            <a:r>
              <a:rPr lang="en-US" sz="1800"/>
              <a:t> 2  7  4  8  9  7  8  9</a:t>
            </a:r>
          </a:p>
        </p:txBody>
      </p:sp>
      <p:sp>
        <p:nvSpPr>
          <p:cNvPr id="185350" name="Text Box 6"/>
          <p:cNvSpPr txBox="1">
            <a:spLocks noChangeArrowheads="1"/>
          </p:cNvSpPr>
          <p:nvPr/>
        </p:nvSpPr>
        <p:spPr bwMode="auto">
          <a:xfrm>
            <a:off x="1449388" y="2235200"/>
            <a:ext cx="4191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/>
              <a:t>lo</a:t>
            </a:r>
          </a:p>
        </p:txBody>
      </p:sp>
      <p:sp>
        <p:nvSpPr>
          <p:cNvPr id="185351" name="Text Box 7"/>
          <p:cNvSpPr txBox="1">
            <a:spLocks noChangeArrowheads="1"/>
          </p:cNvSpPr>
          <p:nvPr/>
        </p:nvSpPr>
        <p:spPr bwMode="auto">
          <a:xfrm>
            <a:off x="5748338" y="2235200"/>
            <a:ext cx="4238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/>
              <a:t>hi</a:t>
            </a:r>
          </a:p>
        </p:txBody>
      </p:sp>
      <p:sp>
        <p:nvSpPr>
          <p:cNvPr id="185352" name="Text Box 8"/>
          <p:cNvSpPr txBox="1">
            <a:spLocks noChangeArrowheads="1"/>
          </p:cNvSpPr>
          <p:nvPr/>
        </p:nvSpPr>
        <p:spPr bwMode="auto">
          <a:xfrm>
            <a:off x="6477000" y="2667000"/>
            <a:ext cx="16557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/>
              <a:t>(pivot = 6)</a:t>
            </a:r>
          </a:p>
        </p:txBody>
      </p:sp>
      <p:sp>
        <p:nvSpPr>
          <p:cNvPr id="185353" name="AutoShape 9"/>
          <p:cNvSpPr>
            <a:spLocks noChangeArrowheads="1"/>
          </p:cNvSpPr>
          <p:nvPr/>
        </p:nvSpPr>
        <p:spPr bwMode="auto">
          <a:xfrm>
            <a:off x="1447800" y="5437188"/>
            <a:ext cx="4876800" cy="4302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800"/>
              <a:t>3  2  5  1  0  7  3  5  </a:t>
            </a:r>
            <a:r>
              <a:rPr lang="en-US" sz="1800" b="1" u="sng">
                <a:solidFill>
                  <a:srgbClr val="000000"/>
                </a:solidFill>
              </a:rPr>
              <a:t>6</a:t>
            </a:r>
            <a:r>
              <a:rPr lang="en-US" sz="1800"/>
              <a:t>  2  7  4  8  9  7  8  9</a:t>
            </a:r>
          </a:p>
        </p:txBody>
      </p:sp>
      <p:sp>
        <p:nvSpPr>
          <p:cNvPr id="185354" name="Text Box 10"/>
          <p:cNvSpPr txBox="1">
            <a:spLocks noChangeArrowheads="1"/>
          </p:cNvSpPr>
          <p:nvPr/>
        </p:nvSpPr>
        <p:spPr bwMode="auto">
          <a:xfrm>
            <a:off x="2855913" y="4902200"/>
            <a:ext cx="4191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/>
              <a:t>lo</a:t>
            </a:r>
          </a:p>
        </p:txBody>
      </p:sp>
      <p:sp>
        <p:nvSpPr>
          <p:cNvPr id="185355" name="Text Box 11"/>
          <p:cNvSpPr txBox="1">
            <a:spLocks noChangeArrowheads="1"/>
          </p:cNvSpPr>
          <p:nvPr/>
        </p:nvSpPr>
        <p:spPr bwMode="auto">
          <a:xfrm>
            <a:off x="4495800" y="4902200"/>
            <a:ext cx="4572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/>
              <a:t>hi</a:t>
            </a:r>
          </a:p>
        </p:txBody>
      </p:sp>
      <p:sp>
        <p:nvSpPr>
          <p:cNvPr id="185356" name="Line 12"/>
          <p:cNvSpPr>
            <a:spLocks noChangeShapeType="1"/>
          </p:cNvSpPr>
          <p:nvPr/>
        </p:nvSpPr>
        <p:spPr bwMode="auto">
          <a:xfrm flipV="1">
            <a:off x="1524000" y="5181600"/>
            <a:ext cx="1295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5357" name="Line 13"/>
          <p:cNvSpPr>
            <a:spLocks noChangeShapeType="1"/>
          </p:cNvSpPr>
          <p:nvPr/>
        </p:nvSpPr>
        <p:spPr bwMode="auto">
          <a:xfrm flipH="1">
            <a:off x="4953000" y="5181600"/>
            <a:ext cx="1219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5358" name="Rectangle 14"/>
          <p:cNvSpPr>
            <a:spLocks noChangeArrowheads="1"/>
          </p:cNvSpPr>
          <p:nvPr/>
        </p:nvSpPr>
        <p:spPr bwMode="auto">
          <a:xfrm>
            <a:off x="2895600" y="5334000"/>
            <a:ext cx="304800" cy="6096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5359" name="Rectangle 15"/>
          <p:cNvSpPr>
            <a:spLocks noChangeArrowheads="1"/>
          </p:cNvSpPr>
          <p:nvPr/>
        </p:nvSpPr>
        <p:spPr bwMode="auto">
          <a:xfrm>
            <a:off x="4572000" y="5334000"/>
            <a:ext cx="304800" cy="6858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5360" name="Freeform 16"/>
          <p:cNvSpPr>
            <a:spLocks/>
          </p:cNvSpPr>
          <p:nvPr/>
        </p:nvSpPr>
        <p:spPr bwMode="auto">
          <a:xfrm>
            <a:off x="3276600" y="6019800"/>
            <a:ext cx="1066800" cy="152400"/>
          </a:xfrm>
          <a:custGeom>
            <a:avLst/>
            <a:gdLst>
              <a:gd name="T0" fmla="*/ 0 w 432"/>
              <a:gd name="T1" fmla="*/ 0 h 96"/>
              <a:gd name="T2" fmla="*/ 192 w 432"/>
              <a:gd name="T3" fmla="*/ 96 h 96"/>
              <a:gd name="T4" fmla="*/ 432 w 432"/>
              <a:gd name="T5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" h="96">
                <a:moveTo>
                  <a:pt x="0" y="0"/>
                </a:moveTo>
                <a:cubicBezTo>
                  <a:pt x="60" y="48"/>
                  <a:pt x="120" y="96"/>
                  <a:pt x="192" y="96"/>
                </a:cubicBezTo>
                <a:cubicBezTo>
                  <a:pt x="264" y="96"/>
                  <a:pt x="348" y="48"/>
                  <a:pt x="432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QuickSort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4B0B9-D978-4CBA-9CC9-AE141FE2312D}" type="slidenum">
              <a:rPr lang="en-US"/>
              <a:pPr/>
              <a:t>15</a:t>
            </a:fld>
            <a:endParaRPr lang="en-US"/>
          </a:p>
        </p:txBody>
      </p:sp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2819400" cy="762000"/>
          </a:xfrm>
        </p:spPr>
        <p:txBody>
          <a:bodyPr/>
          <a:lstStyle/>
          <a:p>
            <a:r>
              <a:rPr lang="en-US" sz="2800" dirty="0"/>
              <a:t>Java </a:t>
            </a:r>
            <a:r>
              <a:rPr lang="en-US" sz="2800" dirty="0" smtClean="0"/>
              <a:t>Code – Pivot middle element</a:t>
            </a:r>
            <a:endParaRPr lang="en-US" sz="2800" dirty="0"/>
          </a:p>
        </p:txBody>
      </p:sp>
      <p:sp>
        <p:nvSpPr>
          <p:cNvPr id="1873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581400" y="609600"/>
            <a:ext cx="4953000" cy="57912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static void qSort( int a[], int lo0, int hi0 ) 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int lo  = lo0;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int hi  = hi0;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int mid  = ( lo + hi ) / 2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int pivot = a[mid];</a:t>
            </a:r>
            <a:endParaRPr lang="en-US" sz="800"/>
          </a:p>
          <a:p>
            <a:pPr>
              <a:lnSpc>
                <a:spcPct val="90000"/>
              </a:lnSpc>
              <a:buFontTx/>
              <a:buNone/>
            </a:pPr>
            <a:endParaRPr lang="en-US" sz="800"/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// partition array in-place into low and high parts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while( lo &lt;= hi ) {</a:t>
            </a:r>
            <a:endParaRPr lang="en-US" sz="800"/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    while(( lo &lt; hi0 )&amp;&amp;( a[lo] &lt; pivot ))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        lo++;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   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    while(( hi &gt; lo0 )&amp;&amp;( a[hi] &gt; pivot ))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        hi--;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   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    if( lo &lt;= hi 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        swap( a, lo, hi 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        lo++;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        hi --;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   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// sort the left and right parts recursively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if( hi &gt; lo0 )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    qSort( a, lo0, hi 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if( lo &lt; hi0 )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    qSort( a, lo, hi0 );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   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200"/>
              <a:t>   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6848</TotalTime>
  <Words>1214</Words>
  <Application>Microsoft Office PowerPoint</Application>
  <PresentationFormat>On-screen Show (4:3)</PresentationFormat>
  <Paragraphs>200</Paragraphs>
  <Slides>15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Blueprint</vt:lpstr>
      <vt:lpstr>Clip</vt:lpstr>
      <vt:lpstr>Quick-Sort </vt:lpstr>
      <vt:lpstr>PowerPoint Presentation</vt:lpstr>
      <vt:lpstr>Partition</vt:lpstr>
      <vt:lpstr>Quick-Sort Tree</vt:lpstr>
      <vt:lpstr>Execution Example (cont.)</vt:lpstr>
      <vt:lpstr>Execution Example (cont.)</vt:lpstr>
      <vt:lpstr>Worst-case Running Time</vt:lpstr>
      <vt:lpstr>PowerPoint Presentation</vt:lpstr>
      <vt:lpstr>PowerPoint Presentation</vt:lpstr>
      <vt:lpstr>Best Case Analysis</vt:lpstr>
      <vt:lpstr>PowerPoint Presentation</vt:lpstr>
      <vt:lpstr>Randomized quick sort</vt:lpstr>
      <vt:lpstr>In-Place Quick-Sort</vt:lpstr>
      <vt:lpstr>In-Place Partitioning</vt:lpstr>
      <vt:lpstr>Java Code – Pivot middle element</vt:lpstr>
    </vt:vector>
  </TitlesOfParts>
  <Company>Brown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Roberto Tamassia</dc:creator>
  <cp:lastModifiedBy>manimaran</cp:lastModifiedBy>
  <cp:revision>983</cp:revision>
  <cp:lastPrinted>2002-04-09T17:11:12Z</cp:lastPrinted>
  <dcterms:created xsi:type="dcterms:W3CDTF">2002-01-21T02:22:10Z</dcterms:created>
  <dcterms:modified xsi:type="dcterms:W3CDTF">2013-04-04T04:05:15Z</dcterms:modified>
</cp:coreProperties>
</file>