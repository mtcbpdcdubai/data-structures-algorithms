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37"/>
  </p:notesMasterIdLst>
  <p:handoutMasterIdLst>
    <p:handoutMasterId r:id="rId38"/>
  </p:handoutMasterIdLst>
  <p:sldIdLst>
    <p:sldId id="260" r:id="rId2"/>
    <p:sldId id="293" r:id="rId3"/>
    <p:sldId id="264" r:id="rId4"/>
    <p:sldId id="265" r:id="rId5"/>
    <p:sldId id="266" r:id="rId6"/>
    <p:sldId id="267" r:id="rId7"/>
    <p:sldId id="268" r:id="rId8"/>
    <p:sldId id="292" r:id="rId9"/>
    <p:sldId id="269" r:id="rId10"/>
    <p:sldId id="270" r:id="rId11"/>
    <p:sldId id="294" r:id="rId12"/>
    <p:sldId id="295" r:id="rId13"/>
    <p:sldId id="271" r:id="rId14"/>
    <p:sldId id="263"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261" r:id="rId36"/>
  </p:sldIdLst>
  <p:sldSz cx="9144000" cy="6858000" type="screen4x3"/>
  <p:notesSz cx="9296400" cy="7010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5D5D5"/>
    <a:srgbClr val="C2C2C2"/>
    <a:srgbClr val="471D05"/>
    <a:srgbClr val="652907"/>
    <a:srgbClr val="332BA1"/>
    <a:srgbClr val="0000FF"/>
    <a:srgbClr val="FF00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40" autoAdjust="0"/>
    <p:restoredTop sz="94664" autoAdjust="0"/>
  </p:normalViewPr>
  <p:slideViewPr>
    <p:cSldViewPr>
      <p:cViewPr varScale="1">
        <p:scale>
          <a:sx n="74" d="100"/>
          <a:sy n="74" d="100"/>
        </p:scale>
        <p:origin x="-1044"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5154" name="Rectangle 2"/>
          <p:cNvSpPr>
            <a:spLocks noGrp="1" noChangeArrowheads="1"/>
          </p:cNvSpPr>
          <p:nvPr>
            <p:ph type="hdr" sz="quarter"/>
          </p:nvPr>
        </p:nvSpPr>
        <p:spPr bwMode="auto">
          <a:xfrm>
            <a:off x="0" y="0"/>
            <a:ext cx="4029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defRPr sz="1200"/>
            </a:lvl1pPr>
          </a:lstStyle>
          <a:p>
            <a:endParaRPr lang="en-US"/>
          </a:p>
        </p:txBody>
      </p:sp>
      <p:sp>
        <p:nvSpPr>
          <p:cNvPr id="305155" name="Rectangle 3"/>
          <p:cNvSpPr>
            <a:spLocks noGrp="1" noChangeArrowheads="1"/>
          </p:cNvSpPr>
          <p:nvPr>
            <p:ph type="dt" sz="quarter" idx="1"/>
          </p:nvPr>
        </p:nvSpPr>
        <p:spPr bwMode="auto">
          <a:xfrm>
            <a:off x="5265738" y="0"/>
            <a:ext cx="4029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defRPr sz="1200"/>
            </a:lvl1pPr>
          </a:lstStyle>
          <a:p>
            <a:endParaRPr lang="en-US"/>
          </a:p>
        </p:txBody>
      </p:sp>
      <p:sp>
        <p:nvSpPr>
          <p:cNvPr id="305156" name="Rectangle 4"/>
          <p:cNvSpPr>
            <a:spLocks noGrp="1" noChangeArrowheads="1"/>
          </p:cNvSpPr>
          <p:nvPr>
            <p:ph type="ftr" sz="quarter" idx="2"/>
          </p:nvPr>
        </p:nvSpPr>
        <p:spPr bwMode="auto">
          <a:xfrm>
            <a:off x="0" y="6657975"/>
            <a:ext cx="4029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defRPr sz="1200"/>
            </a:lvl1pPr>
          </a:lstStyle>
          <a:p>
            <a:endParaRPr lang="en-US"/>
          </a:p>
        </p:txBody>
      </p:sp>
      <p:sp>
        <p:nvSpPr>
          <p:cNvPr id="305157" name="Rectangle 5"/>
          <p:cNvSpPr>
            <a:spLocks noGrp="1" noChangeArrowheads="1"/>
          </p:cNvSpPr>
          <p:nvPr>
            <p:ph type="sldNum" sz="quarter" idx="3"/>
          </p:nvPr>
        </p:nvSpPr>
        <p:spPr bwMode="auto">
          <a:xfrm>
            <a:off x="5265738" y="6657975"/>
            <a:ext cx="4029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defRPr sz="1200"/>
            </a:lvl1pPr>
          </a:lstStyle>
          <a:p>
            <a:fld id="{FA1CE729-E73D-4BAD-B262-CCBEC0ADD680}" type="slidenum">
              <a:rPr lang="en-US"/>
              <a:pPr/>
              <a:t>‹#›</a:t>
            </a:fld>
            <a:endParaRPr lang="en-US"/>
          </a:p>
        </p:txBody>
      </p:sp>
    </p:spTree>
    <p:extLst>
      <p:ext uri="{BB962C8B-B14F-4D97-AF65-F5344CB8AC3E}">
        <p14:creationId xmlns:p14="http://schemas.microsoft.com/office/powerpoint/2010/main" val="18466582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bwMode="auto">
          <a:xfrm>
            <a:off x="0" y="0"/>
            <a:ext cx="4029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defTabSz="931863">
              <a:defRPr sz="1200"/>
            </a:lvl1pPr>
          </a:lstStyle>
          <a:p>
            <a:endParaRPr lang="en-US"/>
          </a:p>
        </p:txBody>
      </p:sp>
      <p:sp>
        <p:nvSpPr>
          <p:cNvPr id="72707" name="Rectangle 3"/>
          <p:cNvSpPr>
            <a:spLocks noGrp="1" noChangeArrowheads="1"/>
          </p:cNvSpPr>
          <p:nvPr>
            <p:ph type="dt" idx="1"/>
          </p:nvPr>
        </p:nvSpPr>
        <p:spPr bwMode="auto">
          <a:xfrm>
            <a:off x="5265738" y="0"/>
            <a:ext cx="4029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lvl1pPr algn="r" defTabSz="931863">
              <a:defRPr sz="1200"/>
            </a:lvl1pPr>
          </a:lstStyle>
          <a:p>
            <a:endParaRPr lang="en-US"/>
          </a:p>
        </p:txBody>
      </p:sp>
      <p:sp>
        <p:nvSpPr>
          <p:cNvPr id="72708" name="Rectangle 4"/>
          <p:cNvSpPr>
            <a:spLocks noGrp="1" noRot="1" noChangeAspect="1" noChangeArrowheads="1" noTextEdit="1"/>
          </p:cNvSpPr>
          <p:nvPr>
            <p:ph type="sldImg" idx="2"/>
          </p:nvPr>
        </p:nvSpPr>
        <p:spPr bwMode="auto">
          <a:xfrm>
            <a:off x="2895600" y="525463"/>
            <a:ext cx="3505200" cy="26289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72709" name="Rectangle 5"/>
          <p:cNvSpPr>
            <a:spLocks noGrp="1" noChangeArrowheads="1"/>
          </p:cNvSpPr>
          <p:nvPr>
            <p:ph type="body" sz="quarter" idx="3"/>
          </p:nvPr>
        </p:nvSpPr>
        <p:spPr bwMode="auto">
          <a:xfrm>
            <a:off x="930275" y="3330575"/>
            <a:ext cx="7435850" cy="3154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2710" name="Rectangle 6"/>
          <p:cNvSpPr>
            <a:spLocks noGrp="1" noChangeArrowheads="1"/>
          </p:cNvSpPr>
          <p:nvPr>
            <p:ph type="ftr" sz="quarter" idx="4"/>
          </p:nvPr>
        </p:nvSpPr>
        <p:spPr bwMode="auto">
          <a:xfrm>
            <a:off x="0" y="6657975"/>
            <a:ext cx="4029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defTabSz="931863">
              <a:defRPr sz="1200"/>
            </a:lvl1pPr>
          </a:lstStyle>
          <a:p>
            <a:endParaRPr lang="en-US"/>
          </a:p>
        </p:txBody>
      </p:sp>
      <p:sp>
        <p:nvSpPr>
          <p:cNvPr id="72711" name="Rectangle 7"/>
          <p:cNvSpPr>
            <a:spLocks noGrp="1" noChangeArrowheads="1"/>
          </p:cNvSpPr>
          <p:nvPr>
            <p:ph type="sldNum" sz="quarter" idx="5"/>
          </p:nvPr>
        </p:nvSpPr>
        <p:spPr bwMode="auto">
          <a:xfrm>
            <a:off x="5265738" y="6657975"/>
            <a:ext cx="4029075" cy="350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3177" tIns="46589" rIns="93177" bIns="46589" numCol="1" anchor="b" anchorCtr="0" compatLnSpc="1">
            <a:prstTxWarp prst="textNoShape">
              <a:avLst/>
            </a:prstTxWarp>
          </a:bodyPr>
          <a:lstStyle>
            <a:lvl1pPr algn="r" defTabSz="931863">
              <a:defRPr sz="1200"/>
            </a:lvl1pPr>
          </a:lstStyle>
          <a:p>
            <a:fld id="{B5FA4FF4-7952-45E7-B510-F796E8ECA057}" type="slidenum">
              <a:rPr lang="en-US"/>
              <a:pPr/>
              <a:t>‹#›</a:t>
            </a:fld>
            <a:endParaRPr lang="en-US"/>
          </a:p>
        </p:txBody>
      </p:sp>
    </p:spTree>
    <p:extLst>
      <p:ext uri="{BB962C8B-B14F-4D97-AF65-F5344CB8AC3E}">
        <p14:creationId xmlns:p14="http://schemas.microsoft.com/office/powerpoint/2010/main" val="10080024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9CED788-0261-412F-AF48-6FE9B3ACB2F7}" type="slidenum">
              <a:rPr lang="en-US"/>
              <a:pPr/>
              <a:t>19</a:t>
            </a:fld>
            <a:endParaRPr lang="en-US"/>
          </a:p>
        </p:txBody>
      </p:sp>
      <p:sp>
        <p:nvSpPr>
          <p:cNvPr id="287746" name="Rectangle 2"/>
          <p:cNvSpPr>
            <a:spLocks noGrp="1" noRot="1" noChangeAspect="1" noChangeArrowheads="1" noTextEdit="1"/>
          </p:cNvSpPr>
          <p:nvPr>
            <p:ph type="sldImg"/>
          </p:nvPr>
        </p:nvSpPr>
        <p:spPr>
          <a:xfrm>
            <a:off x="2897188" y="527050"/>
            <a:ext cx="3503612" cy="2627313"/>
          </a:xfrm>
          <a:ln/>
        </p:spPr>
      </p:sp>
      <p:sp>
        <p:nvSpPr>
          <p:cNvPr id="287747" name="Rectangle 3"/>
          <p:cNvSpPr>
            <a:spLocks noGrp="1" noChangeArrowheads="1"/>
          </p:cNvSpPr>
          <p:nvPr>
            <p:ph type="body" idx="1"/>
          </p:nvPr>
        </p:nvSpPr>
        <p:spPr>
          <a:xfrm>
            <a:off x="1239838" y="3330575"/>
            <a:ext cx="6816725" cy="3152775"/>
          </a:xfr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Data Structures and Algorithms</a:t>
            </a:r>
          </a:p>
        </p:txBody>
      </p:sp>
      <p:sp>
        <p:nvSpPr>
          <p:cNvPr id="6" name="Slide Number Placeholder 5"/>
          <p:cNvSpPr>
            <a:spLocks noGrp="1"/>
          </p:cNvSpPr>
          <p:nvPr>
            <p:ph type="sldNum" sz="quarter" idx="12"/>
          </p:nvPr>
        </p:nvSpPr>
        <p:spPr/>
        <p:txBody>
          <a:bodyPr/>
          <a:lstStyle>
            <a:lvl1pPr>
              <a:defRPr/>
            </a:lvl1pPr>
          </a:lstStyle>
          <a:p>
            <a:fld id="{4BE75196-06AF-43B3-8765-E14543E30895}" type="slidenum">
              <a:rPr lang="en-US"/>
              <a:pPr/>
              <a:t>‹#›</a:t>
            </a:fld>
            <a:endParaRPr lang="en-US"/>
          </a:p>
        </p:txBody>
      </p:sp>
    </p:spTree>
    <p:extLst>
      <p:ext uri="{BB962C8B-B14F-4D97-AF65-F5344CB8AC3E}">
        <p14:creationId xmlns:p14="http://schemas.microsoft.com/office/powerpoint/2010/main" val="17083555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Data Structures and Algorithms</a:t>
            </a:r>
          </a:p>
        </p:txBody>
      </p:sp>
      <p:sp>
        <p:nvSpPr>
          <p:cNvPr id="6" name="Slide Number Placeholder 5"/>
          <p:cNvSpPr>
            <a:spLocks noGrp="1"/>
          </p:cNvSpPr>
          <p:nvPr>
            <p:ph type="sldNum" sz="quarter" idx="12"/>
          </p:nvPr>
        </p:nvSpPr>
        <p:spPr/>
        <p:txBody>
          <a:bodyPr/>
          <a:lstStyle>
            <a:lvl1pPr>
              <a:defRPr/>
            </a:lvl1pPr>
          </a:lstStyle>
          <a:p>
            <a:fld id="{AA248A14-1B58-45AD-8E86-E26A000E2CC9}" type="slidenum">
              <a:rPr lang="en-US"/>
              <a:pPr/>
              <a:t>‹#›</a:t>
            </a:fld>
            <a:endParaRPr lang="en-US"/>
          </a:p>
        </p:txBody>
      </p:sp>
    </p:spTree>
    <p:extLst>
      <p:ext uri="{BB962C8B-B14F-4D97-AF65-F5344CB8AC3E}">
        <p14:creationId xmlns:p14="http://schemas.microsoft.com/office/powerpoint/2010/main" val="29710345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Data Structures and Algorithms</a:t>
            </a:r>
          </a:p>
        </p:txBody>
      </p:sp>
      <p:sp>
        <p:nvSpPr>
          <p:cNvPr id="6" name="Slide Number Placeholder 5"/>
          <p:cNvSpPr>
            <a:spLocks noGrp="1"/>
          </p:cNvSpPr>
          <p:nvPr>
            <p:ph type="sldNum" sz="quarter" idx="12"/>
          </p:nvPr>
        </p:nvSpPr>
        <p:spPr/>
        <p:txBody>
          <a:bodyPr/>
          <a:lstStyle>
            <a:lvl1pPr>
              <a:defRPr/>
            </a:lvl1pPr>
          </a:lstStyle>
          <a:p>
            <a:fld id="{084214F1-EDA4-4DBB-AD41-754E5462960F}" type="slidenum">
              <a:rPr lang="en-US"/>
              <a:pPr/>
              <a:t>‹#›</a:t>
            </a:fld>
            <a:endParaRPr lang="en-US"/>
          </a:p>
        </p:txBody>
      </p:sp>
    </p:spTree>
    <p:extLst>
      <p:ext uri="{BB962C8B-B14F-4D97-AF65-F5344CB8AC3E}">
        <p14:creationId xmlns:p14="http://schemas.microsoft.com/office/powerpoint/2010/main" val="39930234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Data Structures and Algorithms</a:t>
            </a:r>
          </a:p>
        </p:txBody>
      </p:sp>
      <p:sp>
        <p:nvSpPr>
          <p:cNvPr id="7" name="Slide Number Placeholder 6"/>
          <p:cNvSpPr>
            <a:spLocks noGrp="1"/>
          </p:cNvSpPr>
          <p:nvPr>
            <p:ph type="sldNum" sz="quarter" idx="12"/>
          </p:nvPr>
        </p:nvSpPr>
        <p:spPr/>
        <p:txBody>
          <a:bodyPr/>
          <a:lstStyle>
            <a:lvl1pPr>
              <a:defRPr/>
            </a:lvl1pPr>
          </a:lstStyle>
          <a:p>
            <a:fld id="{F8BD363D-AA90-4BA2-A6D2-CB4361558C0F}" type="slidenum">
              <a:rPr lang="en-US"/>
              <a:pPr/>
              <a:t>‹#›</a:t>
            </a:fld>
            <a:endParaRPr lang="en-US"/>
          </a:p>
        </p:txBody>
      </p:sp>
    </p:spTree>
    <p:extLst>
      <p:ext uri="{BB962C8B-B14F-4D97-AF65-F5344CB8AC3E}">
        <p14:creationId xmlns:p14="http://schemas.microsoft.com/office/powerpoint/2010/main" val="32461087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r>
              <a:rPr lang="en-US"/>
              <a:t>Data Structures and Algorithms</a:t>
            </a:r>
          </a:p>
        </p:txBody>
      </p:sp>
      <p:sp>
        <p:nvSpPr>
          <p:cNvPr id="9" name="Slide Number Placeholder 8"/>
          <p:cNvSpPr>
            <a:spLocks noGrp="1"/>
          </p:cNvSpPr>
          <p:nvPr>
            <p:ph type="sldNum" sz="quarter" idx="12"/>
          </p:nvPr>
        </p:nvSpPr>
        <p:spPr/>
        <p:txBody>
          <a:bodyPr/>
          <a:lstStyle>
            <a:lvl1pPr>
              <a:defRPr/>
            </a:lvl1pPr>
          </a:lstStyle>
          <a:p>
            <a:fld id="{DE29AA54-5801-4F12-A2D5-7763B0DD9ED2}" type="slidenum">
              <a:rPr lang="en-US"/>
              <a:pPr/>
              <a:t>‹#›</a:t>
            </a:fld>
            <a:endParaRPr lang="en-US"/>
          </a:p>
        </p:txBody>
      </p:sp>
    </p:spTree>
    <p:extLst>
      <p:ext uri="{BB962C8B-B14F-4D97-AF65-F5344CB8AC3E}">
        <p14:creationId xmlns:p14="http://schemas.microsoft.com/office/powerpoint/2010/main" val="17334854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r>
              <a:rPr lang="en-US"/>
              <a:t>Data Structures and Algorithms</a:t>
            </a:r>
          </a:p>
        </p:txBody>
      </p:sp>
      <p:sp>
        <p:nvSpPr>
          <p:cNvPr id="5" name="Slide Number Placeholder 4"/>
          <p:cNvSpPr>
            <a:spLocks noGrp="1"/>
          </p:cNvSpPr>
          <p:nvPr>
            <p:ph type="sldNum" sz="quarter" idx="12"/>
          </p:nvPr>
        </p:nvSpPr>
        <p:spPr/>
        <p:txBody>
          <a:bodyPr/>
          <a:lstStyle>
            <a:lvl1pPr>
              <a:defRPr/>
            </a:lvl1pPr>
          </a:lstStyle>
          <a:p>
            <a:fld id="{75858171-6204-41CE-B49E-1A863934C5BC}" type="slidenum">
              <a:rPr lang="en-US"/>
              <a:pPr/>
              <a:t>‹#›</a:t>
            </a:fld>
            <a:endParaRPr lang="en-US"/>
          </a:p>
        </p:txBody>
      </p:sp>
    </p:spTree>
    <p:extLst>
      <p:ext uri="{BB962C8B-B14F-4D97-AF65-F5344CB8AC3E}">
        <p14:creationId xmlns:p14="http://schemas.microsoft.com/office/powerpoint/2010/main" val="29674815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r>
              <a:rPr lang="en-US"/>
              <a:t>Data Structures and Algorithms</a:t>
            </a:r>
          </a:p>
        </p:txBody>
      </p:sp>
      <p:sp>
        <p:nvSpPr>
          <p:cNvPr id="4" name="Slide Number Placeholder 3"/>
          <p:cNvSpPr>
            <a:spLocks noGrp="1"/>
          </p:cNvSpPr>
          <p:nvPr>
            <p:ph type="sldNum" sz="quarter" idx="12"/>
          </p:nvPr>
        </p:nvSpPr>
        <p:spPr/>
        <p:txBody>
          <a:bodyPr/>
          <a:lstStyle>
            <a:lvl1pPr>
              <a:defRPr/>
            </a:lvl1pPr>
          </a:lstStyle>
          <a:p>
            <a:fld id="{F38D781E-85CD-4996-95EA-2FA24A70400B}" type="slidenum">
              <a:rPr lang="en-US"/>
              <a:pPr/>
              <a:t>‹#›</a:t>
            </a:fld>
            <a:endParaRPr lang="en-US"/>
          </a:p>
        </p:txBody>
      </p:sp>
    </p:spTree>
    <p:extLst>
      <p:ext uri="{BB962C8B-B14F-4D97-AF65-F5344CB8AC3E}">
        <p14:creationId xmlns:p14="http://schemas.microsoft.com/office/powerpoint/2010/main" val="1779672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Data Structures and Algorithms</a:t>
            </a:r>
          </a:p>
        </p:txBody>
      </p:sp>
      <p:sp>
        <p:nvSpPr>
          <p:cNvPr id="7" name="Slide Number Placeholder 6"/>
          <p:cNvSpPr>
            <a:spLocks noGrp="1"/>
          </p:cNvSpPr>
          <p:nvPr>
            <p:ph type="sldNum" sz="quarter" idx="12"/>
          </p:nvPr>
        </p:nvSpPr>
        <p:spPr/>
        <p:txBody>
          <a:bodyPr/>
          <a:lstStyle>
            <a:lvl1pPr>
              <a:defRPr/>
            </a:lvl1pPr>
          </a:lstStyle>
          <a:p>
            <a:fld id="{4F2CEAF1-B734-4AE7-AC9C-DD3713DD602F}" type="slidenum">
              <a:rPr lang="en-US"/>
              <a:pPr/>
              <a:t>‹#›</a:t>
            </a:fld>
            <a:endParaRPr lang="en-US"/>
          </a:p>
        </p:txBody>
      </p:sp>
    </p:spTree>
    <p:extLst>
      <p:ext uri="{BB962C8B-B14F-4D97-AF65-F5344CB8AC3E}">
        <p14:creationId xmlns:p14="http://schemas.microsoft.com/office/powerpoint/2010/main" val="1317972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r>
              <a:rPr lang="en-US"/>
              <a:t>Data Structures and Algorithms</a:t>
            </a:r>
          </a:p>
        </p:txBody>
      </p:sp>
      <p:sp>
        <p:nvSpPr>
          <p:cNvPr id="7" name="Slide Number Placeholder 6"/>
          <p:cNvSpPr>
            <a:spLocks noGrp="1"/>
          </p:cNvSpPr>
          <p:nvPr>
            <p:ph type="sldNum" sz="quarter" idx="12"/>
          </p:nvPr>
        </p:nvSpPr>
        <p:spPr/>
        <p:txBody>
          <a:bodyPr/>
          <a:lstStyle>
            <a:lvl1pPr>
              <a:defRPr/>
            </a:lvl1pPr>
          </a:lstStyle>
          <a:p>
            <a:fld id="{B436FDC1-CD24-4E72-A081-23BAB39A86BE}" type="slidenum">
              <a:rPr lang="en-US"/>
              <a:pPr/>
              <a:t>‹#›</a:t>
            </a:fld>
            <a:endParaRPr lang="en-US"/>
          </a:p>
        </p:txBody>
      </p:sp>
    </p:spTree>
    <p:extLst>
      <p:ext uri="{BB962C8B-B14F-4D97-AF65-F5344CB8AC3E}">
        <p14:creationId xmlns:p14="http://schemas.microsoft.com/office/powerpoint/2010/main" val="137862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Data Structures and Algorithms</a:t>
            </a:r>
          </a:p>
        </p:txBody>
      </p:sp>
      <p:sp>
        <p:nvSpPr>
          <p:cNvPr id="6" name="Slide Number Placeholder 5"/>
          <p:cNvSpPr>
            <a:spLocks noGrp="1"/>
          </p:cNvSpPr>
          <p:nvPr>
            <p:ph type="sldNum" sz="quarter" idx="12"/>
          </p:nvPr>
        </p:nvSpPr>
        <p:spPr/>
        <p:txBody>
          <a:bodyPr/>
          <a:lstStyle>
            <a:lvl1pPr>
              <a:defRPr/>
            </a:lvl1pPr>
          </a:lstStyle>
          <a:p>
            <a:fld id="{802343D4-3AA0-4B1A-8068-AD4E5F3138B1}" type="slidenum">
              <a:rPr lang="en-US"/>
              <a:pPr/>
              <a:t>‹#›</a:t>
            </a:fld>
            <a:endParaRPr lang="en-US"/>
          </a:p>
        </p:txBody>
      </p:sp>
    </p:spTree>
    <p:extLst>
      <p:ext uri="{BB962C8B-B14F-4D97-AF65-F5344CB8AC3E}">
        <p14:creationId xmlns:p14="http://schemas.microsoft.com/office/powerpoint/2010/main" val="2993967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r>
              <a:rPr lang="en-US"/>
              <a:t>Data Structures and Algorithms</a:t>
            </a:r>
          </a:p>
        </p:txBody>
      </p:sp>
      <p:sp>
        <p:nvSpPr>
          <p:cNvPr id="6" name="Slide Number Placeholder 5"/>
          <p:cNvSpPr>
            <a:spLocks noGrp="1"/>
          </p:cNvSpPr>
          <p:nvPr>
            <p:ph type="sldNum" sz="quarter" idx="12"/>
          </p:nvPr>
        </p:nvSpPr>
        <p:spPr/>
        <p:txBody>
          <a:bodyPr/>
          <a:lstStyle>
            <a:lvl1pPr>
              <a:defRPr/>
            </a:lvl1pPr>
          </a:lstStyle>
          <a:p>
            <a:fld id="{3213D3EF-A8F6-468D-9F4D-677852111EC2}" type="slidenum">
              <a:rPr lang="en-US"/>
              <a:pPr/>
              <a:t>‹#›</a:t>
            </a:fld>
            <a:endParaRPr lang="en-US"/>
          </a:p>
        </p:txBody>
      </p:sp>
    </p:spTree>
    <p:extLst>
      <p:ext uri="{BB962C8B-B14F-4D97-AF65-F5344CB8AC3E}">
        <p14:creationId xmlns:p14="http://schemas.microsoft.com/office/powerpoint/2010/main" val="3923756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6200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457200" y="6245225"/>
            <a:ext cx="2133600" cy="476250"/>
          </a:xfrm>
        </p:spPr>
        <p:txBody>
          <a:bodyPr/>
          <a:lstStyle>
            <a:lvl1pPr>
              <a:defRPr/>
            </a:lvl1pPr>
          </a:lstStyle>
          <a:p>
            <a:endParaRPr lang="en-US"/>
          </a:p>
        </p:txBody>
      </p:sp>
      <p:sp>
        <p:nvSpPr>
          <p:cNvPr id="6" name="Footer Placeholder 5"/>
          <p:cNvSpPr>
            <a:spLocks noGrp="1"/>
          </p:cNvSpPr>
          <p:nvPr>
            <p:ph type="ftr" sz="quarter" idx="11"/>
          </p:nvPr>
        </p:nvSpPr>
        <p:spPr>
          <a:xfrm>
            <a:off x="3124200" y="6245225"/>
            <a:ext cx="2895600" cy="476250"/>
          </a:xfrm>
        </p:spPr>
        <p:txBody>
          <a:bodyPr/>
          <a:lstStyle>
            <a:lvl1pPr>
              <a:defRPr/>
            </a:lvl1pPr>
          </a:lstStyle>
          <a:p>
            <a:r>
              <a:rPr lang="en-US"/>
              <a:t>Data Structures and Algorithms</a:t>
            </a:r>
          </a:p>
        </p:txBody>
      </p:sp>
      <p:sp>
        <p:nvSpPr>
          <p:cNvPr id="7" name="Slide Number Placeholder 6"/>
          <p:cNvSpPr>
            <a:spLocks noGrp="1"/>
          </p:cNvSpPr>
          <p:nvPr>
            <p:ph type="sldNum" sz="quarter" idx="12"/>
          </p:nvPr>
        </p:nvSpPr>
        <p:spPr>
          <a:xfrm>
            <a:off x="6553200" y="6245225"/>
            <a:ext cx="2133600" cy="476250"/>
          </a:xfrm>
        </p:spPr>
        <p:txBody>
          <a:bodyPr/>
          <a:lstStyle>
            <a:lvl1pPr>
              <a:defRPr/>
            </a:lvl1pPr>
          </a:lstStyle>
          <a:p>
            <a:fld id="{D7DD1031-E39A-4DA3-A7EF-EF4780BB5252}" type="slidenum">
              <a:rPr lang="en-US"/>
              <a:pPr/>
              <a:t>‹#›</a:t>
            </a:fld>
            <a:endParaRPr lang="en-US"/>
          </a:p>
        </p:txBody>
      </p:sp>
    </p:spTree>
    <p:extLst>
      <p:ext uri="{BB962C8B-B14F-4D97-AF65-F5344CB8AC3E}">
        <p14:creationId xmlns:p14="http://schemas.microsoft.com/office/powerpoint/2010/main" val="195175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bwMode="auto">
          <a:xfrm>
            <a:off x="1066800" y="274638"/>
            <a:ext cx="76200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66563"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66564"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66565"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r>
              <a:rPr lang="en-US"/>
              <a:t>Data Structures and Algorithms</a:t>
            </a:r>
          </a:p>
        </p:txBody>
      </p:sp>
      <p:sp>
        <p:nvSpPr>
          <p:cNvPr id="66566"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fld id="{0F1B60C0-D174-4C8E-A329-A71F8F0D1FC9}" type="slidenum">
              <a:rPr lang="en-US"/>
              <a:pPr/>
              <a:t>‹#›</a:t>
            </a:fld>
            <a:endParaRPr lang="en-US"/>
          </a:p>
        </p:txBody>
      </p:sp>
      <p:pic>
        <p:nvPicPr>
          <p:cNvPr id="66568" name="Picture 8" descr="logo"/>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2400" y="152400"/>
            <a:ext cx="809625"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a:solidFill>
                  <a:srgbClr val="00005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Lst>
  <p:hf hdr="0" dt="0"/>
  <p:txStyles>
    <p:titleStyle>
      <a:lvl1pPr algn="l" rtl="0" fontAlgn="base">
        <a:spcBef>
          <a:spcPct val="0"/>
        </a:spcBef>
        <a:spcAft>
          <a:spcPct val="0"/>
        </a:spcAft>
        <a:defRPr sz="3600">
          <a:solidFill>
            <a:srgbClr val="000050"/>
          </a:solidFill>
          <a:latin typeface="+mj-lt"/>
          <a:ea typeface="+mj-ea"/>
          <a:cs typeface="+mj-cs"/>
        </a:defRPr>
      </a:lvl1pPr>
      <a:lvl2pPr algn="l" rtl="0" fontAlgn="base">
        <a:spcBef>
          <a:spcPct val="0"/>
        </a:spcBef>
        <a:spcAft>
          <a:spcPct val="0"/>
        </a:spcAft>
        <a:defRPr sz="3600">
          <a:solidFill>
            <a:srgbClr val="000050"/>
          </a:solidFill>
          <a:latin typeface="Garamond" pitchFamily="18" charset="0"/>
        </a:defRPr>
      </a:lvl2pPr>
      <a:lvl3pPr algn="l" rtl="0" fontAlgn="base">
        <a:spcBef>
          <a:spcPct val="0"/>
        </a:spcBef>
        <a:spcAft>
          <a:spcPct val="0"/>
        </a:spcAft>
        <a:defRPr sz="3600">
          <a:solidFill>
            <a:srgbClr val="000050"/>
          </a:solidFill>
          <a:latin typeface="Garamond" pitchFamily="18" charset="0"/>
        </a:defRPr>
      </a:lvl3pPr>
      <a:lvl4pPr algn="l" rtl="0" fontAlgn="base">
        <a:spcBef>
          <a:spcPct val="0"/>
        </a:spcBef>
        <a:spcAft>
          <a:spcPct val="0"/>
        </a:spcAft>
        <a:defRPr sz="3600">
          <a:solidFill>
            <a:srgbClr val="000050"/>
          </a:solidFill>
          <a:latin typeface="Garamond" pitchFamily="18" charset="0"/>
        </a:defRPr>
      </a:lvl4pPr>
      <a:lvl5pPr algn="l" rtl="0" fontAlgn="base">
        <a:spcBef>
          <a:spcPct val="0"/>
        </a:spcBef>
        <a:spcAft>
          <a:spcPct val="0"/>
        </a:spcAft>
        <a:defRPr sz="3600">
          <a:solidFill>
            <a:srgbClr val="000050"/>
          </a:solidFill>
          <a:latin typeface="Garamond" pitchFamily="18" charset="0"/>
        </a:defRPr>
      </a:lvl5pPr>
      <a:lvl6pPr marL="457200" algn="l" rtl="0" fontAlgn="base">
        <a:spcBef>
          <a:spcPct val="0"/>
        </a:spcBef>
        <a:spcAft>
          <a:spcPct val="0"/>
        </a:spcAft>
        <a:defRPr sz="3600">
          <a:solidFill>
            <a:srgbClr val="000050"/>
          </a:solidFill>
          <a:latin typeface="Garamond" pitchFamily="18" charset="0"/>
        </a:defRPr>
      </a:lvl6pPr>
      <a:lvl7pPr marL="914400" algn="l" rtl="0" fontAlgn="base">
        <a:spcBef>
          <a:spcPct val="0"/>
        </a:spcBef>
        <a:spcAft>
          <a:spcPct val="0"/>
        </a:spcAft>
        <a:defRPr sz="3600">
          <a:solidFill>
            <a:srgbClr val="000050"/>
          </a:solidFill>
          <a:latin typeface="Garamond" pitchFamily="18" charset="0"/>
        </a:defRPr>
      </a:lvl7pPr>
      <a:lvl8pPr marL="1371600" algn="l" rtl="0" fontAlgn="base">
        <a:spcBef>
          <a:spcPct val="0"/>
        </a:spcBef>
        <a:spcAft>
          <a:spcPct val="0"/>
        </a:spcAft>
        <a:defRPr sz="3600">
          <a:solidFill>
            <a:srgbClr val="000050"/>
          </a:solidFill>
          <a:latin typeface="Garamond" pitchFamily="18" charset="0"/>
        </a:defRPr>
      </a:lvl8pPr>
      <a:lvl9pPr marL="1828800" algn="l" rtl="0" fontAlgn="base">
        <a:spcBef>
          <a:spcPct val="0"/>
        </a:spcBef>
        <a:spcAft>
          <a:spcPct val="0"/>
        </a:spcAft>
        <a:defRPr sz="3600">
          <a:solidFill>
            <a:srgbClr val="000050"/>
          </a:solidFill>
          <a:latin typeface="Garamond" pitchFamily="18" charset="0"/>
        </a:defRPr>
      </a:lvl9pPr>
    </p:titleStyle>
    <p:bodyStyle>
      <a:lvl1pPr marL="342900" indent="-342900" algn="l" rtl="0" fontAlgn="base">
        <a:spcBef>
          <a:spcPct val="20000"/>
        </a:spcBef>
        <a:spcAft>
          <a:spcPct val="0"/>
        </a:spcAft>
        <a:buChar char="•"/>
        <a:defRPr sz="2800">
          <a:solidFill>
            <a:srgbClr val="000050"/>
          </a:solidFill>
          <a:latin typeface="+mn-lt"/>
          <a:ea typeface="+mn-ea"/>
          <a:cs typeface="+mn-cs"/>
        </a:defRPr>
      </a:lvl1pPr>
      <a:lvl2pPr marL="742950" indent="-285750" algn="l" rtl="0" fontAlgn="base">
        <a:spcBef>
          <a:spcPct val="20000"/>
        </a:spcBef>
        <a:spcAft>
          <a:spcPct val="0"/>
        </a:spcAft>
        <a:buChar char="–"/>
        <a:defRPr sz="2600">
          <a:solidFill>
            <a:srgbClr val="000050"/>
          </a:solidFill>
          <a:latin typeface="+mn-lt"/>
        </a:defRPr>
      </a:lvl2pPr>
      <a:lvl3pPr marL="1143000" indent="-228600" algn="l" rtl="0" fontAlgn="base">
        <a:spcBef>
          <a:spcPct val="20000"/>
        </a:spcBef>
        <a:spcAft>
          <a:spcPct val="0"/>
        </a:spcAft>
        <a:buChar char="•"/>
        <a:defRPr sz="2400">
          <a:solidFill>
            <a:srgbClr val="000050"/>
          </a:solidFill>
          <a:latin typeface="+mn-lt"/>
        </a:defRPr>
      </a:lvl3pPr>
      <a:lvl4pPr marL="1600200" indent="-228600" algn="l" rtl="0" fontAlgn="base">
        <a:spcBef>
          <a:spcPct val="20000"/>
        </a:spcBef>
        <a:spcAft>
          <a:spcPct val="0"/>
        </a:spcAft>
        <a:buChar char="–"/>
        <a:defRPr sz="2000">
          <a:solidFill>
            <a:srgbClr val="000050"/>
          </a:solidFill>
          <a:latin typeface="+mn-lt"/>
        </a:defRPr>
      </a:lvl4pPr>
      <a:lvl5pPr marL="2057400" indent="-228600" algn="l" rtl="0" fontAlgn="base">
        <a:spcBef>
          <a:spcPct val="20000"/>
        </a:spcBef>
        <a:spcAft>
          <a:spcPct val="0"/>
        </a:spcAft>
        <a:buChar char="»"/>
        <a:defRPr sz="2000">
          <a:solidFill>
            <a:srgbClr val="000050"/>
          </a:solidFill>
          <a:latin typeface="+mn-lt"/>
        </a:defRPr>
      </a:lvl5pPr>
      <a:lvl6pPr marL="2514600" indent="-228600" algn="l" rtl="0" fontAlgn="base">
        <a:spcBef>
          <a:spcPct val="20000"/>
        </a:spcBef>
        <a:spcAft>
          <a:spcPct val="0"/>
        </a:spcAft>
        <a:buChar char="»"/>
        <a:defRPr sz="2000">
          <a:solidFill>
            <a:srgbClr val="000050"/>
          </a:solidFill>
          <a:latin typeface="+mn-lt"/>
        </a:defRPr>
      </a:lvl6pPr>
      <a:lvl7pPr marL="2971800" indent="-228600" algn="l" rtl="0" fontAlgn="base">
        <a:spcBef>
          <a:spcPct val="20000"/>
        </a:spcBef>
        <a:spcAft>
          <a:spcPct val="0"/>
        </a:spcAft>
        <a:buChar char="»"/>
        <a:defRPr sz="2000">
          <a:solidFill>
            <a:srgbClr val="000050"/>
          </a:solidFill>
          <a:latin typeface="+mn-lt"/>
        </a:defRPr>
      </a:lvl7pPr>
      <a:lvl8pPr marL="3429000" indent="-228600" algn="l" rtl="0" fontAlgn="base">
        <a:spcBef>
          <a:spcPct val="20000"/>
        </a:spcBef>
        <a:spcAft>
          <a:spcPct val="0"/>
        </a:spcAft>
        <a:buChar char="»"/>
        <a:defRPr sz="2000">
          <a:solidFill>
            <a:srgbClr val="000050"/>
          </a:solidFill>
          <a:latin typeface="+mn-lt"/>
        </a:defRPr>
      </a:lvl8pPr>
      <a:lvl9pPr marL="3886200" indent="-228600" algn="l" rtl="0" fontAlgn="base">
        <a:spcBef>
          <a:spcPct val="20000"/>
        </a:spcBef>
        <a:spcAft>
          <a:spcPct val="0"/>
        </a:spcAft>
        <a:buChar char="»"/>
        <a:defRPr sz="2000">
          <a:solidFill>
            <a:srgbClr val="000050"/>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wmf"/><Relationship Id="rId1" Type="http://schemas.openxmlformats.org/officeDocument/2006/relationships/slideLayout" Target="../slideLayouts/slideLayout12.xml"/><Relationship Id="rId4" Type="http://schemas.openxmlformats.org/officeDocument/2006/relationships/image" Target="../media/image6.wmf"/></Relationships>
</file>

<file path=ppt/slides/_rels/slide30.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image" Target="../media/image7.wmf"/><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discovery.bits-pilani.ac.in/discipline/csis/vimal/course%2007-08%20First/DSA_Offcampus/DSA.ht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Data Structures and Algorithms</a:t>
            </a:r>
          </a:p>
        </p:txBody>
      </p:sp>
      <p:sp>
        <p:nvSpPr>
          <p:cNvPr id="5" name="Slide Number Placeholder 5"/>
          <p:cNvSpPr>
            <a:spLocks noGrp="1"/>
          </p:cNvSpPr>
          <p:nvPr>
            <p:ph type="sldNum" sz="quarter" idx="12"/>
          </p:nvPr>
        </p:nvSpPr>
        <p:spPr/>
        <p:txBody>
          <a:bodyPr/>
          <a:lstStyle/>
          <a:p>
            <a:fld id="{9E53572E-EF4B-409A-891A-000840F4B1B9}" type="slidenum">
              <a:rPr lang="en-US"/>
              <a:pPr/>
              <a:t>1</a:t>
            </a:fld>
            <a:endParaRPr lang="en-US"/>
          </a:p>
        </p:txBody>
      </p:sp>
      <p:sp>
        <p:nvSpPr>
          <p:cNvPr id="75778" name="Rectangle 2"/>
          <p:cNvSpPr>
            <a:spLocks noGrp="1" noChangeArrowheads="1"/>
          </p:cNvSpPr>
          <p:nvPr>
            <p:ph type="title"/>
          </p:nvPr>
        </p:nvSpPr>
        <p:spPr>
          <a:xfrm>
            <a:off x="381000" y="1066800"/>
            <a:ext cx="2819400" cy="1143000"/>
          </a:xfrm>
        </p:spPr>
        <p:txBody>
          <a:bodyPr/>
          <a:lstStyle/>
          <a:p>
            <a:r>
              <a:rPr lang="en-US">
                <a:solidFill>
                  <a:srgbClr val="471D05"/>
                </a:solidFill>
              </a:rPr>
              <a:t>Topics today</a:t>
            </a:r>
          </a:p>
        </p:txBody>
      </p:sp>
      <p:sp>
        <p:nvSpPr>
          <p:cNvPr id="75779" name="Rectangle 3"/>
          <p:cNvSpPr>
            <a:spLocks noGrp="1" noChangeArrowheads="1"/>
          </p:cNvSpPr>
          <p:nvPr>
            <p:ph type="body" idx="1"/>
          </p:nvPr>
        </p:nvSpPr>
        <p:spPr>
          <a:xfrm>
            <a:off x="990600" y="2514600"/>
            <a:ext cx="7543800" cy="1981200"/>
          </a:xfrm>
        </p:spPr>
        <p:txBody>
          <a:bodyPr/>
          <a:lstStyle/>
          <a:p>
            <a:pPr marL="533400" indent="-533400">
              <a:buFontTx/>
              <a:buAutoNum type="arabicPeriod"/>
            </a:pPr>
            <a:r>
              <a:rPr lang="en-US" sz="2400" dirty="0"/>
              <a:t>Bucket Sort </a:t>
            </a:r>
            <a:endParaRPr lang="en-US" sz="2400" dirty="0" smtClean="0"/>
          </a:p>
          <a:p>
            <a:pPr marL="533400" indent="-533400">
              <a:buFontTx/>
              <a:buAutoNum type="arabicPeriod"/>
            </a:pPr>
            <a:r>
              <a:rPr lang="en-US" sz="2400" dirty="0" smtClean="0"/>
              <a:t>Lexicographic sort</a:t>
            </a:r>
          </a:p>
          <a:p>
            <a:pPr marL="533400" indent="-533400">
              <a:buFontTx/>
              <a:buAutoNum type="arabicPeriod"/>
            </a:pPr>
            <a:r>
              <a:rPr lang="en-US" sz="2400" dirty="0" smtClean="0"/>
              <a:t>Radix sort</a:t>
            </a:r>
          </a:p>
          <a:p>
            <a:pPr marL="0" indent="0">
              <a:buNone/>
            </a:pPr>
            <a:r>
              <a:rPr lang="en-US" sz="2400" dirty="0" smtClean="0"/>
              <a:t>(Text Book Reference 4.5)</a:t>
            </a:r>
            <a:endParaRPr lang="en-US" sz="24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Bucket sort</a:t>
            </a:r>
            <a:endParaRPr lang="en-US" dirty="0"/>
          </a:p>
        </p:txBody>
      </p:sp>
      <p:sp>
        <p:nvSpPr>
          <p:cNvPr id="3" name="Content Placeholder 2"/>
          <p:cNvSpPr>
            <a:spLocks noGrp="1"/>
          </p:cNvSpPr>
          <p:nvPr>
            <p:ph idx="1"/>
          </p:nvPr>
        </p:nvSpPr>
        <p:spPr/>
        <p:txBody>
          <a:bodyPr/>
          <a:lstStyle/>
          <a:p>
            <a:r>
              <a:rPr lang="en-US" dirty="0" smtClean="0"/>
              <a:t>Is a non-comparison sort</a:t>
            </a:r>
            <a:endParaRPr lang="en-US" dirty="0"/>
          </a:p>
        </p:txBody>
      </p:sp>
      <p:sp>
        <p:nvSpPr>
          <p:cNvPr id="4" name="Footer Placeholder 3"/>
          <p:cNvSpPr>
            <a:spLocks noGrp="1"/>
          </p:cNvSpPr>
          <p:nvPr>
            <p:ph type="ftr" sz="quarter" idx="11"/>
          </p:nvPr>
        </p:nvSpPr>
        <p:spPr/>
        <p:txBody>
          <a:bodyPr/>
          <a:lstStyle/>
          <a:p>
            <a:r>
              <a:rPr lang="en-US" smtClean="0"/>
              <a:t>Data Structures and Algorithms</a:t>
            </a:r>
            <a:endParaRPr lang="en-US"/>
          </a:p>
        </p:txBody>
      </p:sp>
      <p:sp>
        <p:nvSpPr>
          <p:cNvPr id="5" name="Slide Number Placeholder 4"/>
          <p:cNvSpPr>
            <a:spLocks noGrp="1"/>
          </p:cNvSpPr>
          <p:nvPr>
            <p:ph type="sldNum" sz="quarter" idx="12"/>
          </p:nvPr>
        </p:nvSpPr>
        <p:spPr/>
        <p:txBody>
          <a:bodyPr/>
          <a:lstStyle/>
          <a:p>
            <a:fld id="{AA248A14-1B58-45AD-8E86-E26A000E2CC9}" type="slidenum">
              <a:rPr lang="en-US" smtClean="0"/>
              <a:pPr/>
              <a:t>2</a:t>
            </a:fld>
            <a:endParaRPr lang="en-US"/>
          </a:p>
        </p:txBody>
      </p:sp>
    </p:spTree>
    <p:extLst>
      <p:ext uri="{BB962C8B-B14F-4D97-AF65-F5344CB8AC3E}">
        <p14:creationId xmlns:p14="http://schemas.microsoft.com/office/powerpoint/2010/main" val="503109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p:cNvSpPr>
            <a:spLocks noGrp="1"/>
          </p:cNvSpPr>
          <p:nvPr>
            <p:ph type="ftr" sz="quarter" idx="11"/>
          </p:nvPr>
        </p:nvSpPr>
        <p:spPr/>
        <p:txBody>
          <a:bodyPr/>
          <a:lstStyle/>
          <a:p>
            <a:r>
              <a:rPr lang="en-US"/>
              <a:t>Data Structures and Algorithms</a:t>
            </a:r>
          </a:p>
        </p:txBody>
      </p:sp>
      <p:sp>
        <p:nvSpPr>
          <p:cNvPr id="6" name="Slide Number Placeholder 6"/>
          <p:cNvSpPr>
            <a:spLocks noGrp="1"/>
          </p:cNvSpPr>
          <p:nvPr>
            <p:ph type="sldNum" sz="quarter" idx="12"/>
          </p:nvPr>
        </p:nvSpPr>
        <p:spPr/>
        <p:txBody>
          <a:bodyPr/>
          <a:lstStyle/>
          <a:p>
            <a:fld id="{311DBBF1-E6D3-44D3-A897-49C8A5D44014}" type="slidenum">
              <a:rPr lang="en-US"/>
              <a:pPr/>
              <a:t>3</a:t>
            </a:fld>
            <a:endParaRPr lang="en-US"/>
          </a:p>
        </p:txBody>
      </p:sp>
      <p:sp>
        <p:nvSpPr>
          <p:cNvPr id="273410" name="Rectangle 2"/>
          <p:cNvSpPr>
            <a:spLocks noGrp="1" noChangeArrowheads="1"/>
          </p:cNvSpPr>
          <p:nvPr>
            <p:ph type="title"/>
          </p:nvPr>
        </p:nvSpPr>
        <p:spPr/>
        <p:txBody>
          <a:bodyPr/>
          <a:lstStyle/>
          <a:p>
            <a:r>
              <a:rPr lang="en-US"/>
              <a:t>Bucket-Sort</a:t>
            </a:r>
          </a:p>
        </p:txBody>
      </p:sp>
      <p:sp>
        <p:nvSpPr>
          <p:cNvPr id="273411" name="Rectangle 3"/>
          <p:cNvSpPr>
            <a:spLocks noGrp="1" noChangeArrowheads="1"/>
          </p:cNvSpPr>
          <p:nvPr>
            <p:ph type="body" sz="half" idx="1"/>
          </p:nvPr>
        </p:nvSpPr>
        <p:spPr>
          <a:xfrm>
            <a:off x="685800" y="1600200"/>
            <a:ext cx="4114800" cy="4800600"/>
          </a:xfrm>
        </p:spPr>
        <p:txBody>
          <a:bodyPr/>
          <a:lstStyle/>
          <a:p>
            <a:pPr>
              <a:lnSpc>
                <a:spcPct val="90000"/>
              </a:lnSpc>
            </a:pPr>
            <a:r>
              <a:rPr lang="en-US" sz="1800" dirty="0"/>
              <a:t>Let </a:t>
            </a:r>
            <a:r>
              <a:rPr lang="en-US" sz="1800" dirty="0" smtClean="0"/>
              <a:t> </a:t>
            </a:r>
            <a:r>
              <a:rPr lang="en-US" sz="1800" b="1" i="1" dirty="0"/>
              <a:t>S</a:t>
            </a:r>
            <a:r>
              <a:rPr lang="en-US" sz="1800" dirty="0"/>
              <a:t> be a sequence of </a:t>
            </a:r>
            <a:r>
              <a:rPr lang="en-US" sz="1800" b="1" i="1" dirty="0"/>
              <a:t>n</a:t>
            </a:r>
            <a:r>
              <a:rPr lang="en-US" sz="1800" dirty="0"/>
              <a:t> (key, element) items with keys in the range [0, </a:t>
            </a:r>
            <a:r>
              <a:rPr lang="en-US" sz="1800" b="1" i="1" dirty="0"/>
              <a:t>N</a:t>
            </a:r>
            <a:r>
              <a:rPr lang="en-US" sz="1800" dirty="0"/>
              <a:t> </a:t>
            </a:r>
            <a:r>
              <a:rPr lang="en-US" sz="1800" dirty="0">
                <a:latin typeface="Symbol" pitchFamily="18" charset="2"/>
              </a:rPr>
              <a:t>- </a:t>
            </a:r>
            <a:r>
              <a:rPr lang="en-US" sz="1800" dirty="0"/>
              <a:t>1]</a:t>
            </a:r>
          </a:p>
          <a:p>
            <a:pPr>
              <a:lnSpc>
                <a:spcPct val="90000"/>
              </a:lnSpc>
            </a:pPr>
            <a:r>
              <a:rPr lang="en-US" sz="1800" dirty="0"/>
              <a:t>Bucket-sort uses the keys as indices into an auxiliary array </a:t>
            </a:r>
            <a:r>
              <a:rPr lang="en-US" sz="1800" b="1" i="1" dirty="0"/>
              <a:t>B</a:t>
            </a:r>
            <a:r>
              <a:rPr lang="en-US" sz="1800" dirty="0"/>
              <a:t> of sequences (buckets)</a:t>
            </a:r>
          </a:p>
          <a:p>
            <a:pPr lvl="1">
              <a:lnSpc>
                <a:spcPct val="90000"/>
              </a:lnSpc>
              <a:buFontTx/>
              <a:buNone/>
            </a:pPr>
            <a:r>
              <a:rPr lang="en-US" sz="1800" dirty="0">
                <a:solidFill>
                  <a:schemeClr val="tx2"/>
                </a:solidFill>
              </a:rPr>
              <a:t>Phase 1</a:t>
            </a:r>
            <a:r>
              <a:rPr lang="en-US" sz="1800" dirty="0"/>
              <a:t>: Empty sequence </a:t>
            </a:r>
            <a:r>
              <a:rPr lang="en-US" sz="1800" b="1" i="1" dirty="0"/>
              <a:t>S</a:t>
            </a:r>
            <a:r>
              <a:rPr lang="en-US" sz="1800" dirty="0"/>
              <a:t> by moving each item (</a:t>
            </a:r>
            <a:r>
              <a:rPr lang="en-US" sz="1800" b="1" i="1" dirty="0"/>
              <a:t>k</a:t>
            </a:r>
            <a:r>
              <a:rPr lang="en-US" sz="1800" dirty="0"/>
              <a:t>, </a:t>
            </a:r>
            <a:r>
              <a:rPr lang="en-US" sz="1800" b="1" i="1" dirty="0"/>
              <a:t>o</a:t>
            </a:r>
            <a:r>
              <a:rPr lang="en-US" sz="1800" dirty="0"/>
              <a:t>) into its bucket </a:t>
            </a:r>
            <a:r>
              <a:rPr lang="en-US" sz="1800" b="1" i="1" dirty="0"/>
              <a:t>B</a:t>
            </a:r>
            <a:r>
              <a:rPr lang="en-US" sz="1800" dirty="0"/>
              <a:t>[</a:t>
            </a:r>
            <a:r>
              <a:rPr lang="en-US" sz="1800" b="1" i="1" dirty="0"/>
              <a:t>k</a:t>
            </a:r>
            <a:r>
              <a:rPr lang="en-US" sz="1800" dirty="0"/>
              <a:t>]</a:t>
            </a:r>
          </a:p>
          <a:p>
            <a:pPr lvl="1">
              <a:lnSpc>
                <a:spcPct val="90000"/>
              </a:lnSpc>
              <a:buFontTx/>
              <a:buNone/>
            </a:pPr>
            <a:r>
              <a:rPr lang="en-US" sz="1800" dirty="0">
                <a:solidFill>
                  <a:schemeClr val="tx2"/>
                </a:solidFill>
              </a:rPr>
              <a:t>Phase 2</a:t>
            </a:r>
            <a:r>
              <a:rPr lang="en-US" sz="1800" dirty="0"/>
              <a:t>: For </a:t>
            </a:r>
            <a:r>
              <a:rPr lang="en-US" sz="1800" b="1" i="1" dirty="0"/>
              <a:t>i </a:t>
            </a:r>
            <a:r>
              <a:rPr lang="en-US" sz="1800" dirty="0">
                <a:latin typeface="Symbol" pitchFamily="18" charset="2"/>
                <a:sym typeface="Symbol" pitchFamily="18" charset="2"/>
              </a:rPr>
              <a:t>=</a:t>
            </a:r>
            <a:r>
              <a:rPr lang="en-US" sz="1800" dirty="0"/>
              <a:t> 0, </a:t>
            </a:r>
            <a:r>
              <a:rPr lang="en-US" sz="1800" b="1" dirty="0"/>
              <a:t>…</a:t>
            </a:r>
            <a:r>
              <a:rPr lang="en-US" sz="1800" i="1" dirty="0"/>
              <a:t>,</a:t>
            </a:r>
            <a:r>
              <a:rPr lang="en-US" sz="1800" dirty="0"/>
              <a:t> </a:t>
            </a:r>
            <a:r>
              <a:rPr lang="en-US" sz="1800" b="1" i="1" dirty="0"/>
              <a:t>N </a:t>
            </a:r>
            <a:r>
              <a:rPr lang="en-US" sz="1800" dirty="0">
                <a:latin typeface="Symbol" pitchFamily="18" charset="2"/>
              </a:rPr>
              <a:t>-</a:t>
            </a:r>
            <a:r>
              <a:rPr lang="en-US" sz="1800" b="1" i="1" dirty="0"/>
              <a:t> </a:t>
            </a:r>
            <a:r>
              <a:rPr lang="en-US" sz="1800" dirty="0"/>
              <a:t>1, move the items of bucket </a:t>
            </a:r>
            <a:r>
              <a:rPr lang="en-US" sz="1800" b="1" i="1" dirty="0"/>
              <a:t>B</a:t>
            </a:r>
            <a:r>
              <a:rPr lang="en-US" sz="1800" dirty="0"/>
              <a:t>[</a:t>
            </a:r>
            <a:r>
              <a:rPr lang="en-US" sz="1800" b="1" i="1" dirty="0"/>
              <a:t>i</a:t>
            </a:r>
            <a:r>
              <a:rPr lang="en-US" sz="1800" dirty="0"/>
              <a:t>] to the end of  sequence </a:t>
            </a:r>
            <a:r>
              <a:rPr lang="en-US" sz="1800" b="1" i="1" dirty="0"/>
              <a:t>S</a:t>
            </a:r>
            <a:endParaRPr lang="en-US" sz="1800" dirty="0"/>
          </a:p>
          <a:p>
            <a:pPr>
              <a:lnSpc>
                <a:spcPct val="90000"/>
              </a:lnSpc>
            </a:pPr>
            <a:r>
              <a:rPr lang="en-US" sz="1800" dirty="0"/>
              <a:t>Analysis:</a:t>
            </a:r>
          </a:p>
          <a:p>
            <a:pPr lvl="1">
              <a:lnSpc>
                <a:spcPct val="90000"/>
              </a:lnSpc>
            </a:pPr>
            <a:r>
              <a:rPr lang="en-US" sz="1800" dirty="0"/>
              <a:t>Phase 1 takes </a:t>
            </a:r>
            <a:r>
              <a:rPr lang="en-US" sz="1800" b="1" i="1" dirty="0"/>
              <a:t>O</a:t>
            </a:r>
            <a:r>
              <a:rPr lang="en-US" sz="1800" dirty="0"/>
              <a:t>(</a:t>
            </a:r>
            <a:r>
              <a:rPr lang="en-US" sz="1800" b="1" i="1" dirty="0"/>
              <a:t>n</a:t>
            </a:r>
            <a:r>
              <a:rPr lang="en-US" sz="1800" dirty="0"/>
              <a:t>) time</a:t>
            </a:r>
          </a:p>
          <a:p>
            <a:pPr lvl="1">
              <a:lnSpc>
                <a:spcPct val="90000"/>
              </a:lnSpc>
            </a:pPr>
            <a:r>
              <a:rPr lang="en-US" sz="1800" dirty="0"/>
              <a:t>Phase 2 takes </a:t>
            </a:r>
            <a:r>
              <a:rPr lang="en-US" sz="1800" b="1" i="1" dirty="0"/>
              <a:t>O</a:t>
            </a:r>
            <a:r>
              <a:rPr lang="en-US" sz="1800" dirty="0"/>
              <a:t>(</a:t>
            </a:r>
            <a:r>
              <a:rPr lang="en-US" sz="1800" b="1" i="1" dirty="0"/>
              <a:t>n</a:t>
            </a:r>
            <a:r>
              <a:rPr lang="en-US" sz="1800" dirty="0"/>
              <a:t> </a:t>
            </a:r>
            <a:r>
              <a:rPr lang="en-US" sz="1800" dirty="0">
                <a:latin typeface="Symbol" pitchFamily="18" charset="2"/>
              </a:rPr>
              <a:t>+ </a:t>
            </a:r>
            <a:r>
              <a:rPr lang="en-US" sz="1800" b="1" i="1" dirty="0"/>
              <a:t>N</a:t>
            </a:r>
            <a:r>
              <a:rPr lang="en-US" sz="1800" dirty="0"/>
              <a:t>) time</a:t>
            </a:r>
          </a:p>
          <a:p>
            <a:pPr>
              <a:lnSpc>
                <a:spcPct val="90000"/>
              </a:lnSpc>
              <a:buFontTx/>
              <a:buNone/>
            </a:pPr>
            <a:r>
              <a:rPr lang="en-US" sz="1800" dirty="0"/>
              <a:t>	Bucket-sort takes </a:t>
            </a:r>
            <a:r>
              <a:rPr lang="en-US" sz="1800" b="1" i="1" dirty="0"/>
              <a:t>O</a:t>
            </a:r>
            <a:r>
              <a:rPr lang="en-US" sz="1800" dirty="0"/>
              <a:t>(</a:t>
            </a:r>
            <a:r>
              <a:rPr lang="en-US" sz="1800" b="1" i="1" dirty="0"/>
              <a:t>n</a:t>
            </a:r>
            <a:r>
              <a:rPr lang="en-US" sz="1800" dirty="0"/>
              <a:t> </a:t>
            </a:r>
            <a:r>
              <a:rPr lang="en-US" sz="1800" dirty="0">
                <a:latin typeface="Symbol" pitchFamily="18" charset="2"/>
              </a:rPr>
              <a:t>+ </a:t>
            </a:r>
            <a:r>
              <a:rPr lang="en-US" sz="1800" b="1" i="1" dirty="0"/>
              <a:t>N</a:t>
            </a:r>
            <a:r>
              <a:rPr lang="en-US" sz="1800" dirty="0"/>
              <a:t>) time </a:t>
            </a:r>
          </a:p>
        </p:txBody>
      </p:sp>
      <p:sp>
        <p:nvSpPr>
          <p:cNvPr id="273412" name="Text Box 4"/>
          <p:cNvSpPr txBox="1">
            <a:spLocks noChangeArrowheads="1"/>
          </p:cNvSpPr>
          <p:nvPr/>
        </p:nvSpPr>
        <p:spPr bwMode="auto">
          <a:xfrm>
            <a:off x="4953000" y="1676400"/>
            <a:ext cx="3810000" cy="467518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342900">
              <a:defRPr>
                <a:solidFill>
                  <a:schemeClr val="tx1"/>
                </a:solidFill>
                <a:latin typeface="Arial" charset="0"/>
              </a:defRPr>
            </a:lvl1pPr>
            <a:lvl2pPr marL="342900" defTabSz="342900">
              <a:defRPr>
                <a:solidFill>
                  <a:schemeClr val="tx1"/>
                </a:solidFill>
                <a:latin typeface="Arial" charset="0"/>
              </a:defRPr>
            </a:lvl2pPr>
            <a:lvl3pPr marL="628650" defTabSz="342900">
              <a:defRPr>
                <a:solidFill>
                  <a:schemeClr val="tx1"/>
                </a:solidFill>
                <a:latin typeface="Arial" charset="0"/>
              </a:defRPr>
            </a:lvl3pPr>
            <a:lvl4pPr defTabSz="342900">
              <a:defRPr>
                <a:solidFill>
                  <a:schemeClr val="tx1"/>
                </a:solidFill>
                <a:latin typeface="Arial" charset="0"/>
              </a:defRPr>
            </a:lvl4pPr>
            <a:lvl5pPr defTabSz="342900">
              <a:defRPr>
                <a:solidFill>
                  <a:schemeClr val="tx1"/>
                </a:solidFill>
                <a:latin typeface="Arial" charset="0"/>
              </a:defRPr>
            </a:lvl5pPr>
            <a:lvl6pPr defTabSz="342900" fontAlgn="base">
              <a:spcBef>
                <a:spcPct val="0"/>
              </a:spcBef>
              <a:spcAft>
                <a:spcPct val="0"/>
              </a:spcAft>
              <a:defRPr>
                <a:solidFill>
                  <a:schemeClr val="tx1"/>
                </a:solidFill>
                <a:latin typeface="Arial" charset="0"/>
              </a:defRPr>
            </a:lvl6pPr>
            <a:lvl7pPr defTabSz="342900" fontAlgn="base">
              <a:spcBef>
                <a:spcPct val="0"/>
              </a:spcBef>
              <a:spcAft>
                <a:spcPct val="0"/>
              </a:spcAft>
              <a:defRPr>
                <a:solidFill>
                  <a:schemeClr val="tx1"/>
                </a:solidFill>
                <a:latin typeface="Arial" charset="0"/>
              </a:defRPr>
            </a:lvl7pPr>
            <a:lvl8pPr defTabSz="342900" fontAlgn="base">
              <a:spcBef>
                <a:spcPct val="0"/>
              </a:spcBef>
              <a:spcAft>
                <a:spcPct val="0"/>
              </a:spcAft>
              <a:defRPr>
                <a:solidFill>
                  <a:schemeClr val="tx1"/>
                </a:solidFill>
                <a:latin typeface="Arial" charset="0"/>
              </a:defRPr>
            </a:lvl8pPr>
            <a:lvl9pPr defTabSz="342900" fontAlgn="base">
              <a:spcBef>
                <a:spcPct val="0"/>
              </a:spcBef>
              <a:spcAft>
                <a:spcPct val="0"/>
              </a:spcAft>
              <a:defRPr>
                <a:solidFill>
                  <a:schemeClr val="tx1"/>
                </a:solidFill>
                <a:latin typeface="Arial" charset="0"/>
              </a:defRPr>
            </a:lvl9pPr>
          </a:lstStyle>
          <a:p>
            <a:pPr>
              <a:lnSpc>
                <a:spcPct val="90000"/>
              </a:lnSpc>
              <a:spcBef>
                <a:spcPct val="20000"/>
              </a:spcBef>
              <a:buClr>
                <a:schemeClr val="hlink"/>
              </a:buClr>
              <a:buSzPct val="110000"/>
              <a:buFont typeface="Wingdings" pitchFamily="2" charset="2"/>
              <a:buNone/>
            </a:pPr>
            <a:r>
              <a:rPr lang="en-US" b="1">
                <a:solidFill>
                  <a:srgbClr val="000000"/>
                </a:solidFill>
                <a:latin typeface="Times New Roman" pitchFamily="18" charset="0"/>
              </a:rPr>
              <a:t>Algorithm</a:t>
            </a:r>
            <a:r>
              <a:rPr lang="en-US">
                <a:latin typeface="Times New Roman" pitchFamily="18" charset="0"/>
              </a:rPr>
              <a:t> </a:t>
            </a:r>
            <a:r>
              <a:rPr lang="en-US" b="1" i="1">
                <a:solidFill>
                  <a:schemeClr val="tx2"/>
                </a:solidFill>
                <a:latin typeface="Times New Roman" pitchFamily="18" charset="0"/>
              </a:rPr>
              <a:t>bucketSort</a:t>
            </a:r>
            <a:r>
              <a:rPr lang="en-US">
                <a:solidFill>
                  <a:schemeClr val="tx2"/>
                </a:solidFill>
                <a:latin typeface="Times New Roman" pitchFamily="18" charset="0"/>
              </a:rPr>
              <a:t>(</a:t>
            </a:r>
            <a:r>
              <a:rPr lang="en-US" b="1" i="1">
                <a:solidFill>
                  <a:schemeClr val="tx2"/>
                </a:solidFill>
                <a:latin typeface="Times New Roman" pitchFamily="18" charset="0"/>
              </a:rPr>
              <a:t>S,</a:t>
            </a:r>
            <a:r>
              <a:rPr lang="en-US">
                <a:solidFill>
                  <a:schemeClr val="tx2"/>
                </a:solidFill>
                <a:latin typeface="Times New Roman" pitchFamily="18" charset="0"/>
              </a:rPr>
              <a:t> </a:t>
            </a:r>
            <a:r>
              <a:rPr lang="en-US" b="1" i="1">
                <a:solidFill>
                  <a:schemeClr val="tx2"/>
                </a:solidFill>
                <a:latin typeface="Times New Roman" pitchFamily="18" charset="0"/>
              </a:rPr>
              <a:t>N</a:t>
            </a:r>
            <a:r>
              <a:rPr lang="en-US">
                <a:solidFill>
                  <a:schemeClr val="tx2"/>
                </a:solidFill>
                <a:latin typeface="Times New Roman" pitchFamily="18" charset="0"/>
              </a:rPr>
              <a:t>)</a:t>
            </a:r>
          </a:p>
          <a:p>
            <a:pPr>
              <a:lnSpc>
                <a:spcPct val="90000"/>
              </a:lnSpc>
              <a:spcBef>
                <a:spcPct val="20000"/>
              </a:spcBef>
              <a:buClr>
                <a:schemeClr val="hlink"/>
              </a:buClr>
              <a:buSzPct val="110000"/>
              <a:buFont typeface="Wingdings" pitchFamily="2" charset="2"/>
              <a:buNone/>
            </a:pPr>
            <a:r>
              <a:rPr lang="en-US">
                <a:solidFill>
                  <a:schemeClr val="tx2"/>
                </a:solidFill>
                <a:latin typeface="Times New Roman" pitchFamily="18" charset="0"/>
              </a:rPr>
              <a:t>	</a:t>
            </a:r>
            <a:r>
              <a:rPr lang="en-US" b="1">
                <a:solidFill>
                  <a:srgbClr val="000000"/>
                </a:solidFill>
                <a:latin typeface="Times New Roman" pitchFamily="18" charset="0"/>
              </a:rPr>
              <a:t>Input</a:t>
            </a:r>
            <a:r>
              <a:rPr lang="en-US">
                <a:latin typeface="Times New Roman" pitchFamily="18" charset="0"/>
              </a:rPr>
              <a:t> </a:t>
            </a:r>
            <a:r>
              <a:rPr lang="en-US">
                <a:solidFill>
                  <a:schemeClr val="accent2"/>
                </a:solidFill>
                <a:latin typeface="Times New Roman" pitchFamily="18" charset="0"/>
              </a:rPr>
              <a:t>sequence </a:t>
            </a:r>
            <a:r>
              <a:rPr lang="en-US" b="1" i="1">
                <a:solidFill>
                  <a:schemeClr val="accent2"/>
                </a:solidFill>
                <a:latin typeface="Times New Roman" pitchFamily="18" charset="0"/>
              </a:rPr>
              <a:t>S</a:t>
            </a:r>
            <a:r>
              <a:rPr lang="en-US">
                <a:solidFill>
                  <a:schemeClr val="accent2"/>
                </a:solidFill>
                <a:latin typeface="Times New Roman" pitchFamily="18" charset="0"/>
              </a:rPr>
              <a:t> of (key, element)</a:t>
            </a:r>
            <a:br>
              <a:rPr lang="en-US">
                <a:solidFill>
                  <a:schemeClr val="accent2"/>
                </a:solidFill>
                <a:latin typeface="Times New Roman" pitchFamily="18" charset="0"/>
              </a:rPr>
            </a:br>
            <a:r>
              <a:rPr lang="en-US">
                <a:solidFill>
                  <a:schemeClr val="accent2"/>
                </a:solidFill>
                <a:latin typeface="Times New Roman" pitchFamily="18" charset="0"/>
              </a:rPr>
              <a:t>		items with keys in the range</a:t>
            </a:r>
            <a:br>
              <a:rPr lang="en-US">
                <a:solidFill>
                  <a:schemeClr val="accent2"/>
                </a:solidFill>
                <a:latin typeface="Times New Roman" pitchFamily="18" charset="0"/>
              </a:rPr>
            </a:br>
            <a:r>
              <a:rPr lang="en-US">
                <a:solidFill>
                  <a:schemeClr val="accent2"/>
                </a:solidFill>
                <a:latin typeface="Times New Roman" pitchFamily="18" charset="0"/>
              </a:rPr>
              <a:t>		[0, </a:t>
            </a:r>
            <a:r>
              <a:rPr lang="en-US" b="1" i="1">
                <a:solidFill>
                  <a:schemeClr val="accent2"/>
                </a:solidFill>
                <a:latin typeface="Times New Roman" pitchFamily="18" charset="0"/>
              </a:rPr>
              <a:t>N</a:t>
            </a:r>
            <a:r>
              <a:rPr lang="en-US">
                <a:solidFill>
                  <a:schemeClr val="accent2"/>
                </a:solidFill>
                <a:latin typeface="Times New Roman" pitchFamily="18" charset="0"/>
              </a:rPr>
              <a:t> </a:t>
            </a:r>
            <a:r>
              <a:rPr lang="en-US">
                <a:solidFill>
                  <a:schemeClr val="accent2"/>
                </a:solidFill>
                <a:latin typeface="Symbol" pitchFamily="18" charset="2"/>
              </a:rPr>
              <a:t>- </a:t>
            </a:r>
            <a:r>
              <a:rPr lang="en-US">
                <a:solidFill>
                  <a:schemeClr val="accent2"/>
                </a:solidFill>
                <a:latin typeface="Times New Roman" pitchFamily="18" charset="0"/>
              </a:rPr>
              <a:t>1]</a:t>
            </a:r>
            <a:br>
              <a:rPr lang="en-US">
                <a:solidFill>
                  <a:schemeClr val="accent2"/>
                </a:solidFill>
                <a:latin typeface="Times New Roman" pitchFamily="18" charset="0"/>
              </a:rPr>
            </a:br>
            <a:r>
              <a:rPr lang="en-US">
                <a:solidFill>
                  <a:schemeClr val="accent2"/>
                </a:solidFill>
                <a:latin typeface="Times New Roman" pitchFamily="18" charset="0"/>
              </a:rPr>
              <a:t>	</a:t>
            </a:r>
            <a:r>
              <a:rPr lang="en-US" b="1">
                <a:solidFill>
                  <a:srgbClr val="000000"/>
                </a:solidFill>
                <a:latin typeface="Times New Roman" pitchFamily="18" charset="0"/>
              </a:rPr>
              <a:t>Output</a:t>
            </a:r>
            <a:r>
              <a:rPr lang="en-US">
                <a:latin typeface="Times New Roman" pitchFamily="18" charset="0"/>
              </a:rPr>
              <a:t> </a:t>
            </a:r>
            <a:r>
              <a:rPr lang="en-US">
                <a:solidFill>
                  <a:schemeClr val="accent2"/>
                </a:solidFill>
                <a:latin typeface="Times New Roman" pitchFamily="18" charset="0"/>
              </a:rPr>
              <a:t>sequence </a:t>
            </a:r>
            <a:r>
              <a:rPr lang="en-US" b="1" i="1">
                <a:solidFill>
                  <a:schemeClr val="accent2"/>
                </a:solidFill>
                <a:latin typeface="Times New Roman" pitchFamily="18" charset="0"/>
              </a:rPr>
              <a:t>S</a:t>
            </a:r>
            <a:r>
              <a:rPr lang="en-US">
                <a:solidFill>
                  <a:schemeClr val="accent2"/>
                </a:solidFill>
                <a:latin typeface="Times New Roman" pitchFamily="18" charset="0"/>
              </a:rPr>
              <a:t> sorted by</a:t>
            </a:r>
            <a:br>
              <a:rPr lang="en-US">
                <a:solidFill>
                  <a:schemeClr val="accent2"/>
                </a:solidFill>
                <a:latin typeface="Times New Roman" pitchFamily="18" charset="0"/>
              </a:rPr>
            </a:br>
            <a:r>
              <a:rPr lang="en-US">
                <a:solidFill>
                  <a:schemeClr val="accent2"/>
                </a:solidFill>
                <a:latin typeface="Times New Roman" pitchFamily="18" charset="0"/>
              </a:rPr>
              <a:t>		increasing keys</a:t>
            </a:r>
          </a:p>
          <a:p>
            <a:pPr>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i="1">
                <a:solidFill>
                  <a:schemeClr val="accent2"/>
                </a:solidFill>
                <a:latin typeface="Times New Roman" pitchFamily="18" charset="0"/>
              </a:rPr>
              <a:t>B </a:t>
            </a:r>
            <a:r>
              <a:rPr lang="en-US">
                <a:solidFill>
                  <a:srgbClr val="000000"/>
                </a:solidFill>
                <a:latin typeface="Times New Roman" pitchFamily="18" charset="0"/>
                <a:sym typeface="Symbol" pitchFamily="18" charset="2"/>
              </a:rPr>
              <a:t></a:t>
            </a:r>
            <a:r>
              <a:rPr lang="en-US" b="1" i="1">
                <a:solidFill>
                  <a:schemeClr val="accent2"/>
                </a:solidFill>
                <a:latin typeface="Times New Roman" pitchFamily="18" charset="0"/>
                <a:sym typeface="Symbol" pitchFamily="18" charset="2"/>
              </a:rPr>
              <a:t> </a:t>
            </a:r>
            <a:r>
              <a:rPr lang="en-US">
                <a:solidFill>
                  <a:schemeClr val="accent2"/>
                </a:solidFill>
                <a:latin typeface="Times New Roman" pitchFamily="18" charset="0"/>
              </a:rPr>
              <a:t>array of </a:t>
            </a:r>
            <a:r>
              <a:rPr lang="en-US" b="1" i="1">
                <a:solidFill>
                  <a:schemeClr val="accent2"/>
                </a:solidFill>
                <a:latin typeface="Times New Roman" pitchFamily="18" charset="0"/>
              </a:rPr>
              <a:t>N </a:t>
            </a:r>
            <a:r>
              <a:rPr lang="en-US">
                <a:solidFill>
                  <a:schemeClr val="accent2"/>
                </a:solidFill>
                <a:latin typeface="Times New Roman" pitchFamily="18" charset="0"/>
              </a:rPr>
              <a:t>empty sequences</a:t>
            </a:r>
          </a:p>
          <a:p>
            <a:pPr lvl="1">
              <a:lnSpc>
                <a:spcPct val="90000"/>
              </a:lnSpc>
              <a:spcBef>
                <a:spcPct val="20000"/>
              </a:spcBef>
              <a:buClr>
                <a:schemeClr val="hlink"/>
              </a:buClr>
              <a:buSzPct val="110000"/>
              <a:buFont typeface="Wingdings" pitchFamily="2" charset="2"/>
              <a:buNone/>
            </a:pPr>
            <a:r>
              <a:rPr lang="en-US" b="1">
                <a:solidFill>
                  <a:srgbClr val="000000"/>
                </a:solidFill>
                <a:latin typeface="Times New Roman" pitchFamily="18" charset="0"/>
              </a:rPr>
              <a:t>while</a:t>
            </a:r>
            <a:r>
              <a:rPr lang="en-US">
                <a:solidFill>
                  <a:schemeClr val="tx2"/>
                </a:solidFill>
                <a:latin typeface="Times New Roman" pitchFamily="18" charset="0"/>
              </a:rPr>
              <a:t> </a:t>
            </a:r>
            <a:r>
              <a:rPr lang="en-US">
                <a:solidFill>
                  <a:srgbClr val="000000"/>
                </a:solidFill>
                <a:latin typeface="Symbol" pitchFamily="18" charset="2"/>
                <a:sym typeface="Symbol" pitchFamily="18" charset="2"/>
              </a:rPr>
              <a:t></a:t>
            </a:r>
            <a:r>
              <a:rPr lang="en-US" b="1" i="1">
                <a:solidFill>
                  <a:schemeClr val="accent2"/>
                </a:solidFill>
                <a:latin typeface="Times New Roman" pitchFamily="18" charset="0"/>
              </a:rPr>
              <a:t>S.isEmpty</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b="1" i="1">
                <a:solidFill>
                  <a:schemeClr val="accent2"/>
                </a:solidFill>
                <a:latin typeface="Times New Roman" pitchFamily="18" charset="0"/>
              </a:rPr>
              <a:t>	f </a:t>
            </a:r>
            <a:r>
              <a:rPr lang="en-US">
                <a:solidFill>
                  <a:srgbClr val="000000"/>
                </a:solidFill>
                <a:latin typeface="Times New Roman" pitchFamily="18" charset="0"/>
                <a:sym typeface="Symbol" pitchFamily="18" charset="2"/>
              </a:rPr>
              <a:t></a:t>
            </a:r>
            <a:r>
              <a:rPr lang="en-US" b="1" i="1">
                <a:solidFill>
                  <a:schemeClr val="accent2"/>
                </a:solidFill>
                <a:latin typeface="Times New Roman" pitchFamily="18" charset="0"/>
                <a:sym typeface="Symbol" pitchFamily="18" charset="2"/>
              </a:rPr>
              <a:t> </a:t>
            </a:r>
            <a:r>
              <a:rPr lang="en-US" b="1" i="1">
                <a:solidFill>
                  <a:schemeClr val="accent2"/>
                </a:solidFill>
                <a:latin typeface="Times New Roman" pitchFamily="18" charset="0"/>
              </a:rPr>
              <a:t>S.first</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i="1">
                <a:solidFill>
                  <a:schemeClr val="accent2"/>
                </a:solidFill>
                <a:latin typeface="Times New Roman" pitchFamily="18" charset="0"/>
              </a:rPr>
              <a:t>k</a:t>
            </a:r>
            <a:r>
              <a:rPr lang="en-US">
                <a:solidFill>
                  <a:schemeClr val="accent2"/>
                </a:solidFill>
                <a:latin typeface="Times New Roman" pitchFamily="18" charset="0"/>
              </a:rPr>
              <a:t>, </a:t>
            </a:r>
            <a:r>
              <a:rPr lang="en-US" b="1" i="1">
                <a:solidFill>
                  <a:schemeClr val="accent2"/>
                </a:solidFill>
                <a:latin typeface="Times New Roman" pitchFamily="18" charset="0"/>
              </a:rPr>
              <a:t>o</a:t>
            </a:r>
            <a:r>
              <a:rPr lang="en-US">
                <a:solidFill>
                  <a:schemeClr val="accent2"/>
                </a:solidFill>
                <a:latin typeface="Times New Roman" pitchFamily="18" charset="0"/>
              </a:rPr>
              <a:t>) </a:t>
            </a:r>
            <a:r>
              <a:rPr lang="en-US">
                <a:solidFill>
                  <a:srgbClr val="000000"/>
                </a:solidFill>
                <a:latin typeface="Times New Roman" pitchFamily="18" charset="0"/>
                <a:sym typeface="Symbol" pitchFamily="18" charset="2"/>
              </a:rPr>
              <a:t></a:t>
            </a:r>
            <a:r>
              <a:rPr lang="en-US" b="1" i="1">
                <a:solidFill>
                  <a:schemeClr val="accent2"/>
                </a:solidFill>
                <a:latin typeface="Times New Roman" pitchFamily="18" charset="0"/>
                <a:sym typeface="Symbol" pitchFamily="18" charset="2"/>
              </a:rPr>
              <a:t> </a:t>
            </a:r>
            <a:r>
              <a:rPr lang="en-US" b="1" i="1">
                <a:solidFill>
                  <a:schemeClr val="accent2"/>
                </a:solidFill>
                <a:latin typeface="Times New Roman" pitchFamily="18" charset="0"/>
              </a:rPr>
              <a:t>S.remove</a:t>
            </a:r>
            <a:r>
              <a:rPr lang="en-US">
                <a:solidFill>
                  <a:schemeClr val="accent2"/>
                </a:solidFill>
                <a:latin typeface="Times New Roman" pitchFamily="18" charset="0"/>
              </a:rPr>
              <a:t>(</a:t>
            </a:r>
            <a:r>
              <a:rPr lang="en-US" b="1" i="1">
                <a:solidFill>
                  <a:schemeClr val="accent2"/>
                </a:solidFill>
                <a:latin typeface="Times New Roman" pitchFamily="18" charset="0"/>
              </a:rPr>
              <a:t>f</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i="1">
                <a:solidFill>
                  <a:schemeClr val="accent2"/>
                </a:solidFill>
                <a:latin typeface="Times New Roman" pitchFamily="18" charset="0"/>
              </a:rPr>
              <a:t>B</a:t>
            </a:r>
            <a:r>
              <a:rPr lang="en-US">
                <a:solidFill>
                  <a:schemeClr val="accent2"/>
                </a:solidFill>
                <a:latin typeface="Times New Roman" pitchFamily="18" charset="0"/>
              </a:rPr>
              <a:t>[</a:t>
            </a:r>
            <a:r>
              <a:rPr lang="en-US" b="1" i="1">
                <a:solidFill>
                  <a:schemeClr val="accent2"/>
                </a:solidFill>
                <a:latin typeface="Times New Roman" pitchFamily="18" charset="0"/>
              </a:rPr>
              <a:t>k</a:t>
            </a:r>
            <a:r>
              <a:rPr lang="en-US">
                <a:solidFill>
                  <a:schemeClr val="accent2"/>
                </a:solidFill>
                <a:latin typeface="Times New Roman" pitchFamily="18" charset="0"/>
              </a:rPr>
              <a:t>]</a:t>
            </a:r>
            <a:r>
              <a:rPr lang="en-US" b="1" i="1">
                <a:solidFill>
                  <a:schemeClr val="accent2"/>
                </a:solidFill>
                <a:latin typeface="Times New Roman" pitchFamily="18" charset="0"/>
              </a:rPr>
              <a:t>.insertLast</a:t>
            </a:r>
            <a:r>
              <a:rPr lang="en-US">
                <a:solidFill>
                  <a:schemeClr val="accent2"/>
                </a:solidFill>
                <a:latin typeface="Times New Roman" pitchFamily="18" charset="0"/>
              </a:rPr>
              <a:t>((</a:t>
            </a:r>
            <a:r>
              <a:rPr lang="en-US" b="1" i="1">
                <a:solidFill>
                  <a:schemeClr val="accent2"/>
                </a:solidFill>
                <a:latin typeface="Times New Roman" pitchFamily="18" charset="0"/>
              </a:rPr>
              <a:t>k</a:t>
            </a:r>
            <a:r>
              <a:rPr lang="en-US">
                <a:solidFill>
                  <a:schemeClr val="accent2"/>
                </a:solidFill>
                <a:latin typeface="Times New Roman" pitchFamily="18" charset="0"/>
              </a:rPr>
              <a:t>, </a:t>
            </a:r>
            <a:r>
              <a:rPr lang="en-US" b="1" i="1">
                <a:solidFill>
                  <a:schemeClr val="accent2"/>
                </a:solidFill>
                <a:latin typeface="Times New Roman" pitchFamily="18" charset="0"/>
              </a:rPr>
              <a:t>o</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b="1">
                <a:solidFill>
                  <a:srgbClr val="000000"/>
                </a:solidFill>
                <a:latin typeface="Times New Roman" pitchFamily="18" charset="0"/>
              </a:rPr>
              <a:t>for </a:t>
            </a:r>
            <a:r>
              <a:rPr lang="en-US" b="1" i="1">
                <a:solidFill>
                  <a:schemeClr val="accent2"/>
                </a:solidFill>
                <a:latin typeface="Times New Roman" pitchFamily="18" charset="0"/>
              </a:rPr>
              <a:t>i </a:t>
            </a:r>
            <a:r>
              <a:rPr lang="en-US">
                <a:solidFill>
                  <a:srgbClr val="000000"/>
                </a:solidFill>
                <a:latin typeface="Times New Roman" pitchFamily="18" charset="0"/>
                <a:sym typeface="Symbol" pitchFamily="18" charset="2"/>
              </a:rPr>
              <a:t></a:t>
            </a:r>
            <a:r>
              <a:rPr lang="en-US">
                <a:solidFill>
                  <a:schemeClr val="tx2"/>
                </a:solidFill>
                <a:latin typeface="Times New Roman" pitchFamily="18" charset="0"/>
              </a:rPr>
              <a:t> </a:t>
            </a:r>
            <a:r>
              <a:rPr lang="en-US">
                <a:solidFill>
                  <a:schemeClr val="accent2"/>
                </a:solidFill>
                <a:latin typeface="Times New Roman" pitchFamily="18" charset="0"/>
              </a:rPr>
              <a:t>0 </a:t>
            </a:r>
            <a:r>
              <a:rPr lang="en-US" b="1">
                <a:solidFill>
                  <a:srgbClr val="000000"/>
                </a:solidFill>
                <a:latin typeface="Times New Roman" pitchFamily="18" charset="0"/>
              </a:rPr>
              <a:t>to</a:t>
            </a:r>
            <a:r>
              <a:rPr lang="en-US">
                <a:solidFill>
                  <a:schemeClr val="accent2"/>
                </a:solidFill>
                <a:latin typeface="Times New Roman" pitchFamily="18" charset="0"/>
              </a:rPr>
              <a:t> </a:t>
            </a:r>
            <a:r>
              <a:rPr lang="en-US" b="1" i="1">
                <a:solidFill>
                  <a:schemeClr val="accent2"/>
                </a:solidFill>
                <a:latin typeface="Times New Roman" pitchFamily="18" charset="0"/>
              </a:rPr>
              <a:t>N </a:t>
            </a:r>
            <a:r>
              <a:rPr lang="en-US">
                <a:solidFill>
                  <a:schemeClr val="accent2"/>
                </a:solidFill>
                <a:latin typeface="Symbol" pitchFamily="18" charset="2"/>
              </a:rPr>
              <a:t>-</a:t>
            </a:r>
            <a:r>
              <a:rPr lang="en-US" b="1" i="1">
                <a:solidFill>
                  <a:schemeClr val="accent2"/>
                </a:solidFill>
                <a:latin typeface="Times New Roman" pitchFamily="18" charset="0"/>
              </a:rPr>
              <a:t> </a:t>
            </a:r>
            <a:r>
              <a:rPr lang="en-US">
                <a:solidFill>
                  <a:schemeClr val="accent2"/>
                </a:solidFill>
                <a:latin typeface="Times New Roman" pitchFamily="18" charset="0"/>
              </a:rPr>
              <a:t>1</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a:solidFill>
                  <a:srgbClr val="000000"/>
                </a:solidFill>
                <a:latin typeface="Times New Roman" pitchFamily="18" charset="0"/>
              </a:rPr>
              <a:t>while</a:t>
            </a:r>
            <a:r>
              <a:rPr lang="en-US">
                <a:solidFill>
                  <a:schemeClr val="tx2"/>
                </a:solidFill>
                <a:latin typeface="Times New Roman" pitchFamily="18" charset="0"/>
              </a:rPr>
              <a:t> </a:t>
            </a:r>
            <a:r>
              <a:rPr lang="en-US">
                <a:solidFill>
                  <a:srgbClr val="000000"/>
                </a:solidFill>
                <a:latin typeface="Symbol" pitchFamily="18" charset="2"/>
                <a:sym typeface="Symbol" pitchFamily="18" charset="2"/>
              </a:rPr>
              <a:t></a:t>
            </a:r>
            <a:r>
              <a:rPr lang="en-US" b="1" i="1">
                <a:solidFill>
                  <a:schemeClr val="accent2"/>
                </a:solidFill>
                <a:latin typeface="Times New Roman" pitchFamily="18" charset="0"/>
              </a:rPr>
              <a:t>B</a:t>
            </a:r>
            <a:r>
              <a:rPr lang="en-US">
                <a:solidFill>
                  <a:schemeClr val="accent2"/>
                </a:solidFill>
                <a:latin typeface="Times New Roman" pitchFamily="18" charset="0"/>
              </a:rPr>
              <a:t>[</a:t>
            </a:r>
            <a:r>
              <a:rPr lang="en-US" b="1" i="1">
                <a:solidFill>
                  <a:schemeClr val="accent2"/>
                </a:solidFill>
                <a:latin typeface="Times New Roman" pitchFamily="18" charset="0"/>
              </a:rPr>
              <a:t>i</a:t>
            </a:r>
            <a:r>
              <a:rPr lang="en-US">
                <a:solidFill>
                  <a:schemeClr val="accent2"/>
                </a:solidFill>
                <a:latin typeface="Times New Roman" pitchFamily="18" charset="0"/>
              </a:rPr>
              <a:t>]</a:t>
            </a:r>
            <a:r>
              <a:rPr lang="en-US" b="1" i="1">
                <a:solidFill>
                  <a:schemeClr val="accent2"/>
                </a:solidFill>
                <a:latin typeface="Times New Roman" pitchFamily="18" charset="0"/>
              </a:rPr>
              <a:t>.isEmpty</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i="1">
                <a:solidFill>
                  <a:schemeClr val="accent2"/>
                </a:solidFill>
                <a:latin typeface="Times New Roman" pitchFamily="18" charset="0"/>
              </a:rPr>
              <a:t>f </a:t>
            </a:r>
            <a:r>
              <a:rPr lang="en-US">
                <a:solidFill>
                  <a:srgbClr val="000000"/>
                </a:solidFill>
                <a:latin typeface="Times New Roman" pitchFamily="18" charset="0"/>
                <a:sym typeface="Symbol" pitchFamily="18" charset="2"/>
              </a:rPr>
              <a:t></a:t>
            </a:r>
            <a:r>
              <a:rPr lang="en-US" b="1" i="1">
                <a:solidFill>
                  <a:schemeClr val="accent2"/>
                </a:solidFill>
                <a:latin typeface="Times New Roman" pitchFamily="18" charset="0"/>
                <a:sym typeface="Symbol" pitchFamily="18" charset="2"/>
              </a:rPr>
              <a:t> </a:t>
            </a:r>
            <a:r>
              <a:rPr lang="en-US" b="1" i="1">
                <a:solidFill>
                  <a:schemeClr val="accent2"/>
                </a:solidFill>
                <a:latin typeface="Times New Roman" pitchFamily="18" charset="0"/>
              </a:rPr>
              <a:t>B</a:t>
            </a:r>
            <a:r>
              <a:rPr lang="en-US">
                <a:solidFill>
                  <a:schemeClr val="accent2"/>
                </a:solidFill>
                <a:latin typeface="Times New Roman" pitchFamily="18" charset="0"/>
              </a:rPr>
              <a:t>[</a:t>
            </a:r>
            <a:r>
              <a:rPr lang="en-US" b="1" i="1">
                <a:solidFill>
                  <a:schemeClr val="accent2"/>
                </a:solidFill>
                <a:latin typeface="Times New Roman" pitchFamily="18" charset="0"/>
              </a:rPr>
              <a:t>i</a:t>
            </a:r>
            <a:r>
              <a:rPr lang="en-US">
                <a:solidFill>
                  <a:schemeClr val="accent2"/>
                </a:solidFill>
                <a:latin typeface="Times New Roman" pitchFamily="18" charset="0"/>
              </a:rPr>
              <a:t>]</a:t>
            </a:r>
            <a:r>
              <a:rPr lang="en-US" b="1" i="1">
                <a:solidFill>
                  <a:schemeClr val="accent2"/>
                </a:solidFill>
                <a:latin typeface="Times New Roman" pitchFamily="18" charset="0"/>
              </a:rPr>
              <a:t>.first</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i="1">
                <a:solidFill>
                  <a:schemeClr val="accent2"/>
                </a:solidFill>
                <a:latin typeface="Times New Roman" pitchFamily="18" charset="0"/>
              </a:rPr>
              <a:t>k</a:t>
            </a:r>
            <a:r>
              <a:rPr lang="en-US">
                <a:solidFill>
                  <a:schemeClr val="accent2"/>
                </a:solidFill>
                <a:latin typeface="Times New Roman" pitchFamily="18" charset="0"/>
              </a:rPr>
              <a:t>, </a:t>
            </a:r>
            <a:r>
              <a:rPr lang="en-US" b="1" i="1">
                <a:solidFill>
                  <a:schemeClr val="accent2"/>
                </a:solidFill>
                <a:latin typeface="Times New Roman" pitchFamily="18" charset="0"/>
              </a:rPr>
              <a:t>o</a:t>
            </a:r>
            <a:r>
              <a:rPr lang="en-US">
                <a:solidFill>
                  <a:schemeClr val="accent2"/>
                </a:solidFill>
                <a:latin typeface="Times New Roman" pitchFamily="18" charset="0"/>
              </a:rPr>
              <a:t>) </a:t>
            </a:r>
            <a:r>
              <a:rPr lang="en-US">
                <a:solidFill>
                  <a:srgbClr val="000000"/>
                </a:solidFill>
                <a:latin typeface="Times New Roman" pitchFamily="18" charset="0"/>
                <a:sym typeface="Symbol" pitchFamily="18" charset="2"/>
              </a:rPr>
              <a:t></a:t>
            </a:r>
            <a:r>
              <a:rPr lang="en-US" b="1" i="1">
                <a:solidFill>
                  <a:schemeClr val="accent2"/>
                </a:solidFill>
                <a:latin typeface="Times New Roman" pitchFamily="18" charset="0"/>
                <a:sym typeface="Symbol" pitchFamily="18" charset="2"/>
              </a:rPr>
              <a:t> </a:t>
            </a:r>
            <a:r>
              <a:rPr lang="en-US" b="1" i="1">
                <a:solidFill>
                  <a:schemeClr val="accent2"/>
                </a:solidFill>
                <a:latin typeface="Times New Roman" pitchFamily="18" charset="0"/>
              </a:rPr>
              <a:t>B</a:t>
            </a:r>
            <a:r>
              <a:rPr lang="en-US">
                <a:solidFill>
                  <a:schemeClr val="accent2"/>
                </a:solidFill>
                <a:latin typeface="Times New Roman" pitchFamily="18" charset="0"/>
              </a:rPr>
              <a:t>[</a:t>
            </a:r>
            <a:r>
              <a:rPr lang="en-US" b="1" i="1">
                <a:solidFill>
                  <a:schemeClr val="accent2"/>
                </a:solidFill>
                <a:latin typeface="Times New Roman" pitchFamily="18" charset="0"/>
              </a:rPr>
              <a:t>i</a:t>
            </a:r>
            <a:r>
              <a:rPr lang="en-US">
                <a:solidFill>
                  <a:schemeClr val="accent2"/>
                </a:solidFill>
                <a:latin typeface="Times New Roman" pitchFamily="18" charset="0"/>
              </a:rPr>
              <a:t>]</a:t>
            </a:r>
            <a:r>
              <a:rPr lang="en-US" b="1" i="1">
                <a:solidFill>
                  <a:schemeClr val="accent2"/>
                </a:solidFill>
                <a:latin typeface="Times New Roman" pitchFamily="18" charset="0"/>
              </a:rPr>
              <a:t>.remove</a:t>
            </a:r>
            <a:r>
              <a:rPr lang="en-US">
                <a:solidFill>
                  <a:schemeClr val="accent2"/>
                </a:solidFill>
                <a:latin typeface="Times New Roman" pitchFamily="18" charset="0"/>
              </a:rPr>
              <a:t>(</a:t>
            </a:r>
            <a:r>
              <a:rPr lang="en-US" b="1" i="1">
                <a:solidFill>
                  <a:schemeClr val="accent2"/>
                </a:solidFill>
                <a:latin typeface="Times New Roman" pitchFamily="18" charset="0"/>
              </a:rPr>
              <a:t>f</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i="1">
                <a:solidFill>
                  <a:schemeClr val="accent2"/>
                </a:solidFill>
                <a:latin typeface="Times New Roman" pitchFamily="18" charset="0"/>
              </a:rPr>
              <a:t>S.insertLast</a:t>
            </a:r>
            <a:r>
              <a:rPr lang="en-US">
                <a:solidFill>
                  <a:schemeClr val="accent2"/>
                </a:solidFill>
                <a:latin typeface="Times New Roman" pitchFamily="18" charset="0"/>
              </a:rPr>
              <a:t>((</a:t>
            </a:r>
            <a:r>
              <a:rPr lang="en-US" b="1" i="1">
                <a:solidFill>
                  <a:schemeClr val="accent2"/>
                </a:solidFill>
                <a:latin typeface="Times New Roman" pitchFamily="18" charset="0"/>
              </a:rPr>
              <a:t>k</a:t>
            </a:r>
            <a:r>
              <a:rPr lang="en-US">
                <a:solidFill>
                  <a:schemeClr val="accent2"/>
                </a:solidFill>
                <a:latin typeface="Times New Roman" pitchFamily="18" charset="0"/>
              </a:rPr>
              <a:t>, </a:t>
            </a:r>
            <a:r>
              <a:rPr lang="en-US" b="1" i="1">
                <a:solidFill>
                  <a:schemeClr val="accent2"/>
                </a:solidFill>
                <a:latin typeface="Times New Roman" pitchFamily="18" charset="0"/>
              </a:rPr>
              <a:t>o</a:t>
            </a:r>
            <a:r>
              <a:rPr lang="en-US">
                <a:solidFill>
                  <a:schemeClr val="accent2"/>
                </a:solidFill>
                <a:latin typeface="Times New Roman" pitchFamily="18" charset="0"/>
              </a:rPr>
              <a:t>))</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Footer Placeholder 4"/>
          <p:cNvSpPr>
            <a:spLocks noGrp="1"/>
          </p:cNvSpPr>
          <p:nvPr>
            <p:ph type="ftr" sz="quarter" idx="11"/>
          </p:nvPr>
        </p:nvSpPr>
        <p:spPr/>
        <p:txBody>
          <a:bodyPr/>
          <a:lstStyle/>
          <a:p>
            <a:r>
              <a:rPr lang="en-US"/>
              <a:t>Data Structures and Algorithms</a:t>
            </a:r>
          </a:p>
        </p:txBody>
      </p:sp>
      <p:sp>
        <p:nvSpPr>
          <p:cNvPr id="53" name="Slide Number Placeholder 5"/>
          <p:cNvSpPr>
            <a:spLocks noGrp="1"/>
          </p:cNvSpPr>
          <p:nvPr>
            <p:ph type="sldNum" sz="quarter" idx="12"/>
          </p:nvPr>
        </p:nvSpPr>
        <p:spPr/>
        <p:txBody>
          <a:bodyPr/>
          <a:lstStyle/>
          <a:p>
            <a:fld id="{1DDE3E16-46B5-4B66-AFF3-33B978FD4ED6}" type="slidenum">
              <a:rPr lang="en-US"/>
              <a:pPr/>
              <a:t>4</a:t>
            </a:fld>
            <a:endParaRPr lang="en-US"/>
          </a:p>
        </p:txBody>
      </p:sp>
      <p:sp>
        <p:nvSpPr>
          <p:cNvPr id="274434" name="Rectangle 2"/>
          <p:cNvSpPr>
            <a:spLocks noGrp="1" noChangeArrowheads="1"/>
          </p:cNvSpPr>
          <p:nvPr>
            <p:ph type="title"/>
          </p:nvPr>
        </p:nvSpPr>
        <p:spPr/>
        <p:txBody>
          <a:bodyPr/>
          <a:lstStyle/>
          <a:p>
            <a:r>
              <a:rPr lang="en-US"/>
              <a:t>Example</a:t>
            </a:r>
          </a:p>
        </p:txBody>
      </p:sp>
      <p:sp>
        <p:nvSpPr>
          <p:cNvPr id="274435" name="Rectangle 3"/>
          <p:cNvSpPr>
            <a:spLocks noGrp="1" noChangeArrowheads="1"/>
          </p:cNvSpPr>
          <p:nvPr>
            <p:ph type="body" idx="1"/>
          </p:nvPr>
        </p:nvSpPr>
        <p:spPr>
          <a:xfrm>
            <a:off x="685800" y="1600200"/>
            <a:ext cx="8077200" cy="457200"/>
          </a:xfrm>
        </p:spPr>
        <p:txBody>
          <a:bodyPr/>
          <a:lstStyle/>
          <a:p>
            <a:r>
              <a:rPr lang="en-US" sz="2000"/>
              <a:t>Key range [0, 9]</a:t>
            </a:r>
            <a:endParaRPr lang="en-US" sz="2000">
              <a:latin typeface="Symbol" pitchFamily="18" charset="2"/>
            </a:endParaRPr>
          </a:p>
        </p:txBody>
      </p:sp>
      <p:grpSp>
        <p:nvGrpSpPr>
          <p:cNvPr id="274436" name="Group 4"/>
          <p:cNvGrpSpPr>
            <a:grpSpLocks/>
          </p:cNvGrpSpPr>
          <p:nvPr/>
        </p:nvGrpSpPr>
        <p:grpSpPr bwMode="auto">
          <a:xfrm>
            <a:off x="1163638" y="2209800"/>
            <a:ext cx="6781800" cy="457200"/>
            <a:chOff x="744" y="1392"/>
            <a:chExt cx="4272" cy="288"/>
          </a:xfrm>
        </p:grpSpPr>
        <p:cxnSp>
          <p:nvCxnSpPr>
            <p:cNvPr id="274437" name="AutoShape 5"/>
            <p:cNvCxnSpPr>
              <a:cxnSpLocks noChangeShapeType="1"/>
              <a:stCxn id="274438" idx="3"/>
              <a:endCxn id="274443" idx="1"/>
            </p:cNvCxnSpPr>
            <p:nvPr/>
          </p:nvCxnSpPr>
          <p:spPr bwMode="auto">
            <a:xfrm>
              <a:off x="1182" y="1536"/>
              <a:ext cx="3396"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38" name="AutoShape 6"/>
            <p:cNvSpPr>
              <a:spLocks noChangeArrowheads="1"/>
            </p:cNvSpPr>
            <p:nvPr/>
          </p:nvSpPr>
          <p:spPr bwMode="auto">
            <a:xfrm>
              <a:off x="744" y="13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d</a:t>
              </a:r>
            </a:p>
          </p:txBody>
        </p:sp>
        <p:sp>
          <p:nvSpPr>
            <p:cNvPr id="274439" name="AutoShape 7"/>
            <p:cNvSpPr>
              <a:spLocks noChangeArrowheads="1"/>
            </p:cNvSpPr>
            <p:nvPr/>
          </p:nvSpPr>
          <p:spPr bwMode="auto">
            <a:xfrm>
              <a:off x="1512" y="13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 </a:t>
              </a:r>
              <a:r>
                <a:rPr lang="en-US" sz="2400" b="1" i="1">
                  <a:latin typeface="Times New Roman" pitchFamily="18" charset="0"/>
                </a:rPr>
                <a:t>c</a:t>
              </a:r>
            </a:p>
          </p:txBody>
        </p:sp>
        <p:sp>
          <p:nvSpPr>
            <p:cNvPr id="274440" name="AutoShape 8"/>
            <p:cNvSpPr>
              <a:spLocks noChangeArrowheads="1"/>
            </p:cNvSpPr>
            <p:nvPr/>
          </p:nvSpPr>
          <p:spPr bwMode="auto">
            <a:xfrm>
              <a:off x="2280" y="13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3, </a:t>
              </a:r>
              <a:r>
                <a:rPr lang="en-US" sz="2400" b="1" i="1">
                  <a:latin typeface="Times New Roman" pitchFamily="18" charset="0"/>
                </a:rPr>
                <a:t>a</a:t>
              </a:r>
            </a:p>
          </p:txBody>
        </p:sp>
        <p:sp>
          <p:nvSpPr>
            <p:cNvPr id="274441" name="AutoShape 9"/>
            <p:cNvSpPr>
              <a:spLocks noChangeArrowheads="1"/>
            </p:cNvSpPr>
            <p:nvPr/>
          </p:nvSpPr>
          <p:spPr bwMode="auto">
            <a:xfrm>
              <a:off x="3048" y="13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g</a:t>
              </a:r>
            </a:p>
          </p:txBody>
        </p:sp>
        <p:sp>
          <p:nvSpPr>
            <p:cNvPr id="274442" name="AutoShape 10"/>
            <p:cNvSpPr>
              <a:spLocks noChangeArrowheads="1"/>
            </p:cNvSpPr>
            <p:nvPr/>
          </p:nvSpPr>
          <p:spPr bwMode="auto">
            <a:xfrm>
              <a:off x="3816" y="13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3, </a:t>
              </a:r>
              <a:r>
                <a:rPr lang="en-US" sz="2400" b="1" i="1">
                  <a:latin typeface="Times New Roman" pitchFamily="18" charset="0"/>
                </a:rPr>
                <a:t>b</a:t>
              </a:r>
            </a:p>
          </p:txBody>
        </p:sp>
        <p:sp>
          <p:nvSpPr>
            <p:cNvPr id="274443" name="AutoShape 11"/>
            <p:cNvSpPr>
              <a:spLocks noChangeArrowheads="1"/>
            </p:cNvSpPr>
            <p:nvPr/>
          </p:nvSpPr>
          <p:spPr bwMode="auto">
            <a:xfrm>
              <a:off x="4584" y="13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e</a:t>
              </a:r>
            </a:p>
          </p:txBody>
        </p:sp>
      </p:grpSp>
      <p:grpSp>
        <p:nvGrpSpPr>
          <p:cNvPr id="274444" name="Group 12"/>
          <p:cNvGrpSpPr>
            <a:grpSpLocks/>
          </p:cNvGrpSpPr>
          <p:nvPr/>
        </p:nvGrpSpPr>
        <p:grpSpPr bwMode="auto">
          <a:xfrm>
            <a:off x="1163638" y="5715000"/>
            <a:ext cx="6781800" cy="457200"/>
            <a:chOff x="744" y="3600"/>
            <a:chExt cx="4272" cy="288"/>
          </a:xfrm>
        </p:grpSpPr>
        <p:cxnSp>
          <p:nvCxnSpPr>
            <p:cNvPr id="274445" name="AutoShape 13"/>
            <p:cNvCxnSpPr>
              <a:cxnSpLocks noChangeShapeType="1"/>
              <a:stCxn id="274446" idx="3"/>
              <a:endCxn id="274451" idx="1"/>
            </p:cNvCxnSpPr>
            <p:nvPr/>
          </p:nvCxnSpPr>
          <p:spPr bwMode="auto">
            <a:xfrm>
              <a:off x="1182" y="3744"/>
              <a:ext cx="3396"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46" name="AutoShape 14"/>
            <p:cNvSpPr>
              <a:spLocks noChangeArrowheads="1"/>
            </p:cNvSpPr>
            <p:nvPr/>
          </p:nvSpPr>
          <p:spPr bwMode="auto">
            <a:xfrm>
              <a:off x="744" y="360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 </a:t>
              </a:r>
              <a:r>
                <a:rPr lang="en-US" sz="2400" b="1" i="1">
                  <a:latin typeface="Times New Roman" pitchFamily="18" charset="0"/>
                </a:rPr>
                <a:t>c</a:t>
              </a:r>
            </a:p>
          </p:txBody>
        </p:sp>
        <p:sp>
          <p:nvSpPr>
            <p:cNvPr id="274447" name="AutoShape 15"/>
            <p:cNvSpPr>
              <a:spLocks noChangeArrowheads="1"/>
            </p:cNvSpPr>
            <p:nvPr/>
          </p:nvSpPr>
          <p:spPr bwMode="auto">
            <a:xfrm>
              <a:off x="1512" y="360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3, </a:t>
              </a:r>
              <a:r>
                <a:rPr lang="en-US" sz="2400" b="1" i="1">
                  <a:latin typeface="Times New Roman" pitchFamily="18" charset="0"/>
                </a:rPr>
                <a:t>a</a:t>
              </a:r>
            </a:p>
          </p:txBody>
        </p:sp>
        <p:sp>
          <p:nvSpPr>
            <p:cNvPr id="274448" name="AutoShape 16"/>
            <p:cNvSpPr>
              <a:spLocks noChangeArrowheads="1"/>
            </p:cNvSpPr>
            <p:nvPr/>
          </p:nvSpPr>
          <p:spPr bwMode="auto">
            <a:xfrm>
              <a:off x="2280" y="360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3, </a:t>
              </a:r>
              <a:r>
                <a:rPr lang="en-US" sz="2400" b="1" i="1">
                  <a:latin typeface="Times New Roman" pitchFamily="18" charset="0"/>
                </a:rPr>
                <a:t>b</a:t>
              </a:r>
            </a:p>
          </p:txBody>
        </p:sp>
        <p:sp>
          <p:nvSpPr>
            <p:cNvPr id="274449" name="AutoShape 17"/>
            <p:cNvSpPr>
              <a:spLocks noChangeArrowheads="1"/>
            </p:cNvSpPr>
            <p:nvPr/>
          </p:nvSpPr>
          <p:spPr bwMode="auto">
            <a:xfrm>
              <a:off x="3048" y="360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d</a:t>
              </a:r>
            </a:p>
          </p:txBody>
        </p:sp>
        <p:sp>
          <p:nvSpPr>
            <p:cNvPr id="274450" name="AutoShape 18"/>
            <p:cNvSpPr>
              <a:spLocks noChangeArrowheads="1"/>
            </p:cNvSpPr>
            <p:nvPr/>
          </p:nvSpPr>
          <p:spPr bwMode="auto">
            <a:xfrm>
              <a:off x="3816" y="360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g</a:t>
              </a:r>
            </a:p>
          </p:txBody>
        </p:sp>
        <p:sp>
          <p:nvSpPr>
            <p:cNvPr id="274451" name="AutoShape 19"/>
            <p:cNvSpPr>
              <a:spLocks noChangeArrowheads="1"/>
            </p:cNvSpPr>
            <p:nvPr/>
          </p:nvSpPr>
          <p:spPr bwMode="auto">
            <a:xfrm>
              <a:off x="4584" y="360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e</a:t>
              </a:r>
            </a:p>
          </p:txBody>
        </p:sp>
      </p:grpSp>
      <p:sp>
        <p:nvSpPr>
          <p:cNvPr id="274452" name="AutoShape 20"/>
          <p:cNvSpPr>
            <a:spLocks noChangeArrowheads="1"/>
          </p:cNvSpPr>
          <p:nvPr/>
        </p:nvSpPr>
        <p:spPr bwMode="auto">
          <a:xfrm>
            <a:off x="4364038" y="2797175"/>
            <a:ext cx="381000" cy="457200"/>
          </a:xfrm>
          <a:prstGeom prst="downArrow">
            <a:avLst>
              <a:gd name="adj1" fmla="val 50000"/>
              <a:gd name="adj2" fmla="val 30000"/>
            </a:avLst>
          </a:prstGeom>
          <a:solidFill>
            <a:srgbClr val="C0C0C0"/>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0" anchor="ctr"/>
          <a:lstStyle/>
          <a:p>
            <a:pPr algn="ctr"/>
            <a:r>
              <a:rPr lang="en-US" sz="2400">
                <a:solidFill>
                  <a:schemeClr val="tx2"/>
                </a:solidFill>
                <a:latin typeface="Tahoma" pitchFamily="34" charset="0"/>
              </a:rPr>
              <a:t>Phase 1</a:t>
            </a:r>
          </a:p>
        </p:txBody>
      </p:sp>
      <p:sp>
        <p:nvSpPr>
          <p:cNvPr id="274453" name="AutoShape 21"/>
          <p:cNvSpPr>
            <a:spLocks noChangeArrowheads="1"/>
          </p:cNvSpPr>
          <p:nvPr/>
        </p:nvSpPr>
        <p:spPr bwMode="auto">
          <a:xfrm>
            <a:off x="4364038" y="5105400"/>
            <a:ext cx="381000" cy="457200"/>
          </a:xfrm>
          <a:prstGeom prst="downArrow">
            <a:avLst>
              <a:gd name="adj1" fmla="val 50000"/>
              <a:gd name="adj2" fmla="val 30000"/>
            </a:avLst>
          </a:prstGeom>
          <a:solidFill>
            <a:srgbClr val="C0C0C0"/>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1828800" anchor="ctr"/>
          <a:lstStyle/>
          <a:p>
            <a:pPr algn="ctr"/>
            <a:r>
              <a:rPr lang="en-US" sz="2400">
                <a:solidFill>
                  <a:schemeClr val="tx2"/>
                </a:solidFill>
                <a:latin typeface="Tahoma" pitchFamily="34" charset="0"/>
              </a:rPr>
              <a:t>Phase 2</a:t>
            </a:r>
          </a:p>
        </p:txBody>
      </p:sp>
      <p:grpSp>
        <p:nvGrpSpPr>
          <p:cNvPr id="274454" name="Group 22"/>
          <p:cNvGrpSpPr>
            <a:grpSpLocks/>
          </p:cNvGrpSpPr>
          <p:nvPr/>
        </p:nvGrpSpPr>
        <p:grpSpPr bwMode="auto">
          <a:xfrm>
            <a:off x="649288" y="3476625"/>
            <a:ext cx="7808912" cy="1247775"/>
            <a:chOff x="409" y="2190"/>
            <a:chExt cx="4919" cy="786"/>
          </a:xfrm>
        </p:grpSpPr>
        <p:cxnSp>
          <p:nvCxnSpPr>
            <p:cNvPr id="274455" name="AutoShape 23"/>
            <p:cNvCxnSpPr>
              <a:cxnSpLocks noChangeShapeType="1"/>
              <a:stCxn id="274468" idx="3"/>
              <a:endCxn id="274472" idx="1"/>
            </p:cNvCxnSpPr>
            <p:nvPr/>
          </p:nvCxnSpPr>
          <p:spPr bwMode="auto">
            <a:xfrm>
              <a:off x="4134" y="2334"/>
              <a:ext cx="756"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56" name="Rectangle 24"/>
            <p:cNvSpPr>
              <a:spLocks noChangeArrowheads="1"/>
            </p:cNvSpPr>
            <p:nvPr/>
          </p:nvSpPr>
          <p:spPr bwMode="auto">
            <a:xfrm>
              <a:off x="793"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0</a:t>
              </a:r>
            </a:p>
          </p:txBody>
        </p:sp>
        <p:sp>
          <p:nvSpPr>
            <p:cNvPr id="274457" name="Rectangle 25"/>
            <p:cNvSpPr>
              <a:spLocks noChangeArrowheads="1"/>
            </p:cNvSpPr>
            <p:nvPr/>
          </p:nvSpPr>
          <p:spPr bwMode="auto">
            <a:xfrm>
              <a:off x="1081"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1</a:t>
              </a:r>
            </a:p>
          </p:txBody>
        </p:sp>
        <p:sp>
          <p:nvSpPr>
            <p:cNvPr id="274458" name="Rectangle 26"/>
            <p:cNvSpPr>
              <a:spLocks noChangeArrowheads="1"/>
            </p:cNvSpPr>
            <p:nvPr/>
          </p:nvSpPr>
          <p:spPr bwMode="auto">
            <a:xfrm>
              <a:off x="1369"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2</a:t>
              </a:r>
            </a:p>
          </p:txBody>
        </p:sp>
        <p:sp>
          <p:nvSpPr>
            <p:cNvPr id="274459" name="Rectangle 27"/>
            <p:cNvSpPr>
              <a:spLocks noChangeArrowheads="1"/>
            </p:cNvSpPr>
            <p:nvPr/>
          </p:nvSpPr>
          <p:spPr bwMode="auto">
            <a:xfrm>
              <a:off x="1657"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3</a:t>
              </a:r>
            </a:p>
          </p:txBody>
        </p:sp>
        <p:sp>
          <p:nvSpPr>
            <p:cNvPr id="274460" name="Rectangle 28"/>
            <p:cNvSpPr>
              <a:spLocks noChangeArrowheads="1"/>
            </p:cNvSpPr>
            <p:nvPr/>
          </p:nvSpPr>
          <p:spPr bwMode="auto">
            <a:xfrm>
              <a:off x="1945"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4</a:t>
              </a:r>
            </a:p>
          </p:txBody>
        </p:sp>
        <p:sp>
          <p:nvSpPr>
            <p:cNvPr id="274461" name="Rectangle 29"/>
            <p:cNvSpPr>
              <a:spLocks noChangeArrowheads="1"/>
            </p:cNvSpPr>
            <p:nvPr/>
          </p:nvSpPr>
          <p:spPr bwMode="auto">
            <a:xfrm>
              <a:off x="2233"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5</a:t>
              </a:r>
            </a:p>
          </p:txBody>
        </p:sp>
        <p:sp>
          <p:nvSpPr>
            <p:cNvPr id="274462" name="Rectangle 30"/>
            <p:cNvSpPr>
              <a:spLocks noChangeArrowheads="1"/>
            </p:cNvSpPr>
            <p:nvPr/>
          </p:nvSpPr>
          <p:spPr bwMode="auto">
            <a:xfrm>
              <a:off x="2521"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6</a:t>
              </a:r>
            </a:p>
          </p:txBody>
        </p:sp>
        <p:sp>
          <p:nvSpPr>
            <p:cNvPr id="274463" name="Rectangle 31"/>
            <p:cNvSpPr>
              <a:spLocks noChangeArrowheads="1"/>
            </p:cNvSpPr>
            <p:nvPr/>
          </p:nvSpPr>
          <p:spPr bwMode="auto">
            <a:xfrm>
              <a:off x="2809"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7</a:t>
              </a:r>
            </a:p>
          </p:txBody>
        </p:sp>
        <p:sp>
          <p:nvSpPr>
            <p:cNvPr id="274464" name="Rectangle 32"/>
            <p:cNvSpPr>
              <a:spLocks noChangeArrowheads="1"/>
            </p:cNvSpPr>
            <p:nvPr/>
          </p:nvSpPr>
          <p:spPr bwMode="auto">
            <a:xfrm>
              <a:off x="3097"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8</a:t>
              </a:r>
            </a:p>
          </p:txBody>
        </p:sp>
        <p:sp>
          <p:nvSpPr>
            <p:cNvPr id="274465" name="Rectangle 33"/>
            <p:cNvSpPr>
              <a:spLocks noChangeArrowheads="1"/>
            </p:cNvSpPr>
            <p:nvPr/>
          </p:nvSpPr>
          <p:spPr bwMode="auto">
            <a:xfrm>
              <a:off x="3385" y="2688"/>
              <a:ext cx="288" cy="2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tIns="594360" bIns="0"/>
            <a:lstStyle/>
            <a:p>
              <a:pPr algn="ctr"/>
              <a:r>
                <a:rPr lang="en-US">
                  <a:latin typeface="Times New Roman" pitchFamily="18" charset="0"/>
                </a:rPr>
                <a:t>9</a:t>
              </a:r>
            </a:p>
          </p:txBody>
        </p:sp>
        <p:sp>
          <p:nvSpPr>
            <p:cNvPr id="274466" name="Text Box 34"/>
            <p:cNvSpPr txBox="1">
              <a:spLocks noChangeArrowheads="1"/>
            </p:cNvSpPr>
            <p:nvPr/>
          </p:nvSpPr>
          <p:spPr bwMode="auto">
            <a:xfrm>
              <a:off x="480" y="2688"/>
              <a:ext cx="244"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400" b="1" i="1">
                  <a:latin typeface="Times New Roman" pitchFamily="18" charset="0"/>
                </a:rPr>
                <a:t>B</a:t>
              </a:r>
            </a:p>
          </p:txBody>
        </p:sp>
        <p:sp>
          <p:nvSpPr>
            <p:cNvPr id="274467" name="AutoShape 35"/>
            <p:cNvSpPr>
              <a:spLocks noChangeArrowheads="1"/>
            </p:cNvSpPr>
            <p:nvPr/>
          </p:nvSpPr>
          <p:spPr bwMode="auto">
            <a:xfrm>
              <a:off x="816" y="219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 </a:t>
              </a:r>
              <a:r>
                <a:rPr lang="en-US" sz="2400" b="1" i="1">
                  <a:latin typeface="Times New Roman" pitchFamily="18" charset="0"/>
                </a:rPr>
                <a:t>c</a:t>
              </a:r>
            </a:p>
          </p:txBody>
        </p:sp>
        <p:sp>
          <p:nvSpPr>
            <p:cNvPr id="274468" name="AutoShape 36"/>
            <p:cNvSpPr>
              <a:spLocks noChangeArrowheads="1"/>
            </p:cNvSpPr>
            <p:nvPr/>
          </p:nvSpPr>
          <p:spPr bwMode="auto">
            <a:xfrm>
              <a:off x="3696" y="219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d</a:t>
              </a:r>
            </a:p>
          </p:txBody>
        </p:sp>
        <p:sp>
          <p:nvSpPr>
            <p:cNvPr id="274469" name="AutoShape 37"/>
            <p:cNvSpPr>
              <a:spLocks noChangeArrowheads="1"/>
            </p:cNvSpPr>
            <p:nvPr/>
          </p:nvSpPr>
          <p:spPr bwMode="auto">
            <a:xfrm>
              <a:off x="4296" y="219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g</a:t>
              </a:r>
            </a:p>
          </p:txBody>
        </p:sp>
        <p:sp>
          <p:nvSpPr>
            <p:cNvPr id="274470" name="AutoShape 38"/>
            <p:cNvSpPr>
              <a:spLocks noChangeArrowheads="1"/>
            </p:cNvSpPr>
            <p:nvPr/>
          </p:nvSpPr>
          <p:spPr bwMode="auto">
            <a:xfrm>
              <a:off x="2640" y="219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3, </a:t>
              </a:r>
              <a:r>
                <a:rPr lang="en-US" sz="2400" b="1" i="1">
                  <a:latin typeface="Times New Roman" pitchFamily="18" charset="0"/>
                </a:rPr>
                <a:t>b</a:t>
              </a:r>
            </a:p>
          </p:txBody>
        </p:sp>
        <p:sp>
          <p:nvSpPr>
            <p:cNvPr id="274471" name="AutoShape 39"/>
            <p:cNvSpPr>
              <a:spLocks noChangeArrowheads="1"/>
            </p:cNvSpPr>
            <p:nvPr/>
          </p:nvSpPr>
          <p:spPr bwMode="auto">
            <a:xfrm>
              <a:off x="2016" y="219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3, </a:t>
              </a:r>
              <a:r>
                <a:rPr lang="en-US" sz="2400" b="1" i="1">
                  <a:latin typeface="Times New Roman" pitchFamily="18" charset="0"/>
                </a:rPr>
                <a:t>a</a:t>
              </a:r>
            </a:p>
          </p:txBody>
        </p:sp>
        <p:sp>
          <p:nvSpPr>
            <p:cNvPr id="274472" name="AutoShape 40"/>
            <p:cNvSpPr>
              <a:spLocks noChangeArrowheads="1"/>
            </p:cNvSpPr>
            <p:nvPr/>
          </p:nvSpPr>
          <p:spPr bwMode="auto">
            <a:xfrm>
              <a:off x="4896" y="219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7, </a:t>
              </a:r>
              <a:r>
                <a:rPr lang="en-US" sz="2400" b="1" i="1">
                  <a:latin typeface="Times New Roman" pitchFamily="18" charset="0"/>
                </a:rPr>
                <a:t>e</a:t>
              </a:r>
            </a:p>
          </p:txBody>
        </p:sp>
        <p:cxnSp>
          <p:nvCxnSpPr>
            <p:cNvPr id="274473" name="AutoShape 41"/>
            <p:cNvCxnSpPr>
              <a:cxnSpLocks noChangeShapeType="1"/>
              <a:stCxn id="274471" idx="3"/>
              <a:endCxn id="274470" idx="1"/>
            </p:cNvCxnSpPr>
            <p:nvPr/>
          </p:nvCxnSpPr>
          <p:spPr bwMode="auto">
            <a:xfrm>
              <a:off x="2454" y="2334"/>
              <a:ext cx="180" cy="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4474" name="Text Box 42"/>
            <p:cNvSpPr txBox="1">
              <a:spLocks noChangeArrowheads="1"/>
            </p:cNvSpPr>
            <p:nvPr/>
          </p:nvSpPr>
          <p:spPr bwMode="auto">
            <a:xfrm>
              <a:off x="811" y="2718"/>
              <a:ext cx="2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atin typeface="Times New Roman" pitchFamily="18" charset="0"/>
                  <a:sym typeface="Symbol" pitchFamily="18" charset="2"/>
                </a:rPr>
                <a:t></a:t>
              </a:r>
              <a:endParaRPr lang="en-US">
                <a:latin typeface="Times New Roman" pitchFamily="18" charset="0"/>
              </a:endParaRPr>
            </a:p>
          </p:txBody>
        </p:sp>
        <p:sp>
          <p:nvSpPr>
            <p:cNvPr id="274475" name="Text Box 43"/>
            <p:cNvSpPr txBox="1">
              <a:spLocks noChangeArrowheads="1"/>
            </p:cNvSpPr>
            <p:nvPr/>
          </p:nvSpPr>
          <p:spPr bwMode="auto">
            <a:xfrm>
              <a:off x="1389" y="2718"/>
              <a:ext cx="2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atin typeface="Times New Roman" pitchFamily="18" charset="0"/>
                  <a:sym typeface="Symbol" pitchFamily="18" charset="2"/>
                </a:rPr>
                <a:t></a:t>
              </a:r>
              <a:endParaRPr lang="en-US">
                <a:latin typeface="Times New Roman" pitchFamily="18" charset="0"/>
              </a:endParaRPr>
            </a:p>
          </p:txBody>
        </p:sp>
        <p:sp>
          <p:nvSpPr>
            <p:cNvPr id="274476" name="Text Box 44"/>
            <p:cNvSpPr txBox="1">
              <a:spLocks noChangeArrowheads="1"/>
            </p:cNvSpPr>
            <p:nvPr/>
          </p:nvSpPr>
          <p:spPr bwMode="auto">
            <a:xfrm>
              <a:off x="1968" y="2718"/>
              <a:ext cx="2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atin typeface="Times New Roman" pitchFamily="18" charset="0"/>
                  <a:sym typeface="Symbol" pitchFamily="18" charset="2"/>
                </a:rPr>
                <a:t></a:t>
              </a:r>
              <a:endParaRPr lang="en-US">
                <a:latin typeface="Times New Roman" pitchFamily="18" charset="0"/>
              </a:endParaRPr>
            </a:p>
          </p:txBody>
        </p:sp>
        <p:sp>
          <p:nvSpPr>
            <p:cNvPr id="274477" name="Text Box 45"/>
            <p:cNvSpPr txBox="1">
              <a:spLocks noChangeArrowheads="1"/>
            </p:cNvSpPr>
            <p:nvPr/>
          </p:nvSpPr>
          <p:spPr bwMode="auto">
            <a:xfrm>
              <a:off x="2257" y="2718"/>
              <a:ext cx="2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atin typeface="Times New Roman" pitchFamily="18" charset="0"/>
                  <a:sym typeface="Symbol" pitchFamily="18" charset="2"/>
                </a:rPr>
                <a:t></a:t>
              </a:r>
              <a:endParaRPr lang="en-US">
                <a:latin typeface="Times New Roman" pitchFamily="18" charset="0"/>
              </a:endParaRPr>
            </a:p>
          </p:txBody>
        </p:sp>
        <p:sp>
          <p:nvSpPr>
            <p:cNvPr id="274478" name="Text Box 46"/>
            <p:cNvSpPr txBox="1">
              <a:spLocks noChangeArrowheads="1"/>
            </p:cNvSpPr>
            <p:nvPr/>
          </p:nvSpPr>
          <p:spPr bwMode="auto">
            <a:xfrm>
              <a:off x="2547" y="2718"/>
              <a:ext cx="2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atin typeface="Times New Roman" pitchFamily="18" charset="0"/>
                  <a:sym typeface="Symbol" pitchFamily="18" charset="2"/>
                </a:rPr>
                <a:t></a:t>
              </a:r>
              <a:endParaRPr lang="en-US">
                <a:latin typeface="Times New Roman" pitchFamily="18" charset="0"/>
              </a:endParaRPr>
            </a:p>
          </p:txBody>
        </p:sp>
        <p:sp>
          <p:nvSpPr>
            <p:cNvPr id="274479" name="Text Box 47"/>
            <p:cNvSpPr txBox="1">
              <a:spLocks noChangeArrowheads="1"/>
            </p:cNvSpPr>
            <p:nvPr/>
          </p:nvSpPr>
          <p:spPr bwMode="auto">
            <a:xfrm>
              <a:off x="3125" y="2718"/>
              <a:ext cx="2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atin typeface="Times New Roman" pitchFamily="18" charset="0"/>
                  <a:sym typeface="Symbol" pitchFamily="18" charset="2"/>
                </a:rPr>
                <a:t></a:t>
              </a:r>
              <a:endParaRPr lang="en-US">
                <a:latin typeface="Times New Roman" pitchFamily="18" charset="0"/>
              </a:endParaRPr>
            </a:p>
          </p:txBody>
        </p:sp>
        <p:sp>
          <p:nvSpPr>
            <p:cNvPr id="274480" name="Text Box 48"/>
            <p:cNvSpPr txBox="1">
              <a:spLocks noChangeArrowheads="1"/>
            </p:cNvSpPr>
            <p:nvPr/>
          </p:nvSpPr>
          <p:spPr bwMode="auto">
            <a:xfrm>
              <a:off x="3415" y="2718"/>
              <a:ext cx="235"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atin typeface="Times New Roman" pitchFamily="18" charset="0"/>
                  <a:sym typeface="Symbol" pitchFamily="18" charset="2"/>
                </a:rPr>
                <a:t></a:t>
              </a:r>
              <a:endParaRPr lang="en-US">
                <a:latin typeface="Times New Roman" pitchFamily="18" charset="0"/>
              </a:endParaRPr>
            </a:p>
          </p:txBody>
        </p:sp>
        <p:sp>
          <p:nvSpPr>
            <p:cNvPr id="274481" name="Freeform 49"/>
            <p:cNvSpPr>
              <a:spLocks/>
            </p:cNvSpPr>
            <p:nvPr/>
          </p:nvSpPr>
          <p:spPr bwMode="auto">
            <a:xfrm>
              <a:off x="409" y="2304"/>
              <a:ext cx="815" cy="522"/>
            </a:xfrm>
            <a:custGeom>
              <a:avLst/>
              <a:gdLst>
                <a:gd name="T0" fmla="*/ 815 w 815"/>
                <a:gd name="T1" fmla="*/ 522 h 522"/>
                <a:gd name="T2" fmla="*/ 653 w 815"/>
                <a:gd name="T3" fmla="*/ 288 h 522"/>
                <a:gd name="T4" fmla="*/ 41 w 815"/>
                <a:gd name="T5" fmla="*/ 144 h 522"/>
                <a:gd name="T6" fmla="*/ 407 w 815"/>
                <a:gd name="T7" fmla="*/ 0 h 522"/>
              </a:gdLst>
              <a:ahLst/>
              <a:cxnLst>
                <a:cxn ang="0">
                  <a:pos x="T0" y="T1"/>
                </a:cxn>
                <a:cxn ang="0">
                  <a:pos x="T2" y="T3"/>
                </a:cxn>
                <a:cxn ang="0">
                  <a:pos x="T4" y="T5"/>
                </a:cxn>
                <a:cxn ang="0">
                  <a:pos x="T6" y="T7"/>
                </a:cxn>
              </a:cxnLst>
              <a:rect l="0" t="0" r="r" b="b"/>
              <a:pathLst>
                <a:path w="815" h="522">
                  <a:moveTo>
                    <a:pt x="815" y="522"/>
                  </a:moveTo>
                  <a:cubicBezTo>
                    <a:pt x="788" y="484"/>
                    <a:pt x="782" y="351"/>
                    <a:pt x="653" y="288"/>
                  </a:cubicBezTo>
                  <a:cubicBezTo>
                    <a:pt x="524" y="225"/>
                    <a:pt x="82" y="192"/>
                    <a:pt x="41" y="144"/>
                  </a:cubicBezTo>
                  <a:cubicBezTo>
                    <a:pt x="0" y="96"/>
                    <a:pt x="331" y="30"/>
                    <a:pt x="407" y="0"/>
                  </a:cubicBezTo>
                </a:path>
              </a:pathLst>
            </a:custGeom>
            <a:noFill/>
            <a:ln w="19050" cap="flat" cmpd="sng">
              <a:solidFill>
                <a:schemeClr val="tx1"/>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482" name="Freeform 50"/>
            <p:cNvSpPr>
              <a:spLocks/>
            </p:cNvSpPr>
            <p:nvPr/>
          </p:nvSpPr>
          <p:spPr bwMode="auto">
            <a:xfrm>
              <a:off x="1711" y="2322"/>
              <a:ext cx="299" cy="498"/>
            </a:xfrm>
            <a:custGeom>
              <a:avLst/>
              <a:gdLst>
                <a:gd name="T0" fmla="*/ 89 w 299"/>
                <a:gd name="T1" fmla="*/ 498 h 498"/>
                <a:gd name="T2" fmla="*/ 35 w 299"/>
                <a:gd name="T3" fmla="*/ 108 h 498"/>
                <a:gd name="T4" fmla="*/ 299 w 299"/>
                <a:gd name="T5" fmla="*/ 0 h 498"/>
              </a:gdLst>
              <a:ahLst/>
              <a:cxnLst>
                <a:cxn ang="0">
                  <a:pos x="T0" y="T1"/>
                </a:cxn>
                <a:cxn ang="0">
                  <a:pos x="T2" y="T3"/>
                </a:cxn>
                <a:cxn ang="0">
                  <a:pos x="T4" y="T5"/>
                </a:cxn>
              </a:cxnLst>
              <a:rect l="0" t="0" r="r" b="b"/>
              <a:pathLst>
                <a:path w="299" h="498">
                  <a:moveTo>
                    <a:pt x="89" y="498"/>
                  </a:moveTo>
                  <a:cubicBezTo>
                    <a:pt x="80" y="433"/>
                    <a:pt x="0" y="191"/>
                    <a:pt x="35" y="108"/>
                  </a:cubicBezTo>
                  <a:cubicBezTo>
                    <a:pt x="70" y="25"/>
                    <a:pt x="244" y="22"/>
                    <a:pt x="299" y="0"/>
                  </a:cubicBezTo>
                </a:path>
              </a:pathLst>
            </a:custGeom>
            <a:noFill/>
            <a:ln w="19050" cap="flat" cmpd="sng">
              <a:solidFill>
                <a:schemeClr val="tx1"/>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4483" name="Freeform 51"/>
            <p:cNvSpPr>
              <a:spLocks/>
            </p:cNvSpPr>
            <p:nvPr/>
          </p:nvSpPr>
          <p:spPr bwMode="auto">
            <a:xfrm>
              <a:off x="2958" y="2340"/>
              <a:ext cx="732" cy="486"/>
            </a:xfrm>
            <a:custGeom>
              <a:avLst/>
              <a:gdLst>
                <a:gd name="T0" fmla="*/ 0 w 732"/>
                <a:gd name="T1" fmla="*/ 486 h 486"/>
                <a:gd name="T2" fmla="*/ 78 w 732"/>
                <a:gd name="T3" fmla="*/ 264 h 486"/>
                <a:gd name="T4" fmla="*/ 348 w 732"/>
                <a:gd name="T5" fmla="*/ 96 h 486"/>
                <a:gd name="T6" fmla="*/ 732 w 732"/>
                <a:gd name="T7" fmla="*/ 0 h 486"/>
              </a:gdLst>
              <a:ahLst/>
              <a:cxnLst>
                <a:cxn ang="0">
                  <a:pos x="T0" y="T1"/>
                </a:cxn>
                <a:cxn ang="0">
                  <a:pos x="T2" y="T3"/>
                </a:cxn>
                <a:cxn ang="0">
                  <a:pos x="T4" y="T5"/>
                </a:cxn>
                <a:cxn ang="0">
                  <a:pos x="T6" y="T7"/>
                </a:cxn>
              </a:cxnLst>
              <a:rect l="0" t="0" r="r" b="b"/>
              <a:pathLst>
                <a:path w="732" h="486">
                  <a:moveTo>
                    <a:pt x="0" y="486"/>
                  </a:moveTo>
                  <a:cubicBezTo>
                    <a:pt x="12" y="449"/>
                    <a:pt x="20" y="329"/>
                    <a:pt x="78" y="264"/>
                  </a:cubicBezTo>
                  <a:cubicBezTo>
                    <a:pt x="136" y="199"/>
                    <a:pt x="239" y="140"/>
                    <a:pt x="348" y="96"/>
                  </a:cubicBezTo>
                  <a:cubicBezTo>
                    <a:pt x="457" y="52"/>
                    <a:pt x="652" y="20"/>
                    <a:pt x="732" y="0"/>
                  </a:cubicBezTo>
                </a:path>
              </a:pathLst>
            </a:custGeom>
            <a:noFill/>
            <a:ln w="19050" cap="flat" cmpd="sng">
              <a:solidFill>
                <a:schemeClr val="tx1"/>
              </a:solidFill>
              <a:prstDash val="solid"/>
              <a:round/>
              <a:headEnd type="oval" w="med" len="me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p:cNvSpPr>
            <a:spLocks noGrp="1"/>
          </p:cNvSpPr>
          <p:nvPr>
            <p:ph type="ftr" sz="quarter" idx="11"/>
          </p:nvPr>
        </p:nvSpPr>
        <p:spPr/>
        <p:txBody>
          <a:bodyPr/>
          <a:lstStyle/>
          <a:p>
            <a:r>
              <a:rPr lang="en-US"/>
              <a:t>Data Structures and Algorithms</a:t>
            </a:r>
          </a:p>
        </p:txBody>
      </p:sp>
      <p:sp>
        <p:nvSpPr>
          <p:cNvPr id="6" name="Slide Number Placeholder 6"/>
          <p:cNvSpPr>
            <a:spLocks noGrp="1"/>
          </p:cNvSpPr>
          <p:nvPr>
            <p:ph type="sldNum" sz="quarter" idx="12"/>
          </p:nvPr>
        </p:nvSpPr>
        <p:spPr/>
        <p:txBody>
          <a:bodyPr/>
          <a:lstStyle/>
          <a:p>
            <a:fld id="{5CA15186-8F45-456C-B4A6-4886953F399E}" type="slidenum">
              <a:rPr lang="en-US"/>
              <a:pPr/>
              <a:t>5</a:t>
            </a:fld>
            <a:endParaRPr lang="en-US"/>
          </a:p>
        </p:txBody>
      </p:sp>
      <p:sp>
        <p:nvSpPr>
          <p:cNvPr id="275458" name="Rectangle 2"/>
          <p:cNvSpPr>
            <a:spLocks noGrp="1" noChangeArrowheads="1"/>
          </p:cNvSpPr>
          <p:nvPr>
            <p:ph type="title"/>
          </p:nvPr>
        </p:nvSpPr>
        <p:spPr/>
        <p:txBody>
          <a:bodyPr/>
          <a:lstStyle/>
          <a:p>
            <a:r>
              <a:rPr lang="en-US"/>
              <a:t>Properties and Extensions</a:t>
            </a:r>
          </a:p>
        </p:txBody>
      </p:sp>
      <p:sp>
        <p:nvSpPr>
          <p:cNvPr id="275459" name="Rectangle 3"/>
          <p:cNvSpPr>
            <a:spLocks noGrp="1" noChangeArrowheads="1"/>
          </p:cNvSpPr>
          <p:nvPr>
            <p:ph type="body" sz="half" idx="1"/>
          </p:nvPr>
        </p:nvSpPr>
        <p:spPr>
          <a:xfrm>
            <a:off x="762000" y="1676400"/>
            <a:ext cx="7086600" cy="4495800"/>
          </a:xfrm>
        </p:spPr>
        <p:txBody>
          <a:bodyPr/>
          <a:lstStyle/>
          <a:p>
            <a:r>
              <a:rPr lang="en-US" sz="2000" b="1" dirty="0"/>
              <a:t>Key-type Property</a:t>
            </a:r>
          </a:p>
          <a:p>
            <a:pPr lvl="1"/>
            <a:r>
              <a:rPr lang="en-US" sz="2000" dirty="0"/>
              <a:t>The keys are used as indices into an array and cannot be arbitrary objects</a:t>
            </a:r>
          </a:p>
          <a:p>
            <a:pPr lvl="1"/>
            <a:r>
              <a:rPr lang="en-US" sz="2000" dirty="0"/>
              <a:t>No external </a:t>
            </a:r>
            <a:r>
              <a:rPr lang="en-US" sz="2000" dirty="0" smtClean="0"/>
              <a:t>comparator</a:t>
            </a:r>
          </a:p>
          <a:p>
            <a:pPr lvl="1"/>
            <a:endParaRPr lang="en-US" sz="2000" dirty="0"/>
          </a:p>
          <a:p>
            <a:r>
              <a:rPr lang="en-US" sz="2000" b="1" dirty="0">
                <a:solidFill>
                  <a:schemeClr val="tx2"/>
                </a:solidFill>
              </a:rPr>
              <a:t>Stable</a:t>
            </a:r>
            <a:r>
              <a:rPr lang="en-US" sz="2000" b="1" dirty="0"/>
              <a:t> Sort Property</a:t>
            </a:r>
          </a:p>
          <a:p>
            <a:pPr lvl="1"/>
            <a:r>
              <a:rPr lang="en-US" sz="2000" dirty="0"/>
              <a:t>The relative order of any two items with the same key is preserved after the execution of the algorithm</a:t>
            </a:r>
          </a:p>
          <a:p>
            <a:pPr lvl="1"/>
            <a:endParaRPr lang="en-US" sz="20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Data Structures and Algorithms</a:t>
            </a:r>
          </a:p>
        </p:txBody>
      </p:sp>
      <p:sp>
        <p:nvSpPr>
          <p:cNvPr id="5" name="Slide Number Placeholder 5"/>
          <p:cNvSpPr>
            <a:spLocks noGrp="1"/>
          </p:cNvSpPr>
          <p:nvPr>
            <p:ph type="sldNum" sz="quarter" idx="12"/>
          </p:nvPr>
        </p:nvSpPr>
        <p:spPr/>
        <p:txBody>
          <a:bodyPr/>
          <a:lstStyle/>
          <a:p>
            <a:fld id="{DA136478-A754-412C-AEEA-E37AB1B3E190}" type="slidenum">
              <a:rPr lang="en-US"/>
              <a:pPr/>
              <a:t>6</a:t>
            </a:fld>
            <a:endParaRPr lang="en-US"/>
          </a:p>
        </p:txBody>
      </p:sp>
      <p:sp>
        <p:nvSpPr>
          <p:cNvPr id="276482" name="Rectangle 2"/>
          <p:cNvSpPr>
            <a:spLocks noGrp="1" noChangeArrowheads="1"/>
          </p:cNvSpPr>
          <p:nvPr>
            <p:ph type="title"/>
          </p:nvPr>
        </p:nvSpPr>
        <p:spPr>
          <a:xfrm>
            <a:off x="1066800" y="274638"/>
            <a:ext cx="7620000" cy="868362"/>
          </a:xfrm>
        </p:spPr>
        <p:txBody>
          <a:bodyPr/>
          <a:lstStyle/>
          <a:p>
            <a:r>
              <a:rPr lang="en-US" dirty="0"/>
              <a:t>Lexicographic </a:t>
            </a:r>
            <a:r>
              <a:rPr lang="en-US" dirty="0" smtClean="0"/>
              <a:t>Order (Dictionary)</a:t>
            </a:r>
            <a:endParaRPr lang="en-US" dirty="0"/>
          </a:p>
        </p:txBody>
      </p:sp>
      <mc:AlternateContent xmlns:mc="http://schemas.openxmlformats.org/markup-compatibility/2006" xmlns:a14="http://schemas.microsoft.com/office/drawing/2010/main">
        <mc:Choice Requires="a14">
          <p:sp>
            <p:nvSpPr>
              <p:cNvPr id="276483" name="Rectangle 3"/>
              <p:cNvSpPr>
                <a:spLocks noGrp="1" noChangeArrowheads="1"/>
              </p:cNvSpPr>
              <p:nvPr>
                <p:ph type="body" idx="1"/>
              </p:nvPr>
            </p:nvSpPr>
            <p:spPr>
              <a:xfrm>
                <a:off x="838200" y="1066800"/>
                <a:ext cx="7848600" cy="5410200"/>
              </a:xfrm>
            </p:spPr>
            <p:txBody>
              <a:bodyPr/>
              <a:lstStyle/>
              <a:p>
                <a:r>
                  <a:rPr lang="en-US" sz="2000" dirty="0" smtClean="0"/>
                  <a:t>Sorts items with keys that are pairs( k, l) , where k and l are integers in the range 0 to N – 1 for some N &gt;=2.</a:t>
                </a:r>
              </a:p>
              <a:p>
                <a:r>
                  <a:rPr lang="en-US" sz="2000" dirty="0" smtClean="0"/>
                  <a:t>In lexicographic convention (</a:t>
                </a:r>
                <a14:m>
                  <m:oMath xmlns:m="http://schemas.openxmlformats.org/officeDocument/2006/math">
                    <m:sSub>
                      <m:sSubPr>
                        <m:ctrlPr>
                          <a:rPr lang="en-US" sz="2000" i="1" smtClean="0">
                            <a:latin typeface="Cambria Math"/>
                          </a:rPr>
                        </m:ctrlPr>
                      </m:sSubPr>
                      <m:e>
                        <m:r>
                          <a:rPr lang="en-US" sz="2000" b="0" i="1" smtClean="0">
                            <a:latin typeface="Cambria Math"/>
                          </a:rPr>
                          <m:t>𝑘</m:t>
                        </m:r>
                      </m:e>
                      <m:sub>
                        <m:r>
                          <a:rPr lang="en-US" sz="2000" b="0" i="1" smtClean="0">
                            <a:latin typeface="Cambria Math"/>
                          </a:rPr>
                          <m:t>1</m:t>
                        </m:r>
                      </m:sub>
                    </m:sSub>
                    <m:r>
                      <a:rPr lang="en-US" sz="2000" b="0" i="1" smtClean="0">
                        <a:latin typeface="Cambria Math"/>
                      </a:rPr>
                      <m:t>, </m:t>
                    </m:r>
                    <m:sSub>
                      <m:sSubPr>
                        <m:ctrlPr>
                          <a:rPr lang="en-US" sz="2000" i="1" smtClean="0">
                            <a:latin typeface="Cambria Math"/>
                          </a:rPr>
                        </m:ctrlPr>
                      </m:sSubPr>
                      <m:e>
                        <m:r>
                          <a:rPr lang="en-US" sz="2000" b="0" i="1" smtClean="0">
                            <a:latin typeface="Cambria Math"/>
                          </a:rPr>
                          <m:t>𝑙</m:t>
                        </m:r>
                      </m:e>
                      <m:sub>
                        <m:r>
                          <a:rPr lang="en-US" sz="2000" b="0" i="1" smtClean="0">
                            <a:latin typeface="Cambria Math"/>
                          </a:rPr>
                          <m:t>1</m:t>
                        </m:r>
                      </m:sub>
                    </m:sSub>
                  </m:oMath>
                </a14:m>
                <a:r>
                  <a:rPr lang="en-US" sz="2000" dirty="0" smtClean="0"/>
                  <a:t>) &lt; (</a:t>
                </a:r>
                <a14:m>
                  <m:oMath xmlns:m="http://schemas.openxmlformats.org/officeDocument/2006/math">
                    <m:sSub>
                      <m:sSubPr>
                        <m:ctrlPr>
                          <a:rPr lang="en-US" sz="2000" i="1" smtClean="0">
                            <a:latin typeface="Cambria Math"/>
                          </a:rPr>
                        </m:ctrlPr>
                      </m:sSubPr>
                      <m:e>
                        <m:r>
                          <a:rPr lang="en-US" sz="2000" b="0" i="1" smtClean="0">
                            <a:latin typeface="Cambria Math"/>
                          </a:rPr>
                          <m:t>𝑘</m:t>
                        </m:r>
                      </m:e>
                      <m:sub>
                        <m:r>
                          <a:rPr lang="en-US" sz="2000" b="0" i="1" smtClean="0">
                            <a:latin typeface="Cambria Math"/>
                          </a:rPr>
                          <m:t>2</m:t>
                        </m:r>
                      </m:sub>
                    </m:sSub>
                    <m:r>
                      <a:rPr lang="en-US" sz="2000" b="0" i="1" smtClean="0">
                        <a:latin typeface="Cambria Math"/>
                      </a:rPr>
                      <m:t>, </m:t>
                    </m:r>
                    <m:sSub>
                      <m:sSubPr>
                        <m:ctrlPr>
                          <a:rPr lang="en-US" sz="2000" i="1" smtClean="0">
                            <a:latin typeface="Cambria Math"/>
                          </a:rPr>
                        </m:ctrlPr>
                      </m:sSubPr>
                      <m:e>
                        <m:r>
                          <a:rPr lang="en-US" sz="2000" b="0" i="1" smtClean="0">
                            <a:latin typeface="Cambria Math"/>
                          </a:rPr>
                          <m:t>𝑙</m:t>
                        </m:r>
                      </m:e>
                      <m:sub>
                        <m:r>
                          <a:rPr lang="en-US" sz="2000" b="0" i="1" smtClean="0">
                            <a:latin typeface="Cambria Math"/>
                          </a:rPr>
                          <m:t>2</m:t>
                        </m:r>
                      </m:sub>
                    </m:sSub>
                  </m:oMath>
                </a14:m>
                <a:r>
                  <a:rPr lang="en-US" sz="2000" dirty="0" smtClean="0"/>
                  <a:t>) if</a:t>
                </a:r>
              </a:p>
              <a:p>
                <a:pPr lvl="1"/>
                <a14:m>
                  <m:oMath xmlns:m="http://schemas.openxmlformats.org/officeDocument/2006/math">
                    <m:sSub>
                      <m:sSubPr>
                        <m:ctrlPr>
                          <a:rPr lang="en-US" sz="1800" i="1" smtClean="0">
                            <a:latin typeface="Cambria Math"/>
                          </a:rPr>
                        </m:ctrlPr>
                      </m:sSubPr>
                      <m:e>
                        <m:r>
                          <a:rPr lang="en-US" sz="1800" b="0" i="1" smtClean="0">
                            <a:latin typeface="Cambria Math"/>
                          </a:rPr>
                          <m:t>𝑘</m:t>
                        </m:r>
                      </m:e>
                      <m:sub>
                        <m:r>
                          <a:rPr lang="en-US" sz="1800" b="0" i="1" smtClean="0">
                            <a:latin typeface="Cambria Math"/>
                          </a:rPr>
                          <m:t>1</m:t>
                        </m:r>
                      </m:sub>
                    </m:sSub>
                  </m:oMath>
                </a14:m>
                <a:r>
                  <a:rPr lang="en-US" sz="1800" dirty="0" smtClean="0"/>
                  <a:t> &lt; </a:t>
                </a:r>
                <a14:m>
                  <m:oMath xmlns:m="http://schemas.openxmlformats.org/officeDocument/2006/math">
                    <m:sSub>
                      <m:sSubPr>
                        <m:ctrlPr>
                          <a:rPr lang="en-US" sz="1800" i="1" smtClean="0">
                            <a:latin typeface="Cambria Math"/>
                          </a:rPr>
                        </m:ctrlPr>
                      </m:sSubPr>
                      <m:e>
                        <m:r>
                          <a:rPr lang="en-US" sz="1800" b="0" i="1" smtClean="0">
                            <a:latin typeface="Cambria Math"/>
                          </a:rPr>
                          <m:t>𝑘</m:t>
                        </m:r>
                      </m:e>
                      <m:sub>
                        <m:r>
                          <a:rPr lang="en-US" sz="1800" b="0" i="1" smtClean="0">
                            <a:latin typeface="Cambria Math"/>
                          </a:rPr>
                          <m:t>2</m:t>
                        </m:r>
                      </m:sub>
                    </m:sSub>
                  </m:oMath>
                </a14:m>
                <a:r>
                  <a:rPr lang="en-US" sz="1800" dirty="0" smtClean="0"/>
                  <a:t> or</a:t>
                </a:r>
              </a:p>
              <a:p>
                <a:pPr lvl="1"/>
                <a14:m>
                  <m:oMath xmlns:m="http://schemas.openxmlformats.org/officeDocument/2006/math">
                    <m:sSub>
                      <m:sSubPr>
                        <m:ctrlPr>
                          <a:rPr lang="en-US" sz="1800" i="1" smtClean="0">
                            <a:latin typeface="Cambria Math"/>
                          </a:rPr>
                        </m:ctrlPr>
                      </m:sSubPr>
                      <m:e>
                        <m:r>
                          <a:rPr lang="en-US" sz="1800" b="0" i="1" smtClean="0">
                            <a:latin typeface="Cambria Math"/>
                          </a:rPr>
                          <m:t>𝑘</m:t>
                        </m:r>
                      </m:e>
                      <m:sub>
                        <m:r>
                          <a:rPr lang="en-US" sz="1800" b="0" i="1" smtClean="0">
                            <a:latin typeface="Cambria Math"/>
                          </a:rPr>
                          <m:t>1</m:t>
                        </m:r>
                      </m:sub>
                    </m:sSub>
                  </m:oMath>
                </a14:m>
                <a:r>
                  <a:rPr lang="en-US" sz="1800" dirty="0" smtClean="0"/>
                  <a:t> = </a:t>
                </a:r>
                <a14:m>
                  <m:oMath xmlns:m="http://schemas.openxmlformats.org/officeDocument/2006/math">
                    <m:sSub>
                      <m:sSubPr>
                        <m:ctrlPr>
                          <a:rPr lang="en-US" sz="1800" i="1" smtClean="0">
                            <a:latin typeface="Cambria Math"/>
                          </a:rPr>
                        </m:ctrlPr>
                      </m:sSubPr>
                      <m:e>
                        <m:r>
                          <a:rPr lang="en-US" sz="1800" b="0" i="1" smtClean="0">
                            <a:latin typeface="Cambria Math"/>
                          </a:rPr>
                          <m:t>𝑘</m:t>
                        </m:r>
                      </m:e>
                      <m:sub>
                        <m:r>
                          <a:rPr lang="en-US" sz="1800" b="0" i="1" smtClean="0">
                            <a:latin typeface="Cambria Math"/>
                          </a:rPr>
                          <m:t>2</m:t>
                        </m:r>
                      </m:sub>
                    </m:sSub>
                  </m:oMath>
                </a14:m>
                <a:r>
                  <a:rPr lang="en-US" sz="1800" dirty="0" smtClean="0"/>
                  <a:t> and </a:t>
                </a:r>
                <a14:m>
                  <m:oMath xmlns:m="http://schemas.openxmlformats.org/officeDocument/2006/math">
                    <m:sSub>
                      <m:sSubPr>
                        <m:ctrlPr>
                          <a:rPr lang="en-US" sz="1800" i="1" smtClean="0">
                            <a:latin typeface="Cambria Math"/>
                          </a:rPr>
                        </m:ctrlPr>
                      </m:sSubPr>
                      <m:e>
                        <m:r>
                          <a:rPr lang="en-US" sz="1800" b="0" i="1" smtClean="0">
                            <a:latin typeface="Cambria Math"/>
                          </a:rPr>
                          <m:t>𝑙</m:t>
                        </m:r>
                      </m:e>
                      <m:sub>
                        <m:r>
                          <a:rPr lang="en-US" sz="1800" b="0" i="1" smtClean="0">
                            <a:latin typeface="Cambria Math"/>
                          </a:rPr>
                          <m:t>1</m:t>
                        </m:r>
                      </m:sub>
                    </m:sSub>
                  </m:oMath>
                </a14:m>
                <a:r>
                  <a:rPr lang="en-US" sz="1800" dirty="0" smtClean="0"/>
                  <a:t>&lt; </a:t>
                </a:r>
                <a14:m>
                  <m:oMath xmlns:m="http://schemas.openxmlformats.org/officeDocument/2006/math">
                    <m:sSub>
                      <m:sSubPr>
                        <m:ctrlPr>
                          <a:rPr lang="en-US" sz="1800" i="1" smtClean="0">
                            <a:latin typeface="Cambria Math"/>
                          </a:rPr>
                        </m:ctrlPr>
                      </m:sSubPr>
                      <m:e>
                        <m:r>
                          <a:rPr lang="en-US" sz="1800" b="0" i="1" smtClean="0">
                            <a:latin typeface="Cambria Math"/>
                          </a:rPr>
                          <m:t>𝑙</m:t>
                        </m:r>
                      </m:e>
                      <m:sub>
                        <m:r>
                          <a:rPr lang="en-US" sz="1800" b="0" i="1" smtClean="0">
                            <a:latin typeface="Cambria Math"/>
                          </a:rPr>
                          <m:t>2</m:t>
                        </m:r>
                      </m:sub>
                    </m:sSub>
                  </m:oMath>
                </a14:m>
                <a:endParaRPr lang="en-US" sz="1800" dirty="0" smtClean="0"/>
              </a:p>
              <a:p>
                <a:r>
                  <a:rPr lang="en-US" sz="2000" dirty="0" smtClean="0"/>
                  <a:t>A </a:t>
                </a:r>
                <a:r>
                  <a:rPr lang="en-US" sz="2000" b="1" i="1" dirty="0"/>
                  <a:t>d-</a:t>
                </a:r>
                <a:r>
                  <a:rPr lang="en-US" sz="2000" dirty="0"/>
                  <a:t>tuple is a sequence of </a:t>
                </a:r>
                <a:r>
                  <a:rPr lang="en-US" sz="2000" b="1" i="1" dirty="0"/>
                  <a:t>d</a:t>
                </a:r>
                <a:r>
                  <a:rPr lang="en-US" sz="2000" dirty="0"/>
                  <a:t> keys (</a:t>
                </a:r>
                <a:r>
                  <a:rPr lang="en-US" sz="2000" b="1" i="1" dirty="0"/>
                  <a:t>k</a:t>
                </a:r>
                <a:r>
                  <a:rPr lang="en-US" sz="2000" baseline="-25000" dirty="0"/>
                  <a:t>1</a:t>
                </a:r>
                <a:r>
                  <a:rPr lang="en-US" sz="2000" dirty="0"/>
                  <a:t>, </a:t>
                </a:r>
                <a:r>
                  <a:rPr lang="en-US" sz="2000" b="1" i="1" dirty="0"/>
                  <a:t>k</a:t>
                </a:r>
                <a:r>
                  <a:rPr lang="en-US" sz="2000" baseline="-25000" dirty="0"/>
                  <a:t>2</a:t>
                </a:r>
                <a:r>
                  <a:rPr lang="en-US" sz="2000" dirty="0"/>
                  <a:t>, </a:t>
                </a:r>
                <a:r>
                  <a:rPr lang="en-US" sz="2000" b="1" i="1" dirty="0"/>
                  <a:t>…</a:t>
                </a:r>
                <a:r>
                  <a:rPr lang="en-US" sz="2000" dirty="0"/>
                  <a:t>, </a:t>
                </a:r>
                <a:r>
                  <a:rPr lang="en-US" sz="2000" b="1" i="1" dirty="0" err="1"/>
                  <a:t>k</a:t>
                </a:r>
                <a:r>
                  <a:rPr lang="en-US" sz="2000" b="1" i="1" baseline="-25000" dirty="0" err="1"/>
                  <a:t>d</a:t>
                </a:r>
                <a:r>
                  <a:rPr lang="en-US" sz="2000" dirty="0"/>
                  <a:t>), where key </a:t>
                </a:r>
                <a:r>
                  <a:rPr lang="en-US" sz="2000" b="1" i="1" dirty="0" err="1"/>
                  <a:t>k</a:t>
                </a:r>
                <a:r>
                  <a:rPr lang="en-US" sz="2000" b="1" i="1" baseline="-25000" dirty="0" err="1"/>
                  <a:t>i</a:t>
                </a:r>
                <a:r>
                  <a:rPr lang="en-US" sz="2000" dirty="0"/>
                  <a:t> is said to be the </a:t>
                </a:r>
                <a:r>
                  <a:rPr lang="en-US" sz="2000" b="1" i="1" dirty="0"/>
                  <a:t>i-</a:t>
                </a:r>
                <a:r>
                  <a:rPr lang="en-US" sz="2000" dirty="0" err="1"/>
                  <a:t>th</a:t>
                </a:r>
                <a:r>
                  <a:rPr lang="en-US" sz="2000" dirty="0"/>
                  <a:t> dimension of the tuple</a:t>
                </a:r>
              </a:p>
              <a:p>
                <a:r>
                  <a:rPr lang="en-US" sz="2000" dirty="0"/>
                  <a:t>Example:</a:t>
                </a:r>
              </a:p>
              <a:p>
                <a:pPr lvl="1"/>
                <a:r>
                  <a:rPr lang="en-US" sz="2000" dirty="0"/>
                  <a:t>The Cartesian coordinates of a point in space are </a:t>
                </a:r>
                <a:r>
                  <a:rPr lang="en-US" sz="2000" dirty="0" smtClean="0"/>
                  <a:t>3-tuple</a:t>
                </a:r>
                <a:endParaRPr lang="en-US" sz="2000" dirty="0"/>
              </a:p>
              <a:p>
                <a:r>
                  <a:rPr lang="en-US" sz="2000" dirty="0"/>
                  <a:t>The lexicographic order of two </a:t>
                </a:r>
                <a:r>
                  <a:rPr lang="en-US" sz="2000" b="1" i="1" dirty="0"/>
                  <a:t>d-</a:t>
                </a:r>
                <a:r>
                  <a:rPr lang="en-US" sz="2000" dirty="0"/>
                  <a:t>tuples is recursively defined as follows</a:t>
                </a:r>
              </a:p>
              <a:p>
                <a:pPr algn="ctr">
                  <a:buFontTx/>
                  <a:buNone/>
                </a:pPr>
                <a:r>
                  <a:rPr lang="en-US" sz="1800" dirty="0"/>
                  <a:t>(</a:t>
                </a:r>
                <a:r>
                  <a:rPr lang="en-US" sz="1800" b="1" i="1" dirty="0"/>
                  <a:t>x</a:t>
                </a:r>
                <a:r>
                  <a:rPr lang="en-US" sz="1800" baseline="-25000" dirty="0"/>
                  <a:t>1</a:t>
                </a:r>
                <a:r>
                  <a:rPr lang="en-US" sz="1800" dirty="0"/>
                  <a:t>, </a:t>
                </a:r>
                <a:r>
                  <a:rPr lang="en-US" sz="1800" b="1" i="1" dirty="0"/>
                  <a:t>x</a:t>
                </a:r>
                <a:r>
                  <a:rPr lang="en-US" sz="1800" baseline="-25000" dirty="0"/>
                  <a:t>2</a:t>
                </a:r>
                <a:r>
                  <a:rPr lang="en-US" sz="1800" dirty="0"/>
                  <a:t>, </a:t>
                </a:r>
                <a:r>
                  <a:rPr lang="en-US" sz="1800" b="1" i="1" dirty="0"/>
                  <a:t>…</a:t>
                </a:r>
                <a:r>
                  <a:rPr lang="en-US" sz="1800" dirty="0"/>
                  <a:t>, </a:t>
                </a:r>
                <a:r>
                  <a:rPr lang="en-US" sz="1800" b="1" i="1" dirty="0" err="1"/>
                  <a:t>x</a:t>
                </a:r>
                <a:r>
                  <a:rPr lang="en-US" sz="1800" b="1" i="1" baseline="-25000" dirty="0" err="1"/>
                  <a:t>d</a:t>
                </a:r>
                <a:r>
                  <a:rPr lang="en-US" sz="1800" dirty="0"/>
                  <a:t>) </a:t>
                </a:r>
                <a:r>
                  <a:rPr lang="en-US" sz="1800" dirty="0">
                    <a:latin typeface="Symbol" pitchFamily="18" charset="2"/>
                    <a:sym typeface="Symbol" pitchFamily="18" charset="2"/>
                  </a:rPr>
                  <a:t>&lt;</a:t>
                </a:r>
                <a:r>
                  <a:rPr lang="en-US" sz="1800" dirty="0"/>
                  <a:t> (</a:t>
                </a:r>
                <a:r>
                  <a:rPr lang="en-US" sz="1800" b="1" i="1" dirty="0"/>
                  <a:t>y</a:t>
                </a:r>
                <a:r>
                  <a:rPr lang="en-US" sz="1800" baseline="-25000" dirty="0"/>
                  <a:t>1</a:t>
                </a:r>
                <a:r>
                  <a:rPr lang="en-US" sz="1800" dirty="0"/>
                  <a:t>, </a:t>
                </a:r>
                <a:r>
                  <a:rPr lang="en-US" sz="1800" b="1" i="1" dirty="0"/>
                  <a:t>y</a:t>
                </a:r>
                <a:r>
                  <a:rPr lang="en-US" sz="1800" baseline="-25000" dirty="0"/>
                  <a:t>2</a:t>
                </a:r>
                <a:r>
                  <a:rPr lang="en-US" sz="1800" dirty="0"/>
                  <a:t>, </a:t>
                </a:r>
                <a:r>
                  <a:rPr lang="en-US" sz="1800" b="1" i="1" dirty="0"/>
                  <a:t>…</a:t>
                </a:r>
                <a:r>
                  <a:rPr lang="en-US" sz="1800" dirty="0"/>
                  <a:t>, </a:t>
                </a:r>
                <a:r>
                  <a:rPr lang="en-US" sz="1800" b="1" i="1" dirty="0" err="1"/>
                  <a:t>y</a:t>
                </a:r>
                <a:r>
                  <a:rPr lang="en-US" sz="1800" b="1" i="1" baseline="-25000" dirty="0" err="1"/>
                  <a:t>d</a:t>
                </a:r>
                <a:r>
                  <a:rPr lang="en-US" sz="1800" dirty="0"/>
                  <a:t>)</a:t>
                </a:r>
                <a:br>
                  <a:rPr lang="en-US" sz="1800" dirty="0"/>
                </a:br>
                <a:r>
                  <a:rPr lang="en-US" sz="2000" dirty="0">
                    <a:solidFill>
                      <a:schemeClr val="tx2"/>
                    </a:solidFill>
                    <a:sym typeface="Symbol" pitchFamily="18" charset="2"/>
                  </a:rPr>
                  <a:t></a:t>
                </a:r>
                <a:r>
                  <a:rPr lang="en-US" sz="1800" dirty="0">
                    <a:solidFill>
                      <a:schemeClr val="tx2"/>
                    </a:solidFill>
                    <a:sym typeface="Symbol" pitchFamily="18" charset="2"/>
                  </a:rPr>
                  <a:t/>
                </a:r>
                <a:br>
                  <a:rPr lang="en-US" sz="1800" dirty="0">
                    <a:solidFill>
                      <a:schemeClr val="tx2"/>
                    </a:solidFill>
                    <a:sym typeface="Symbol" pitchFamily="18" charset="2"/>
                  </a:rPr>
                </a:br>
                <a:r>
                  <a:rPr lang="en-US" sz="1800" b="1" i="1" dirty="0"/>
                  <a:t>x</a:t>
                </a:r>
                <a:r>
                  <a:rPr lang="en-US" sz="1800" baseline="-25000" dirty="0"/>
                  <a:t>1 </a:t>
                </a:r>
                <a:r>
                  <a:rPr lang="en-US" sz="1800" dirty="0">
                    <a:latin typeface="Symbol" pitchFamily="18" charset="2"/>
                    <a:sym typeface="Symbol" pitchFamily="18" charset="2"/>
                  </a:rPr>
                  <a:t>&lt;</a:t>
                </a:r>
                <a:r>
                  <a:rPr lang="en-US" sz="1800" dirty="0">
                    <a:sym typeface="Symbol" pitchFamily="18" charset="2"/>
                  </a:rPr>
                  <a:t> </a:t>
                </a:r>
                <a:r>
                  <a:rPr lang="en-US" sz="1800" b="1" i="1" dirty="0"/>
                  <a:t>y</a:t>
                </a:r>
                <a:r>
                  <a:rPr lang="en-US" sz="1800" baseline="-25000" dirty="0"/>
                  <a:t>1  </a:t>
                </a:r>
                <a:r>
                  <a:rPr lang="en-US" sz="2000" dirty="0">
                    <a:solidFill>
                      <a:schemeClr val="tx2"/>
                    </a:solidFill>
                    <a:sym typeface="Symbol" pitchFamily="18" charset="2"/>
                  </a:rPr>
                  <a:t></a:t>
                </a:r>
                <a:r>
                  <a:rPr lang="en-US" sz="1800" dirty="0">
                    <a:solidFill>
                      <a:schemeClr val="tx2"/>
                    </a:solidFill>
                    <a:sym typeface="Symbol" pitchFamily="18" charset="2"/>
                  </a:rPr>
                  <a:t> </a:t>
                </a:r>
                <a:r>
                  <a:rPr lang="en-US" sz="1800" dirty="0">
                    <a:sym typeface="Symbol" pitchFamily="18" charset="2"/>
                  </a:rPr>
                  <a:t> </a:t>
                </a:r>
                <a:r>
                  <a:rPr lang="en-US" sz="1800" b="1" i="1" dirty="0"/>
                  <a:t>x</a:t>
                </a:r>
                <a:r>
                  <a:rPr lang="en-US" sz="1800" baseline="-25000" dirty="0"/>
                  <a:t>1</a:t>
                </a:r>
                <a:r>
                  <a:rPr lang="en-US" sz="1800" baseline="-25000" dirty="0">
                    <a:latin typeface="Symbol" pitchFamily="18" charset="2"/>
                  </a:rPr>
                  <a:t> </a:t>
                </a:r>
                <a:r>
                  <a:rPr lang="en-US" sz="1800" dirty="0">
                    <a:latin typeface="Symbol" pitchFamily="18" charset="2"/>
                    <a:sym typeface="Symbol" pitchFamily="18" charset="2"/>
                  </a:rPr>
                  <a:t>=</a:t>
                </a:r>
                <a:r>
                  <a:rPr lang="en-US" sz="1800" dirty="0">
                    <a:sym typeface="Symbol" pitchFamily="18" charset="2"/>
                  </a:rPr>
                  <a:t> </a:t>
                </a:r>
                <a:r>
                  <a:rPr lang="en-US" sz="1800" b="1" i="1" dirty="0"/>
                  <a:t>y</a:t>
                </a:r>
                <a:r>
                  <a:rPr lang="en-US" sz="1800" baseline="-25000" dirty="0"/>
                  <a:t>1 </a:t>
                </a:r>
                <a:r>
                  <a:rPr lang="en-US" sz="2000" dirty="0">
                    <a:solidFill>
                      <a:schemeClr val="tx2"/>
                    </a:solidFill>
                    <a:sym typeface="Symbol" pitchFamily="18" charset="2"/>
                  </a:rPr>
                  <a:t></a:t>
                </a:r>
                <a:r>
                  <a:rPr lang="en-US" sz="1800" dirty="0">
                    <a:sym typeface="Symbol" pitchFamily="18" charset="2"/>
                  </a:rPr>
                  <a:t> </a:t>
                </a:r>
                <a:r>
                  <a:rPr lang="en-US" sz="1800" dirty="0"/>
                  <a:t>(</a:t>
                </a:r>
                <a:r>
                  <a:rPr lang="en-US" sz="1800" b="1" i="1" dirty="0"/>
                  <a:t>x</a:t>
                </a:r>
                <a:r>
                  <a:rPr lang="en-US" sz="1800" baseline="-25000" dirty="0"/>
                  <a:t>2</a:t>
                </a:r>
                <a:r>
                  <a:rPr lang="en-US" sz="1800" dirty="0"/>
                  <a:t>, </a:t>
                </a:r>
                <a:r>
                  <a:rPr lang="en-US" sz="1800" b="1" i="1" dirty="0"/>
                  <a:t>…</a:t>
                </a:r>
                <a:r>
                  <a:rPr lang="en-US" sz="1800" dirty="0"/>
                  <a:t>, </a:t>
                </a:r>
                <a:r>
                  <a:rPr lang="en-US" sz="1800" b="1" i="1" dirty="0" err="1"/>
                  <a:t>x</a:t>
                </a:r>
                <a:r>
                  <a:rPr lang="en-US" sz="1800" b="1" i="1" baseline="-25000" dirty="0" err="1"/>
                  <a:t>d</a:t>
                </a:r>
                <a:r>
                  <a:rPr lang="en-US" sz="1800" dirty="0"/>
                  <a:t>) </a:t>
                </a:r>
                <a:r>
                  <a:rPr lang="en-US" sz="1800" dirty="0">
                    <a:latin typeface="Symbol" pitchFamily="18" charset="2"/>
                    <a:sym typeface="Symbol" pitchFamily="18" charset="2"/>
                  </a:rPr>
                  <a:t>&lt;</a:t>
                </a:r>
                <a:r>
                  <a:rPr lang="en-US" sz="1800" dirty="0"/>
                  <a:t> (</a:t>
                </a:r>
                <a:r>
                  <a:rPr lang="en-US" sz="1800" b="1" i="1" dirty="0"/>
                  <a:t>y</a:t>
                </a:r>
                <a:r>
                  <a:rPr lang="en-US" sz="1800" baseline="-25000" dirty="0"/>
                  <a:t>2</a:t>
                </a:r>
                <a:r>
                  <a:rPr lang="en-US" sz="1800" dirty="0"/>
                  <a:t>, </a:t>
                </a:r>
                <a:r>
                  <a:rPr lang="en-US" sz="1800" b="1" i="1" dirty="0"/>
                  <a:t>…</a:t>
                </a:r>
                <a:r>
                  <a:rPr lang="en-US" sz="1800" dirty="0"/>
                  <a:t>, </a:t>
                </a:r>
                <a:r>
                  <a:rPr lang="en-US" sz="1800" b="1" i="1" dirty="0" err="1"/>
                  <a:t>y</a:t>
                </a:r>
                <a:r>
                  <a:rPr lang="en-US" sz="1800" b="1" i="1" baseline="-25000" dirty="0" err="1"/>
                  <a:t>d</a:t>
                </a:r>
                <a:r>
                  <a:rPr lang="en-US" sz="1800" dirty="0"/>
                  <a:t>)</a:t>
                </a:r>
              </a:p>
              <a:p>
                <a:pPr>
                  <a:buFontTx/>
                  <a:buNone/>
                </a:pPr>
                <a:r>
                  <a:rPr lang="en-US" sz="1800" dirty="0"/>
                  <a:t>	</a:t>
                </a:r>
                <a:r>
                  <a:rPr lang="en-US" sz="1800" dirty="0" smtClean="0"/>
                  <a:t>i</a:t>
                </a:r>
                <a:r>
                  <a:rPr lang="en-US" sz="2000" dirty="0" smtClean="0"/>
                  <a:t>.e</a:t>
                </a:r>
                <a:r>
                  <a:rPr lang="en-US" sz="2000" dirty="0"/>
                  <a:t>., the tuples are compared by the first dimension, then by the second dimension, etc.</a:t>
                </a:r>
              </a:p>
            </p:txBody>
          </p:sp>
        </mc:Choice>
        <mc:Fallback xmlns="">
          <p:sp>
            <p:nvSpPr>
              <p:cNvPr id="276483" name="Rectangle 3"/>
              <p:cNvSpPr>
                <a:spLocks noGrp="1" noRot="1" noChangeAspect="1" noMove="1" noResize="1" noEditPoints="1" noAdjustHandles="1" noChangeArrowheads="1" noChangeShapeType="1" noTextEdit="1"/>
              </p:cNvSpPr>
              <p:nvPr>
                <p:ph type="body" idx="1"/>
              </p:nvPr>
            </p:nvSpPr>
            <p:spPr>
              <a:xfrm>
                <a:off x="838200" y="1066800"/>
                <a:ext cx="7848600" cy="5410200"/>
              </a:xfrm>
              <a:blipFill rotWithShape="1">
                <a:blip r:embed="rId2"/>
                <a:stretch>
                  <a:fillRect l="-699" t="-563" r="-544" b="-1914"/>
                </a:stretch>
              </a:blipFill>
            </p:spPr>
            <p:txBody>
              <a:bodyPr/>
              <a:lstStyle/>
              <a:p>
                <a:r>
                  <a:rPr lang="en-US">
                    <a:noFill/>
                  </a:rPr>
                  <a:t> </a:t>
                </a:r>
              </a:p>
            </p:txBody>
          </p:sp>
        </mc:Fallback>
      </mc:AlternateContent>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r>
              <a:rPr lang="en-US"/>
              <a:t>Data Structures and Algorithms</a:t>
            </a:r>
          </a:p>
        </p:txBody>
      </p:sp>
      <p:sp>
        <p:nvSpPr>
          <p:cNvPr id="7" name="Slide Number Placeholder 5"/>
          <p:cNvSpPr>
            <a:spLocks noGrp="1"/>
          </p:cNvSpPr>
          <p:nvPr>
            <p:ph type="sldNum" sz="quarter" idx="12"/>
          </p:nvPr>
        </p:nvSpPr>
        <p:spPr/>
        <p:txBody>
          <a:bodyPr/>
          <a:lstStyle/>
          <a:p>
            <a:fld id="{404FAD42-5494-47FF-A739-A79888DF9610}" type="slidenum">
              <a:rPr lang="en-US"/>
              <a:pPr/>
              <a:t>7</a:t>
            </a:fld>
            <a:endParaRPr lang="en-US"/>
          </a:p>
        </p:txBody>
      </p:sp>
      <p:sp>
        <p:nvSpPr>
          <p:cNvPr id="277506" name="Rectangle 2"/>
          <p:cNvSpPr>
            <a:spLocks noGrp="1" noChangeArrowheads="1"/>
          </p:cNvSpPr>
          <p:nvPr>
            <p:ph type="title"/>
          </p:nvPr>
        </p:nvSpPr>
        <p:spPr/>
        <p:txBody>
          <a:bodyPr/>
          <a:lstStyle/>
          <a:p>
            <a:r>
              <a:rPr lang="en-US"/>
              <a:t>Lexicographic-Sort</a:t>
            </a:r>
          </a:p>
        </p:txBody>
      </p:sp>
      <p:sp>
        <p:nvSpPr>
          <p:cNvPr id="277507" name="Rectangle 3"/>
          <p:cNvSpPr>
            <a:spLocks noGrp="1" noChangeArrowheads="1"/>
          </p:cNvSpPr>
          <p:nvPr>
            <p:ph type="body" idx="1"/>
          </p:nvPr>
        </p:nvSpPr>
        <p:spPr>
          <a:xfrm>
            <a:off x="685800" y="1676400"/>
            <a:ext cx="3733800" cy="4724400"/>
          </a:xfrm>
        </p:spPr>
        <p:txBody>
          <a:bodyPr/>
          <a:lstStyle/>
          <a:p>
            <a:pPr>
              <a:lnSpc>
                <a:spcPct val="90000"/>
              </a:lnSpc>
            </a:pPr>
            <a:r>
              <a:rPr lang="en-US" sz="1800"/>
              <a:t>Let </a:t>
            </a:r>
            <a:r>
              <a:rPr lang="en-US" sz="1800" b="1" i="1"/>
              <a:t>C</a:t>
            </a:r>
            <a:r>
              <a:rPr lang="en-US" sz="1800" b="1" i="1" baseline="-25000"/>
              <a:t>i</a:t>
            </a:r>
            <a:r>
              <a:rPr lang="en-US" sz="1800"/>
              <a:t> be the comparator that compares two tuples by their </a:t>
            </a:r>
            <a:r>
              <a:rPr lang="en-US" sz="1800" b="1" i="1"/>
              <a:t>i-</a:t>
            </a:r>
            <a:r>
              <a:rPr lang="en-US" sz="1800"/>
              <a:t>th dimension</a:t>
            </a:r>
          </a:p>
          <a:p>
            <a:pPr>
              <a:lnSpc>
                <a:spcPct val="90000"/>
              </a:lnSpc>
            </a:pPr>
            <a:r>
              <a:rPr lang="en-US" sz="1800"/>
              <a:t>Let </a:t>
            </a:r>
            <a:r>
              <a:rPr lang="en-US" sz="1800" b="1" i="1"/>
              <a:t>stableSort</a:t>
            </a:r>
            <a:r>
              <a:rPr lang="en-US" sz="1800"/>
              <a:t>(</a:t>
            </a:r>
            <a:r>
              <a:rPr lang="en-US" sz="1800" b="1" i="1"/>
              <a:t>S</a:t>
            </a:r>
            <a:r>
              <a:rPr lang="en-US" sz="1800"/>
              <a:t>, </a:t>
            </a:r>
            <a:r>
              <a:rPr lang="en-US" sz="1800" b="1" i="1"/>
              <a:t>C</a:t>
            </a:r>
            <a:r>
              <a:rPr lang="en-US" sz="1800"/>
              <a:t>) be a stable sorting algorithm that uses comparator </a:t>
            </a:r>
            <a:r>
              <a:rPr lang="en-US" sz="1800" b="1" i="1"/>
              <a:t>C</a:t>
            </a:r>
            <a:endParaRPr lang="en-US" sz="1800"/>
          </a:p>
          <a:p>
            <a:pPr>
              <a:lnSpc>
                <a:spcPct val="90000"/>
              </a:lnSpc>
            </a:pPr>
            <a:r>
              <a:rPr lang="en-US" sz="1800"/>
              <a:t>Lexicographic-sort sorts a sequence of </a:t>
            </a:r>
            <a:r>
              <a:rPr lang="en-US" sz="1800" b="1" i="1"/>
              <a:t>d-</a:t>
            </a:r>
            <a:r>
              <a:rPr lang="en-US" sz="1800"/>
              <a:t>tuples in lexicographic order by executing</a:t>
            </a:r>
            <a:r>
              <a:rPr lang="en-US" sz="1800" b="1" i="1"/>
              <a:t> d </a:t>
            </a:r>
            <a:r>
              <a:rPr lang="en-US" sz="1800"/>
              <a:t>times algorithm </a:t>
            </a:r>
            <a:r>
              <a:rPr lang="en-US" sz="1800" b="1" i="1"/>
              <a:t>stableSort</a:t>
            </a:r>
            <a:r>
              <a:rPr lang="en-US" sz="1800"/>
              <a:t>, one per dimension</a:t>
            </a:r>
          </a:p>
          <a:p>
            <a:pPr>
              <a:lnSpc>
                <a:spcPct val="90000"/>
              </a:lnSpc>
            </a:pPr>
            <a:r>
              <a:rPr lang="en-US" sz="1800"/>
              <a:t>Lexicographic-sort runs in </a:t>
            </a:r>
            <a:r>
              <a:rPr lang="en-US" sz="1800" b="1" i="1"/>
              <a:t>O</a:t>
            </a:r>
            <a:r>
              <a:rPr lang="en-US" sz="1800"/>
              <a:t>(</a:t>
            </a:r>
            <a:r>
              <a:rPr lang="en-US" sz="1800" b="1" i="1"/>
              <a:t>dT</a:t>
            </a:r>
            <a:r>
              <a:rPr lang="en-US" sz="1800"/>
              <a:t>(</a:t>
            </a:r>
            <a:r>
              <a:rPr lang="en-US" sz="1800" b="1" i="1"/>
              <a:t>n</a:t>
            </a:r>
            <a:r>
              <a:rPr lang="en-US" sz="1800"/>
              <a:t>)) time, where </a:t>
            </a:r>
            <a:r>
              <a:rPr lang="en-US" sz="1800" b="1" i="1"/>
              <a:t>T</a:t>
            </a:r>
            <a:r>
              <a:rPr lang="en-US" sz="1800"/>
              <a:t>(</a:t>
            </a:r>
            <a:r>
              <a:rPr lang="en-US" sz="1800" b="1" i="1"/>
              <a:t>n</a:t>
            </a:r>
            <a:r>
              <a:rPr lang="en-US" sz="1800"/>
              <a:t>) is the running time of </a:t>
            </a:r>
            <a:r>
              <a:rPr lang="en-US" sz="1800" b="1" i="1"/>
              <a:t>stableSort </a:t>
            </a:r>
          </a:p>
        </p:txBody>
      </p:sp>
      <p:sp>
        <p:nvSpPr>
          <p:cNvPr id="277508" name="Text Box 4"/>
          <p:cNvSpPr txBox="1">
            <a:spLocks noChangeArrowheads="1"/>
          </p:cNvSpPr>
          <p:nvPr/>
        </p:nvSpPr>
        <p:spPr bwMode="auto">
          <a:xfrm>
            <a:off x="4648200" y="1590675"/>
            <a:ext cx="3962400" cy="226536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342900">
              <a:defRPr>
                <a:solidFill>
                  <a:schemeClr val="tx1"/>
                </a:solidFill>
                <a:latin typeface="Arial" charset="0"/>
              </a:defRPr>
            </a:lvl1pPr>
            <a:lvl2pPr marL="342900" defTabSz="342900">
              <a:defRPr>
                <a:solidFill>
                  <a:schemeClr val="tx1"/>
                </a:solidFill>
                <a:latin typeface="Arial" charset="0"/>
              </a:defRPr>
            </a:lvl2pPr>
            <a:lvl3pPr marL="628650" defTabSz="342900">
              <a:defRPr>
                <a:solidFill>
                  <a:schemeClr val="tx1"/>
                </a:solidFill>
                <a:latin typeface="Arial" charset="0"/>
              </a:defRPr>
            </a:lvl3pPr>
            <a:lvl4pPr defTabSz="342900">
              <a:defRPr>
                <a:solidFill>
                  <a:schemeClr val="tx1"/>
                </a:solidFill>
                <a:latin typeface="Arial" charset="0"/>
              </a:defRPr>
            </a:lvl4pPr>
            <a:lvl5pPr defTabSz="342900">
              <a:defRPr>
                <a:solidFill>
                  <a:schemeClr val="tx1"/>
                </a:solidFill>
                <a:latin typeface="Arial" charset="0"/>
              </a:defRPr>
            </a:lvl5pPr>
            <a:lvl6pPr defTabSz="342900" fontAlgn="base">
              <a:spcBef>
                <a:spcPct val="0"/>
              </a:spcBef>
              <a:spcAft>
                <a:spcPct val="0"/>
              </a:spcAft>
              <a:defRPr>
                <a:solidFill>
                  <a:schemeClr val="tx1"/>
                </a:solidFill>
                <a:latin typeface="Arial" charset="0"/>
              </a:defRPr>
            </a:lvl6pPr>
            <a:lvl7pPr defTabSz="342900" fontAlgn="base">
              <a:spcBef>
                <a:spcPct val="0"/>
              </a:spcBef>
              <a:spcAft>
                <a:spcPct val="0"/>
              </a:spcAft>
              <a:defRPr>
                <a:solidFill>
                  <a:schemeClr val="tx1"/>
                </a:solidFill>
                <a:latin typeface="Arial" charset="0"/>
              </a:defRPr>
            </a:lvl7pPr>
            <a:lvl8pPr defTabSz="342900" fontAlgn="base">
              <a:spcBef>
                <a:spcPct val="0"/>
              </a:spcBef>
              <a:spcAft>
                <a:spcPct val="0"/>
              </a:spcAft>
              <a:defRPr>
                <a:solidFill>
                  <a:schemeClr val="tx1"/>
                </a:solidFill>
                <a:latin typeface="Arial" charset="0"/>
              </a:defRPr>
            </a:lvl8pPr>
            <a:lvl9pPr defTabSz="342900" fontAlgn="base">
              <a:spcBef>
                <a:spcPct val="0"/>
              </a:spcBef>
              <a:spcAft>
                <a:spcPct val="0"/>
              </a:spcAft>
              <a:defRPr>
                <a:solidFill>
                  <a:schemeClr val="tx1"/>
                </a:solidFill>
                <a:latin typeface="Arial" charset="0"/>
              </a:defRPr>
            </a:lvl9pPr>
          </a:lstStyle>
          <a:p>
            <a:pPr>
              <a:lnSpc>
                <a:spcPct val="90000"/>
              </a:lnSpc>
              <a:spcBef>
                <a:spcPct val="20000"/>
              </a:spcBef>
              <a:buClr>
                <a:schemeClr val="hlink"/>
              </a:buClr>
              <a:buSzPct val="110000"/>
              <a:buFont typeface="Wingdings" pitchFamily="2" charset="2"/>
              <a:buNone/>
            </a:pPr>
            <a:r>
              <a:rPr lang="en-US" sz="2000" b="1">
                <a:solidFill>
                  <a:srgbClr val="000000"/>
                </a:solidFill>
                <a:latin typeface="Times New Roman" pitchFamily="18" charset="0"/>
              </a:rPr>
              <a:t>Algorithm</a:t>
            </a:r>
            <a:r>
              <a:rPr lang="en-US" sz="2000">
                <a:latin typeface="Times New Roman" pitchFamily="18" charset="0"/>
              </a:rPr>
              <a:t> </a:t>
            </a:r>
            <a:r>
              <a:rPr lang="en-US" sz="2000" b="1" i="1">
                <a:solidFill>
                  <a:schemeClr val="tx2"/>
                </a:solidFill>
                <a:latin typeface="Times New Roman" pitchFamily="18" charset="0"/>
              </a:rPr>
              <a:t>lexicographicSort</a:t>
            </a:r>
            <a:r>
              <a:rPr lang="en-US" sz="2000">
                <a:solidFill>
                  <a:schemeClr val="tx2"/>
                </a:solidFill>
                <a:latin typeface="Times New Roman" pitchFamily="18" charset="0"/>
              </a:rPr>
              <a:t>(</a:t>
            </a:r>
            <a:r>
              <a:rPr lang="en-US" sz="2000" b="1" i="1">
                <a:solidFill>
                  <a:schemeClr val="tx2"/>
                </a:solidFill>
                <a:latin typeface="Times New Roman" pitchFamily="18" charset="0"/>
              </a:rPr>
              <a:t>S</a:t>
            </a:r>
            <a:r>
              <a:rPr lang="en-US" sz="2000">
                <a:solidFill>
                  <a:schemeClr val="tx2"/>
                </a:solidFill>
                <a:latin typeface="Times New Roman" pitchFamily="18" charset="0"/>
              </a:rPr>
              <a:t>)</a:t>
            </a:r>
          </a:p>
          <a:p>
            <a:pPr>
              <a:lnSpc>
                <a:spcPct val="90000"/>
              </a:lnSpc>
              <a:spcBef>
                <a:spcPct val="20000"/>
              </a:spcBef>
              <a:buClr>
                <a:schemeClr val="hlink"/>
              </a:buClr>
              <a:buSzPct val="110000"/>
              <a:buFont typeface="Wingdings" pitchFamily="2" charset="2"/>
              <a:buNone/>
            </a:pPr>
            <a:r>
              <a:rPr lang="en-US" sz="2000">
                <a:solidFill>
                  <a:schemeClr val="tx2"/>
                </a:solidFill>
                <a:latin typeface="Times New Roman" pitchFamily="18" charset="0"/>
              </a:rPr>
              <a:t>	</a:t>
            </a:r>
            <a:r>
              <a:rPr lang="en-US" sz="2000" b="1">
                <a:solidFill>
                  <a:srgbClr val="000000"/>
                </a:solidFill>
                <a:latin typeface="Times New Roman" pitchFamily="18" charset="0"/>
              </a:rPr>
              <a:t>Input</a:t>
            </a:r>
            <a:r>
              <a:rPr lang="en-US" sz="2000">
                <a:latin typeface="Times New Roman" pitchFamily="18" charset="0"/>
              </a:rPr>
              <a:t> </a:t>
            </a:r>
            <a:r>
              <a:rPr lang="en-US" sz="2000">
                <a:solidFill>
                  <a:schemeClr val="accent2"/>
                </a:solidFill>
                <a:latin typeface="Times New Roman" pitchFamily="18" charset="0"/>
              </a:rPr>
              <a:t>sequence </a:t>
            </a:r>
            <a:r>
              <a:rPr lang="en-US" sz="2000" b="1" i="1">
                <a:solidFill>
                  <a:schemeClr val="accent2"/>
                </a:solidFill>
                <a:latin typeface="Times New Roman" pitchFamily="18" charset="0"/>
              </a:rPr>
              <a:t>S</a:t>
            </a:r>
            <a:r>
              <a:rPr lang="en-US" sz="2000">
                <a:solidFill>
                  <a:schemeClr val="accent2"/>
                </a:solidFill>
                <a:latin typeface="Times New Roman" pitchFamily="18" charset="0"/>
              </a:rPr>
              <a:t> of  </a:t>
            </a:r>
            <a:r>
              <a:rPr lang="en-US" sz="2000" b="1" i="1">
                <a:solidFill>
                  <a:schemeClr val="accent2"/>
                </a:solidFill>
                <a:latin typeface="Times New Roman" pitchFamily="18" charset="0"/>
              </a:rPr>
              <a:t>d</a:t>
            </a:r>
            <a:r>
              <a:rPr lang="en-US" sz="2000">
                <a:solidFill>
                  <a:schemeClr val="accent2"/>
                </a:solidFill>
                <a:latin typeface="Times New Roman" pitchFamily="18" charset="0"/>
              </a:rPr>
              <a:t>-tuples</a:t>
            </a:r>
            <a:br>
              <a:rPr lang="en-US" sz="2000">
                <a:solidFill>
                  <a:schemeClr val="accent2"/>
                </a:solidFill>
                <a:latin typeface="Times New Roman" pitchFamily="18" charset="0"/>
              </a:rPr>
            </a:br>
            <a:r>
              <a:rPr lang="en-US" sz="2000">
                <a:solidFill>
                  <a:schemeClr val="accent2"/>
                </a:solidFill>
                <a:latin typeface="Times New Roman" pitchFamily="18" charset="0"/>
              </a:rPr>
              <a:t>	</a:t>
            </a:r>
            <a:r>
              <a:rPr lang="en-US" sz="2000" b="1">
                <a:solidFill>
                  <a:srgbClr val="000000"/>
                </a:solidFill>
                <a:latin typeface="Times New Roman" pitchFamily="18" charset="0"/>
              </a:rPr>
              <a:t>Output</a:t>
            </a:r>
            <a:r>
              <a:rPr lang="en-US" sz="2000">
                <a:latin typeface="Times New Roman" pitchFamily="18" charset="0"/>
              </a:rPr>
              <a:t> </a:t>
            </a:r>
            <a:r>
              <a:rPr lang="en-US" sz="2000">
                <a:solidFill>
                  <a:schemeClr val="accent2"/>
                </a:solidFill>
                <a:latin typeface="Times New Roman" pitchFamily="18" charset="0"/>
              </a:rPr>
              <a:t>sequence </a:t>
            </a:r>
            <a:r>
              <a:rPr lang="en-US" sz="2000" b="1" i="1">
                <a:solidFill>
                  <a:schemeClr val="accent2"/>
                </a:solidFill>
                <a:latin typeface="Times New Roman" pitchFamily="18" charset="0"/>
              </a:rPr>
              <a:t>S</a:t>
            </a:r>
            <a:r>
              <a:rPr lang="en-US" sz="2000">
                <a:solidFill>
                  <a:schemeClr val="accent2"/>
                </a:solidFill>
                <a:latin typeface="Times New Roman" pitchFamily="18" charset="0"/>
              </a:rPr>
              <a:t> sorted in</a:t>
            </a:r>
            <a:br>
              <a:rPr lang="en-US" sz="2000">
                <a:solidFill>
                  <a:schemeClr val="accent2"/>
                </a:solidFill>
                <a:latin typeface="Times New Roman" pitchFamily="18" charset="0"/>
              </a:rPr>
            </a:br>
            <a:r>
              <a:rPr lang="en-US" sz="2000">
                <a:solidFill>
                  <a:schemeClr val="accent2"/>
                </a:solidFill>
                <a:latin typeface="Times New Roman" pitchFamily="18" charset="0"/>
              </a:rPr>
              <a:t>		lexicographic order</a:t>
            </a:r>
          </a:p>
          <a:p>
            <a:pPr>
              <a:lnSpc>
                <a:spcPct val="90000"/>
              </a:lnSpc>
              <a:spcBef>
                <a:spcPct val="20000"/>
              </a:spcBef>
              <a:buClr>
                <a:schemeClr val="hlink"/>
              </a:buClr>
              <a:buSzPct val="110000"/>
              <a:buFont typeface="Wingdings" pitchFamily="2" charset="2"/>
              <a:buNone/>
            </a:pPr>
            <a:endParaRPr lang="en-US" sz="2000">
              <a:solidFill>
                <a:schemeClr val="accent2"/>
              </a:solidFill>
              <a:latin typeface="Times New Roman" pitchFamily="18" charset="0"/>
            </a:endParaRPr>
          </a:p>
          <a:p>
            <a:pPr>
              <a:lnSpc>
                <a:spcPct val="90000"/>
              </a:lnSpc>
              <a:spcBef>
                <a:spcPct val="20000"/>
              </a:spcBef>
              <a:buClr>
                <a:schemeClr val="hlink"/>
              </a:buClr>
              <a:buSzPct val="110000"/>
              <a:buFont typeface="Wingdings" pitchFamily="2" charset="2"/>
              <a:buNone/>
            </a:pPr>
            <a:r>
              <a:rPr lang="en-US" sz="2000">
                <a:solidFill>
                  <a:schemeClr val="accent2"/>
                </a:solidFill>
                <a:latin typeface="Times New Roman" pitchFamily="18" charset="0"/>
              </a:rPr>
              <a:t>	</a:t>
            </a:r>
            <a:r>
              <a:rPr lang="en-US" sz="2000" b="1">
                <a:solidFill>
                  <a:srgbClr val="000000"/>
                </a:solidFill>
                <a:latin typeface="Times New Roman" pitchFamily="18" charset="0"/>
              </a:rPr>
              <a:t>for </a:t>
            </a:r>
            <a:r>
              <a:rPr lang="en-US" sz="2000" b="1" i="1">
                <a:solidFill>
                  <a:schemeClr val="accent2"/>
                </a:solidFill>
                <a:latin typeface="Times New Roman" pitchFamily="18" charset="0"/>
              </a:rPr>
              <a:t>i </a:t>
            </a:r>
            <a:r>
              <a:rPr lang="en-US" sz="2000">
                <a:solidFill>
                  <a:srgbClr val="000000"/>
                </a:solidFill>
                <a:latin typeface="Times New Roman" pitchFamily="18" charset="0"/>
                <a:sym typeface="Symbol" pitchFamily="18" charset="2"/>
              </a:rPr>
              <a:t></a:t>
            </a:r>
            <a:r>
              <a:rPr lang="en-US" sz="2000">
                <a:solidFill>
                  <a:schemeClr val="tx2"/>
                </a:solidFill>
                <a:latin typeface="Times New Roman" pitchFamily="18" charset="0"/>
              </a:rPr>
              <a:t> </a:t>
            </a:r>
            <a:r>
              <a:rPr lang="en-US" sz="2000" b="1" i="1">
                <a:solidFill>
                  <a:schemeClr val="accent2"/>
                </a:solidFill>
                <a:latin typeface="Times New Roman" pitchFamily="18" charset="0"/>
              </a:rPr>
              <a:t>d</a:t>
            </a:r>
            <a:r>
              <a:rPr lang="en-US" sz="2000">
                <a:solidFill>
                  <a:schemeClr val="accent2"/>
                </a:solidFill>
                <a:latin typeface="Times New Roman" pitchFamily="18" charset="0"/>
              </a:rPr>
              <a:t> </a:t>
            </a:r>
            <a:r>
              <a:rPr lang="en-US" sz="2000" b="1">
                <a:solidFill>
                  <a:srgbClr val="000000"/>
                </a:solidFill>
                <a:latin typeface="Times New Roman" pitchFamily="18" charset="0"/>
              </a:rPr>
              <a:t>downto</a:t>
            </a:r>
            <a:r>
              <a:rPr lang="en-US" sz="2000">
                <a:solidFill>
                  <a:schemeClr val="accent2"/>
                </a:solidFill>
                <a:latin typeface="Times New Roman" pitchFamily="18" charset="0"/>
              </a:rPr>
              <a:t> 1</a:t>
            </a:r>
          </a:p>
          <a:p>
            <a:pPr lvl="1">
              <a:lnSpc>
                <a:spcPct val="90000"/>
              </a:lnSpc>
              <a:spcBef>
                <a:spcPct val="20000"/>
              </a:spcBef>
              <a:buClr>
                <a:schemeClr val="hlink"/>
              </a:buClr>
              <a:buSzPct val="110000"/>
              <a:buFont typeface="Wingdings" pitchFamily="2" charset="2"/>
              <a:buNone/>
            </a:pPr>
            <a:r>
              <a:rPr lang="en-US" sz="2000" b="1" i="1">
                <a:solidFill>
                  <a:schemeClr val="accent2"/>
                </a:solidFill>
                <a:latin typeface="Times New Roman" pitchFamily="18" charset="0"/>
              </a:rPr>
              <a:t>	stableSort</a:t>
            </a:r>
            <a:r>
              <a:rPr lang="en-US" sz="2000">
                <a:solidFill>
                  <a:schemeClr val="accent2"/>
                </a:solidFill>
                <a:latin typeface="Times New Roman" pitchFamily="18" charset="0"/>
              </a:rPr>
              <a:t>(</a:t>
            </a:r>
            <a:r>
              <a:rPr lang="en-US" sz="2000" b="1" i="1">
                <a:solidFill>
                  <a:schemeClr val="accent2"/>
                </a:solidFill>
                <a:latin typeface="Times New Roman" pitchFamily="18" charset="0"/>
              </a:rPr>
              <a:t>S</a:t>
            </a:r>
            <a:r>
              <a:rPr lang="en-US" sz="2000">
                <a:solidFill>
                  <a:schemeClr val="accent2"/>
                </a:solidFill>
                <a:latin typeface="Times New Roman" pitchFamily="18" charset="0"/>
              </a:rPr>
              <a:t>, </a:t>
            </a:r>
            <a:r>
              <a:rPr lang="en-US" sz="2000" b="1" i="1">
                <a:solidFill>
                  <a:schemeClr val="accent2"/>
                </a:solidFill>
                <a:latin typeface="Times New Roman" pitchFamily="18" charset="0"/>
              </a:rPr>
              <a:t>C</a:t>
            </a:r>
            <a:r>
              <a:rPr lang="en-US" sz="2000" b="1" i="1" baseline="-25000">
                <a:solidFill>
                  <a:schemeClr val="accent2"/>
                </a:solidFill>
                <a:latin typeface="Times New Roman" pitchFamily="18" charset="0"/>
              </a:rPr>
              <a:t>i</a:t>
            </a:r>
            <a:r>
              <a:rPr lang="en-US" sz="2000">
                <a:solidFill>
                  <a:schemeClr val="accent2"/>
                </a:solidFill>
                <a:latin typeface="Times New Roman" pitchFamily="18" charset="0"/>
              </a:rPr>
              <a:t>)</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Lexicographic sort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smtClean="0"/>
                  <a:t>Ex  : S = ((3,3), (1,5), (2,5), (1,2), (2,3), (1,7), (3,2),(2,2))</a:t>
                </a:r>
              </a:p>
              <a:p>
                <a:r>
                  <a:rPr lang="en-US" dirty="0" smtClean="0"/>
                  <a:t>Stably sort using the second component</a:t>
                </a:r>
              </a:p>
              <a:p>
                <a:pPr marL="0" indent="0">
                  <a:buNone/>
                </a:pPr>
                <a:r>
                  <a:rPr lang="en-US" dirty="0"/>
                  <a:t> </a:t>
                </a:r>
                <a:r>
                  <a:rPr lang="en-US" dirty="0" smtClean="0"/>
                  <a:t>   </a:t>
                </a:r>
                <a14:m>
                  <m:oMath xmlns:m="http://schemas.openxmlformats.org/officeDocument/2006/math">
                    <m:sSub>
                      <m:sSubPr>
                        <m:ctrlPr>
                          <a:rPr lang="en-US" i="1" smtClean="0">
                            <a:latin typeface="Cambria Math"/>
                          </a:rPr>
                        </m:ctrlPr>
                      </m:sSubPr>
                      <m:e>
                        <m:r>
                          <a:rPr lang="en-US" b="0" i="1" smtClean="0">
                            <a:latin typeface="Cambria Math"/>
                          </a:rPr>
                          <m:t>𝑆</m:t>
                        </m:r>
                      </m:e>
                      <m:sub>
                        <m:r>
                          <a:rPr lang="en-US" b="0" i="1" smtClean="0">
                            <a:latin typeface="Cambria Math"/>
                          </a:rPr>
                          <m:t>2</m:t>
                        </m:r>
                      </m:sub>
                    </m:sSub>
                  </m:oMath>
                </a14:m>
                <a:r>
                  <a:rPr lang="en-US" dirty="0" smtClean="0"/>
                  <a:t> = ((1,2), (3,2), (2,2), (3,3), (2,3), (1,5), (2,5), (1,7))</a:t>
                </a:r>
              </a:p>
              <a:p>
                <a:r>
                  <a:rPr lang="en-US" dirty="0" smtClean="0"/>
                  <a:t>Stably sort using the first component</a:t>
                </a:r>
              </a:p>
              <a:p>
                <a:pPr marL="0" indent="0">
                  <a:buNone/>
                </a:pPr>
                <a:r>
                  <a:rPr lang="en-US" dirty="0"/>
                  <a:t> </a:t>
                </a:r>
                <a:r>
                  <a:rPr lang="en-US" dirty="0" smtClean="0"/>
                  <a:t>   </a:t>
                </a:r>
                <a14:m>
                  <m:oMath xmlns:m="http://schemas.openxmlformats.org/officeDocument/2006/math">
                    <m:sSub>
                      <m:sSubPr>
                        <m:ctrlPr>
                          <a:rPr lang="en-US" i="1" smtClean="0">
                            <a:latin typeface="Cambria Math"/>
                          </a:rPr>
                        </m:ctrlPr>
                      </m:sSubPr>
                      <m:e>
                        <m:r>
                          <a:rPr lang="en-US" b="0" i="1" smtClean="0">
                            <a:latin typeface="Cambria Math"/>
                          </a:rPr>
                          <m:t>𝑆</m:t>
                        </m:r>
                      </m:e>
                      <m:sub>
                        <m:r>
                          <a:rPr lang="en-US" b="0" i="1" smtClean="0">
                            <a:latin typeface="Cambria Math"/>
                          </a:rPr>
                          <m:t>2,1</m:t>
                        </m:r>
                      </m:sub>
                    </m:sSub>
                  </m:oMath>
                </a14:m>
                <a:r>
                  <a:rPr lang="en-US" dirty="0" smtClean="0"/>
                  <a:t>= ((1,2), (1,5), (1,7),(2,2), (2,3), (2,5),(3,2),(3,3))</a:t>
                </a:r>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1259" t="-1348" r="-1037"/>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t>Data Structures and Algorithms</a:t>
            </a:r>
            <a:endParaRPr lang="en-US"/>
          </a:p>
        </p:txBody>
      </p:sp>
      <p:sp>
        <p:nvSpPr>
          <p:cNvPr id="5" name="Slide Number Placeholder 4"/>
          <p:cNvSpPr>
            <a:spLocks noGrp="1"/>
          </p:cNvSpPr>
          <p:nvPr>
            <p:ph type="sldNum" sz="quarter" idx="12"/>
          </p:nvPr>
        </p:nvSpPr>
        <p:spPr/>
        <p:txBody>
          <a:bodyPr/>
          <a:lstStyle/>
          <a:p>
            <a:fld id="{AA248A14-1B58-45AD-8E86-E26A000E2CC9}" type="slidenum">
              <a:rPr lang="en-US" smtClean="0"/>
              <a:pPr/>
              <a:t>8</a:t>
            </a:fld>
            <a:endParaRPr lang="en-US"/>
          </a:p>
        </p:txBody>
      </p:sp>
    </p:spTree>
    <p:extLst>
      <p:ext uri="{BB962C8B-B14F-4D97-AF65-F5344CB8AC3E}">
        <p14:creationId xmlns:p14="http://schemas.microsoft.com/office/powerpoint/2010/main" val="3451551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5"/>
          <p:cNvSpPr>
            <a:spLocks noGrp="1"/>
          </p:cNvSpPr>
          <p:nvPr>
            <p:ph type="ftr" sz="quarter" idx="11"/>
          </p:nvPr>
        </p:nvSpPr>
        <p:spPr/>
        <p:txBody>
          <a:bodyPr/>
          <a:lstStyle/>
          <a:p>
            <a:r>
              <a:rPr lang="en-US"/>
              <a:t>Data Structures and Algorithms</a:t>
            </a:r>
          </a:p>
        </p:txBody>
      </p:sp>
      <p:sp>
        <p:nvSpPr>
          <p:cNvPr id="6" name="Slide Number Placeholder 6"/>
          <p:cNvSpPr>
            <a:spLocks noGrp="1"/>
          </p:cNvSpPr>
          <p:nvPr>
            <p:ph type="sldNum" sz="quarter" idx="12"/>
          </p:nvPr>
        </p:nvSpPr>
        <p:spPr/>
        <p:txBody>
          <a:bodyPr/>
          <a:lstStyle/>
          <a:p>
            <a:fld id="{BAFF6D73-3D8E-4534-A9ED-569589245406}" type="slidenum">
              <a:rPr lang="en-US"/>
              <a:pPr/>
              <a:t>9</a:t>
            </a:fld>
            <a:endParaRPr lang="en-US"/>
          </a:p>
        </p:txBody>
      </p:sp>
      <p:sp>
        <p:nvSpPr>
          <p:cNvPr id="278530" name="Rectangle 2"/>
          <p:cNvSpPr>
            <a:spLocks noGrp="1" noChangeArrowheads="1"/>
          </p:cNvSpPr>
          <p:nvPr>
            <p:ph type="title"/>
          </p:nvPr>
        </p:nvSpPr>
        <p:spPr/>
        <p:txBody>
          <a:bodyPr/>
          <a:lstStyle/>
          <a:p>
            <a:r>
              <a:rPr lang="en-US"/>
              <a:t>Radix-Sort </a:t>
            </a:r>
          </a:p>
        </p:txBody>
      </p:sp>
      <p:sp>
        <p:nvSpPr>
          <p:cNvPr id="278531" name="Rectangle 3"/>
          <p:cNvSpPr>
            <a:spLocks noGrp="1" noChangeArrowheads="1"/>
          </p:cNvSpPr>
          <p:nvPr>
            <p:ph type="body" sz="half" idx="1"/>
          </p:nvPr>
        </p:nvSpPr>
        <p:spPr>
          <a:xfrm>
            <a:off x="838200" y="1600200"/>
            <a:ext cx="3276600" cy="4419600"/>
          </a:xfrm>
        </p:spPr>
        <p:txBody>
          <a:bodyPr/>
          <a:lstStyle/>
          <a:p>
            <a:r>
              <a:rPr lang="en-US" sz="1800"/>
              <a:t>Radix-sort is a specialization of lexicographic-sort that uses bucket-sort as the stable sorting algorithm in each dimension</a:t>
            </a:r>
          </a:p>
          <a:p>
            <a:r>
              <a:rPr lang="en-US" sz="1800"/>
              <a:t>Radix-sort is applicable to tuples where the keys in each dimension </a:t>
            </a:r>
            <a:r>
              <a:rPr lang="en-US" sz="1800" b="1" i="1"/>
              <a:t>i </a:t>
            </a:r>
            <a:r>
              <a:rPr lang="en-US" sz="1800"/>
              <a:t>are integers in the range [0</a:t>
            </a:r>
            <a:r>
              <a:rPr lang="en-US" sz="1800" b="1" i="1"/>
              <a:t>, N</a:t>
            </a:r>
            <a:r>
              <a:rPr lang="en-US" sz="1800"/>
              <a:t> </a:t>
            </a:r>
            <a:r>
              <a:rPr lang="en-US" sz="1800">
                <a:latin typeface="Symbol" pitchFamily="18" charset="2"/>
              </a:rPr>
              <a:t>- </a:t>
            </a:r>
            <a:r>
              <a:rPr lang="en-US" sz="1800"/>
              <a:t>1]</a:t>
            </a:r>
          </a:p>
          <a:p>
            <a:r>
              <a:rPr lang="en-US" sz="1800"/>
              <a:t>Radix-sort runs in time </a:t>
            </a:r>
            <a:r>
              <a:rPr lang="en-US" sz="1800" b="1" i="1"/>
              <a:t>O</a:t>
            </a:r>
            <a:r>
              <a:rPr lang="en-US" sz="1800"/>
              <a:t>(</a:t>
            </a:r>
            <a:r>
              <a:rPr lang="en-US" sz="1800" b="1" i="1"/>
              <a:t>d</a:t>
            </a:r>
            <a:r>
              <a:rPr lang="en-US" sz="1800"/>
              <a:t>( </a:t>
            </a:r>
            <a:r>
              <a:rPr lang="en-US" sz="1800" b="1" i="1"/>
              <a:t>n</a:t>
            </a:r>
            <a:r>
              <a:rPr lang="en-US" sz="1800"/>
              <a:t> </a:t>
            </a:r>
            <a:r>
              <a:rPr lang="en-US" sz="1800">
                <a:latin typeface="Symbol" pitchFamily="18" charset="2"/>
              </a:rPr>
              <a:t>+ </a:t>
            </a:r>
            <a:r>
              <a:rPr lang="en-US" sz="1800" b="1" i="1"/>
              <a:t>N</a:t>
            </a:r>
            <a:r>
              <a:rPr lang="en-US" sz="1800"/>
              <a:t>))</a:t>
            </a:r>
          </a:p>
        </p:txBody>
      </p:sp>
      <p:sp>
        <p:nvSpPr>
          <p:cNvPr id="278532" name="Text Box 4"/>
          <p:cNvSpPr txBox="1">
            <a:spLocks noChangeArrowheads="1"/>
          </p:cNvSpPr>
          <p:nvPr/>
        </p:nvSpPr>
        <p:spPr bwMode="auto">
          <a:xfrm>
            <a:off x="4495800" y="2590800"/>
            <a:ext cx="4114800" cy="28146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342900">
              <a:defRPr>
                <a:solidFill>
                  <a:schemeClr val="tx1"/>
                </a:solidFill>
                <a:latin typeface="Arial" charset="0"/>
              </a:defRPr>
            </a:lvl1pPr>
            <a:lvl2pPr marL="342900" defTabSz="342900">
              <a:defRPr>
                <a:solidFill>
                  <a:schemeClr val="tx1"/>
                </a:solidFill>
                <a:latin typeface="Arial" charset="0"/>
              </a:defRPr>
            </a:lvl2pPr>
            <a:lvl3pPr marL="628650" defTabSz="342900">
              <a:defRPr>
                <a:solidFill>
                  <a:schemeClr val="tx1"/>
                </a:solidFill>
                <a:latin typeface="Arial" charset="0"/>
              </a:defRPr>
            </a:lvl3pPr>
            <a:lvl4pPr defTabSz="342900">
              <a:defRPr>
                <a:solidFill>
                  <a:schemeClr val="tx1"/>
                </a:solidFill>
                <a:latin typeface="Arial" charset="0"/>
              </a:defRPr>
            </a:lvl4pPr>
            <a:lvl5pPr defTabSz="342900">
              <a:defRPr>
                <a:solidFill>
                  <a:schemeClr val="tx1"/>
                </a:solidFill>
                <a:latin typeface="Arial" charset="0"/>
              </a:defRPr>
            </a:lvl5pPr>
            <a:lvl6pPr defTabSz="342900" fontAlgn="base">
              <a:spcBef>
                <a:spcPct val="0"/>
              </a:spcBef>
              <a:spcAft>
                <a:spcPct val="0"/>
              </a:spcAft>
              <a:defRPr>
                <a:solidFill>
                  <a:schemeClr val="tx1"/>
                </a:solidFill>
                <a:latin typeface="Arial" charset="0"/>
              </a:defRPr>
            </a:lvl6pPr>
            <a:lvl7pPr defTabSz="342900" fontAlgn="base">
              <a:spcBef>
                <a:spcPct val="0"/>
              </a:spcBef>
              <a:spcAft>
                <a:spcPct val="0"/>
              </a:spcAft>
              <a:defRPr>
                <a:solidFill>
                  <a:schemeClr val="tx1"/>
                </a:solidFill>
                <a:latin typeface="Arial" charset="0"/>
              </a:defRPr>
            </a:lvl7pPr>
            <a:lvl8pPr defTabSz="342900" fontAlgn="base">
              <a:spcBef>
                <a:spcPct val="0"/>
              </a:spcBef>
              <a:spcAft>
                <a:spcPct val="0"/>
              </a:spcAft>
              <a:defRPr>
                <a:solidFill>
                  <a:schemeClr val="tx1"/>
                </a:solidFill>
                <a:latin typeface="Arial" charset="0"/>
              </a:defRPr>
            </a:lvl8pPr>
            <a:lvl9pPr defTabSz="342900" fontAlgn="base">
              <a:spcBef>
                <a:spcPct val="0"/>
              </a:spcBef>
              <a:spcAft>
                <a:spcPct val="0"/>
              </a:spcAft>
              <a:defRPr>
                <a:solidFill>
                  <a:schemeClr val="tx1"/>
                </a:solidFill>
                <a:latin typeface="Arial" charset="0"/>
              </a:defRPr>
            </a:lvl9pPr>
          </a:lstStyle>
          <a:p>
            <a:pPr>
              <a:lnSpc>
                <a:spcPct val="90000"/>
              </a:lnSpc>
              <a:spcBef>
                <a:spcPct val="20000"/>
              </a:spcBef>
              <a:buClr>
                <a:schemeClr val="hlink"/>
              </a:buClr>
              <a:buSzPct val="110000"/>
              <a:buFont typeface="Wingdings" pitchFamily="2" charset="2"/>
              <a:buNone/>
            </a:pPr>
            <a:r>
              <a:rPr lang="en-US" sz="2000" b="1">
                <a:solidFill>
                  <a:srgbClr val="000000"/>
                </a:solidFill>
                <a:latin typeface="Times New Roman" pitchFamily="18" charset="0"/>
              </a:rPr>
              <a:t>Algorithm</a:t>
            </a:r>
            <a:r>
              <a:rPr lang="en-US" sz="2000">
                <a:latin typeface="Times New Roman" pitchFamily="18" charset="0"/>
              </a:rPr>
              <a:t> </a:t>
            </a:r>
            <a:r>
              <a:rPr lang="en-US" sz="2000" b="1" i="1">
                <a:solidFill>
                  <a:schemeClr val="tx2"/>
                </a:solidFill>
                <a:latin typeface="Times New Roman" pitchFamily="18" charset="0"/>
              </a:rPr>
              <a:t>radixSort</a:t>
            </a:r>
            <a:r>
              <a:rPr lang="en-US" sz="2000">
                <a:solidFill>
                  <a:schemeClr val="tx2"/>
                </a:solidFill>
                <a:latin typeface="Times New Roman" pitchFamily="18" charset="0"/>
              </a:rPr>
              <a:t>(</a:t>
            </a:r>
            <a:r>
              <a:rPr lang="en-US" sz="2000" b="1" i="1">
                <a:solidFill>
                  <a:schemeClr val="tx2"/>
                </a:solidFill>
                <a:latin typeface="Times New Roman" pitchFamily="18" charset="0"/>
              </a:rPr>
              <a:t>S, N</a:t>
            </a:r>
            <a:r>
              <a:rPr lang="en-US" sz="2000">
                <a:solidFill>
                  <a:schemeClr val="tx2"/>
                </a:solidFill>
                <a:latin typeface="Times New Roman" pitchFamily="18" charset="0"/>
              </a:rPr>
              <a:t>)</a:t>
            </a:r>
          </a:p>
          <a:p>
            <a:pPr>
              <a:lnSpc>
                <a:spcPct val="90000"/>
              </a:lnSpc>
              <a:spcBef>
                <a:spcPct val="20000"/>
              </a:spcBef>
              <a:buClr>
                <a:schemeClr val="hlink"/>
              </a:buClr>
              <a:buSzPct val="110000"/>
              <a:buFont typeface="Wingdings" pitchFamily="2" charset="2"/>
              <a:buNone/>
            </a:pPr>
            <a:r>
              <a:rPr lang="en-US" sz="2000">
                <a:solidFill>
                  <a:schemeClr val="tx2"/>
                </a:solidFill>
                <a:latin typeface="Times New Roman" pitchFamily="18" charset="0"/>
              </a:rPr>
              <a:t>	</a:t>
            </a:r>
            <a:r>
              <a:rPr lang="en-US" sz="2000" b="1">
                <a:solidFill>
                  <a:srgbClr val="000000"/>
                </a:solidFill>
                <a:latin typeface="Times New Roman" pitchFamily="18" charset="0"/>
              </a:rPr>
              <a:t>Input</a:t>
            </a:r>
            <a:r>
              <a:rPr lang="en-US" sz="2000">
                <a:latin typeface="Times New Roman" pitchFamily="18" charset="0"/>
              </a:rPr>
              <a:t> </a:t>
            </a:r>
            <a:r>
              <a:rPr lang="en-US" sz="2000">
                <a:solidFill>
                  <a:schemeClr val="accent2"/>
                </a:solidFill>
                <a:latin typeface="Times New Roman" pitchFamily="18" charset="0"/>
              </a:rPr>
              <a:t>sequence </a:t>
            </a:r>
            <a:r>
              <a:rPr lang="en-US" sz="2000" b="1" i="1">
                <a:solidFill>
                  <a:schemeClr val="accent2"/>
                </a:solidFill>
                <a:latin typeface="Times New Roman" pitchFamily="18" charset="0"/>
              </a:rPr>
              <a:t>S</a:t>
            </a:r>
            <a:r>
              <a:rPr lang="en-US" sz="2000">
                <a:solidFill>
                  <a:schemeClr val="accent2"/>
                </a:solidFill>
                <a:latin typeface="Times New Roman" pitchFamily="18" charset="0"/>
              </a:rPr>
              <a:t> of  </a:t>
            </a:r>
            <a:r>
              <a:rPr lang="en-US" sz="2000" b="1" i="1">
                <a:solidFill>
                  <a:schemeClr val="accent2"/>
                </a:solidFill>
                <a:latin typeface="Times New Roman" pitchFamily="18" charset="0"/>
              </a:rPr>
              <a:t>d</a:t>
            </a:r>
            <a:r>
              <a:rPr lang="en-US" sz="2000">
                <a:solidFill>
                  <a:schemeClr val="accent2"/>
                </a:solidFill>
                <a:latin typeface="Times New Roman" pitchFamily="18" charset="0"/>
              </a:rPr>
              <a:t>-tuples such</a:t>
            </a:r>
          </a:p>
          <a:p>
            <a:pPr>
              <a:lnSpc>
                <a:spcPct val="90000"/>
              </a:lnSpc>
              <a:spcBef>
                <a:spcPct val="20000"/>
              </a:spcBef>
              <a:buClr>
                <a:schemeClr val="hlink"/>
              </a:buClr>
              <a:buSzPct val="110000"/>
              <a:buFont typeface="Wingdings" pitchFamily="2" charset="2"/>
              <a:buNone/>
            </a:pPr>
            <a:r>
              <a:rPr lang="en-US" sz="2000">
                <a:solidFill>
                  <a:schemeClr val="accent2"/>
                </a:solidFill>
                <a:latin typeface="Times New Roman" pitchFamily="18" charset="0"/>
              </a:rPr>
              <a:t>		that (0</a:t>
            </a:r>
            <a:r>
              <a:rPr lang="en-US" sz="2000" b="1" i="1">
                <a:solidFill>
                  <a:schemeClr val="accent2"/>
                </a:solidFill>
                <a:latin typeface="Times New Roman" pitchFamily="18" charset="0"/>
              </a:rPr>
              <a:t>, …, </a:t>
            </a:r>
            <a:r>
              <a:rPr lang="en-US" sz="2000">
                <a:solidFill>
                  <a:schemeClr val="accent2"/>
                </a:solidFill>
                <a:latin typeface="Times New Roman" pitchFamily="18" charset="0"/>
              </a:rPr>
              <a:t>0) </a:t>
            </a:r>
            <a:r>
              <a:rPr lang="en-US" sz="2000">
                <a:solidFill>
                  <a:schemeClr val="accent2"/>
                </a:solidFill>
                <a:latin typeface="Times New Roman" pitchFamily="18" charset="0"/>
                <a:sym typeface="Symbol" pitchFamily="18" charset="2"/>
              </a:rPr>
              <a:t></a:t>
            </a:r>
            <a:r>
              <a:rPr lang="en-US" sz="2000">
                <a:solidFill>
                  <a:schemeClr val="accent2"/>
                </a:solidFill>
                <a:latin typeface="Times New Roman" pitchFamily="18" charset="0"/>
              </a:rPr>
              <a:t> (</a:t>
            </a:r>
            <a:r>
              <a:rPr lang="en-US" sz="2000" b="1" i="1">
                <a:solidFill>
                  <a:schemeClr val="accent2"/>
                </a:solidFill>
                <a:latin typeface="Times New Roman" pitchFamily="18" charset="0"/>
              </a:rPr>
              <a:t>x</a:t>
            </a:r>
            <a:r>
              <a:rPr lang="en-US" sz="2000" baseline="-25000">
                <a:solidFill>
                  <a:schemeClr val="accent2"/>
                </a:solidFill>
                <a:latin typeface="Times New Roman" pitchFamily="18" charset="0"/>
              </a:rPr>
              <a:t>1</a:t>
            </a:r>
            <a:r>
              <a:rPr lang="en-US" sz="2000" b="1" i="1">
                <a:solidFill>
                  <a:schemeClr val="accent2"/>
                </a:solidFill>
                <a:latin typeface="Times New Roman" pitchFamily="18" charset="0"/>
              </a:rPr>
              <a:t>, …, x</a:t>
            </a:r>
            <a:r>
              <a:rPr lang="en-US" sz="2000" b="1" i="1" baseline="-25000">
                <a:solidFill>
                  <a:schemeClr val="accent2"/>
                </a:solidFill>
                <a:latin typeface="Times New Roman" pitchFamily="18" charset="0"/>
              </a:rPr>
              <a:t>d</a:t>
            </a:r>
            <a:r>
              <a:rPr lang="en-US" sz="2000">
                <a:solidFill>
                  <a:schemeClr val="accent2"/>
                </a:solidFill>
                <a:latin typeface="Times New Roman" pitchFamily="18" charset="0"/>
              </a:rPr>
              <a:t>) and</a:t>
            </a:r>
            <a:br>
              <a:rPr lang="en-US" sz="2000">
                <a:solidFill>
                  <a:schemeClr val="accent2"/>
                </a:solidFill>
                <a:latin typeface="Times New Roman" pitchFamily="18" charset="0"/>
              </a:rPr>
            </a:br>
            <a:r>
              <a:rPr lang="en-US" sz="2000">
                <a:solidFill>
                  <a:schemeClr val="accent2"/>
                </a:solidFill>
                <a:latin typeface="Times New Roman" pitchFamily="18" charset="0"/>
              </a:rPr>
              <a:t>		(</a:t>
            </a:r>
            <a:r>
              <a:rPr lang="en-US" sz="2000" b="1" i="1">
                <a:solidFill>
                  <a:schemeClr val="accent2"/>
                </a:solidFill>
                <a:latin typeface="Times New Roman" pitchFamily="18" charset="0"/>
              </a:rPr>
              <a:t>x</a:t>
            </a:r>
            <a:r>
              <a:rPr lang="en-US" sz="2000" baseline="-25000">
                <a:solidFill>
                  <a:schemeClr val="accent2"/>
                </a:solidFill>
                <a:latin typeface="Times New Roman" pitchFamily="18" charset="0"/>
              </a:rPr>
              <a:t>1</a:t>
            </a:r>
            <a:r>
              <a:rPr lang="en-US" sz="2000" b="1" i="1">
                <a:solidFill>
                  <a:schemeClr val="accent2"/>
                </a:solidFill>
                <a:latin typeface="Times New Roman" pitchFamily="18" charset="0"/>
              </a:rPr>
              <a:t>, …, x</a:t>
            </a:r>
            <a:r>
              <a:rPr lang="en-US" sz="2000" b="1" i="1" baseline="-25000">
                <a:solidFill>
                  <a:schemeClr val="accent2"/>
                </a:solidFill>
                <a:latin typeface="Times New Roman" pitchFamily="18" charset="0"/>
              </a:rPr>
              <a:t>d</a:t>
            </a:r>
            <a:r>
              <a:rPr lang="en-US" sz="2000">
                <a:solidFill>
                  <a:schemeClr val="accent2"/>
                </a:solidFill>
                <a:latin typeface="Times New Roman" pitchFamily="18" charset="0"/>
              </a:rPr>
              <a:t>)</a:t>
            </a:r>
            <a:r>
              <a:rPr lang="en-US" sz="2000">
                <a:solidFill>
                  <a:schemeClr val="accent2"/>
                </a:solidFill>
                <a:latin typeface="Times New Roman" pitchFamily="18" charset="0"/>
                <a:sym typeface="Symbol" pitchFamily="18" charset="2"/>
              </a:rPr>
              <a:t> </a:t>
            </a:r>
            <a:r>
              <a:rPr lang="en-US" sz="2000">
                <a:solidFill>
                  <a:schemeClr val="accent2"/>
                </a:solidFill>
                <a:latin typeface="Times New Roman" pitchFamily="18" charset="0"/>
              </a:rPr>
              <a:t> (</a:t>
            </a:r>
            <a:r>
              <a:rPr lang="en-US" sz="2000" b="1" i="1">
                <a:solidFill>
                  <a:schemeClr val="accent2"/>
                </a:solidFill>
                <a:latin typeface="Times New Roman" pitchFamily="18" charset="0"/>
              </a:rPr>
              <a:t>N</a:t>
            </a:r>
            <a:r>
              <a:rPr lang="en-US" sz="2000">
                <a:solidFill>
                  <a:schemeClr val="accent2"/>
                </a:solidFill>
                <a:latin typeface="Times New Roman" pitchFamily="18" charset="0"/>
              </a:rPr>
              <a:t> </a:t>
            </a:r>
            <a:r>
              <a:rPr lang="en-US" sz="2000">
                <a:solidFill>
                  <a:schemeClr val="accent2"/>
                </a:solidFill>
                <a:latin typeface="Symbol" pitchFamily="18" charset="2"/>
              </a:rPr>
              <a:t>- </a:t>
            </a:r>
            <a:r>
              <a:rPr lang="en-US" sz="2000">
                <a:solidFill>
                  <a:schemeClr val="accent2"/>
                </a:solidFill>
                <a:latin typeface="Times New Roman" pitchFamily="18" charset="0"/>
              </a:rPr>
              <a:t>1</a:t>
            </a:r>
            <a:r>
              <a:rPr lang="en-US" sz="2000" b="1" i="1">
                <a:solidFill>
                  <a:schemeClr val="accent2"/>
                </a:solidFill>
                <a:latin typeface="Times New Roman" pitchFamily="18" charset="0"/>
              </a:rPr>
              <a:t>, …, N</a:t>
            </a:r>
            <a:r>
              <a:rPr lang="en-US" sz="2000">
                <a:solidFill>
                  <a:schemeClr val="accent2"/>
                </a:solidFill>
                <a:latin typeface="Times New Roman" pitchFamily="18" charset="0"/>
              </a:rPr>
              <a:t> </a:t>
            </a:r>
            <a:r>
              <a:rPr lang="en-US" sz="2000">
                <a:solidFill>
                  <a:schemeClr val="accent2"/>
                </a:solidFill>
                <a:latin typeface="Symbol" pitchFamily="18" charset="2"/>
              </a:rPr>
              <a:t>- </a:t>
            </a:r>
            <a:r>
              <a:rPr lang="en-US" sz="2000">
                <a:solidFill>
                  <a:schemeClr val="accent2"/>
                </a:solidFill>
                <a:latin typeface="Times New Roman" pitchFamily="18" charset="0"/>
              </a:rPr>
              <a:t>1)</a:t>
            </a:r>
            <a:br>
              <a:rPr lang="en-US" sz="2000">
                <a:solidFill>
                  <a:schemeClr val="accent2"/>
                </a:solidFill>
                <a:latin typeface="Times New Roman" pitchFamily="18" charset="0"/>
              </a:rPr>
            </a:br>
            <a:r>
              <a:rPr lang="en-US" sz="2000">
                <a:solidFill>
                  <a:schemeClr val="accent2"/>
                </a:solidFill>
                <a:latin typeface="Times New Roman" pitchFamily="18" charset="0"/>
              </a:rPr>
              <a:t>		for each tuple (</a:t>
            </a:r>
            <a:r>
              <a:rPr lang="en-US" sz="2000" b="1" i="1">
                <a:solidFill>
                  <a:schemeClr val="accent2"/>
                </a:solidFill>
                <a:latin typeface="Times New Roman" pitchFamily="18" charset="0"/>
              </a:rPr>
              <a:t>x</a:t>
            </a:r>
            <a:r>
              <a:rPr lang="en-US" sz="2000" baseline="-25000">
                <a:solidFill>
                  <a:schemeClr val="accent2"/>
                </a:solidFill>
                <a:latin typeface="Times New Roman" pitchFamily="18" charset="0"/>
              </a:rPr>
              <a:t>1</a:t>
            </a:r>
            <a:r>
              <a:rPr lang="en-US" sz="2000" b="1" i="1">
                <a:solidFill>
                  <a:schemeClr val="accent2"/>
                </a:solidFill>
                <a:latin typeface="Times New Roman" pitchFamily="18" charset="0"/>
              </a:rPr>
              <a:t>, …, x</a:t>
            </a:r>
            <a:r>
              <a:rPr lang="en-US" sz="2000" b="1" i="1" baseline="-25000">
                <a:solidFill>
                  <a:schemeClr val="accent2"/>
                </a:solidFill>
                <a:latin typeface="Times New Roman" pitchFamily="18" charset="0"/>
              </a:rPr>
              <a:t>d</a:t>
            </a:r>
            <a:r>
              <a:rPr lang="en-US" sz="2000">
                <a:solidFill>
                  <a:schemeClr val="accent2"/>
                </a:solidFill>
                <a:latin typeface="Times New Roman" pitchFamily="18" charset="0"/>
              </a:rPr>
              <a:t>) in </a:t>
            </a:r>
            <a:r>
              <a:rPr lang="en-US" sz="2000" b="1" i="1">
                <a:solidFill>
                  <a:schemeClr val="accent2"/>
                </a:solidFill>
                <a:latin typeface="Times New Roman" pitchFamily="18" charset="0"/>
              </a:rPr>
              <a:t>S</a:t>
            </a:r>
            <a:r>
              <a:rPr lang="en-US" sz="2000">
                <a:solidFill>
                  <a:schemeClr val="accent2"/>
                </a:solidFill>
                <a:latin typeface="Times New Roman" pitchFamily="18" charset="0"/>
              </a:rPr>
              <a:t> </a:t>
            </a:r>
            <a:br>
              <a:rPr lang="en-US" sz="2000">
                <a:solidFill>
                  <a:schemeClr val="accent2"/>
                </a:solidFill>
                <a:latin typeface="Times New Roman" pitchFamily="18" charset="0"/>
              </a:rPr>
            </a:br>
            <a:r>
              <a:rPr lang="en-US" sz="2000">
                <a:solidFill>
                  <a:schemeClr val="accent2"/>
                </a:solidFill>
                <a:latin typeface="Times New Roman" pitchFamily="18" charset="0"/>
              </a:rPr>
              <a:t>	</a:t>
            </a:r>
            <a:r>
              <a:rPr lang="en-US" sz="2000" b="1">
                <a:solidFill>
                  <a:srgbClr val="000000"/>
                </a:solidFill>
                <a:latin typeface="Times New Roman" pitchFamily="18" charset="0"/>
              </a:rPr>
              <a:t>Output</a:t>
            </a:r>
            <a:r>
              <a:rPr lang="en-US" sz="2000">
                <a:latin typeface="Times New Roman" pitchFamily="18" charset="0"/>
              </a:rPr>
              <a:t> </a:t>
            </a:r>
            <a:r>
              <a:rPr lang="en-US" sz="2000">
                <a:solidFill>
                  <a:schemeClr val="accent2"/>
                </a:solidFill>
                <a:latin typeface="Times New Roman" pitchFamily="18" charset="0"/>
              </a:rPr>
              <a:t>sequence </a:t>
            </a:r>
            <a:r>
              <a:rPr lang="en-US" sz="2000" b="1" i="1">
                <a:solidFill>
                  <a:schemeClr val="accent2"/>
                </a:solidFill>
                <a:latin typeface="Times New Roman" pitchFamily="18" charset="0"/>
              </a:rPr>
              <a:t>S</a:t>
            </a:r>
            <a:r>
              <a:rPr lang="en-US" sz="2000">
                <a:solidFill>
                  <a:schemeClr val="accent2"/>
                </a:solidFill>
                <a:latin typeface="Times New Roman" pitchFamily="18" charset="0"/>
              </a:rPr>
              <a:t> sorted in</a:t>
            </a:r>
            <a:br>
              <a:rPr lang="en-US" sz="2000">
                <a:solidFill>
                  <a:schemeClr val="accent2"/>
                </a:solidFill>
                <a:latin typeface="Times New Roman" pitchFamily="18" charset="0"/>
              </a:rPr>
            </a:br>
            <a:r>
              <a:rPr lang="en-US" sz="2000">
                <a:solidFill>
                  <a:schemeClr val="accent2"/>
                </a:solidFill>
                <a:latin typeface="Times New Roman" pitchFamily="18" charset="0"/>
              </a:rPr>
              <a:t>		lexicographic order</a:t>
            </a:r>
          </a:p>
          <a:p>
            <a:pPr>
              <a:lnSpc>
                <a:spcPct val="90000"/>
              </a:lnSpc>
              <a:spcBef>
                <a:spcPct val="20000"/>
              </a:spcBef>
              <a:buClr>
                <a:schemeClr val="hlink"/>
              </a:buClr>
              <a:buSzPct val="110000"/>
              <a:buFont typeface="Wingdings" pitchFamily="2" charset="2"/>
              <a:buNone/>
            </a:pPr>
            <a:r>
              <a:rPr lang="en-US" sz="2000">
                <a:solidFill>
                  <a:schemeClr val="accent2"/>
                </a:solidFill>
                <a:latin typeface="Times New Roman" pitchFamily="18" charset="0"/>
              </a:rPr>
              <a:t>	</a:t>
            </a:r>
            <a:r>
              <a:rPr lang="en-US" sz="2000" b="1">
                <a:solidFill>
                  <a:srgbClr val="000000"/>
                </a:solidFill>
                <a:latin typeface="Times New Roman" pitchFamily="18" charset="0"/>
              </a:rPr>
              <a:t>for </a:t>
            </a:r>
            <a:r>
              <a:rPr lang="en-US" sz="2000" b="1" i="1">
                <a:solidFill>
                  <a:schemeClr val="accent2"/>
                </a:solidFill>
                <a:latin typeface="Times New Roman" pitchFamily="18" charset="0"/>
              </a:rPr>
              <a:t>i </a:t>
            </a:r>
            <a:r>
              <a:rPr lang="en-US" sz="2000">
                <a:solidFill>
                  <a:srgbClr val="000000"/>
                </a:solidFill>
                <a:latin typeface="Times New Roman" pitchFamily="18" charset="0"/>
                <a:sym typeface="Symbol" pitchFamily="18" charset="2"/>
              </a:rPr>
              <a:t></a:t>
            </a:r>
            <a:r>
              <a:rPr lang="en-US" sz="2000">
                <a:solidFill>
                  <a:schemeClr val="tx2"/>
                </a:solidFill>
                <a:latin typeface="Times New Roman" pitchFamily="18" charset="0"/>
              </a:rPr>
              <a:t> </a:t>
            </a:r>
            <a:r>
              <a:rPr lang="en-US" sz="2000" b="1" i="1">
                <a:solidFill>
                  <a:schemeClr val="accent2"/>
                </a:solidFill>
                <a:latin typeface="Times New Roman" pitchFamily="18" charset="0"/>
              </a:rPr>
              <a:t>d</a:t>
            </a:r>
            <a:r>
              <a:rPr lang="en-US" sz="2000">
                <a:solidFill>
                  <a:schemeClr val="accent2"/>
                </a:solidFill>
                <a:latin typeface="Times New Roman" pitchFamily="18" charset="0"/>
              </a:rPr>
              <a:t> </a:t>
            </a:r>
            <a:r>
              <a:rPr lang="en-US" sz="2000" b="1">
                <a:solidFill>
                  <a:srgbClr val="000000"/>
                </a:solidFill>
                <a:latin typeface="Times New Roman" pitchFamily="18" charset="0"/>
              </a:rPr>
              <a:t>downto</a:t>
            </a:r>
            <a:r>
              <a:rPr lang="en-US" sz="2000">
                <a:solidFill>
                  <a:schemeClr val="accent2"/>
                </a:solidFill>
                <a:latin typeface="Times New Roman" pitchFamily="18" charset="0"/>
              </a:rPr>
              <a:t> 1</a:t>
            </a:r>
          </a:p>
          <a:p>
            <a:pPr lvl="1">
              <a:lnSpc>
                <a:spcPct val="90000"/>
              </a:lnSpc>
              <a:spcBef>
                <a:spcPct val="20000"/>
              </a:spcBef>
              <a:buClr>
                <a:schemeClr val="hlink"/>
              </a:buClr>
              <a:buSzPct val="110000"/>
              <a:buFont typeface="Wingdings" pitchFamily="2" charset="2"/>
              <a:buNone/>
            </a:pPr>
            <a:r>
              <a:rPr lang="en-US" sz="2000" b="1" i="1">
                <a:solidFill>
                  <a:schemeClr val="accent2"/>
                </a:solidFill>
                <a:latin typeface="Times New Roman" pitchFamily="18" charset="0"/>
              </a:rPr>
              <a:t>	bucketSort</a:t>
            </a:r>
            <a:r>
              <a:rPr lang="en-US" sz="2000">
                <a:solidFill>
                  <a:schemeClr val="accent2"/>
                </a:solidFill>
                <a:latin typeface="Times New Roman" pitchFamily="18" charset="0"/>
              </a:rPr>
              <a:t>(</a:t>
            </a:r>
            <a:r>
              <a:rPr lang="en-US" sz="2000" b="1" i="1">
                <a:solidFill>
                  <a:schemeClr val="accent2"/>
                </a:solidFill>
                <a:latin typeface="Times New Roman" pitchFamily="18" charset="0"/>
              </a:rPr>
              <a:t>S</a:t>
            </a:r>
            <a:r>
              <a:rPr lang="en-US" sz="2000">
                <a:solidFill>
                  <a:schemeClr val="accent2"/>
                </a:solidFill>
                <a:latin typeface="Times New Roman" pitchFamily="18" charset="0"/>
              </a:rPr>
              <a:t>, </a:t>
            </a:r>
            <a:r>
              <a:rPr lang="en-US" sz="2000" b="1" i="1">
                <a:solidFill>
                  <a:schemeClr val="accent2"/>
                </a:solidFill>
                <a:latin typeface="Times New Roman" pitchFamily="18" charset="0"/>
              </a:rPr>
              <a:t>N</a:t>
            </a:r>
            <a:r>
              <a:rPr lang="en-US" sz="2000">
                <a:solidFill>
                  <a:schemeClr val="accent2"/>
                </a:solidFill>
                <a:latin typeface="Times New Roman" pitchFamily="18" charset="0"/>
              </a:rPr>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r>
              <a:rPr lang="en-US"/>
              <a:t>Data Structures and Algorithms</a:t>
            </a:r>
          </a:p>
        </p:txBody>
      </p:sp>
      <p:sp>
        <p:nvSpPr>
          <p:cNvPr id="6" name="Slide Number Placeholder 5"/>
          <p:cNvSpPr>
            <a:spLocks noGrp="1"/>
          </p:cNvSpPr>
          <p:nvPr>
            <p:ph type="sldNum" sz="quarter" idx="12"/>
          </p:nvPr>
        </p:nvSpPr>
        <p:spPr/>
        <p:txBody>
          <a:bodyPr/>
          <a:lstStyle/>
          <a:p>
            <a:fld id="{BA72F115-E6E5-4C33-A10A-AEA1F5756542}" type="slidenum">
              <a:rPr lang="en-US"/>
              <a:pPr/>
              <a:t>10</a:t>
            </a:fld>
            <a:endParaRPr lang="en-US"/>
          </a:p>
        </p:txBody>
      </p:sp>
      <p:sp>
        <p:nvSpPr>
          <p:cNvPr id="279554" name="Rectangle 2"/>
          <p:cNvSpPr>
            <a:spLocks noGrp="1" noChangeArrowheads="1"/>
          </p:cNvSpPr>
          <p:nvPr>
            <p:ph type="title"/>
          </p:nvPr>
        </p:nvSpPr>
        <p:spPr>
          <a:xfrm>
            <a:off x="1447800" y="304800"/>
            <a:ext cx="6934200" cy="1143000"/>
          </a:xfrm>
        </p:spPr>
        <p:txBody>
          <a:bodyPr/>
          <a:lstStyle/>
          <a:p>
            <a:r>
              <a:rPr lang="en-US"/>
              <a:t>Radix-Sort for Binary Numbers</a:t>
            </a:r>
          </a:p>
        </p:txBody>
      </p:sp>
      <p:sp>
        <p:nvSpPr>
          <p:cNvPr id="279555" name="Rectangle 3"/>
          <p:cNvSpPr>
            <a:spLocks noGrp="1" noChangeArrowheads="1"/>
          </p:cNvSpPr>
          <p:nvPr>
            <p:ph type="body" idx="1"/>
          </p:nvPr>
        </p:nvSpPr>
        <p:spPr>
          <a:xfrm>
            <a:off x="762000" y="1676400"/>
            <a:ext cx="4267200" cy="4572000"/>
          </a:xfrm>
        </p:spPr>
        <p:txBody>
          <a:bodyPr/>
          <a:lstStyle/>
          <a:p>
            <a:pPr>
              <a:lnSpc>
                <a:spcPct val="90000"/>
              </a:lnSpc>
            </a:pPr>
            <a:r>
              <a:rPr lang="en-US" sz="2000"/>
              <a:t>Consider a sequence of </a:t>
            </a:r>
            <a:r>
              <a:rPr lang="en-US" sz="2000" b="1" i="1"/>
              <a:t>n</a:t>
            </a:r>
            <a:r>
              <a:rPr lang="en-US" sz="2000"/>
              <a:t> </a:t>
            </a:r>
            <a:r>
              <a:rPr lang="en-US" sz="2000" b="1" i="1"/>
              <a:t>b</a:t>
            </a:r>
            <a:r>
              <a:rPr lang="en-US" sz="2000"/>
              <a:t>-bit integers </a:t>
            </a:r>
            <a:br>
              <a:rPr lang="en-US" sz="2000"/>
            </a:br>
            <a:r>
              <a:rPr lang="en-US" sz="2000"/>
              <a:t>	</a:t>
            </a:r>
            <a:r>
              <a:rPr lang="en-US" sz="2000" b="1" i="1"/>
              <a:t>x</a:t>
            </a:r>
            <a:r>
              <a:rPr lang="en-US" sz="2000"/>
              <a:t> </a:t>
            </a:r>
            <a:r>
              <a:rPr lang="en-US" sz="2000">
                <a:latin typeface="Symbol" pitchFamily="18" charset="2"/>
              </a:rPr>
              <a:t>=</a:t>
            </a:r>
            <a:r>
              <a:rPr lang="en-US" sz="2000"/>
              <a:t> </a:t>
            </a:r>
            <a:r>
              <a:rPr lang="en-US" sz="2000" b="1" i="1"/>
              <a:t>x</a:t>
            </a:r>
            <a:r>
              <a:rPr lang="en-US" sz="2000" b="1" i="1" baseline="-25000"/>
              <a:t>b</a:t>
            </a:r>
            <a:r>
              <a:rPr lang="en-US" sz="2000" b="1" i="1" baseline="-25000">
                <a:latin typeface="Symbol" pitchFamily="18" charset="2"/>
              </a:rPr>
              <a:t> </a:t>
            </a:r>
            <a:r>
              <a:rPr lang="en-US" sz="2000" baseline="-25000">
                <a:latin typeface="Symbol" pitchFamily="18" charset="2"/>
              </a:rPr>
              <a:t>- 1</a:t>
            </a:r>
            <a:r>
              <a:rPr lang="en-US" sz="2000" b="1" i="1"/>
              <a:t> … x</a:t>
            </a:r>
            <a:r>
              <a:rPr lang="en-US" sz="2000" baseline="-25000"/>
              <a:t>1</a:t>
            </a:r>
            <a:r>
              <a:rPr lang="en-US" sz="2000" b="1" i="1"/>
              <a:t>x</a:t>
            </a:r>
            <a:r>
              <a:rPr lang="en-US" sz="2000" baseline="-25000"/>
              <a:t>0</a:t>
            </a:r>
            <a:endParaRPr lang="en-US" sz="2000"/>
          </a:p>
          <a:p>
            <a:pPr>
              <a:lnSpc>
                <a:spcPct val="90000"/>
              </a:lnSpc>
            </a:pPr>
            <a:r>
              <a:rPr lang="en-US" sz="2000"/>
              <a:t>We represent each element as a </a:t>
            </a:r>
            <a:r>
              <a:rPr lang="en-US" sz="2000" b="1" i="1"/>
              <a:t>b</a:t>
            </a:r>
            <a:r>
              <a:rPr lang="en-US" sz="2000"/>
              <a:t>-tuple of integers in the range [0, 1] and apply radix-sort with </a:t>
            </a:r>
            <a:r>
              <a:rPr lang="en-US" sz="2000" b="1" i="1"/>
              <a:t>N</a:t>
            </a:r>
            <a:r>
              <a:rPr lang="en-US" sz="2000"/>
              <a:t> </a:t>
            </a:r>
            <a:r>
              <a:rPr lang="en-US" sz="2000">
                <a:latin typeface="Symbol" pitchFamily="18" charset="2"/>
              </a:rPr>
              <a:t>=</a:t>
            </a:r>
            <a:r>
              <a:rPr lang="en-US" sz="2000"/>
              <a:t> 2</a:t>
            </a:r>
          </a:p>
          <a:p>
            <a:pPr>
              <a:lnSpc>
                <a:spcPct val="90000"/>
              </a:lnSpc>
            </a:pPr>
            <a:r>
              <a:rPr lang="en-US" sz="2000"/>
              <a:t>This application of the radix-sort algorithm runs in </a:t>
            </a:r>
            <a:r>
              <a:rPr lang="en-US" sz="2000" b="1" i="1"/>
              <a:t>O</a:t>
            </a:r>
            <a:r>
              <a:rPr lang="en-US" sz="2000"/>
              <a:t>(</a:t>
            </a:r>
            <a:r>
              <a:rPr lang="en-US" sz="2000" b="1" i="1"/>
              <a:t>bn</a:t>
            </a:r>
            <a:r>
              <a:rPr lang="en-US" sz="2000"/>
              <a:t>) time </a:t>
            </a:r>
          </a:p>
          <a:p>
            <a:pPr>
              <a:lnSpc>
                <a:spcPct val="90000"/>
              </a:lnSpc>
            </a:pPr>
            <a:r>
              <a:rPr lang="en-US" sz="2000"/>
              <a:t>For example, we can sort a sequence of 32-bit integers in linear time</a:t>
            </a:r>
          </a:p>
        </p:txBody>
      </p:sp>
      <p:sp>
        <p:nvSpPr>
          <p:cNvPr id="279556" name="Text Box 4"/>
          <p:cNvSpPr txBox="1">
            <a:spLocks noChangeArrowheads="1"/>
          </p:cNvSpPr>
          <p:nvPr/>
        </p:nvSpPr>
        <p:spPr bwMode="auto">
          <a:xfrm>
            <a:off x="5181600" y="2667000"/>
            <a:ext cx="3581400" cy="3424238"/>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342900">
              <a:defRPr>
                <a:solidFill>
                  <a:schemeClr val="tx1"/>
                </a:solidFill>
                <a:latin typeface="Arial" charset="0"/>
              </a:defRPr>
            </a:lvl1pPr>
            <a:lvl2pPr marL="342900" defTabSz="342900">
              <a:defRPr>
                <a:solidFill>
                  <a:schemeClr val="tx1"/>
                </a:solidFill>
                <a:latin typeface="Arial" charset="0"/>
              </a:defRPr>
            </a:lvl2pPr>
            <a:lvl3pPr marL="628650" defTabSz="342900">
              <a:defRPr>
                <a:solidFill>
                  <a:schemeClr val="tx1"/>
                </a:solidFill>
                <a:latin typeface="Arial" charset="0"/>
              </a:defRPr>
            </a:lvl3pPr>
            <a:lvl4pPr defTabSz="342900">
              <a:defRPr>
                <a:solidFill>
                  <a:schemeClr val="tx1"/>
                </a:solidFill>
                <a:latin typeface="Arial" charset="0"/>
              </a:defRPr>
            </a:lvl4pPr>
            <a:lvl5pPr defTabSz="342900">
              <a:defRPr>
                <a:solidFill>
                  <a:schemeClr val="tx1"/>
                </a:solidFill>
                <a:latin typeface="Arial" charset="0"/>
              </a:defRPr>
            </a:lvl5pPr>
            <a:lvl6pPr defTabSz="342900" fontAlgn="base">
              <a:spcBef>
                <a:spcPct val="0"/>
              </a:spcBef>
              <a:spcAft>
                <a:spcPct val="0"/>
              </a:spcAft>
              <a:defRPr>
                <a:solidFill>
                  <a:schemeClr val="tx1"/>
                </a:solidFill>
                <a:latin typeface="Arial" charset="0"/>
              </a:defRPr>
            </a:lvl6pPr>
            <a:lvl7pPr defTabSz="342900" fontAlgn="base">
              <a:spcBef>
                <a:spcPct val="0"/>
              </a:spcBef>
              <a:spcAft>
                <a:spcPct val="0"/>
              </a:spcAft>
              <a:defRPr>
                <a:solidFill>
                  <a:schemeClr val="tx1"/>
                </a:solidFill>
                <a:latin typeface="Arial" charset="0"/>
              </a:defRPr>
            </a:lvl7pPr>
            <a:lvl8pPr defTabSz="342900" fontAlgn="base">
              <a:spcBef>
                <a:spcPct val="0"/>
              </a:spcBef>
              <a:spcAft>
                <a:spcPct val="0"/>
              </a:spcAft>
              <a:defRPr>
                <a:solidFill>
                  <a:schemeClr val="tx1"/>
                </a:solidFill>
                <a:latin typeface="Arial" charset="0"/>
              </a:defRPr>
            </a:lvl8pPr>
            <a:lvl9pPr defTabSz="342900" fontAlgn="base">
              <a:spcBef>
                <a:spcPct val="0"/>
              </a:spcBef>
              <a:spcAft>
                <a:spcPct val="0"/>
              </a:spcAft>
              <a:defRPr>
                <a:solidFill>
                  <a:schemeClr val="tx1"/>
                </a:solidFill>
                <a:latin typeface="Arial" charset="0"/>
              </a:defRPr>
            </a:lvl9pPr>
          </a:lstStyle>
          <a:p>
            <a:pPr>
              <a:lnSpc>
                <a:spcPct val="90000"/>
              </a:lnSpc>
              <a:spcBef>
                <a:spcPct val="20000"/>
              </a:spcBef>
              <a:buClr>
                <a:schemeClr val="hlink"/>
              </a:buClr>
              <a:buSzPct val="110000"/>
              <a:buFont typeface="Wingdings" pitchFamily="2" charset="2"/>
              <a:buNone/>
            </a:pPr>
            <a:r>
              <a:rPr lang="en-US" sz="2000" b="1">
                <a:solidFill>
                  <a:srgbClr val="000000"/>
                </a:solidFill>
                <a:latin typeface="Times New Roman" pitchFamily="18" charset="0"/>
              </a:rPr>
              <a:t>Algorithm</a:t>
            </a:r>
            <a:r>
              <a:rPr lang="en-US" sz="2000">
                <a:latin typeface="Times New Roman" pitchFamily="18" charset="0"/>
              </a:rPr>
              <a:t> </a:t>
            </a:r>
            <a:r>
              <a:rPr lang="en-US" sz="2000" b="1" i="1">
                <a:solidFill>
                  <a:schemeClr val="tx2"/>
                </a:solidFill>
                <a:latin typeface="Times New Roman" pitchFamily="18" charset="0"/>
              </a:rPr>
              <a:t>binaryRadixSort</a:t>
            </a:r>
            <a:r>
              <a:rPr lang="en-US" sz="2000">
                <a:solidFill>
                  <a:schemeClr val="tx2"/>
                </a:solidFill>
                <a:latin typeface="Times New Roman" pitchFamily="18" charset="0"/>
              </a:rPr>
              <a:t>(</a:t>
            </a:r>
            <a:r>
              <a:rPr lang="en-US" sz="2000" b="1" i="1">
                <a:solidFill>
                  <a:schemeClr val="tx2"/>
                </a:solidFill>
                <a:latin typeface="Times New Roman" pitchFamily="18" charset="0"/>
              </a:rPr>
              <a:t>S</a:t>
            </a:r>
            <a:r>
              <a:rPr lang="en-US" sz="2000">
                <a:solidFill>
                  <a:schemeClr val="tx2"/>
                </a:solidFill>
                <a:latin typeface="Times New Roman" pitchFamily="18" charset="0"/>
              </a:rPr>
              <a:t>)</a:t>
            </a:r>
          </a:p>
          <a:p>
            <a:pPr>
              <a:lnSpc>
                <a:spcPct val="90000"/>
              </a:lnSpc>
              <a:spcBef>
                <a:spcPct val="20000"/>
              </a:spcBef>
              <a:buClr>
                <a:schemeClr val="hlink"/>
              </a:buClr>
              <a:buSzPct val="110000"/>
              <a:buFont typeface="Wingdings" pitchFamily="2" charset="2"/>
              <a:buNone/>
            </a:pPr>
            <a:r>
              <a:rPr lang="en-US" sz="2000">
                <a:solidFill>
                  <a:schemeClr val="tx2"/>
                </a:solidFill>
                <a:latin typeface="Times New Roman" pitchFamily="18" charset="0"/>
              </a:rPr>
              <a:t>	</a:t>
            </a:r>
            <a:r>
              <a:rPr lang="en-US" sz="2000" b="1">
                <a:solidFill>
                  <a:srgbClr val="000000"/>
                </a:solidFill>
                <a:latin typeface="Times New Roman" pitchFamily="18" charset="0"/>
              </a:rPr>
              <a:t>Input</a:t>
            </a:r>
            <a:r>
              <a:rPr lang="en-US" sz="2000">
                <a:latin typeface="Times New Roman" pitchFamily="18" charset="0"/>
              </a:rPr>
              <a:t> </a:t>
            </a:r>
            <a:r>
              <a:rPr lang="en-US" sz="2000">
                <a:solidFill>
                  <a:schemeClr val="accent2"/>
                </a:solidFill>
                <a:latin typeface="Times New Roman" pitchFamily="18" charset="0"/>
              </a:rPr>
              <a:t>sequence </a:t>
            </a:r>
            <a:r>
              <a:rPr lang="en-US" sz="2000" b="1" i="1">
                <a:solidFill>
                  <a:schemeClr val="accent2"/>
                </a:solidFill>
                <a:latin typeface="Times New Roman" pitchFamily="18" charset="0"/>
              </a:rPr>
              <a:t>S</a:t>
            </a:r>
            <a:r>
              <a:rPr lang="en-US" sz="2000">
                <a:solidFill>
                  <a:schemeClr val="accent2"/>
                </a:solidFill>
                <a:latin typeface="Times New Roman" pitchFamily="18" charset="0"/>
              </a:rPr>
              <a:t> of </a:t>
            </a:r>
            <a:r>
              <a:rPr lang="en-US" sz="2000" b="1" i="1">
                <a:solidFill>
                  <a:schemeClr val="accent2"/>
                </a:solidFill>
                <a:latin typeface="Times New Roman" pitchFamily="18" charset="0"/>
              </a:rPr>
              <a:t>b</a:t>
            </a:r>
            <a:r>
              <a:rPr lang="en-US" sz="2000">
                <a:solidFill>
                  <a:schemeClr val="accent2"/>
                </a:solidFill>
                <a:latin typeface="Times New Roman" pitchFamily="18" charset="0"/>
              </a:rPr>
              <a:t>-bit</a:t>
            </a:r>
            <a:br>
              <a:rPr lang="en-US" sz="2000">
                <a:solidFill>
                  <a:schemeClr val="accent2"/>
                </a:solidFill>
                <a:latin typeface="Times New Roman" pitchFamily="18" charset="0"/>
              </a:rPr>
            </a:br>
            <a:r>
              <a:rPr lang="en-US" sz="2000">
                <a:solidFill>
                  <a:schemeClr val="accent2"/>
                </a:solidFill>
                <a:latin typeface="Times New Roman" pitchFamily="18" charset="0"/>
              </a:rPr>
              <a:t>		integers </a:t>
            </a:r>
            <a:br>
              <a:rPr lang="en-US" sz="2000">
                <a:solidFill>
                  <a:schemeClr val="accent2"/>
                </a:solidFill>
                <a:latin typeface="Times New Roman" pitchFamily="18" charset="0"/>
              </a:rPr>
            </a:br>
            <a:r>
              <a:rPr lang="en-US" sz="2000">
                <a:solidFill>
                  <a:schemeClr val="accent2"/>
                </a:solidFill>
                <a:latin typeface="Times New Roman" pitchFamily="18" charset="0"/>
              </a:rPr>
              <a:t>	</a:t>
            </a:r>
            <a:r>
              <a:rPr lang="en-US" sz="2000" b="1">
                <a:solidFill>
                  <a:srgbClr val="000000"/>
                </a:solidFill>
                <a:latin typeface="Times New Roman" pitchFamily="18" charset="0"/>
              </a:rPr>
              <a:t>Output</a:t>
            </a:r>
            <a:r>
              <a:rPr lang="en-US" sz="2000">
                <a:latin typeface="Times New Roman" pitchFamily="18" charset="0"/>
              </a:rPr>
              <a:t> </a:t>
            </a:r>
            <a:r>
              <a:rPr lang="en-US" sz="2000">
                <a:solidFill>
                  <a:schemeClr val="accent2"/>
                </a:solidFill>
                <a:latin typeface="Times New Roman" pitchFamily="18" charset="0"/>
              </a:rPr>
              <a:t>sequence </a:t>
            </a:r>
            <a:r>
              <a:rPr lang="en-US" sz="2000" b="1" i="1">
                <a:solidFill>
                  <a:schemeClr val="accent2"/>
                </a:solidFill>
                <a:latin typeface="Times New Roman" pitchFamily="18" charset="0"/>
              </a:rPr>
              <a:t>S</a:t>
            </a:r>
            <a:r>
              <a:rPr lang="en-US" sz="2000">
                <a:solidFill>
                  <a:schemeClr val="accent2"/>
                </a:solidFill>
                <a:latin typeface="Times New Roman" pitchFamily="18" charset="0"/>
              </a:rPr>
              <a:t> sorted</a:t>
            </a:r>
          </a:p>
          <a:p>
            <a:pPr>
              <a:lnSpc>
                <a:spcPct val="90000"/>
              </a:lnSpc>
              <a:spcBef>
                <a:spcPct val="20000"/>
              </a:spcBef>
              <a:buClr>
                <a:schemeClr val="hlink"/>
              </a:buClr>
              <a:buSzPct val="110000"/>
              <a:buFont typeface="Wingdings" pitchFamily="2" charset="2"/>
              <a:buNone/>
            </a:pPr>
            <a:r>
              <a:rPr lang="en-US" sz="2000">
                <a:solidFill>
                  <a:schemeClr val="accent2"/>
                </a:solidFill>
                <a:latin typeface="Times New Roman" pitchFamily="18" charset="0"/>
              </a:rPr>
              <a:t>	replace each element </a:t>
            </a:r>
            <a:r>
              <a:rPr lang="en-US" sz="2000" b="1" i="1">
                <a:solidFill>
                  <a:schemeClr val="accent2"/>
                </a:solidFill>
                <a:latin typeface="Times New Roman" pitchFamily="18" charset="0"/>
              </a:rPr>
              <a:t>x</a:t>
            </a:r>
            <a:r>
              <a:rPr lang="en-US" sz="2000">
                <a:solidFill>
                  <a:schemeClr val="accent2"/>
                </a:solidFill>
                <a:latin typeface="Times New Roman" pitchFamily="18" charset="0"/>
              </a:rPr>
              <a:t/>
            </a:r>
            <a:br>
              <a:rPr lang="en-US" sz="2000">
                <a:solidFill>
                  <a:schemeClr val="accent2"/>
                </a:solidFill>
                <a:latin typeface="Times New Roman" pitchFamily="18" charset="0"/>
              </a:rPr>
            </a:br>
            <a:r>
              <a:rPr lang="en-US" sz="2000">
                <a:solidFill>
                  <a:schemeClr val="accent2"/>
                </a:solidFill>
                <a:latin typeface="Times New Roman" pitchFamily="18" charset="0"/>
              </a:rPr>
              <a:t>		of </a:t>
            </a:r>
            <a:r>
              <a:rPr lang="en-US" sz="2000" b="1" i="1">
                <a:solidFill>
                  <a:schemeClr val="accent2"/>
                </a:solidFill>
                <a:latin typeface="Times New Roman" pitchFamily="18" charset="0"/>
              </a:rPr>
              <a:t>S</a:t>
            </a:r>
            <a:r>
              <a:rPr lang="en-US" sz="2000">
                <a:solidFill>
                  <a:schemeClr val="accent2"/>
                </a:solidFill>
                <a:latin typeface="Times New Roman" pitchFamily="18" charset="0"/>
              </a:rPr>
              <a:t> with the item (0</a:t>
            </a:r>
            <a:r>
              <a:rPr lang="en-US" sz="2000" b="1" i="1">
                <a:solidFill>
                  <a:schemeClr val="accent2"/>
                </a:solidFill>
                <a:latin typeface="Times New Roman" pitchFamily="18" charset="0"/>
              </a:rPr>
              <a:t>, x</a:t>
            </a:r>
            <a:r>
              <a:rPr lang="en-US" sz="2000">
                <a:solidFill>
                  <a:schemeClr val="accent2"/>
                </a:solidFill>
                <a:latin typeface="Times New Roman" pitchFamily="18" charset="0"/>
              </a:rPr>
              <a:t>)</a:t>
            </a:r>
          </a:p>
          <a:p>
            <a:pPr>
              <a:lnSpc>
                <a:spcPct val="90000"/>
              </a:lnSpc>
              <a:spcBef>
                <a:spcPct val="20000"/>
              </a:spcBef>
              <a:buClr>
                <a:schemeClr val="hlink"/>
              </a:buClr>
              <a:buSzPct val="110000"/>
              <a:buFont typeface="Wingdings" pitchFamily="2" charset="2"/>
              <a:buNone/>
            </a:pPr>
            <a:r>
              <a:rPr lang="en-US" sz="2000">
                <a:solidFill>
                  <a:schemeClr val="accent2"/>
                </a:solidFill>
                <a:latin typeface="Times New Roman" pitchFamily="18" charset="0"/>
              </a:rPr>
              <a:t>	</a:t>
            </a:r>
            <a:r>
              <a:rPr lang="en-US" sz="2000" b="1">
                <a:solidFill>
                  <a:srgbClr val="000000"/>
                </a:solidFill>
                <a:latin typeface="Times New Roman" pitchFamily="18" charset="0"/>
              </a:rPr>
              <a:t>for </a:t>
            </a:r>
            <a:r>
              <a:rPr lang="en-US" sz="2000" b="1" i="1">
                <a:solidFill>
                  <a:schemeClr val="accent2"/>
                </a:solidFill>
                <a:latin typeface="Times New Roman" pitchFamily="18" charset="0"/>
              </a:rPr>
              <a:t>i </a:t>
            </a:r>
            <a:r>
              <a:rPr lang="en-US" sz="2000">
                <a:solidFill>
                  <a:srgbClr val="000000"/>
                </a:solidFill>
                <a:latin typeface="Times New Roman" pitchFamily="18" charset="0"/>
                <a:sym typeface="Symbol" pitchFamily="18" charset="2"/>
              </a:rPr>
              <a:t></a:t>
            </a:r>
            <a:r>
              <a:rPr lang="en-US" sz="2000">
                <a:solidFill>
                  <a:schemeClr val="tx2"/>
                </a:solidFill>
                <a:latin typeface="Times New Roman" pitchFamily="18" charset="0"/>
              </a:rPr>
              <a:t> </a:t>
            </a:r>
            <a:r>
              <a:rPr lang="en-US" sz="2000">
                <a:solidFill>
                  <a:schemeClr val="accent2"/>
                </a:solidFill>
                <a:latin typeface="Times New Roman" pitchFamily="18" charset="0"/>
              </a:rPr>
              <a:t>0 </a:t>
            </a:r>
            <a:r>
              <a:rPr lang="en-US" sz="2000" b="1">
                <a:solidFill>
                  <a:srgbClr val="000000"/>
                </a:solidFill>
                <a:latin typeface="Times New Roman" pitchFamily="18" charset="0"/>
              </a:rPr>
              <a:t>to</a:t>
            </a:r>
            <a:r>
              <a:rPr lang="en-US" sz="2000">
                <a:solidFill>
                  <a:schemeClr val="accent2"/>
                </a:solidFill>
                <a:latin typeface="Times New Roman" pitchFamily="18" charset="0"/>
              </a:rPr>
              <a:t> </a:t>
            </a:r>
            <a:r>
              <a:rPr lang="en-US" sz="2000" b="1" i="1">
                <a:solidFill>
                  <a:schemeClr val="accent2"/>
                </a:solidFill>
                <a:latin typeface="Times New Roman" pitchFamily="18" charset="0"/>
              </a:rPr>
              <a:t>b</a:t>
            </a:r>
            <a:r>
              <a:rPr lang="en-US" sz="2000">
                <a:solidFill>
                  <a:schemeClr val="accent2"/>
                </a:solidFill>
                <a:latin typeface="Symbol" pitchFamily="18" charset="2"/>
              </a:rPr>
              <a:t> - </a:t>
            </a:r>
            <a:r>
              <a:rPr lang="en-US" sz="2000">
                <a:solidFill>
                  <a:schemeClr val="accent2"/>
                </a:solidFill>
                <a:latin typeface="Times New Roman" pitchFamily="18" charset="0"/>
              </a:rPr>
              <a:t>1</a:t>
            </a:r>
          </a:p>
          <a:p>
            <a:pPr>
              <a:lnSpc>
                <a:spcPct val="90000"/>
              </a:lnSpc>
              <a:spcBef>
                <a:spcPct val="20000"/>
              </a:spcBef>
              <a:buClr>
                <a:schemeClr val="hlink"/>
              </a:buClr>
              <a:buSzPct val="110000"/>
              <a:buFont typeface="Wingdings" pitchFamily="2" charset="2"/>
              <a:buNone/>
            </a:pPr>
            <a:r>
              <a:rPr lang="en-US" sz="2000">
                <a:solidFill>
                  <a:schemeClr val="accent2"/>
                </a:solidFill>
                <a:latin typeface="Times New Roman" pitchFamily="18" charset="0"/>
              </a:rPr>
              <a:t>		replace the key </a:t>
            </a:r>
            <a:r>
              <a:rPr lang="en-US" sz="2000" b="1" i="1">
                <a:solidFill>
                  <a:schemeClr val="accent2"/>
                </a:solidFill>
                <a:latin typeface="Times New Roman" pitchFamily="18" charset="0"/>
              </a:rPr>
              <a:t>k</a:t>
            </a:r>
            <a:r>
              <a:rPr lang="en-US" sz="2000">
                <a:solidFill>
                  <a:schemeClr val="accent2"/>
                </a:solidFill>
                <a:latin typeface="Times New Roman" pitchFamily="18" charset="0"/>
              </a:rPr>
              <a:t> of </a:t>
            </a:r>
            <a:br>
              <a:rPr lang="en-US" sz="2000">
                <a:solidFill>
                  <a:schemeClr val="accent2"/>
                </a:solidFill>
                <a:latin typeface="Times New Roman" pitchFamily="18" charset="0"/>
              </a:rPr>
            </a:br>
            <a:r>
              <a:rPr lang="en-US" sz="2000">
                <a:solidFill>
                  <a:schemeClr val="accent2"/>
                </a:solidFill>
                <a:latin typeface="Times New Roman" pitchFamily="18" charset="0"/>
              </a:rPr>
              <a:t>			each item (</a:t>
            </a:r>
            <a:r>
              <a:rPr lang="en-US" sz="2000" b="1" i="1">
                <a:solidFill>
                  <a:schemeClr val="accent2"/>
                </a:solidFill>
                <a:latin typeface="Times New Roman" pitchFamily="18" charset="0"/>
              </a:rPr>
              <a:t>k, x</a:t>
            </a:r>
            <a:r>
              <a:rPr lang="en-US" sz="2000">
                <a:solidFill>
                  <a:schemeClr val="accent2"/>
                </a:solidFill>
                <a:latin typeface="Times New Roman" pitchFamily="18" charset="0"/>
              </a:rPr>
              <a:t>) of </a:t>
            </a:r>
            <a:r>
              <a:rPr lang="en-US" sz="2000" b="1" i="1">
                <a:solidFill>
                  <a:schemeClr val="accent2"/>
                </a:solidFill>
                <a:latin typeface="Times New Roman" pitchFamily="18" charset="0"/>
              </a:rPr>
              <a:t>S</a:t>
            </a:r>
            <a:r>
              <a:rPr lang="en-US" sz="2000">
                <a:solidFill>
                  <a:schemeClr val="accent2"/>
                </a:solidFill>
                <a:latin typeface="Times New Roman" pitchFamily="18" charset="0"/>
              </a:rPr>
              <a:t>			with bit </a:t>
            </a:r>
            <a:r>
              <a:rPr lang="en-US" sz="2000" b="1" i="1">
                <a:solidFill>
                  <a:schemeClr val="accent2"/>
                </a:solidFill>
                <a:latin typeface="Times New Roman" pitchFamily="18" charset="0"/>
              </a:rPr>
              <a:t>x</a:t>
            </a:r>
            <a:r>
              <a:rPr lang="en-US" sz="2000" b="1" i="1" baseline="-25000">
                <a:solidFill>
                  <a:schemeClr val="accent2"/>
                </a:solidFill>
                <a:latin typeface="Times New Roman" pitchFamily="18" charset="0"/>
              </a:rPr>
              <a:t>i</a:t>
            </a:r>
            <a:r>
              <a:rPr lang="en-US" sz="2000">
                <a:solidFill>
                  <a:schemeClr val="accent2"/>
                </a:solidFill>
                <a:latin typeface="Times New Roman" pitchFamily="18" charset="0"/>
              </a:rPr>
              <a:t> of </a:t>
            </a:r>
            <a:r>
              <a:rPr lang="en-US" sz="2000" b="1" i="1">
                <a:solidFill>
                  <a:schemeClr val="accent2"/>
                </a:solidFill>
                <a:latin typeface="Times New Roman" pitchFamily="18" charset="0"/>
              </a:rPr>
              <a:t>x</a:t>
            </a:r>
            <a:endParaRPr lang="en-US" sz="2000">
              <a:solidFill>
                <a:schemeClr val="accent2"/>
              </a:solidFill>
              <a:latin typeface="Times New Roman" pitchFamily="18" charset="0"/>
            </a:endParaRPr>
          </a:p>
          <a:p>
            <a:pPr>
              <a:lnSpc>
                <a:spcPct val="90000"/>
              </a:lnSpc>
              <a:spcBef>
                <a:spcPct val="20000"/>
              </a:spcBef>
              <a:buClr>
                <a:schemeClr val="hlink"/>
              </a:buClr>
              <a:buSzPct val="110000"/>
              <a:buFont typeface="Wingdings" pitchFamily="2" charset="2"/>
              <a:buNone/>
            </a:pPr>
            <a:r>
              <a:rPr lang="en-US" sz="2000">
                <a:solidFill>
                  <a:schemeClr val="accent2"/>
                </a:solidFill>
                <a:latin typeface="Times New Roman" pitchFamily="18" charset="0"/>
              </a:rPr>
              <a:t>		</a:t>
            </a:r>
            <a:r>
              <a:rPr lang="en-US" sz="2000" b="1" i="1">
                <a:solidFill>
                  <a:schemeClr val="tx2"/>
                </a:solidFill>
                <a:latin typeface="Times New Roman" pitchFamily="18" charset="0"/>
              </a:rPr>
              <a:t>bucketSort</a:t>
            </a:r>
            <a:r>
              <a:rPr lang="en-US" sz="2000">
                <a:solidFill>
                  <a:schemeClr val="tx2"/>
                </a:solidFill>
                <a:latin typeface="Times New Roman" pitchFamily="18" charset="0"/>
              </a:rPr>
              <a:t>(</a:t>
            </a:r>
            <a:r>
              <a:rPr lang="en-US" sz="2000" b="1" i="1">
                <a:solidFill>
                  <a:schemeClr val="tx2"/>
                </a:solidFill>
                <a:latin typeface="Times New Roman" pitchFamily="18" charset="0"/>
              </a:rPr>
              <a:t>S, </a:t>
            </a:r>
            <a:r>
              <a:rPr lang="en-US" sz="2000">
                <a:solidFill>
                  <a:schemeClr val="tx2"/>
                </a:solidFill>
                <a:latin typeface="Times New Roman" pitchFamily="18" charset="0"/>
              </a:rPr>
              <a:t>2)</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Comparison of sorting </a:t>
            </a:r>
            <a:r>
              <a:rPr lang="en-US" dirty="0" err="1" smtClean="0"/>
              <a:t>algos</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219200"/>
                <a:ext cx="8229600" cy="4906963"/>
              </a:xfrm>
            </p:spPr>
            <p:txBody>
              <a:bodyPr/>
              <a:lstStyle/>
              <a:p>
                <a:r>
                  <a:rPr lang="en-US" dirty="0" smtClean="0"/>
                  <a:t>No clear “best” sorting </a:t>
                </a:r>
                <a:r>
                  <a:rPr lang="en-US" dirty="0" err="1" smtClean="0"/>
                  <a:t>algo</a:t>
                </a:r>
                <a:r>
                  <a:rPr lang="en-US" smtClean="0"/>
                  <a:t>.</a:t>
                </a:r>
              </a:p>
              <a:p>
                <a:r>
                  <a:rPr lang="en-US" dirty="0" smtClean="0"/>
                  <a:t>Insertion sort</a:t>
                </a:r>
              </a:p>
              <a:p>
                <a:pPr lvl="1"/>
                <a:r>
                  <a:rPr lang="en-US" dirty="0" smtClean="0"/>
                  <a:t>Runs in O(n + k ) time, where k is the no. of elements out of order.</a:t>
                </a:r>
              </a:p>
              <a:p>
                <a:pPr lvl="1"/>
                <a:r>
                  <a:rPr lang="en-US" dirty="0" smtClean="0"/>
                  <a:t>So, excellent of sorting small sequences/sequences almost sorted.</a:t>
                </a:r>
              </a:p>
              <a:p>
                <a:r>
                  <a:rPr lang="en-US" dirty="0" smtClean="0"/>
                  <a:t>Merge Sort</a:t>
                </a:r>
              </a:p>
              <a:p>
                <a:pPr lvl="1"/>
                <a:r>
                  <a:rPr lang="en-US" dirty="0" smtClean="0"/>
                  <a:t>Runs in O(n log n) time in the worst case.</a:t>
                </a:r>
              </a:p>
              <a:p>
                <a:pPr lvl="1"/>
                <a:r>
                  <a:rPr lang="en-US" dirty="0" smtClean="0"/>
                  <a:t>Difficult to run in-place.</a:t>
                </a:r>
              </a:p>
              <a:p>
                <a:r>
                  <a:rPr lang="en-US" dirty="0" smtClean="0"/>
                  <a:t>Quick-sort</a:t>
                </a:r>
              </a:p>
              <a:p>
                <a:pPr lvl="1"/>
                <a:r>
                  <a:rPr lang="en-US" dirty="0" smtClean="0"/>
                  <a:t>O(</a:t>
                </a:r>
                <a14:m>
                  <m:oMath xmlns:m="http://schemas.openxmlformats.org/officeDocument/2006/math">
                    <m:sSup>
                      <m:sSupPr>
                        <m:ctrlPr>
                          <a:rPr lang="en-US" i="1" smtClean="0">
                            <a:latin typeface="Cambria Math"/>
                          </a:rPr>
                        </m:ctrlPr>
                      </m:sSupPr>
                      <m:e>
                        <m:r>
                          <a:rPr lang="en-US" b="0" i="1" smtClean="0">
                            <a:latin typeface="Cambria Math"/>
                          </a:rPr>
                          <m:t>𝑛</m:t>
                        </m:r>
                      </m:e>
                      <m:sup>
                        <m:r>
                          <a:rPr lang="en-US" b="0" i="1" smtClean="0">
                            <a:latin typeface="Cambria Math"/>
                          </a:rPr>
                          <m:t>2</m:t>
                        </m:r>
                      </m:sup>
                    </m:sSup>
                  </m:oMath>
                </a14:m>
                <a:r>
                  <a:rPr lang="en-US" dirty="0" smtClean="0"/>
                  <a:t>) time in worst case</a:t>
                </a:r>
              </a:p>
              <a:p>
                <a:pPr lvl="1"/>
                <a:r>
                  <a:rPr lang="en-US" dirty="0" smtClean="0"/>
                  <a:t>Poor choice for real-time applications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219200"/>
                <a:ext cx="8229600" cy="4906963"/>
              </a:xfrm>
              <a:blipFill rotWithShape="1">
                <a:blip r:embed="rId2"/>
                <a:stretch>
                  <a:fillRect l="-1259" t="-1242" b="-19255"/>
                </a:stretch>
              </a:blipFill>
            </p:spPr>
            <p:txBody>
              <a:bodyPr/>
              <a:lstStyle/>
              <a:p>
                <a:r>
                  <a:rPr lang="en-US">
                    <a:noFill/>
                  </a:rPr>
                  <a:t> </a:t>
                </a:r>
              </a:p>
            </p:txBody>
          </p:sp>
        </mc:Fallback>
      </mc:AlternateContent>
      <p:sp>
        <p:nvSpPr>
          <p:cNvPr id="4" name="Footer Placeholder 3"/>
          <p:cNvSpPr>
            <a:spLocks noGrp="1"/>
          </p:cNvSpPr>
          <p:nvPr>
            <p:ph type="ftr" sz="quarter" idx="11"/>
          </p:nvPr>
        </p:nvSpPr>
        <p:spPr/>
        <p:txBody>
          <a:bodyPr/>
          <a:lstStyle/>
          <a:p>
            <a:r>
              <a:rPr lang="en-US" smtClean="0"/>
              <a:t>Data Structures and Algorithms</a:t>
            </a:r>
            <a:endParaRPr lang="en-US"/>
          </a:p>
        </p:txBody>
      </p:sp>
      <p:sp>
        <p:nvSpPr>
          <p:cNvPr id="5" name="Slide Number Placeholder 4"/>
          <p:cNvSpPr>
            <a:spLocks noGrp="1"/>
          </p:cNvSpPr>
          <p:nvPr>
            <p:ph type="sldNum" sz="quarter" idx="12"/>
          </p:nvPr>
        </p:nvSpPr>
        <p:spPr/>
        <p:txBody>
          <a:bodyPr/>
          <a:lstStyle/>
          <a:p>
            <a:fld id="{AA248A14-1B58-45AD-8E86-E26A000E2CC9}" type="slidenum">
              <a:rPr lang="en-US" smtClean="0"/>
              <a:pPr/>
              <a:t>11</a:t>
            </a:fld>
            <a:endParaRPr lang="en-US"/>
          </a:p>
        </p:txBody>
      </p:sp>
    </p:spTree>
    <p:extLst>
      <p:ext uri="{BB962C8B-B14F-4D97-AF65-F5344CB8AC3E}">
        <p14:creationId xmlns:p14="http://schemas.microsoft.com/office/powerpoint/2010/main" val="2727989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6800" y="274638"/>
            <a:ext cx="7620000" cy="944562"/>
          </a:xfrm>
        </p:spPr>
        <p:txBody>
          <a:bodyPr/>
          <a:lstStyle/>
          <a:p>
            <a:endParaRPr lang="en-US" dirty="0"/>
          </a:p>
        </p:txBody>
      </p:sp>
      <p:sp>
        <p:nvSpPr>
          <p:cNvPr id="3" name="Content Placeholder 2"/>
          <p:cNvSpPr>
            <a:spLocks noGrp="1"/>
          </p:cNvSpPr>
          <p:nvPr>
            <p:ph idx="1"/>
          </p:nvPr>
        </p:nvSpPr>
        <p:spPr>
          <a:xfrm>
            <a:off x="457200" y="1371600"/>
            <a:ext cx="8229600" cy="4754563"/>
          </a:xfrm>
        </p:spPr>
        <p:txBody>
          <a:bodyPr/>
          <a:lstStyle/>
          <a:p>
            <a:r>
              <a:rPr lang="en-US" dirty="0" smtClean="0"/>
              <a:t>Bucket-sort or radix sort</a:t>
            </a:r>
          </a:p>
          <a:p>
            <a:r>
              <a:rPr lang="en-US" dirty="0" smtClean="0"/>
              <a:t>Suitable for sorting by integer keys or d-tuples of integer keys. </a:t>
            </a:r>
          </a:p>
          <a:p>
            <a:r>
              <a:rPr lang="en-US" dirty="0" smtClean="0"/>
              <a:t>Runs in O(d(n + N)) time, where integer keys are in the range [0, N – 1]</a:t>
            </a:r>
          </a:p>
          <a:p>
            <a:r>
              <a:rPr lang="en-US" dirty="0" smtClean="0"/>
              <a:t>If d(n + N) is below n log n, this is faster than even quick sort.</a:t>
            </a:r>
          </a:p>
          <a:p>
            <a:endParaRPr lang="en-US" dirty="0"/>
          </a:p>
        </p:txBody>
      </p:sp>
      <p:sp>
        <p:nvSpPr>
          <p:cNvPr id="4" name="Footer Placeholder 3"/>
          <p:cNvSpPr>
            <a:spLocks noGrp="1"/>
          </p:cNvSpPr>
          <p:nvPr>
            <p:ph type="ftr" sz="quarter" idx="11"/>
          </p:nvPr>
        </p:nvSpPr>
        <p:spPr/>
        <p:txBody>
          <a:bodyPr/>
          <a:lstStyle/>
          <a:p>
            <a:r>
              <a:rPr lang="en-US" smtClean="0"/>
              <a:t>Data Structures and Algorithms</a:t>
            </a:r>
            <a:endParaRPr lang="en-US"/>
          </a:p>
        </p:txBody>
      </p:sp>
      <p:sp>
        <p:nvSpPr>
          <p:cNvPr id="5" name="Slide Number Placeholder 4"/>
          <p:cNvSpPr>
            <a:spLocks noGrp="1"/>
          </p:cNvSpPr>
          <p:nvPr>
            <p:ph type="sldNum" sz="quarter" idx="12"/>
          </p:nvPr>
        </p:nvSpPr>
        <p:spPr/>
        <p:txBody>
          <a:bodyPr/>
          <a:lstStyle/>
          <a:p>
            <a:fld id="{AA248A14-1B58-45AD-8E86-E26A000E2CC9}" type="slidenum">
              <a:rPr lang="en-US" smtClean="0"/>
              <a:pPr/>
              <a:t>12</a:t>
            </a:fld>
            <a:endParaRPr lang="en-US"/>
          </a:p>
        </p:txBody>
      </p:sp>
    </p:spTree>
    <p:extLst>
      <p:ext uri="{BB962C8B-B14F-4D97-AF65-F5344CB8AC3E}">
        <p14:creationId xmlns:p14="http://schemas.microsoft.com/office/powerpoint/2010/main" val="41303289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Footer Placeholder 4"/>
          <p:cNvSpPr>
            <a:spLocks noGrp="1"/>
          </p:cNvSpPr>
          <p:nvPr>
            <p:ph type="ftr" sz="quarter" idx="11"/>
          </p:nvPr>
        </p:nvSpPr>
        <p:spPr/>
        <p:txBody>
          <a:bodyPr/>
          <a:lstStyle/>
          <a:p>
            <a:r>
              <a:rPr lang="en-US"/>
              <a:t>Data Structures and Algorithms</a:t>
            </a:r>
          </a:p>
        </p:txBody>
      </p:sp>
      <p:sp>
        <p:nvSpPr>
          <p:cNvPr id="44" name="Slide Number Placeholder 5"/>
          <p:cNvSpPr>
            <a:spLocks noGrp="1"/>
          </p:cNvSpPr>
          <p:nvPr>
            <p:ph type="sldNum" sz="quarter" idx="12"/>
          </p:nvPr>
        </p:nvSpPr>
        <p:spPr/>
        <p:txBody>
          <a:bodyPr/>
          <a:lstStyle/>
          <a:p>
            <a:fld id="{B434B3BF-2795-4196-A997-8C90979F7852}" type="slidenum">
              <a:rPr lang="en-US"/>
              <a:pPr/>
              <a:t>13</a:t>
            </a:fld>
            <a:endParaRPr lang="en-US"/>
          </a:p>
        </p:txBody>
      </p:sp>
      <p:sp>
        <p:nvSpPr>
          <p:cNvPr id="280578" name="Rectangle 2"/>
          <p:cNvSpPr>
            <a:spLocks noGrp="1" noChangeArrowheads="1"/>
          </p:cNvSpPr>
          <p:nvPr>
            <p:ph type="title"/>
          </p:nvPr>
        </p:nvSpPr>
        <p:spPr/>
        <p:txBody>
          <a:bodyPr/>
          <a:lstStyle/>
          <a:p>
            <a:r>
              <a:rPr lang="en-US"/>
              <a:t>Example</a:t>
            </a:r>
          </a:p>
        </p:txBody>
      </p:sp>
      <p:sp>
        <p:nvSpPr>
          <p:cNvPr id="280579" name="Rectangle 3"/>
          <p:cNvSpPr>
            <a:spLocks noGrp="1" noChangeArrowheads="1"/>
          </p:cNvSpPr>
          <p:nvPr>
            <p:ph type="body" idx="1"/>
          </p:nvPr>
        </p:nvSpPr>
        <p:spPr>
          <a:xfrm>
            <a:off x="838200" y="1676400"/>
            <a:ext cx="7772400" cy="533400"/>
          </a:xfrm>
        </p:spPr>
        <p:txBody>
          <a:bodyPr/>
          <a:lstStyle/>
          <a:p>
            <a:r>
              <a:rPr lang="en-US" sz="2000"/>
              <a:t>Sorting a sequence of 4-bit integers</a:t>
            </a:r>
          </a:p>
        </p:txBody>
      </p:sp>
      <p:grpSp>
        <p:nvGrpSpPr>
          <p:cNvPr id="280580" name="Group 4"/>
          <p:cNvGrpSpPr>
            <a:grpSpLocks/>
          </p:cNvGrpSpPr>
          <p:nvPr/>
        </p:nvGrpSpPr>
        <p:grpSpPr bwMode="auto">
          <a:xfrm>
            <a:off x="1066800" y="2438400"/>
            <a:ext cx="685800" cy="3429000"/>
            <a:chOff x="816" y="1488"/>
            <a:chExt cx="432" cy="2160"/>
          </a:xfrm>
        </p:grpSpPr>
        <p:cxnSp>
          <p:nvCxnSpPr>
            <p:cNvPr id="280581" name="AutoShape 5"/>
            <p:cNvCxnSpPr>
              <a:cxnSpLocks noChangeShapeType="1"/>
              <a:stCxn id="280582" idx="2"/>
              <a:endCxn id="280586" idx="0"/>
            </p:cNvCxnSpPr>
            <p:nvPr/>
          </p:nvCxnSpPr>
          <p:spPr bwMode="auto">
            <a:xfrm>
              <a:off x="1032" y="1782"/>
              <a:ext cx="0" cy="157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582" name="AutoShape 6"/>
            <p:cNvSpPr>
              <a:spLocks noChangeArrowheads="1"/>
            </p:cNvSpPr>
            <p:nvPr/>
          </p:nvSpPr>
          <p:spPr bwMode="auto">
            <a:xfrm>
              <a:off x="816" y="1488"/>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1001</a:t>
              </a:r>
              <a:endParaRPr lang="en-US" sz="2400" b="1" i="1">
                <a:latin typeface="Times New Roman" pitchFamily="18" charset="0"/>
              </a:endParaRPr>
            </a:p>
          </p:txBody>
        </p:sp>
        <p:sp>
          <p:nvSpPr>
            <p:cNvPr id="280583" name="AutoShape 7"/>
            <p:cNvSpPr>
              <a:spLocks noChangeArrowheads="1"/>
            </p:cNvSpPr>
            <p:nvPr/>
          </p:nvSpPr>
          <p:spPr bwMode="auto">
            <a:xfrm>
              <a:off x="816" y="1956"/>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0010</a:t>
              </a:r>
              <a:endParaRPr lang="en-US" sz="2400" b="1" i="1">
                <a:latin typeface="Times New Roman" pitchFamily="18" charset="0"/>
              </a:endParaRPr>
            </a:p>
          </p:txBody>
        </p:sp>
        <p:sp>
          <p:nvSpPr>
            <p:cNvPr id="280584" name="AutoShape 8"/>
            <p:cNvSpPr>
              <a:spLocks noChangeArrowheads="1"/>
            </p:cNvSpPr>
            <p:nvPr/>
          </p:nvSpPr>
          <p:spPr bwMode="auto">
            <a:xfrm>
              <a:off x="816" y="2424"/>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1101</a:t>
              </a:r>
              <a:endParaRPr lang="en-US" sz="2400" b="1" i="1">
                <a:latin typeface="Times New Roman" pitchFamily="18" charset="0"/>
              </a:endParaRPr>
            </a:p>
          </p:txBody>
        </p:sp>
        <p:sp>
          <p:nvSpPr>
            <p:cNvPr id="280585" name="AutoShape 9"/>
            <p:cNvSpPr>
              <a:spLocks noChangeArrowheads="1"/>
            </p:cNvSpPr>
            <p:nvPr/>
          </p:nvSpPr>
          <p:spPr bwMode="auto">
            <a:xfrm>
              <a:off x="816" y="28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0001</a:t>
              </a:r>
              <a:endParaRPr lang="en-US" sz="2400" b="1" i="1">
                <a:latin typeface="Times New Roman" pitchFamily="18" charset="0"/>
              </a:endParaRPr>
            </a:p>
          </p:txBody>
        </p:sp>
        <p:sp>
          <p:nvSpPr>
            <p:cNvPr id="280586" name="AutoShape 10"/>
            <p:cNvSpPr>
              <a:spLocks noChangeArrowheads="1"/>
            </p:cNvSpPr>
            <p:nvPr/>
          </p:nvSpPr>
          <p:spPr bwMode="auto">
            <a:xfrm>
              <a:off x="816" y="336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1110</a:t>
              </a:r>
              <a:endParaRPr lang="en-US" sz="2400" b="1" i="1">
                <a:latin typeface="Times New Roman" pitchFamily="18" charset="0"/>
              </a:endParaRPr>
            </a:p>
          </p:txBody>
        </p:sp>
      </p:grpSp>
      <p:grpSp>
        <p:nvGrpSpPr>
          <p:cNvPr id="280587" name="Group 11"/>
          <p:cNvGrpSpPr>
            <a:grpSpLocks/>
          </p:cNvGrpSpPr>
          <p:nvPr/>
        </p:nvGrpSpPr>
        <p:grpSpPr bwMode="auto">
          <a:xfrm>
            <a:off x="2743200" y="2438400"/>
            <a:ext cx="685800" cy="3429000"/>
            <a:chOff x="1728" y="1536"/>
            <a:chExt cx="432" cy="2160"/>
          </a:xfrm>
        </p:grpSpPr>
        <p:cxnSp>
          <p:nvCxnSpPr>
            <p:cNvPr id="280588" name="AutoShape 12"/>
            <p:cNvCxnSpPr>
              <a:cxnSpLocks noChangeShapeType="1"/>
              <a:stCxn id="280589" idx="2"/>
              <a:endCxn id="280593" idx="0"/>
            </p:cNvCxnSpPr>
            <p:nvPr/>
          </p:nvCxnSpPr>
          <p:spPr bwMode="auto">
            <a:xfrm>
              <a:off x="1944" y="1830"/>
              <a:ext cx="0" cy="157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589" name="AutoShape 13"/>
            <p:cNvSpPr>
              <a:spLocks noChangeArrowheads="1"/>
            </p:cNvSpPr>
            <p:nvPr/>
          </p:nvSpPr>
          <p:spPr bwMode="auto">
            <a:xfrm>
              <a:off x="1728" y="1536"/>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001</a:t>
              </a:r>
              <a:r>
                <a:rPr lang="en-US" sz="2400">
                  <a:solidFill>
                    <a:schemeClr val="tx2"/>
                  </a:solidFill>
                  <a:latin typeface="Times New Roman" pitchFamily="18" charset="0"/>
                </a:rPr>
                <a:t>0</a:t>
              </a:r>
            </a:p>
          </p:txBody>
        </p:sp>
        <p:sp>
          <p:nvSpPr>
            <p:cNvPr id="280590" name="AutoShape 14"/>
            <p:cNvSpPr>
              <a:spLocks noChangeArrowheads="1"/>
            </p:cNvSpPr>
            <p:nvPr/>
          </p:nvSpPr>
          <p:spPr bwMode="auto">
            <a:xfrm>
              <a:off x="1728" y="2004"/>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111</a:t>
              </a:r>
              <a:r>
                <a:rPr lang="en-US" sz="2400">
                  <a:solidFill>
                    <a:schemeClr val="tx2"/>
                  </a:solidFill>
                  <a:latin typeface="Times New Roman" pitchFamily="18" charset="0"/>
                </a:rPr>
                <a:t>0</a:t>
              </a:r>
            </a:p>
          </p:txBody>
        </p:sp>
        <p:sp>
          <p:nvSpPr>
            <p:cNvPr id="280591" name="AutoShape 15"/>
            <p:cNvSpPr>
              <a:spLocks noChangeArrowheads="1"/>
            </p:cNvSpPr>
            <p:nvPr/>
          </p:nvSpPr>
          <p:spPr bwMode="auto">
            <a:xfrm>
              <a:off x="1728" y="247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100</a:t>
              </a:r>
              <a:r>
                <a:rPr lang="en-US" sz="2400">
                  <a:solidFill>
                    <a:schemeClr val="tx2"/>
                  </a:solidFill>
                  <a:latin typeface="Times New Roman" pitchFamily="18" charset="0"/>
                </a:rPr>
                <a:t>1</a:t>
              </a:r>
            </a:p>
          </p:txBody>
        </p:sp>
        <p:sp>
          <p:nvSpPr>
            <p:cNvPr id="280592" name="AutoShape 16"/>
            <p:cNvSpPr>
              <a:spLocks noChangeArrowheads="1"/>
            </p:cNvSpPr>
            <p:nvPr/>
          </p:nvSpPr>
          <p:spPr bwMode="auto">
            <a:xfrm>
              <a:off x="1728" y="294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110</a:t>
              </a:r>
              <a:r>
                <a:rPr lang="en-US" sz="2400">
                  <a:solidFill>
                    <a:schemeClr val="tx2"/>
                  </a:solidFill>
                  <a:latin typeface="Times New Roman" pitchFamily="18" charset="0"/>
                </a:rPr>
                <a:t>1</a:t>
              </a:r>
            </a:p>
          </p:txBody>
        </p:sp>
        <p:sp>
          <p:nvSpPr>
            <p:cNvPr id="280593" name="AutoShape 17"/>
            <p:cNvSpPr>
              <a:spLocks noChangeArrowheads="1"/>
            </p:cNvSpPr>
            <p:nvPr/>
          </p:nvSpPr>
          <p:spPr bwMode="auto">
            <a:xfrm>
              <a:off x="1728" y="3408"/>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000</a:t>
              </a:r>
              <a:r>
                <a:rPr lang="en-US" sz="2400">
                  <a:solidFill>
                    <a:schemeClr val="tx2"/>
                  </a:solidFill>
                  <a:latin typeface="Times New Roman" pitchFamily="18" charset="0"/>
                </a:rPr>
                <a:t>1</a:t>
              </a:r>
            </a:p>
          </p:txBody>
        </p:sp>
      </p:grpSp>
      <p:grpSp>
        <p:nvGrpSpPr>
          <p:cNvPr id="280594" name="Group 18"/>
          <p:cNvGrpSpPr>
            <a:grpSpLocks/>
          </p:cNvGrpSpPr>
          <p:nvPr/>
        </p:nvGrpSpPr>
        <p:grpSpPr bwMode="auto">
          <a:xfrm>
            <a:off x="4419600" y="2438400"/>
            <a:ext cx="685800" cy="3429000"/>
            <a:chOff x="816" y="1488"/>
            <a:chExt cx="432" cy="2160"/>
          </a:xfrm>
        </p:grpSpPr>
        <p:cxnSp>
          <p:nvCxnSpPr>
            <p:cNvPr id="280595" name="AutoShape 19"/>
            <p:cNvCxnSpPr>
              <a:cxnSpLocks noChangeShapeType="1"/>
              <a:stCxn id="280596" idx="2"/>
              <a:endCxn id="280600" idx="0"/>
            </p:cNvCxnSpPr>
            <p:nvPr/>
          </p:nvCxnSpPr>
          <p:spPr bwMode="auto">
            <a:xfrm>
              <a:off x="1032" y="1782"/>
              <a:ext cx="0" cy="157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596" name="AutoShape 20"/>
            <p:cNvSpPr>
              <a:spLocks noChangeArrowheads="1"/>
            </p:cNvSpPr>
            <p:nvPr/>
          </p:nvSpPr>
          <p:spPr bwMode="auto">
            <a:xfrm>
              <a:off x="816" y="1488"/>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10</a:t>
              </a:r>
              <a:r>
                <a:rPr lang="en-US" sz="2400">
                  <a:solidFill>
                    <a:schemeClr val="tx2"/>
                  </a:solidFill>
                  <a:latin typeface="Times New Roman" pitchFamily="18" charset="0"/>
                </a:rPr>
                <a:t>0</a:t>
              </a:r>
              <a:r>
                <a:rPr lang="en-US" sz="2400">
                  <a:latin typeface="Times New Roman" pitchFamily="18" charset="0"/>
                </a:rPr>
                <a:t>1</a:t>
              </a:r>
              <a:endParaRPr lang="en-US" sz="2400" b="1" i="1">
                <a:latin typeface="Times New Roman" pitchFamily="18" charset="0"/>
              </a:endParaRPr>
            </a:p>
          </p:txBody>
        </p:sp>
        <p:sp>
          <p:nvSpPr>
            <p:cNvPr id="280597" name="AutoShape 21"/>
            <p:cNvSpPr>
              <a:spLocks noChangeArrowheads="1"/>
            </p:cNvSpPr>
            <p:nvPr/>
          </p:nvSpPr>
          <p:spPr bwMode="auto">
            <a:xfrm>
              <a:off x="816" y="1956"/>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11</a:t>
              </a:r>
              <a:r>
                <a:rPr lang="en-US" sz="2400">
                  <a:solidFill>
                    <a:schemeClr val="tx2"/>
                  </a:solidFill>
                  <a:latin typeface="Times New Roman" pitchFamily="18" charset="0"/>
                </a:rPr>
                <a:t>0</a:t>
              </a:r>
              <a:r>
                <a:rPr lang="en-US" sz="2400">
                  <a:latin typeface="Times New Roman" pitchFamily="18" charset="0"/>
                </a:rPr>
                <a:t>1</a:t>
              </a:r>
            </a:p>
          </p:txBody>
        </p:sp>
        <p:sp>
          <p:nvSpPr>
            <p:cNvPr id="280598" name="AutoShape 22"/>
            <p:cNvSpPr>
              <a:spLocks noChangeArrowheads="1"/>
            </p:cNvSpPr>
            <p:nvPr/>
          </p:nvSpPr>
          <p:spPr bwMode="auto">
            <a:xfrm>
              <a:off x="816" y="2424"/>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00</a:t>
              </a:r>
              <a:r>
                <a:rPr lang="en-US" sz="2400">
                  <a:solidFill>
                    <a:schemeClr val="tx2"/>
                  </a:solidFill>
                  <a:latin typeface="Times New Roman" pitchFamily="18" charset="0"/>
                </a:rPr>
                <a:t>0</a:t>
              </a:r>
              <a:r>
                <a:rPr lang="en-US" sz="2400">
                  <a:latin typeface="Times New Roman" pitchFamily="18" charset="0"/>
                </a:rPr>
                <a:t>1</a:t>
              </a:r>
            </a:p>
          </p:txBody>
        </p:sp>
        <p:sp>
          <p:nvSpPr>
            <p:cNvPr id="280599" name="AutoShape 23"/>
            <p:cNvSpPr>
              <a:spLocks noChangeArrowheads="1"/>
            </p:cNvSpPr>
            <p:nvPr/>
          </p:nvSpPr>
          <p:spPr bwMode="auto">
            <a:xfrm>
              <a:off x="816" y="28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00</a:t>
              </a:r>
              <a:r>
                <a:rPr lang="en-US" sz="2400">
                  <a:solidFill>
                    <a:schemeClr val="tx2"/>
                  </a:solidFill>
                  <a:latin typeface="Times New Roman" pitchFamily="18" charset="0"/>
                </a:rPr>
                <a:t>1</a:t>
              </a:r>
              <a:r>
                <a:rPr lang="en-US" sz="2400">
                  <a:latin typeface="Times New Roman" pitchFamily="18" charset="0"/>
                </a:rPr>
                <a:t>0</a:t>
              </a:r>
            </a:p>
          </p:txBody>
        </p:sp>
        <p:sp>
          <p:nvSpPr>
            <p:cNvPr id="280600" name="AutoShape 24"/>
            <p:cNvSpPr>
              <a:spLocks noChangeArrowheads="1"/>
            </p:cNvSpPr>
            <p:nvPr/>
          </p:nvSpPr>
          <p:spPr bwMode="auto">
            <a:xfrm>
              <a:off x="816" y="336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11</a:t>
              </a:r>
              <a:r>
                <a:rPr lang="en-US" sz="2400">
                  <a:solidFill>
                    <a:schemeClr val="tx2"/>
                  </a:solidFill>
                  <a:latin typeface="Times New Roman" pitchFamily="18" charset="0"/>
                </a:rPr>
                <a:t>1</a:t>
              </a:r>
              <a:r>
                <a:rPr lang="en-US" sz="2400">
                  <a:latin typeface="Times New Roman" pitchFamily="18" charset="0"/>
                </a:rPr>
                <a:t>0</a:t>
              </a:r>
            </a:p>
          </p:txBody>
        </p:sp>
      </p:grpSp>
      <p:grpSp>
        <p:nvGrpSpPr>
          <p:cNvPr id="280601" name="Group 25"/>
          <p:cNvGrpSpPr>
            <a:grpSpLocks/>
          </p:cNvGrpSpPr>
          <p:nvPr/>
        </p:nvGrpSpPr>
        <p:grpSpPr bwMode="auto">
          <a:xfrm>
            <a:off x="6096000" y="2438400"/>
            <a:ext cx="685800" cy="3429000"/>
            <a:chOff x="816" y="1488"/>
            <a:chExt cx="432" cy="2160"/>
          </a:xfrm>
        </p:grpSpPr>
        <p:cxnSp>
          <p:nvCxnSpPr>
            <p:cNvPr id="280602" name="AutoShape 26"/>
            <p:cNvCxnSpPr>
              <a:cxnSpLocks noChangeShapeType="1"/>
              <a:stCxn id="280603" idx="2"/>
              <a:endCxn id="280607" idx="0"/>
            </p:cNvCxnSpPr>
            <p:nvPr/>
          </p:nvCxnSpPr>
          <p:spPr bwMode="auto">
            <a:xfrm>
              <a:off x="1032" y="1782"/>
              <a:ext cx="0" cy="157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603" name="AutoShape 27"/>
            <p:cNvSpPr>
              <a:spLocks noChangeArrowheads="1"/>
            </p:cNvSpPr>
            <p:nvPr/>
          </p:nvSpPr>
          <p:spPr bwMode="auto">
            <a:xfrm>
              <a:off x="816" y="1488"/>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a:t>
              </a:r>
              <a:r>
                <a:rPr lang="en-US" sz="2400">
                  <a:solidFill>
                    <a:schemeClr val="tx2"/>
                  </a:solidFill>
                  <a:latin typeface="Times New Roman" pitchFamily="18" charset="0"/>
                </a:rPr>
                <a:t>0</a:t>
              </a:r>
              <a:r>
                <a:rPr lang="en-US" sz="2400">
                  <a:latin typeface="Times New Roman" pitchFamily="18" charset="0"/>
                </a:rPr>
                <a:t>01</a:t>
              </a:r>
              <a:endParaRPr lang="en-US" sz="2400" b="1" i="1">
                <a:latin typeface="Times New Roman" pitchFamily="18" charset="0"/>
              </a:endParaRPr>
            </a:p>
          </p:txBody>
        </p:sp>
        <p:sp>
          <p:nvSpPr>
            <p:cNvPr id="280604" name="AutoShape 28"/>
            <p:cNvSpPr>
              <a:spLocks noChangeArrowheads="1"/>
            </p:cNvSpPr>
            <p:nvPr/>
          </p:nvSpPr>
          <p:spPr bwMode="auto">
            <a:xfrm>
              <a:off x="816" y="1956"/>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0</a:t>
              </a:r>
              <a:r>
                <a:rPr lang="en-US" sz="2400">
                  <a:solidFill>
                    <a:schemeClr val="tx2"/>
                  </a:solidFill>
                  <a:latin typeface="Times New Roman" pitchFamily="18" charset="0"/>
                </a:rPr>
                <a:t>0</a:t>
              </a:r>
              <a:r>
                <a:rPr lang="en-US" sz="2400">
                  <a:latin typeface="Times New Roman" pitchFamily="18" charset="0"/>
                </a:rPr>
                <a:t>01</a:t>
              </a:r>
            </a:p>
          </p:txBody>
        </p:sp>
        <p:sp>
          <p:nvSpPr>
            <p:cNvPr id="280605" name="AutoShape 29"/>
            <p:cNvSpPr>
              <a:spLocks noChangeArrowheads="1"/>
            </p:cNvSpPr>
            <p:nvPr/>
          </p:nvSpPr>
          <p:spPr bwMode="auto">
            <a:xfrm>
              <a:off x="816" y="2424"/>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0</a:t>
              </a:r>
              <a:r>
                <a:rPr lang="en-US" sz="2400">
                  <a:solidFill>
                    <a:schemeClr val="tx2"/>
                  </a:solidFill>
                  <a:latin typeface="Times New Roman" pitchFamily="18" charset="0"/>
                </a:rPr>
                <a:t>0</a:t>
              </a:r>
              <a:r>
                <a:rPr lang="en-US" sz="2400">
                  <a:latin typeface="Times New Roman" pitchFamily="18" charset="0"/>
                </a:rPr>
                <a:t>10</a:t>
              </a:r>
            </a:p>
          </p:txBody>
        </p:sp>
        <p:sp>
          <p:nvSpPr>
            <p:cNvPr id="280606" name="AutoShape 30"/>
            <p:cNvSpPr>
              <a:spLocks noChangeArrowheads="1"/>
            </p:cNvSpPr>
            <p:nvPr/>
          </p:nvSpPr>
          <p:spPr bwMode="auto">
            <a:xfrm>
              <a:off x="816" y="28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a:t>
              </a:r>
              <a:r>
                <a:rPr lang="en-US" sz="2400">
                  <a:solidFill>
                    <a:schemeClr val="tx2"/>
                  </a:solidFill>
                  <a:latin typeface="Times New Roman" pitchFamily="18" charset="0"/>
                </a:rPr>
                <a:t>1</a:t>
              </a:r>
              <a:r>
                <a:rPr lang="en-US" sz="2400">
                  <a:latin typeface="Times New Roman" pitchFamily="18" charset="0"/>
                </a:rPr>
                <a:t>01</a:t>
              </a:r>
            </a:p>
          </p:txBody>
        </p:sp>
        <p:sp>
          <p:nvSpPr>
            <p:cNvPr id="280607" name="AutoShape 31"/>
            <p:cNvSpPr>
              <a:spLocks noChangeArrowheads="1"/>
            </p:cNvSpPr>
            <p:nvPr/>
          </p:nvSpPr>
          <p:spPr bwMode="auto">
            <a:xfrm>
              <a:off x="816" y="336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latin typeface="Times New Roman" pitchFamily="18" charset="0"/>
                </a:rPr>
                <a:t>1</a:t>
              </a:r>
              <a:r>
                <a:rPr lang="en-US" sz="2400">
                  <a:solidFill>
                    <a:schemeClr val="tx2"/>
                  </a:solidFill>
                  <a:latin typeface="Times New Roman" pitchFamily="18" charset="0"/>
                </a:rPr>
                <a:t>1</a:t>
              </a:r>
              <a:r>
                <a:rPr lang="en-US" sz="2400">
                  <a:latin typeface="Times New Roman" pitchFamily="18" charset="0"/>
                </a:rPr>
                <a:t>10</a:t>
              </a:r>
            </a:p>
          </p:txBody>
        </p:sp>
      </p:grpSp>
      <p:grpSp>
        <p:nvGrpSpPr>
          <p:cNvPr id="280608" name="Group 32"/>
          <p:cNvGrpSpPr>
            <a:grpSpLocks/>
          </p:cNvGrpSpPr>
          <p:nvPr/>
        </p:nvGrpSpPr>
        <p:grpSpPr bwMode="auto">
          <a:xfrm>
            <a:off x="7772400" y="2438400"/>
            <a:ext cx="685800" cy="3429000"/>
            <a:chOff x="816" y="1488"/>
            <a:chExt cx="432" cy="2160"/>
          </a:xfrm>
        </p:grpSpPr>
        <p:cxnSp>
          <p:nvCxnSpPr>
            <p:cNvPr id="280609" name="AutoShape 33"/>
            <p:cNvCxnSpPr>
              <a:cxnSpLocks noChangeShapeType="1"/>
              <a:stCxn id="280610" idx="2"/>
              <a:endCxn id="280614" idx="0"/>
            </p:cNvCxnSpPr>
            <p:nvPr/>
          </p:nvCxnSpPr>
          <p:spPr bwMode="auto">
            <a:xfrm>
              <a:off x="1032" y="1782"/>
              <a:ext cx="0" cy="157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0610" name="AutoShape 34"/>
            <p:cNvSpPr>
              <a:spLocks noChangeArrowheads="1"/>
            </p:cNvSpPr>
            <p:nvPr/>
          </p:nvSpPr>
          <p:spPr bwMode="auto">
            <a:xfrm>
              <a:off x="816" y="1488"/>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solidFill>
                    <a:schemeClr val="tx2"/>
                  </a:solidFill>
                  <a:latin typeface="Times New Roman" pitchFamily="18" charset="0"/>
                </a:rPr>
                <a:t>0</a:t>
              </a:r>
              <a:r>
                <a:rPr lang="en-US" sz="2400">
                  <a:latin typeface="Times New Roman" pitchFamily="18" charset="0"/>
                </a:rPr>
                <a:t>001</a:t>
              </a:r>
            </a:p>
          </p:txBody>
        </p:sp>
        <p:sp>
          <p:nvSpPr>
            <p:cNvPr id="280611" name="AutoShape 35"/>
            <p:cNvSpPr>
              <a:spLocks noChangeArrowheads="1"/>
            </p:cNvSpPr>
            <p:nvPr/>
          </p:nvSpPr>
          <p:spPr bwMode="auto">
            <a:xfrm>
              <a:off x="816" y="1956"/>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solidFill>
                    <a:schemeClr val="tx2"/>
                  </a:solidFill>
                  <a:latin typeface="Times New Roman" pitchFamily="18" charset="0"/>
                </a:rPr>
                <a:t>0</a:t>
              </a:r>
              <a:r>
                <a:rPr lang="en-US" sz="2400">
                  <a:latin typeface="Times New Roman" pitchFamily="18" charset="0"/>
                </a:rPr>
                <a:t>010</a:t>
              </a:r>
            </a:p>
          </p:txBody>
        </p:sp>
        <p:sp>
          <p:nvSpPr>
            <p:cNvPr id="280612" name="AutoShape 36"/>
            <p:cNvSpPr>
              <a:spLocks noChangeArrowheads="1"/>
            </p:cNvSpPr>
            <p:nvPr/>
          </p:nvSpPr>
          <p:spPr bwMode="auto">
            <a:xfrm>
              <a:off x="816" y="2424"/>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solidFill>
                    <a:schemeClr val="tx2"/>
                  </a:solidFill>
                  <a:latin typeface="Times New Roman" pitchFamily="18" charset="0"/>
                </a:rPr>
                <a:t>1</a:t>
              </a:r>
              <a:r>
                <a:rPr lang="en-US" sz="2400">
                  <a:latin typeface="Times New Roman" pitchFamily="18" charset="0"/>
                </a:rPr>
                <a:t>001</a:t>
              </a:r>
            </a:p>
          </p:txBody>
        </p:sp>
        <p:sp>
          <p:nvSpPr>
            <p:cNvPr id="280613" name="AutoShape 37"/>
            <p:cNvSpPr>
              <a:spLocks noChangeArrowheads="1"/>
            </p:cNvSpPr>
            <p:nvPr/>
          </p:nvSpPr>
          <p:spPr bwMode="auto">
            <a:xfrm>
              <a:off x="816" y="2892"/>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solidFill>
                    <a:schemeClr val="tx2"/>
                  </a:solidFill>
                  <a:latin typeface="Times New Roman" pitchFamily="18" charset="0"/>
                </a:rPr>
                <a:t>1</a:t>
              </a:r>
              <a:r>
                <a:rPr lang="en-US" sz="2400">
                  <a:latin typeface="Times New Roman" pitchFamily="18" charset="0"/>
                </a:rPr>
                <a:t>101</a:t>
              </a:r>
            </a:p>
          </p:txBody>
        </p:sp>
        <p:sp>
          <p:nvSpPr>
            <p:cNvPr id="280614" name="AutoShape 38"/>
            <p:cNvSpPr>
              <a:spLocks noChangeArrowheads="1"/>
            </p:cNvSpPr>
            <p:nvPr/>
          </p:nvSpPr>
          <p:spPr bwMode="auto">
            <a:xfrm>
              <a:off x="816" y="3360"/>
              <a:ext cx="432" cy="288"/>
            </a:xfrm>
            <a:prstGeom prst="roundRect">
              <a:avLst>
                <a:gd name="adj" fmla="val 16667"/>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rIns="0" anchor="ctr"/>
            <a:lstStyle/>
            <a:p>
              <a:pPr algn="ctr"/>
              <a:r>
                <a:rPr lang="en-US" sz="2400">
                  <a:solidFill>
                    <a:schemeClr val="tx2"/>
                  </a:solidFill>
                  <a:latin typeface="Times New Roman" pitchFamily="18" charset="0"/>
                </a:rPr>
                <a:t>1</a:t>
              </a:r>
              <a:r>
                <a:rPr lang="en-US" sz="2400">
                  <a:latin typeface="Times New Roman" pitchFamily="18" charset="0"/>
                </a:rPr>
                <a:t>110</a:t>
              </a:r>
            </a:p>
          </p:txBody>
        </p:sp>
      </p:grpSp>
      <p:sp>
        <p:nvSpPr>
          <p:cNvPr id="280615" name="AutoShape 39"/>
          <p:cNvSpPr>
            <a:spLocks noChangeArrowheads="1"/>
          </p:cNvSpPr>
          <p:nvPr/>
        </p:nvSpPr>
        <p:spPr bwMode="auto">
          <a:xfrm rot="-5400000">
            <a:off x="2057400" y="3924300"/>
            <a:ext cx="381000" cy="457200"/>
          </a:xfrm>
          <a:prstGeom prst="downArrow">
            <a:avLst>
              <a:gd name="adj1" fmla="val 50000"/>
              <a:gd name="adj2" fmla="val 30000"/>
            </a:avLst>
          </a:prstGeom>
          <a:solidFill>
            <a:srgbClr val="C0C0C0"/>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828800" anchor="ctr"/>
          <a:lstStyle/>
          <a:p>
            <a:pPr algn="ctr"/>
            <a:endParaRPr lang="en-US" sz="2400">
              <a:solidFill>
                <a:schemeClr val="tx2"/>
              </a:solidFill>
              <a:latin typeface="Tahoma" pitchFamily="34" charset="0"/>
            </a:endParaRPr>
          </a:p>
        </p:txBody>
      </p:sp>
      <p:sp>
        <p:nvSpPr>
          <p:cNvPr id="280616" name="AutoShape 40"/>
          <p:cNvSpPr>
            <a:spLocks noChangeArrowheads="1"/>
          </p:cNvSpPr>
          <p:nvPr/>
        </p:nvSpPr>
        <p:spPr bwMode="auto">
          <a:xfrm rot="-5400000">
            <a:off x="3733800" y="3924300"/>
            <a:ext cx="381000" cy="457200"/>
          </a:xfrm>
          <a:prstGeom prst="downArrow">
            <a:avLst>
              <a:gd name="adj1" fmla="val 50000"/>
              <a:gd name="adj2" fmla="val 30000"/>
            </a:avLst>
          </a:prstGeom>
          <a:solidFill>
            <a:srgbClr val="C0C0C0"/>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828800" anchor="ctr"/>
          <a:lstStyle/>
          <a:p>
            <a:pPr algn="ctr"/>
            <a:endParaRPr lang="en-US" sz="2400">
              <a:solidFill>
                <a:schemeClr val="tx2"/>
              </a:solidFill>
              <a:latin typeface="Tahoma" pitchFamily="34" charset="0"/>
            </a:endParaRPr>
          </a:p>
        </p:txBody>
      </p:sp>
      <p:sp>
        <p:nvSpPr>
          <p:cNvPr id="280617" name="AutoShape 41"/>
          <p:cNvSpPr>
            <a:spLocks noChangeArrowheads="1"/>
          </p:cNvSpPr>
          <p:nvPr/>
        </p:nvSpPr>
        <p:spPr bwMode="auto">
          <a:xfrm rot="-5400000">
            <a:off x="5410200" y="3924300"/>
            <a:ext cx="381000" cy="457200"/>
          </a:xfrm>
          <a:prstGeom prst="downArrow">
            <a:avLst>
              <a:gd name="adj1" fmla="val 50000"/>
              <a:gd name="adj2" fmla="val 30000"/>
            </a:avLst>
          </a:prstGeom>
          <a:solidFill>
            <a:srgbClr val="C0C0C0"/>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828800" anchor="ctr"/>
          <a:lstStyle/>
          <a:p>
            <a:pPr algn="ctr"/>
            <a:endParaRPr lang="en-US" sz="2400">
              <a:solidFill>
                <a:schemeClr val="tx2"/>
              </a:solidFill>
              <a:latin typeface="Tahoma" pitchFamily="34" charset="0"/>
            </a:endParaRPr>
          </a:p>
        </p:txBody>
      </p:sp>
      <p:sp>
        <p:nvSpPr>
          <p:cNvPr id="280618" name="AutoShape 42"/>
          <p:cNvSpPr>
            <a:spLocks noChangeArrowheads="1"/>
          </p:cNvSpPr>
          <p:nvPr/>
        </p:nvSpPr>
        <p:spPr bwMode="auto">
          <a:xfrm rot="-5400000">
            <a:off x="7086600" y="3924300"/>
            <a:ext cx="381000" cy="457200"/>
          </a:xfrm>
          <a:prstGeom prst="downArrow">
            <a:avLst>
              <a:gd name="adj1" fmla="val 50000"/>
              <a:gd name="adj2" fmla="val 30000"/>
            </a:avLst>
          </a:prstGeom>
          <a:solidFill>
            <a:srgbClr val="C0C0C0"/>
          </a:solidFill>
          <a:ln w="190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wrap="none" lIns="1828800" anchor="ctr"/>
          <a:lstStyle/>
          <a:p>
            <a:pPr algn="ctr"/>
            <a:endParaRPr lang="en-US" sz="2400">
              <a:solidFill>
                <a:schemeClr val="tx2"/>
              </a:solidFill>
              <a:latin typeface="Tahoma"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p:cNvSpPr>
            <a:spLocks noGrp="1"/>
          </p:cNvSpPr>
          <p:nvPr>
            <p:ph type="ftr" sz="quarter" idx="11"/>
          </p:nvPr>
        </p:nvSpPr>
        <p:spPr/>
        <p:txBody>
          <a:bodyPr/>
          <a:lstStyle/>
          <a:p>
            <a:r>
              <a:rPr lang="en-US"/>
              <a:t>Data Structures and Algorithms</a:t>
            </a:r>
          </a:p>
        </p:txBody>
      </p:sp>
      <p:sp>
        <p:nvSpPr>
          <p:cNvPr id="4" name="Slide Number Placeholder 5"/>
          <p:cNvSpPr>
            <a:spLocks noGrp="1"/>
          </p:cNvSpPr>
          <p:nvPr>
            <p:ph type="sldNum" sz="quarter" idx="12"/>
          </p:nvPr>
        </p:nvSpPr>
        <p:spPr/>
        <p:txBody>
          <a:bodyPr/>
          <a:lstStyle/>
          <a:p>
            <a:fld id="{0AD49ED9-E4D9-46CB-9C62-BD0E10073243}" type="slidenum">
              <a:rPr lang="en-US"/>
              <a:pPr/>
              <a:t>14</a:t>
            </a:fld>
            <a:endParaRPr lang="en-US"/>
          </a:p>
        </p:txBody>
      </p:sp>
      <p:sp>
        <p:nvSpPr>
          <p:cNvPr id="155650" name="Rectangle 2"/>
          <p:cNvSpPr>
            <a:spLocks noGrp="1" noChangeArrowheads="1"/>
          </p:cNvSpPr>
          <p:nvPr>
            <p:ph type="title"/>
          </p:nvPr>
        </p:nvSpPr>
        <p:spPr>
          <a:xfrm>
            <a:off x="533400" y="2438400"/>
            <a:ext cx="7924800" cy="1524000"/>
          </a:xfrm>
        </p:spPr>
        <p:txBody>
          <a:bodyPr/>
          <a:lstStyle/>
          <a:p>
            <a:pPr algn="ctr"/>
            <a:r>
              <a:rPr lang="en-US"/>
              <a:t>Ordered Dictionaries &amp; BST</a:t>
            </a:r>
            <a:br>
              <a:rPr lang="en-US"/>
            </a:br>
            <a:r>
              <a:rPr lang="en-US" sz="1800" b="1">
                <a:solidFill>
                  <a:srgbClr val="652907"/>
                </a:solidFill>
              </a:rPr>
              <a:t>(Text book Reference 3.1)</a:t>
            </a:r>
            <a:endParaRPr lang="en-US" b="1">
              <a:solidFill>
                <a:srgbClr val="652907"/>
              </a:solidFil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Data Structures and Algorithms</a:t>
            </a:r>
          </a:p>
        </p:txBody>
      </p:sp>
      <p:sp>
        <p:nvSpPr>
          <p:cNvPr id="5" name="Slide Number Placeholder 5"/>
          <p:cNvSpPr>
            <a:spLocks noGrp="1"/>
          </p:cNvSpPr>
          <p:nvPr>
            <p:ph type="sldNum" sz="quarter" idx="12"/>
          </p:nvPr>
        </p:nvSpPr>
        <p:spPr/>
        <p:txBody>
          <a:bodyPr/>
          <a:lstStyle/>
          <a:p>
            <a:fld id="{5C34F3F1-FEE8-4258-A598-BF43043C671D}" type="slidenum">
              <a:rPr lang="en-US"/>
              <a:pPr/>
              <a:t>15</a:t>
            </a:fld>
            <a:endParaRPr lang="en-US"/>
          </a:p>
        </p:txBody>
      </p:sp>
      <p:sp>
        <p:nvSpPr>
          <p:cNvPr id="282626" name="Rectangle 2"/>
          <p:cNvSpPr>
            <a:spLocks noGrp="1" noChangeArrowheads="1"/>
          </p:cNvSpPr>
          <p:nvPr>
            <p:ph type="title"/>
          </p:nvPr>
        </p:nvSpPr>
        <p:spPr/>
        <p:txBody>
          <a:bodyPr/>
          <a:lstStyle/>
          <a:p>
            <a:r>
              <a:rPr lang="en-US"/>
              <a:t>Ordered Dictionaries</a:t>
            </a:r>
          </a:p>
        </p:txBody>
      </p:sp>
      <p:sp>
        <p:nvSpPr>
          <p:cNvPr id="282627" name="Rectangle 3"/>
          <p:cNvSpPr>
            <a:spLocks noGrp="1" noChangeArrowheads="1"/>
          </p:cNvSpPr>
          <p:nvPr>
            <p:ph type="body" idx="1"/>
          </p:nvPr>
        </p:nvSpPr>
        <p:spPr>
          <a:xfrm>
            <a:off x="838200" y="2057400"/>
            <a:ext cx="7772400" cy="4114800"/>
          </a:xfrm>
        </p:spPr>
        <p:txBody>
          <a:bodyPr/>
          <a:lstStyle/>
          <a:p>
            <a:r>
              <a:rPr lang="en-US"/>
              <a:t>Keys are assumed to come from a total order.</a:t>
            </a:r>
          </a:p>
          <a:p>
            <a:r>
              <a:rPr lang="en-US"/>
              <a:t>New operations: </a:t>
            </a:r>
          </a:p>
          <a:p>
            <a:pPr lvl="1"/>
            <a:r>
              <a:rPr lang="en-US"/>
              <a:t>closestKeyBefore(k)</a:t>
            </a:r>
          </a:p>
          <a:p>
            <a:pPr lvl="1"/>
            <a:r>
              <a:rPr lang="en-US"/>
              <a:t>closestElemBefore(k)</a:t>
            </a:r>
          </a:p>
          <a:p>
            <a:pPr lvl="1"/>
            <a:r>
              <a:rPr lang="en-US"/>
              <a:t>closestKeyAfter(k)</a:t>
            </a:r>
          </a:p>
          <a:p>
            <a:pPr lvl="1"/>
            <a:r>
              <a:rPr lang="en-US"/>
              <a:t>closestElemAfter(k)</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Footer Placeholder 4"/>
          <p:cNvSpPr>
            <a:spLocks noGrp="1"/>
          </p:cNvSpPr>
          <p:nvPr>
            <p:ph type="ftr" sz="quarter" idx="11"/>
          </p:nvPr>
        </p:nvSpPr>
        <p:spPr/>
        <p:txBody>
          <a:bodyPr/>
          <a:lstStyle/>
          <a:p>
            <a:r>
              <a:rPr lang="en-US"/>
              <a:t>Data Structures and Algorithms</a:t>
            </a:r>
          </a:p>
        </p:txBody>
      </p:sp>
      <p:sp>
        <p:nvSpPr>
          <p:cNvPr id="71" name="Slide Number Placeholder 5"/>
          <p:cNvSpPr>
            <a:spLocks noGrp="1"/>
          </p:cNvSpPr>
          <p:nvPr>
            <p:ph type="sldNum" sz="quarter" idx="12"/>
          </p:nvPr>
        </p:nvSpPr>
        <p:spPr/>
        <p:txBody>
          <a:bodyPr/>
          <a:lstStyle/>
          <a:p>
            <a:fld id="{2930C0C4-7F10-4CD7-9FC2-2A1183045998}" type="slidenum">
              <a:rPr lang="en-US"/>
              <a:pPr/>
              <a:t>16</a:t>
            </a:fld>
            <a:endParaRPr lang="en-US"/>
          </a:p>
        </p:txBody>
      </p:sp>
      <p:sp>
        <p:nvSpPr>
          <p:cNvPr id="283650" name="Rectangle 2"/>
          <p:cNvSpPr>
            <a:spLocks noGrp="1" noChangeArrowheads="1"/>
          </p:cNvSpPr>
          <p:nvPr>
            <p:ph type="title"/>
          </p:nvPr>
        </p:nvSpPr>
        <p:spPr/>
        <p:txBody>
          <a:bodyPr/>
          <a:lstStyle/>
          <a:p>
            <a:r>
              <a:rPr lang="en-US"/>
              <a:t>Binary Search</a:t>
            </a:r>
            <a:endParaRPr lang="en-US" sz="3200"/>
          </a:p>
        </p:txBody>
      </p:sp>
      <p:sp>
        <p:nvSpPr>
          <p:cNvPr id="283651" name="Rectangle 3"/>
          <p:cNvSpPr>
            <a:spLocks noGrp="1" noChangeArrowheads="1"/>
          </p:cNvSpPr>
          <p:nvPr>
            <p:ph type="body" idx="1"/>
          </p:nvPr>
        </p:nvSpPr>
        <p:spPr>
          <a:xfrm>
            <a:off x="704850" y="1600200"/>
            <a:ext cx="8001000" cy="2209800"/>
          </a:xfrm>
        </p:spPr>
        <p:txBody>
          <a:bodyPr/>
          <a:lstStyle/>
          <a:p>
            <a:r>
              <a:rPr lang="en-US" sz="1800"/>
              <a:t>Binary search performs operation </a:t>
            </a:r>
            <a:r>
              <a:rPr lang="en-US" sz="1800">
                <a:solidFill>
                  <a:schemeClr val="tx2"/>
                </a:solidFill>
              </a:rPr>
              <a:t>findElement</a:t>
            </a:r>
            <a:r>
              <a:rPr lang="en-US" sz="1800"/>
              <a:t>(k) on a dictionary implemented by means of an array-based sequence, sorted by key</a:t>
            </a:r>
          </a:p>
          <a:p>
            <a:pPr lvl="1"/>
            <a:r>
              <a:rPr lang="en-US" sz="1700"/>
              <a:t>similar to the high-low game</a:t>
            </a:r>
          </a:p>
          <a:p>
            <a:pPr lvl="1"/>
            <a:r>
              <a:rPr lang="en-US" sz="1700"/>
              <a:t>at each step, the number of candidate items is halved</a:t>
            </a:r>
          </a:p>
          <a:p>
            <a:pPr lvl="1"/>
            <a:r>
              <a:rPr lang="en-US" sz="1700"/>
              <a:t>terminates after O(log n) steps</a:t>
            </a:r>
          </a:p>
          <a:p>
            <a:r>
              <a:rPr lang="en-US" sz="1800"/>
              <a:t>Example: </a:t>
            </a:r>
            <a:r>
              <a:rPr lang="en-US" sz="1800">
                <a:solidFill>
                  <a:schemeClr val="tx2"/>
                </a:solidFill>
              </a:rPr>
              <a:t>findElement</a:t>
            </a:r>
            <a:r>
              <a:rPr lang="en-US" sz="1800"/>
              <a:t>(7)</a:t>
            </a:r>
          </a:p>
        </p:txBody>
      </p:sp>
      <p:sp>
        <p:nvSpPr>
          <p:cNvPr id="283652" name="Line 4"/>
          <p:cNvSpPr>
            <a:spLocks noChangeShapeType="1"/>
          </p:cNvSpPr>
          <p:nvPr/>
        </p:nvSpPr>
        <p:spPr bwMode="auto">
          <a:xfrm>
            <a:off x="1379538" y="4162425"/>
            <a:ext cx="69913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53" name="Oval 5"/>
          <p:cNvSpPr>
            <a:spLocks noChangeArrowheads="1"/>
          </p:cNvSpPr>
          <p:nvPr/>
        </p:nvSpPr>
        <p:spPr bwMode="auto">
          <a:xfrm>
            <a:off x="16652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a:t>
            </a:r>
          </a:p>
        </p:txBody>
      </p:sp>
      <p:sp>
        <p:nvSpPr>
          <p:cNvPr id="283654" name="Oval 6"/>
          <p:cNvSpPr>
            <a:spLocks noChangeArrowheads="1"/>
          </p:cNvSpPr>
          <p:nvPr/>
        </p:nvSpPr>
        <p:spPr bwMode="auto">
          <a:xfrm>
            <a:off x="22748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3</a:t>
            </a:r>
          </a:p>
        </p:txBody>
      </p:sp>
      <p:sp>
        <p:nvSpPr>
          <p:cNvPr id="283655" name="Oval 7"/>
          <p:cNvSpPr>
            <a:spLocks noChangeArrowheads="1"/>
          </p:cNvSpPr>
          <p:nvPr/>
        </p:nvSpPr>
        <p:spPr bwMode="auto">
          <a:xfrm>
            <a:off x="28844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4</a:t>
            </a:r>
          </a:p>
        </p:txBody>
      </p:sp>
      <p:sp>
        <p:nvSpPr>
          <p:cNvPr id="283656" name="Oval 8"/>
          <p:cNvSpPr>
            <a:spLocks noChangeArrowheads="1"/>
          </p:cNvSpPr>
          <p:nvPr/>
        </p:nvSpPr>
        <p:spPr bwMode="auto">
          <a:xfrm>
            <a:off x="34940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5</a:t>
            </a:r>
          </a:p>
        </p:txBody>
      </p:sp>
      <p:sp>
        <p:nvSpPr>
          <p:cNvPr id="283657" name="Oval 9"/>
          <p:cNvSpPr>
            <a:spLocks noChangeArrowheads="1"/>
          </p:cNvSpPr>
          <p:nvPr/>
        </p:nvSpPr>
        <p:spPr bwMode="auto">
          <a:xfrm>
            <a:off x="41036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7</a:t>
            </a:r>
          </a:p>
        </p:txBody>
      </p:sp>
      <p:sp>
        <p:nvSpPr>
          <p:cNvPr id="283658" name="Oval 10"/>
          <p:cNvSpPr>
            <a:spLocks noChangeArrowheads="1"/>
          </p:cNvSpPr>
          <p:nvPr/>
        </p:nvSpPr>
        <p:spPr bwMode="auto">
          <a:xfrm>
            <a:off x="4713288" y="4010025"/>
            <a:ext cx="304800" cy="304800"/>
          </a:xfrm>
          <a:prstGeom prst="ellipse">
            <a:avLst/>
          </a:prstGeom>
          <a:solidFill>
            <a:schemeClr val="accent1"/>
          </a:soli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tx2"/>
                </a:solidFill>
                <a:latin typeface="Tahoma" pitchFamily="34" charset="0"/>
              </a:rPr>
              <a:t>8</a:t>
            </a:r>
          </a:p>
        </p:txBody>
      </p:sp>
      <p:sp>
        <p:nvSpPr>
          <p:cNvPr id="283659" name="Oval 11"/>
          <p:cNvSpPr>
            <a:spLocks noChangeArrowheads="1"/>
          </p:cNvSpPr>
          <p:nvPr/>
        </p:nvSpPr>
        <p:spPr bwMode="auto">
          <a:xfrm>
            <a:off x="53228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9</a:t>
            </a:r>
          </a:p>
        </p:txBody>
      </p:sp>
      <p:sp>
        <p:nvSpPr>
          <p:cNvPr id="283660" name="Oval 12"/>
          <p:cNvSpPr>
            <a:spLocks noChangeArrowheads="1"/>
          </p:cNvSpPr>
          <p:nvPr/>
        </p:nvSpPr>
        <p:spPr bwMode="auto">
          <a:xfrm>
            <a:off x="59324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11</a:t>
            </a:r>
          </a:p>
        </p:txBody>
      </p:sp>
      <p:sp>
        <p:nvSpPr>
          <p:cNvPr id="283661" name="Oval 13"/>
          <p:cNvSpPr>
            <a:spLocks noChangeArrowheads="1"/>
          </p:cNvSpPr>
          <p:nvPr/>
        </p:nvSpPr>
        <p:spPr bwMode="auto">
          <a:xfrm>
            <a:off x="65420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14</a:t>
            </a:r>
          </a:p>
        </p:txBody>
      </p:sp>
      <p:sp>
        <p:nvSpPr>
          <p:cNvPr id="283662" name="Oval 14"/>
          <p:cNvSpPr>
            <a:spLocks noChangeArrowheads="1"/>
          </p:cNvSpPr>
          <p:nvPr/>
        </p:nvSpPr>
        <p:spPr bwMode="auto">
          <a:xfrm>
            <a:off x="71516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16</a:t>
            </a:r>
          </a:p>
        </p:txBody>
      </p:sp>
      <p:sp>
        <p:nvSpPr>
          <p:cNvPr id="283663" name="Oval 15"/>
          <p:cNvSpPr>
            <a:spLocks noChangeArrowheads="1"/>
          </p:cNvSpPr>
          <p:nvPr/>
        </p:nvSpPr>
        <p:spPr bwMode="auto">
          <a:xfrm>
            <a:off x="77612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18</a:t>
            </a:r>
          </a:p>
        </p:txBody>
      </p:sp>
      <p:sp>
        <p:nvSpPr>
          <p:cNvPr id="283664" name="Oval 16"/>
          <p:cNvSpPr>
            <a:spLocks noChangeArrowheads="1"/>
          </p:cNvSpPr>
          <p:nvPr/>
        </p:nvSpPr>
        <p:spPr bwMode="auto">
          <a:xfrm>
            <a:off x="837088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19</a:t>
            </a:r>
          </a:p>
        </p:txBody>
      </p:sp>
      <p:sp>
        <p:nvSpPr>
          <p:cNvPr id="283665" name="Line 17"/>
          <p:cNvSpPr>
            <a:spLocks noChangeShapeType="1"/>
          </p:cNvSpPr>
          <p:nvPr/>
        </p:nvSpPr>
        <p:spPr bwMode="auto">
          <a:xfrm>
            <a:off x="1227138" y="4772025"/>
            <a:ext cx="71437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66" name="Oval 18"/>
          <p:cNvSpPr>
            <a:spLocks noChangeArrowheads="1"/>
          </p:cNvSpPr>
          <p:nvPr/>
        </p:nvSpPr>
        <p:spPr bwMode="auto">
          <a:xfrm>
            <a:off x="1665288" y="46196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a:t>
            </a:r>
          </a:p>
        </p:txBody>
      </p:sp>
      <p:sp>
        <p:nvSpPr>
          <p:cNvPr id="283667" name="Oval 19"/>
          <p:cNvSpPr>
            <a:spLocks noChangeArrowheads="1"/>
          </p:cNvSpPr>
          <p:nvPr/>
        </p:nvSpPr>
        <p:spPr bwMode="auto">
          <a:xfrm>
            <a:off x="2274888" y="4619625"/>
            <a:ext cx="304800" cy="304800"/>
          </a:xfrm>
          <a:prstGeom prst="ellipse">
            <a:avLst/>
          </a:prstGeom>
          <a:solidFill>
            <a:schemeClr val="accent1"/>
          </a:soli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tx2"/>
                </a:solidFill>
                <a:latin typeface="Tahoma" pitchFamily="34" charset="0"/>
              </a:rPr>
              <a:t>3</a:t>
            </a:r>
          </a:p>
        </p:txBody>
      </p:sp>
      <p:sp>
        <p:nvSpPr>
          <p:cNvPr id="283668" name="Oval 20"/>
          <p:cNvSpPr>
            <a:spLocks noChangeArrowheads="1"/>
          </p:cNvSpPr>
          <p:nvPr/>
        </p:nvSpPr>
        <p:spPr bwMode="auto">
          <a:xfrm>
            <a:off x="2884488" y="46196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4</a:t>
            </a:r>
          </a:p>
        </p:txBody>
      </p:sp>
      <p:sp>
        <p:nvSpPr>
          <p:cNvPr id="283669" name="Oval 21"/>
          <p:cNvSpPr>
            <a:spLocks noChangeArrowheads="1"/>
          </p:cNvSpPr>
          <p:nvPr/>
        </p:nvSpPr>
        <p:spPr bwMode="auto">
          <a:xfrm>
            <a:off x="3494088" y="46196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5</a:t>
            </a:r>
          </a:p>
        </p:txBody>
      </p:sp>
      <p:sp>
        <p:nvSpPr>
          <p:cNvPr id="283670" name="Oval 22"/>
          <p:cNvSpPr>
            <a:spLocks noChangeArrowheads="1"/>
          </p:cNvSpPr>
          <p:nvPr/>
        </p:nvSpPr>
        <p:spPr bwMode="auto">
          <a:xfrm>
            <a:off x="4103688" y="46196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7</a:t>
            </a:r>
          </a:p>
        </p:txBody>
      </p:sp>
      <p:sp>
        <p:nvSpPr>
          <p:cNvPr id="283671" name="Oval 23"/>
          <p:cNvSpPr>
            <a:spLocks noChangeArrowheads="1"/>
          </p:cNvSpPr>
          <p:nvPr/>
        </p:nvSpPr>
        <p:spPr bwMode="auto">
          <a:xfrm>
            <a:off x="4713288" y="46196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8</a:t>
            </a:r>
          </a:p>
        </p:txBody>
      </p:sp>
      <p:sp>
        <p:nvSpPr>
          <p:cNvPr id="283672" name="Oval 24"/>
          <p:cNvSpPr>
            <a:spLocks noChangeArrowheads="1"/>
          </p:cNvSpPr>
          <p:nvPr/>
        </p:nvSpPr>
        <p:spPr bwMode="auto">
          <a:xfrm>
            <a:off x="5322888" y="46196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9</a:t>
            </a:r>
          </a:p>
        </p:txBody>
      </p:sp>
      <p:sp>
        <p:nvSpPr>
          <p:cNvPr id="283673" name="Oval 25"/>
          <p:cNvSpPr>
            <a:spLocks noChangeArrowheads="1"/>
          </p:cNvSpPr>
          <p:nvPr/>
        </p:nvSpPr>
        <p:spPr bwMode="auto">
          <a:xfrm>
            <a:off x="5932488" y="46196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11</a:t>
            </a:r>
          </a:p>
        </p:txBody>
      </p:sp>
      <p:sp>
        <p:nvSpPr>
          <p:cNvPr id="283674" name="Oval 26"/>
          <p:cNvSpPr>
            <a:spLocks noChangeArrowheads="1"/>
          </p:cNvSpPr>
          <p:nvPr/>
        </p:nvSpPr>
        <p:spPr bwMode="auto">
          <a:xfrm>
            <a:off x="6542088" y="46196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14</a:t>
            </a:r>
          </a:p>
        </p:txBody>
      </p:sp>
      <p:sp>
        <p:nvSpPr>
          <p:cNvPr id="283675" name="Oval 27"/>
          <p:cNvSpPr>
            <a:spLocks noChangeArrowheads="1"/>
          </p:cNvSpPr>
          <p:nvPr/>
        </p:nvSpPr>
        <p:spPr bwMode="auto">
          <a:xfrm>
            <a:off x="7151688" y="46196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16</a:t>
            </a:r>
          </a:p>
        </p:txBody>
      </p:sp>
      <p:sp>
        <p:nvSpPr>
          <p:cNvPr id="283676" name="Oval 28"/>
          <p:cNvSpPr>
            <a:spLocks noChangeArrowheads="1"/>
          </p:cNvSpPr>
          <p:nvPr/>
        </p:nvSpPr>
        <p:spPr bwMode="auto">
          <a:xfrm>
            <a:off x="7761288" y="46196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18</a:t>
            </a:r>
          </a:p>
        </p:txBody>
      </p:sp>
      <p:sp>
        <p:nvSpPr>
          <p:cNvPr id="283677" name="Oval 29"/>
          <p:cNvSpPr>
            <a:spLocks noChangeArrowheads="1"/>
          </p:cNvSpPr>
          <p:nvPr/>
        </p:nvSpPr>
        <p:spPr bwMode="auto">
          <a:xfrm>
            <a:off x="8370888" y="46196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19</a:t>
            </a:r>
          </a:p>
        </p:txBody>
      </p:sp>
      <p:sp>
        <p:nvSpPr>
          <p:cNvPr id="283678" name="Line 30"/>
          <p:cNvSpPr>
            <a:spLocks noChangeShapeType="1"/>
          </p:cNvSpPr>
          <p:nvPr/>
        </p:nvSpPr>
        <p:spPr bwMode="auto">
          <a:xfrm>
            <a:off x="1303338" y="5381625"/>
            <a:ext cx="70675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79" name="Oval 31"/>
          <p:cNvSpPr>
            <a:spLocks noChangeArrowheads="1"/>
          </p:cNvSpPr>
          <p:nvPr/>
        </p:nvSpPr>
        <p:spPr bwMode="auto">
          <a:xfrm>
            <a:off x="16652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a:t>
            </a:r>
          </a:p>
        </p:txBody>
      </p:sp>
      <p:sp>
        <p:nvSpPr>
          <p:cNvPr id="283680" name="Oval 32"/>
          <p:cNvSpPr>
            <a:spLocks noChangeArrowheads="1"/>
          </p:cNvSpPr>
          <p:nvPr/>
        </p:nvSpPr>
        <p:spPr bwMode="auto">
          <a:xfrm>
            <a:off x="22748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3</a:t>
            </a:r>
          </a:p>
        </p:txBody>
      </p:sp>
      <p:sp>
        <p:nvSpPr>
          <p:cNvPr id="283681" name="Oval 33"/>
          <p:cNvSpPr>
            <a:spLocks noChangeArrowheads="1"/>
          </p:cNvSpPr>
          <p:nvPr/>
        </p:nvSpPr>
        <p:spPr bwMode="auto">
          <a:xfrm>
            <a:off x="2884488" y="52292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4</a:t>
            </a:r>
          </a:p>
        </p:txBody>
      </p:sp>
      <p:sp>
        <p:nvSpPr>
          <p:cNvPr id="283682" name="Oval 34"/>
          <p:cNvSpPr>
            <a:spLocks noChangeArrowheads="1"/>
          </p:cNvSpPr>
          <p:nvPr/>
        </p:nvSpPr>
        <p:spPr bwMode="auto">
          <a:xfrm>
            <a:off x="3494088" y="5229225"/>
            <a:ext cx="304800" cy="304800"/>
          </a:xfrm>
          <a:prstGeom prst="ellipse">
            <a:avLst/>
          </a:prstGeom>
          <a:solidFill>
            <a:schemeClr val="accent1"/>
          </a:soli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tx2"/>
                </a:solidFill>
                <a:latin typeface="Tahoma" pitchFamily="34" charset="0"/>
              </a:rPr>
              <a:t>5</a:t>
            </a:r>
          </a:p>
        </p:txBody>
      </p:sp>
      <p:sp>
        <p:nvSpPr>
          <p:cNvPr id="283683" name="Oval 35"/>
          <p:cNvSpPr>
            <a:spLocks noChangeArrowheads="1"/>
          </p:cNvSpPr>
          <p:nvPr/>
        </p:nvSpPr>
        <p:spPr bwMode="auto">
          <a:xfrm>
            <a:off x="4103688" y="52292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7</a:t>
            </a:r>
          </a:p>
        </p:txBody>
      </p:sp>
      <p:sp>
        <p:nvSpPr>
          <p:cNvPr id="283684" name="Oval 36"/>
          <p:cNvSpPr>
            <a:spLocks noChangeArrowheads="1"/>
          </p:cNvSpPr>
          <p:nvPr/>
        </p:nvSpPr>
        <p:spPr bwMode="auto">
          <a:xfrm>
            <a:off x="47132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8</a:t>
            </a:r>
          </a:p>
        </p:txBody>
      </p:sp>
      <p:sp>
        <p:nvSpPr>
          <p:cNvPr id="283685" name="Oval 37"/>
          <p:cNvSpPr>
            <a:spLocks noChangeArrowheads="1"/>
          </p:cNvSpPr>
          <p:nvPr/>
        </p:nvSpPr>
        <p:spPr bwMode="auto">
          <a:xfrm>
            <a:off x="53228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9</a:t>
            </a:r>
          </a:p>
        </p:txBody>
      </p:sp>
      <p:sp>
        <p:nvSpPr>
          <p:cNvPr id="283686" name="Oval 38"/>
          <p:cNvSpPr>
            <a:spLocks noChangeArrowheads="1"/>
          </p:cNvSpPr>
          <p:nvPr/>
        </p:nvSpPr>
        <p:spPr bwMode="auto">
          <a:xfrm>
            <a:off x="59324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11</a:t>
            </a:r>
          </a:p>
        </p:txBody>
      </p:sp>
      <p:sp>
        <p:nvSpPr>
          <p:cNvPr id="283687" name="Oval 39"/>
          <p:cNvSpPr>
            <a:spLocks noChangeArrowheads="1"/>
          </p:cNvSpPr>
          <p:nvPr/>
        </p:nvSpPr>
        <p:spPr bwMode="auto">
          <a:xfrm>
            <a:off x="65420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14</a:t>
            </a:r>
          </a:p>
        </p:txBody>
      </p:sp>
      <p:sp>
        <p:nvSpPr>
          <p:cNvPr id="283688" name="Oval 40"/>
          <p:cNvSpPr>
            <a:spLocks noChangeArrowheads="1"/>
          </p:cNvSpPr>
          <p:nvPr/>
        </p:nvSpPr>
        <p:spPr bwMode="auto">
          <a:xfrm>
            <a:off x="71516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16</a:t>
            </a:r>
          </a:p>
        </p:txBody>
      </p:sp>
      <p:sp>
        <p:nvSpPr>
          <p:cNvPr id="283689" name="Oval 41"/>
          <p:cNvSpPr>
            <a:spLocks noChangeArrowheads="1"/>
          </p:cNvSpPr>
          <p:nvPr/>
        </p:nvSpPr>
        <p:spPr bwMode="auto">
          <a:xfrm>
            <a:off x="77612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18</a:t>
            </a:r>
          </a:p>
        </p:txBody>
      </p:sp>
      <p:sp>
        <p:nvSpPr>
          <p:cNvPr id="283690" name="Oval 42"/>
          <p:cNvSpPr>
            <a:spLocks noChangeArrowheads="1"/>
          </p:cNvSpPr>
          <p:nvPr/>
        </p:nvSpPr>
        <p:spPr bwMode="auto">
          <a:xfrm>
            <a:off x="837088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19</a:t>
            </a:r>
          </a:p>
        </p:txBody>
      </p:sp>
      <p:sp>
        <p:nvSpPr>
          <p:cNvPr id="283691" name="Line 43"/>
          <p:cNvSpPr>
            <a:spLocks noChangeShapeType="1"/>
          </p:cNvSpPr>
          <p:nvPr/>
        </p:nvSpPr>
        <p:spPr bwMode="auto">
          <a:xfrm>
            <a:off x="1379538" y="5991225"/>
            <a:ext cx="6991350" cy="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3692" name="Oval 44"/>
          <p:cNvSpPr>
            <a:spLocks noChangeArrowheads="1"/>
          </p:cNvSpPr>
          <p:nvPr/>
        </p:nvSpPr>
        <p:spPr bwMode="auto">
          <a:xfrm>
            <a:off x="16652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a:t>
            </a:r>
          </a:p>
        </p:txBody>
      </p:sp>
      <p:sp>
        <p:nvSpPr>
          <p:cNvPr id="283693" name="Oval 45"/>
          <p:cNvSpPr>
            <a:spLocks noChangeArrowheads="1"/>
          </p:cNvSpPr>
          <p:nvPr/>
        </p:nvSpPr>
        <p:spPr bwMode="auto">
          <a:xfrm>
            <a:off x="22748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3</a:t>
            </a:r>
          </a:p>
        </p:txBody>
      </p:sp>
      <p:sp>
        <p:nvSpPr>
          <p:cNvPr id="283694" name="Oval 46"/>
          <p:cNvSpPr>
            <a:spLocks noChangeArrowheads="1"/>
          </p:cNvSpPr>
          <p:nvPr/>
        </p:nvSpPr>
        <p:spPr bwMode="auto">
          <a:xfrm>
            <a:off x="28844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4</a:t>
            </a:r>
          </a:p>
        </p:txBody>
      </p:sp>
      <p:sp>
        <p:nvSpPr>
          <p:cNvPr id="283695" name="Oval 47"/>
          <p:cNvSpPr>
            <a:spLocks noChangeArrowheads="1"/>
          </p:cNvSpPr>
          <p:nvPr/>
        </p:nvSpPr>
        <p:spPr bwMode="auto">
          <a:xfrm>
            <a:off x="34940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5</a:t>
            </a:r>
          </a:p>
        </p:txBody>
      </p:sp>
      <p:sp>
        <p:nvSpPr>
          <p:cNvPr id="283696" name="Oval 48"/>
          <p:cNvSpPr>
            <a:spLocks noChangeArrowheads="1"/>
          </p:cNvSpPr>
          <p:nvPr/>
        </p:nvSpPr>
        <p:spPr bwMode="auto">
          <a:xfrm>
            <a:off x="4103688" y="5838825"/>
            <a:ext cx="304800" cy="304800"/>
          </a:xfrm>
          <a:prstGeom prst="ellipse">
            <a:avLst/>
          </a:prstGeom>
          <a:solidFill>
            <a:schemeClr val="accent1"/>
          </a:solidFill>
          <a:ln w="571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solidFill>
                  <a:schemeClr val="tx2"/>
                </a:solidFill>
                <a:latin typeface="Tahoma" pitchFamily="34" charset="0"/>
              </a:rPr>
              <a:t>7</a:t>
            </a:r>
          </a:p>
        </p:txBody>
      </p:sp>
      <p:sp>
        <p:nvSpPr>
          <p:cNvPr id="283697" name="Oval 49"/>
          <p:cNvSpPr>
            <a:spLocks noChangeArrowheads="1"/>
          </p:cNvSpPr>
          <p:nvPr/>
        </p:nvSpPr>
        <p:spPr bwMode="auto">
          <a:xfrm>
            <a:off x="47132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8</a:t>
            </a:r>
          </a:p>
        </p:txBody>
      </p:sp>
      <p:sp>
        <p:nvSpPr>
          <p:cNvPr id="283698" name="Oval 50"/>
          <p:cNvSpPr>
            <a:spLocks noChangeArrowheads="1"/>
          </p:cNvSpPr>
          <p:nvPr/>
        </p:nvSpPr>
        <p:spPr bwMode="auto">
          <a:xfrm>
            <a:off x="53228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9</a:t>
            </a:r>
          </a:p>
        </p:txBody>
      </p:sp>
      <p:sp>
        <p:nvSpPr>
          <p:cNvPr id="283699" name="Oval 51"/>
          <p:cNvSpPr>
            <a:spLocks noChangeArrowheads="1"/>
          </p:cNvSpPr>
          <p:nvPr/>
        </p:nvSpPr>
        <p:spPr bwMode="auto">
          <a:xfrm>
            <a:off x="59324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11</a:t>
            </a:r>
          </a:p>
        </p:txBody>
      </p:sp>
      <p:sp>
        <p:nvSpPr>
          <p:cNvPr id="283700" name="Oval 52"/>
          <p:cNvSpPr>
            <a:spLocks noChangeArrowheads="1"/>
          </p:cNvSpPr>
          <p:nvPr/>
        </p:nvSpPr>
        <p:spPr bwMode="auto">
          <a:xfrm>
            <a:off x="65420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14</a:t>
            </a:r>
          </a:p>
        </p:txBody>
      </p:sp>
      <p:sp>
        <p:nvSpPr>
          <p:cNvPr id="283701" name="Oval 53"/>
          <p:cNvSpPr>
            <a:spLocks noChangeArrowheads="1"/>
          </p:cNvSpPr>
          <p:nvPr/>
        </p:nvSpPr>
        <p:spPr bwMode="auto">
          <a:xfrm>
            <a:off x="71516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16</a:t>
            </a:r>
          </a:p>
        </p:txBody>
      </p:sp>
      <p:sp>
        <p:nvSpPr>
          <p:cNvPr id="283702" name="Oval 54"/>
          <p:cNvSpPr>
            <a:spLocks noChangeArrowheads="1"/>
          </p:cNvSpPr>
          <p:nvPr/>
        </p:nvSpPr>
        <p:spPr bwMode="auto">
          <a:xfrm>
            <a:off x="77612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18</a:t>
            </a:r>
          </a:p>
        </p:txBody>
      </p:sp>
      <p:sp>
        <p:nvSpPr>
          <p:cNvPr id="283703" name="Oval 55"/>
          <p:cNvSpPr>
            <a:spLocks noChangeArrowheads="1"/>
          </p:cNvSpPr>
          <p:nvPr/>
        </p:nvSpPr>
        <p:spPr bwMode="auto">
          <a:xfrm>
            <a:off x="8370888"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19</a:t>
            </a:r>
          </a:p>
        </p:txBody>
      </p:sp>
      <p:sp>
        <p:nvSpPr>
          <p:cNvPr id="283704" name="Oval 56"/>
          <p:cNvSpPr>
            <a:spLocks noChangeArrowheads="1"/>
          </p:cNvSpPr>
          <p:nvPr/>
        </p:nvSpPr>
        <p:spPr bwMode="auto">
          <a:xfrm>
            <a:off x="1074738" y="40100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0</a:t>
            </a:r>
          </a:p>
        </p:txBody>
      </p:sp>
      <p:sp>
        <p:nvSpPr>
          <p:cNvPr id="283705" name="Oval 57"/>
          <p:cNvSpPr>
            <a:spLocks noChangeArrowheads="1"/>
          </p:cNvSpPr>
          <p:nvPr/>
        </p:nvSpPr>
        <p:spPr bwMode="auto">
          <a:xfrm>
            <a:off x="1074738" y="4619625"/>
            <a:ext cx="304800" cy="30480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0</a:t>
            </a:r>
          </a:p>
        </p:txBody>
      </p:sp>
      <p:sp>
        <p:nvSpPr>
          <p:cNvPr id="283706" name="Oval 58"/>
          <p:cNvSpPr>
            <a:spLocks noChangeArrowheads="1"/>
          </p:cNvSpPr>
          <p:nvPr/>
        </p:nvSpPr>
        <p:spPr bwMode="auto">
          <a:xfrm>
            <a:off x="1074738" y="52292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0</a:t>
            </a:r>
          </a:p>
        </p:txBody>
      </p:sp>
      <p:sp>
        <p:nvSpPr>
          <p:cNvPr id="283707" name="Oval 59"/>
          <p:cNvSpPr>
            <a:spLocks noChangeArrowheads="1"/>
          </p:cNvSpPr>
          <p:nvPr/>
        </p:nvSpPr>
        <p:spPr bwMode="auto">
          <a:xfrm>
            <a:off x="1084263" y="5838825"/>
            <a:ext cx="304800" cy="304800"/>
          </a:xfrm>
          <a:prstGeom prst="ellipse">
            <a:avLst/>
          </a:prstGeom>
          <a:solidFill>
            <a:schemeClr val="bg2"/>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sz="1400">
                <a:latin typeface="Tahoma" pitchFamily="34" charset="0"/>
              </a:rPr>
              <a:t>0</a:t>
            </a:r>
          </a:p>
        </p:txBody>
      </p:sp>
      <p:sp>
        <p:nvSpPr>
          <p:cNvPr id="283708" name="Text Box 60"/>
          <p:cNvSpPr txBox="1">
            <a:spLocks noChangeArrowheads="1"/>
          </p:cNvSpPr>
          <p:nvPr/>
        </p:nvSpPr>
        <p:spPr bwMode="auto">
          <a:xfrm>
            <a:off x="4689475" y="4256088"/>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m</a:t>
            </a:r>
          </a:p>
        </p:txBody>
      </p:sp>
      <p:sp>
        <p:nvSpPr>
          <p:cNvPr id="283709" name="Text Box 61"/>
          <p:cNvSpPr txBox="1">
            <a:spLocks noChangeArrowheads="1"/>
          </p:cNvSpPr>
          <p:nvPr/>
        </p:nvSpPr>
        <p:spPr bwMode="auto">
          <a:xfrm>
            <a:off x="1074738" y="4257675"/>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l</a:t>
            </a:r>
          </a:p>
        </p:txBody>
      </p:sp>
      <p:sp>
        <p:nvSpPr>
          <p:cNvPr id="283710" name="Text Box 62"/>
          <p:cNvSpPr txBox="1">
            <a:spLocks noChangeArrowheads="1"/>
          </p:cNvSpPr>
          <p:nvPr/>
        </p:nvSpPr>
        <p:spPr bwMode="auto">
          <a:xfrm>
            <a:off x="8389938" y="4256088"/>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h</a:t>
            </a:r>
          </a:p>
        </p:txBody>
      </p:sp>
      <p:sp>
        <p:nvSpPr>
          <p:cNvPr id="283711" name="Text Box 63"/>
          <p:cNvSpPr txBox="1">
            <a:spLocks noChangeArrowheads="1"/>
          </p:cNvSpPr>
          <p:nvPr/>
        </p:nvSpPr>
        <p:spPr bwMode="auto">
          <a:xfrm>
            <a:off x="2246313" y="4876800"/>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m</a:t>
            </a:r>
          </a:p>
        </p:txBody>
      </p:sp>
      <p:sp>
        <p:nvSpPr>
          <p:cNvPr id="283712" name="Text Box 64"/>
          <p:cNvSpPr txBox="1">
            <a:spLocks noChangeArrowheads="1"/>
          </p:cNvSpPr>
          <p:nvPr/>
        </p:nvSpPr>
        <p:spPr bwMode="auto">
          <a:xfrm>
            <a:off x="1074738" y="4878388"/>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l</a:t>
            </a:r>
          </a:p>
        </p:txBody>
      </p:sp>
      <p:sp>
        <p:nvSpPr>
          <p:cNvPr id="283713" name="Text Box 65"/>
          <p:cNvSpPr txBox="1">
            <a:spLocks noChangeArrowheads="1"/>
          </p:cNvSpPr>
          <p:nvPr/>
        </p:nvSpPr>
        <p:spPr bwMode="auto">
          <a:xfrm>
            <a:off x="4103688" y="4876800"/>
            <a:ext cx="2968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h</a:t>
            </a:r>
          </a:p>
        </p:txBody>
      </p:sp>
      <p:sp>
        <p:nvSpPr>
          <p:cNvPr id="283714" name="Text Box 66"/>
          <p:cNvSpPr txBox="1">
            <a:spLocks noChangeArrowheads="1"/>
          </p:cNvSpPr>
          <p:nvPr/>
        </p:nvSpPr>
        <p:spPr bwMode="auto">
          <a:xfrm>
            <a:off x="3484563" y="5497513"/>
            <a:ext cx="3429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m</a:t>
            </a:r>
          </a:p>
        </p:txBody>
      </p:sp>
      <p:sp>
        <p:nvSpPr>
          <p:cNvPr id="283715" name="Text Box 67"/>
          <p:cNvSpPr txBox="1">
            <a:spLocks noChangeArrowheads="1"/>
          </p:cNvSpPr>
          <p:nvPr/>
        </p:nvSpPr>
        <p:spPr bwMode="auto">
          <a:xfrm>
            <a:off x="2903538" y="5499100"/>
            <a:ext cx="2413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l</a:t>
            </a:r>
          </a:p>
        </p:txBody>
      </p:sp>
      <p:sp>
        <p:nvSpPr>
          <p:cNvPr id="283716" name="Text Box 68"/>
          <p:cNvSpPr txBox="1">
            <a:spLocks noChangeArrowheads="1"/>
          </p:cNvSpPr>
          <p:nvPr/>
        </p:nvSpPr>
        <p:spPr bwMode="auto">
          <a:xfrm>
            <a:off x="4103688" y="5497513"/>
            <a:ext cx="3048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1600" b="1" i="1">
                <a:latin typeface="Times New Roman" pitchFamily="18" charset="0"/>
              </a:rPr>
              <a:t>h</a:t>
            </a:r>
          </a:p>
        </p:txBody>
      </p:sp>
      <p:sp>
        <p:nvSpPr>
          <p:cNvPr id="283717" name="Text Box 69"/>
          <p:cNvSpPr txBox="1">
            <a:spLocks noChangeArrowheads="1"/>
          </p:cNvSpPr>
          <p:nvPr/>
        </p:nvSpPr>
        <p:spPr bwMode="auto">
          <a:xfrm>
            <a:off x="3856038" y="6113463"/>
            <a:ext cx="78581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1600" b="1" i="1">
                <a:latin typeface="Times New Roman" pitchFamily="18" charset="0"/>
              </a:rPr>
              <a:t>l</a:t>
            </a:r>
            <a:r>
              <a:rPr lang="en-US" sz="1600">
                <a:latin typeface="Symbol" pitchFamily="18" charset="2"/>
              </a:rPr>
              <a:t>=</a:t>
            </a:r>
            <a:r>
              <a:rPr lang="en-US" sz="1600" b="1" i="1">
                <a:latin typeface="Times New Roman" pitchFamily="18" charset="0"/>
              </a:rPr>
              <a:t>m </a:t>
            </a:r>
            <a:r>
              <a:rPr lang="en-US" sz="1600">
                <a:latin typeface="Symbol" pitchFamily="18" charset="2"/>
              </a:rPr>
              <a:t>=</a:t>
            </a:r>
            <a:r>
              <a:rPr lang="en-US" sz="1600" b="1" i="1">
                <a:latin typeface="Times New Roman" pitchFamily="18" charset="0"/>
              </a:rPr>
              <a:t>h</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5"/>
          <p:cNvSpPr>
            <a:spLocks noGrp="1"/>
          </p:cNvSpPr>
          <p:nvPr>
            <p:ph type="ftr" sz="quarter" idx="11"/>
          </p:nvPr>
        </p:nvSpPr>
        <p:spPr/>
        <p:txBody>
          <a:bodyPr/>
          <a:lstStyle/>
          <a:p>
            <a:r>
              <a:rPr lang="en-US"/>
              <a:t>Data Structures and Algorithms</a:t>
            </a:r>
          </a:p>
        </p:txBody>
      </p:sp>
      <p:sp>
        <p:nvSpPr>
          <p:cNvPr id="5" name="Slide Number Placeholder 6"/>
          <p:cNvSpPr>
            <a:spLocks noGrp="1"/>
          </p:cNvSpPr>
          <p:nvPr>
            <p:ph type="sldNum" sz="quarter" idx="12"/>
          </p:nvPr>
        </p:nvSpPr>
        <p:spPr/>
        <p:txBody>
          <a:bodyPr/>
          <a:lstStyle/>
          <a:p>
            <a:fld id="{C10CB24F-4225-4115-813A-440C360D1E05}" type="slidenum">
              <a:rPr lang="en-US"/>
              <a:pPr/>
              <a:t>17</a:t>
            </a:fld>
            <a:endParaRPr lang="en-US"/>
          </a:p>
        </p:txBody>
      </p:sp>
      <p:sp>
        <p:nvSpPr>
          <p:cNvPr id="284674" name="Rectangle 2"/>
          <p:cNvSpPr>
            <a:spLocks noGrp="1" noChangeArrowheads="1"/>
          </p:cNvSpPr>
          <p:nvPr>
            <p:ph type="title"/>
          </p:nvPr>
        </p:nvSpPr>
        <p:spPr/>
        <p:txBody>
          <a:bodyPr/>
          <a:lstStyle/>
          <a:p>
            <a:r>
              <a:rPr lang="en-US"/>
              <a:t>Lookup Table</a:t>
            </a:r>
            <a:endParaRPr lang="en-US" sz="3200"/>
          </a:p>
        </p:txBody>
      </p:sp>
      <p:sp>
        <p:nvSpPr>
          <p:cNvPr id="284675" name="Rectangle 3"/>
          <p:cNvSpPr>
            <a:spLocks noGrp="1" noChangeArrowheads="1"/>
          </p:cNvSpPr>
          <p:nvPr>
            <p:ph type="body" sz="half" idx="1"/>
          </p:nvPr>
        </p:nvSpPr>
        <p:spPr>
          <a:xfrm>
            <a:off x="838200" y="1981200"/>
            <a:ext cx="7772400" cy="3886200"/>
          </a:xfrm>
        </p:spPr>
        <p:txBody>
          <a:bodyPr/>
          <a:lstStyle/>
          <a:p>
            <a:pPr>
              <a:lnSpc>
                <a:spcPct val="90000"/>
              </a:lnSpc>
            </a:pPr>
            <a:r>
              <a:rPr lang="en-US" sz="1800"/>
              <a:t>A lookup table is a dictionary implemented by means of a sorted sequence</a:t>
            </a:r>
          </a:p>
          <a:p>
            <a:pPr lvl="1">
              <a:lnSpc>
                <a:spcPct val="90000"/>
              </a:lnSpc>
            </a:pPr>
            <a:r>
              <a:rPr lang="en-US" sz="1800"/>
              <a:t>We store the items of the dictionary in an array-based sequence, sorted by key</a:t>
            </a:r>
          </a:p>
          <a:p>
            <a:pPr lvl="1">
              <a:lnSpc>
                <a:spcPct val="90000"/>
              </a:lnSpc>
            </a:pPr>
            <a:r>
              <a:rPr lang="en-US" sz="1800"/>
              <a:t>We use an external comparator for the keys</a:t>
            </a:r>
          </a:p>
          <a:p>
            <a:pPr>
              <a:lnSpc>
                <a:spcPct val="90000"/>
              </a:lnSpc>
            </a:pPr>
            <a:r>
              <a:rPr lang="en-US" sz="1800"/>
              <a:t>Performance:</a:t>
            </a:r>
          </a:p>
          <a:p>
            <a:pPr lvl="1">
              <a:lnSpc>
                <a:spcPct val="90000"/>
              </a:lnSpc>
            </a:pPr>
            <a:r>
              <a:rPr lang="en-US" sz="1800">
                <a:solidFill>
                  <a:schemeClr val="tx2"/>
                </a:solidFill>
              </a:rPr>
              <a:t>findElement</a:t>
            </a:r>
            <a:r>
              <a:rPr lang="en-US" sz="1800"/>
              <a:t> takes </a:t>
            </a:r>
            <a:r>
              <a:rPr lang="en-US" sz="1800" b="1" i="1"/>
              <a:t>O</a:t>
            </a:r>
            <a:r>
              <a:rPr lang="en-US" sz="1800"/>
              <a:t>(log </a:t>
            </a:r>
            <a:r>
              <a:rPr lang="en-US" sz="1800" b="1" i="1"/>
              <a:t>n</a:t>
            </a:r>
            <a:r>
              <a:rPr lang="en-US" sz="1800"/>
              <a:t>) time, using binary search</a:t>
            </a:r>
          </a:p>
          <a:p>
            <a:pPr lvl="1">
              <a:lnSpc>
                <a:spcPct val="90000"/>
              </a:lnSpc>
            </a:pPr>
            <a:r>
              <a:rPr lang="en-US" sz="1800">
                <a:solidFill>
                  <a:schemeClr val="tx2"/>
                </a:solidFill>
              </a:rPr>
              <a:t>insertItem</a:t>
            </a:r>
            <a:r>
              <a:rPr lang="en-US" sz="1800"/>
              <a:t> takes </a:t>
            </a:r>
            <a:r>
              <a:rPr lang="en-US" sz="1800" b="1" i="1"/>
              <a:t>O</a:t>
            </a:r>
            <a:r>
              <a:rPr lang="en-US" sz="1800"/>
              <a:t>(</a:t>
            </a:r>
            <a:r>
              <a:rPr lang="en-US" sz="1800" b="1" i="1"/>
              <a:t>n</a:t>
            </a:r>
            <a:r>
              <a:rPr lang="en-US" sz="1800"/>
              <a:t>) time since in the worst case we have to shift </a:t>
            </a:r>
            <a:r>
              <a:rPr lang="en-US" sz="1800" b="1" i="1"/>
              <a:t>n</a:t>
            </a:r>
            <a:r>
              <a:rPr lang="en-US" sz="1800">
                <a:latin typeface="Symbol" pitchFamily="18" charset="2"/>
              </a:rPr>
              <a:t>/</a:t>
            </a:r>
            <a:r>
              <a:rPr lang="en-US" sz="1800"/>
              <a:t>2 items to make room for the new item</a:t>
            </a:r>
            <a:endParaRPr lang="en-US" sz="2000"/>
          </a:p>
          <a:p>
            <a:pPr lvl="1">
              <a:lnSpc>
                <a:spcPct val="90000"/>
              </a:lnSpc>
            </a:pPr>
            <a:r>
              <a:rPr lang="en-US" sz="1800">
                <a:solidFill>
                  <a:schemeClr val="tx2"/>
                </a:solidFill>
              </a:rPr>
              <a:t>removeElement </a:t>
            </a:r>
            <a:r>
              <a:rPr lang="en-US" sz="1800"/>
              <a:t>take </a:t>
            </a:r>
            <a:r>
              <a:rPr lang="en-US" sz="1800" b="1" i="1"/>
              <a:t>O</a:t>
            </a:r>
            <a:r>
              <a:rPr lang="en-US" sz="1800"/>
              <a:t>(</a:t>
            </a:r>
            <a:r>
              <a:rPr lang="en-US" sz="1800" b="1" i="1"/>
              <a:t>n</a:t>
            </a:r>
            <a:r>
              <a:rPr lang="en-US" sz="1800"/>
              <a:t>) time since in the worst case we have to shift </a:t>
            </a:r>
            <a:r>
              <a:rPr lang="en-US" sz="1800" b="1" i="1"/>
              <a:t>n</a:t>
            </a:r>
            <a:r>
              <a:rPr lang="en-US" sz="1800">
                <a:latin typeface="Symbol" pitchFamily="18" charset="2"/>
              </a:rPr>
              <a:t>/</a:t>
            </a:r>
            <a:r>
              <a:rPr lang="en-US" sz="1800"/>
              <a:t>2 items to compact the items after the removal</a:t>
            </a:r>
          </a:p>
          <a:p>
            <a:pPr>
              <a:lnSpc>
                <a:spcPct val="90000"/>
              </a:lnSpc>
            </a:pPr>
            <a:r>
              <a:rPr lang="en-US" sz="1800"/>
              <a:t>The lookup table is effective only for dictionaries of small size or for dictionaries on which searches are the most common operations, while insertions and removals are rarely performed (e.g., credit card authorizations)</a:t>
            </a:r>
            <a:endParaRPr lang="en-US" sz="20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Footer Placeholder 5"/>
          <p:cNvSpPr>
            <a:spLocks noGrp="1"/>
          </p:cNvSpPr>
          <p:nvPr>
            <p:ph type="ftr" sz="quarter" idx="11"/>
          </p:nvPr>
        </p:nvSpPr>
        <p:spPr/>
        <p:txBody>
          <a:bodyPr/>
          <a:lstStyle/>
          <a:p>
            <a:r>
              <a:rPr lang="en-US"/>
              <a:t>Data Structures and Algorithms</a:t>
            </a:r>
          </a:p>
        </p:txBody>
      </p:sp>
      <p:sp>
        <p:nvSpPr>
          <p:cNvPr id="32" name="Slide Number Placeholder 6"/>
          <p:cNvSpPr>
            <a:spLocks noGrp="1"/>
          </p:cNvSpPr>
          <p:nvPr>
            <p:ph type="sldNum" sz="quarter" idx="12"/>
          </p:nvPr>
        </p:nvSpPr>
        <p:spPr/>
        <p:txBody>
          <a:bodyPr/>
          <a:lstStyle/>
          <a:p>
            <a:fld id="{7C9F390F-BA18-48BD-A79E-E0F339A8B14B}" type="slidenum">
              <a:rPr lang="en-US"/>
              <a:pPr/>
              <a:t>18</a:t>
            </a:fld>
            <a:endParaRPr lang="en-US"/>
          </a:p>
        </p:txBody>
      </p:sp>
      <p:sp>
        <p:nvSpPr>
          <p:cNvPr id="285698" name="Rectangle 2"/>
          <p:cNvSpPr>
            <a:spLocks noGrp="1" noChangeArrowheads="1"/>
          </p:cNvSpPr>
          <p:nvPr>
            <p:ph type="title"/>
          </p:nvPr>
        </p:nvSpPr>
        <p:spPr>
          <a:xfrm>
            <a:off x="1143000" y="381000"/>
            <a:ext cx="4191000" cy="1143000"/>
          </a:xfrm>
        </p:spPr>
        <p:txBody>
          <a:bodyPr/>
          <a:lstStyle/>
          <a:p>
            <a:r>
              <a:rPr lang="en-US"/>
              <a:t>Binary Search Tree</a:t>
            </a:r>
            <a:endParaRPr lang="en-US" sz="3200"/>
          </a:p>
        </p:txBody>
      </p:sp>
      <p:sp>
        <p:nvSpPr>
          <p:cNvPr id="285699" name="Rectangle 3"/>
          <p:cNvSpPr>
            <a:spLocks noGrp="1" noChangeArrowheads="1"/>
          </p:cNvSpPr>
          <p:nvPr>
            <p:ph type="body" sz="half" idx="1"/>
          </p:nvPr>
        </p:nvSpPr>
        <p:spPr>
          <a:xfrm>
            <a:off x="762000" y="1676400"/>
            <a:ext cx="3810000" cy="4572000"/>
          </a:xfrm>
        </p:spPr>
        <p:txBody>
          <a:bodyPr/>
          <a:lstStyle/>
          <a:p>
            <a:pPr>
              <a:lnSpc>
                <a:spcPct val="90000"/>
              </a:lnSpc>
            </a:pPr>
            <a:r>
              <a:rPr lang="en-US" sz="2000"/>
              <a:t>A binary search tree is a binary tree storing keys (or key-element pairs) at its internal nodes and satisfying the following property:</a:t>
            </a:r>
          </a:p>
          <a:p>
            <a:pPr lvl="1">
              <a:lnSpc>
                <a:spcPct val="90000"/>
              </a:lnSpc>
            </a:pPr>
            <a:r>
              <a:rPr lang="en-US" sz="2000"/>
              <a:t>Let </a:t>
            </a:r>
            <a:r>
              <a:rPr lang="en-US" sz="2000" b="1" i="1"/>
              <a:t>u</a:t>
            </a:r>
            <a:r>
              <a:rPr lang="en-US" sz="2000"/>
              <a:t>, </a:t>
            </a:r>
            <a:r>
              <a:rPr lang="en-US" sz="2000" b="1" i="1"/>
              <a:t>v</a:t>
            </a:r>
            <a:r>
              <a:rPr lang="en-US" sz="2000"/>
              <a:t>, and </a:t>
            </a:r>
            <a:r>
              <a:rPr lang="en-US" sz="2000" b="1" i="1"/>
              <a:t>w</a:t>
            </a:r>
            <a:r>
              <a:rPr lang="en-US" sz="2000"/>
              <a:t> be three nodes such that </a:t>
            </a:r>
            <a:r>
              <a:rPr lang="en-US" sz="2000" b="1" i="1"/>
              <a:t>u</a:t>
            </a:r>
            <a:r>
              <a:rPr lang="en-US" sz="2000"/>
              <a:t> is in the left subtree of </a:t>
            </a:r>
            <a:r>
              <a:rPr lang="en-US" sz="2000" b="1" i="1"/>
              <a:t>v</a:t>
            </a:r>
            <a:r>
              <a:rPr lang="en-US" sz="2000"/>
              <a:t> and </a:t>
            </a:r>
            <a:r>
              <a:rPr lang="en-US" sz="2000" b="1" i="1"/>
              <a:t>w</a:t>
            </a:r>
            <a:r>
              <a:rPr lang="en-US" sz="2000"/>
              <a:t> is in the right subtree of </a:t>
            </a:r>
            <a:r>
              <a:rPr lang="en-US" sz="2000" b="1" i="1"/>
              <a:t>v</a:t>
            </a:r>
            <a:r>
              <a:rPr lang="en-US" sz="2000"/>
              <a:t>. We have </a:t>
            </a:r>
            <a:br>
              <a:rPr lang="en-US" sz="2000"/>
            </a:br>
            <a:r>
              <a:rPr lang="en-US" sz="2000" b="1" i="1"/>
              <a:t>key</a:t>
            </a:r>
            <a:r>
              <a:rPr lang="en-US" sz="2000"/>
              <a:t>(</a:t>
            </a:r>
            <a:r>
              <a:rPr lang="en-US" sz="2000" b="1" i="1"/>
              <a:t>u</a:t>
            </a:r>
            <a:r>
              <a:rPr lang="en-US" sz="2000"/>
              <a:t>) </a:t>
            </a:r>
            <a:r>
              <a:rPr lang="en-US" sz="2000">
                <a:latin typeface="Symbol" pitchFamily="18" charset="2"/>
                <a:sym typeface="Symbol" pitchFamily="18" charset="2"/>
              </a:rPr>
              <a:t></a:t>
            </a:r>
            <a:r>
              <a:rPr lang="en-US" sz="2000"/>
              <a:t> </a:t>
            </a:r>
            <a:r>
              <a:rPr lang="en-US" sz="2000" b="1" i="1"/>
              <a:t>key</a:t>
            </a:r>
            <a:r>
              <a:rPr lang="en-US" sz="2000"/>
              <a:t>(</a:t>
            </a:r>
            <a:r>
              <a:rPr lang="en-US" sz="2000" b="1" i="1"/>
              <a:t>v</a:t>
            </a:r>
            <a:r>
              <a:rPr lang="en-US" sz="2000"/>
              <a:t>) </a:t>
            </a:r>
            <a:r>
              <a:rPr lang="en-US" sz="2000">
                <a:latin typeface="Symbol" pitchFamily="18" charset="2"/>
                <a:sym typeface="Symbol" pitchFamily="18" charset="2"/>
              </a:rPr>
              <a:t></a:t>
            </a:r>
            <a:r>
              <a:rPr lang="en-US" sz="2000"/>
              <a:t> </a:t>
            </a:r>
            <a:r>
              <a:rPr lang="en-US" sz="2000" b="1" i="1"/>
              <a:t>key</a:t>
            </a:r>
            <a:r>
              <a:rPr lang="en-US" sz="2000"/>
              <a:t>(</a:t>
            </a:r>
            <a:r>
              <a:rPr lang="en-US" sz="2000" b="1" i="1"/>
              <a:t>w</a:t>
            </a:r>
            <a:r>
              <a:rPr lang="en-US" sz="2000"/>
              <a:t>)</a:t>
            </a:r>
          </a:p>
          <a:p>
            <a:pPr>
              <a:lnSpc>
                <a:spcPct val="90000"/>
              </a:lnSpc>
            </a:pPr>
            <a:r>
              <a:rPr lang="en-US" sz="2000"/>
              <a:t>External nodes do not store items</a:t>
            </a:r>
          </a:p>
          <a:p>
            <a:pPr>
              <a:lnSpc>
                <a:spcPct val="90000"/>
              </a:lnSpc>
            </a:pPr>
            <a:endParaRPr lang="en-US" sz="2000"/>
          </a:p>
          <a:p>
            <a:pPr>
              <a:lnSpc>
                <a:spcPct val="90000"/>
              </a:lnSpc>
            </a:pPr>
            <a:endParaRPr lang="en-US" sz="2400"/>
          </a:p>
        </p:txBody>
      </p:sp>
      <p:sp>
        <p:nvSpPr>
          <p:cNvPr id="285700" name="Rectangle 4"/>
          <p:cNvSpPr>
            <a:spLocks noGrp="1" noChangeArrowheads="1"/>
          </p:cNvSpPr>
          <p:nvPr>
            <p:ph type="body" sz="half" idx="2"/>
          </p:nvPr>
        </p:nvSpPr>
        <p:spPr>
          <a:xfrm>
            <a:off x="4800600" y="1828800"/>
            <a:ext cx="3810000" cy="1600200"/>
          </a:xfrm>
        </p:spPr>
        <p:txBody>
          <a:bodyPr/>
          <a:lstStyle/>
          <a:p>
            <a:r>
              <a:rPr lang="en-US" sz="2000"/>
              <a:t>An inorder traversal of a binary search trees visits the keys in increasing order</a:t>
            </a:r>
          </a:p>
        </p:txBody>
      </p:sp>
      <p:grpSp>
        <p:nvGrpSpPr>
          <p:cNvPr id="285701" name="Group 5"/>
          <p:cNvGrpSpPr>
            <a:grpSpLocks/>
          </p:cNvGrpSpPr>
          <p:nvPr/>
        </p:nvGrpSpPr>
        <p:grpSpPr bwMode="auto">
          <a:xfrm>
            <a:off x="4724400" y="3657600"/>
            <a:ext cx="3962400" cy="1812925"/>
            <a:chOff x="2953" y="2544"/>
            <a:chExt cx="2496" cy="1142"/>
          </a:xfrm>
        </p:grpSpPr>
        <p:sp>
          <p:nvSpPr>
            <p:cNvPr id="285702" name="Oval 6"/>
            <p:cNvSpPr>
              <a:spLocks noChangeArrowheads="1"/>
            </p:cNvSpPr>
            <p:nvPr/>
          </p:nvSpPr>
          <p:spPr bwMode="auto">
            <a:xfrm>
              <a:off x="4080" y="2544"/>
              <a:ext cx="202" cy="201"/>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6</a:t>
              </a:r>
            </a:p>
          </p:txBody>
        </p:sp>
        <p:sp>
          <p:nvSpPr>
            <p:cNvPr id="285703" name="Oval 7"/>
            <p:cNvSpPr>
              <a:spLocks noChangeArrowheads="1"/>
            </p:cNvSpPr>
            <p:nvPr/>
          </p:nvSpPr>
          <p:spPr bwMode="auto">
            <a:xfrm>
              <a:off x="4969" y="2866"/>
              <a:ext cx="201"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9</a:t>
              </a:r>
            </a:p>
          </p:txBody>
        </p:sp>
        <p:sp>
          <p:nvSpPr>
            <p:cNvPr id="285704" name="Oval 8"/>
            <p:cNvSpPr>
              <a:spLocks noChangeArrowheads="1"/>
            </p:cNvSpPr>
            <p:nvPr/>
          </p:nvSpPr>
          <p:spPr bwMode="auto">
            <a:xfrm>
              <a:off x="3480" y="2866"/>
              <a:ext cx="201"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2</a:t>
              </a:r>
            </a:p>
          </p:txBody>
        </p:sp>
        <p:sp>
          <p:nvSpPr>
            <p:cNvPr id="285705" name="Oval 9"/>
            <p:cNvSpPr>
              <a:spLocks noChangeArrowheads="1"/>
            </p:cNvSpPr>
            <p:nvPr/>
          </p:nvSpPr>
          <p:spPr bwMode="auto">
            <a:xfrm>
              <a:off x="3850" y="3178"/>
              <a:ext cx="202"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4</a:t>
              </a:r>
            </a:p>
          </p:txBody>
        </p:sp>
        <p:sp>
          <p:nvSpPr>
            <p:cNvPr id="285706" name="Rectangle 10"/>
            <p:cNvSpPr>
              <a:spLocks noChangeAspect="1" noChangeArrowheads="1"/>
            </p:cNvSpPr>
            <p:nvPr/>
          </p:nvSpPr>
          <p:spPr bwMode="auto">
            <a:xfrm>
              <a:off x="3694" y="3541"/>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5707" name="Rectangle 11"/>
            <p:cNvSpPr>
              <a:spLocks noChangeAspect="1" noChangeArrowheads="1"/>
            </p:cNvSpPr>
            <p:nvPr/>
          </p:nvSpPr>
          <p:spPr bwMode="auto">
            <a:xfrm>
              <a:off x="4063" y="3541"/>
              <a:ext cx="146"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5708" name="Rectangle 12"/>
            <p:cNvSpPr>
              <a:spLocks noChangeAspect="1" noChangeArrowheads="1"/>
            </p:cNvSpPr>
            <p:nvPr/>
          </p:nvSpPr>
          <p:spPr bwMode="auto">
            <a:xfrm>
              <a:off x="5304" y="3206"/>
              <a:ext cx="145" cy="146"/>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5709" name="AutoShape 13"/>
            <p:cNvCxnSpPr>
              <a:cxnSpLocks noChangeShapeType="1"/>
              <a:stCxn id="285702" idx="3"/>
              <a:endCxn id="285704" idx="7"/>
            </p:cNvCxnSpPr>
            <p:nvPr/>
          </p:nvCxnSpPr>
          <p:spPr bwMode="auto">
            <a:xfrm flipH="1">
              <a:off x="3652" y="2721"/>
              <a:ext cx="458" cy="17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10" name="AutoShape 14"/>
            <p:cNvCxnSpPr>
              <a:cxnSpLocks noChangeShapeType="1"/>
              <a:stCxn id="285703" idx="1"/>
              <a:endCxn id="285702" idx="5"/>
            </p:cNvCxnSpPr>
            <p:nvPr/>
          </p:nvCxnSpPr>
          <p:spPr bwMode="auto">
            <a:xfrm flipH="1" flipV="1">
              <a:off x="4252" y="2722"/>
              <a:ext cx="746" cy="16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11" name="AutoShape 15"/>
            <p:cNvCxnSpPr>
              <a:cxnSpLocks noChangeShapeType="1"/>
              <a:stCxn id="285708" idx="0"/>
              <a:endCxn id="285703" idx="5"/>
            </p:cNvCxnSpPr>
            <p:nvPr/>
          </p:nvCxnSpPr>
          <p:spPr bwMode="auto">
            <a:xfrm flipH="1" flipV="1">
              <a:off x="5141" y="3044"/>
              <a:ext cx="236" cy="156"/>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12" name="AutoShape 16"/>
            <p:cNvCxnSpPr>
              <a:cxnSpLocks noChangeShapeType="1"/>
              <a:stCxn id="285722" idx="7"/>
              <a:endCxn id="285703" idx="3"/>
            </p:cNvCxnSpPr>
            <p:nvPr/>
          </p:nvCxnSpPr>
          <p:spPr bwMode="auto">
            <a:xfrm flipV="1">
              <a:off x="4830" y="3044"/>
              <a:ext cx="168" cy="15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13" name="AutoShape 17"/>
            <p:cNvCxnSpPr>
              <a:cxnSpLocks noChangeShapeType="1"/>
              <a:stCxn id="285707" idx="0"/>
              <a:endCxn id="285705" idx="5"/>
            </p:cNvCxnSpPr>
            <p:nvPr/>
          </p:nvCxnSpPr>
          <p:spPr bwMode="auto">
            <a:xfrm flipH="1" flipV="1">
              <a:off x="4022" y="3356"/>
              <a:ext cx="114" cy="17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14" name="AutoShape 18"/>
            <p:cNvCxnSpPr>
              <a:cxnSpLocks noChangeShapeType="1"/>
              <a:stCxn id="285706" idx="0"/>
              <a:endCxn id="285705" idx="3"/>
            </p:cNvCxnSpPr>
            <p:nvPr/>
          </p:nvCxnSpPr>
          <p:spPr bwMode="auto">
            <a:xfrm flipV="1">
              <a:off x="3767" y="3356"/>
              <a:ext cx="113" cy="17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15" name="AutoShape 19"/>
            <p:cNvCxnSpPr>
              <a:cxnSpLocks noChangeShapeType="1"/>
              <a:stCxn id="285717" idx="7"/>
              <a:endCxn id="285704" idx="3"/>
            </p:cNvCxnSpPr>
            <p:nvPr/>
          </p:nvCxnSpPr>
          <p:spPr bwMode="auto">
            <a:xfrm flipV="1">
              <a:off x="3282" y="3044"/>
              <a:ext cx="227" cy="15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16" name="AutoShape 20"/>
            <p:cNvCxnSpPr>
              <a:cxnSpLocks noChangeShapeType="1"/>
              <a:stCxn id="285705" idx="1"/>
              <a:endCxn id="285704" idx="5"/>
            </p:cNvCxnSpPr>
            <p:nvPr/>
          </p:nvCxnSpPr>
          <p:spPr bwMode="auto">
            <a:xfrm flipH="1" flipV="1">
              <a:off x="3652" y="3044"/>
              <a:ext cx="228" cy="15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17" name="Oval 21"/>
            <p:cNvSpPr>
              <a:spLocks noChangeArrowheads="1"/>
            </p:cNvSpPr>
            <p:nvPr/>
          </p:nvSpPr>
          <p:spPr bwMode="auto">
            <a:xfrm>
              <a:off x="3110" y="3178"/>
              <a:ext cx="201"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1</a:t>
              </a:r>
            </a:p>
          </p:txBody>
        </p:sp>
        <p:sp>
          <p:nvSpPr>
            <p:cNvPr id="285718" name="Rectangle 22"/>
            <p:cNvSpPr>
              <a:spLocks noChangeAspect="1" noChangeArrowheads="1"/>
            </p:cNvSpPr>
            <p:nvPr/>
          </p:nvSpPr>
          <p:spPr bwMode="auto">
            <a:xfrm>
              <a:off x="2953" y="3541"/>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5719" name="Rectangle 23"/>
            <p:cNvSpPr>
              <a:spLocks noChangeAspect="1" noChangeArrowheads="1"/>
            </p:cNvSpPr>
            <p:nvPr/>
          </p:nvSpPr>
          <p:spPr bwMode="auto">
            <a:xfrm>
              <a:off x="3323" y="3541"/>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5720" name="AutoShape 24"/>
            <p:cNvCxnSpPr>
              <a:cxnSpLocks noChangeShapeType="1"/>
              <a:stCxn id="285719" idx="0"/>
              <a:endCxn id="285717" idx="5"/>
            </p:cNvCxnSpPr>
            <p:nvPr/>
          </p:nvCxnSpPr>
          <p:spPr bwMode="auto">
            <a:xfrm flipH="1" flipV="1">
              <a:off x="3282" y="3356"/>
              <a:ext cx="114" cy="17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21" name="AutoShape 25"/>
            <p:cNvCxnSpPr>
              <a:cxnSpLocks noChangeShapeType="1"/>
              <a:stCxn id="285718" idx="0"/>
              <a:endCxn id="285717" idx="3"/>
            </p:cNvCxnSpPr>
            <p:nvPr/>
          </p:nvCxnSpPr>
          <p:spPr bwMode="auto">
            <a:xfrm flipV="1">
              <a:off x="3026" y="3356"/>
              <a:ext cx="113" cy="17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5722" name="Oval 26"/>
            <p:cNvSpPr>
              <a:spLocks noChangeArrowheads="1"/>
            </p:cNvSpPr>
            <p:nvPr/>
          </p:nvSpPr>
          <p:spPr bwMode="auto">
            <a:xfrm>
              <a:off x="4658" y="3178"/>
              <a:ext cx="202"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8</a:t>
              </a:r>
            </a:p>
          </p:txBody>
        </p:sp>
        <p:sp>
          <p:nvSpPr>
            <p:cNvPr id="285723" name="Rectangle 27"/>
            <p:cNvSpPr>
              <a:spLocks noChangeAspect="1" noChangeArrowheads="1"/>
            </p:cNvSpPr>
            <p:nvPr/>
          </p:nvSpPr>
          <p:spPr bwMode="auto">
            <a:xfrm>
              <a:off x="4502" y="3541"/>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5724" name="Rectangle 28"/>
            <p:cNvSpPr>
              <a:spLocks noChangeAspect="1" noChangeArrowheads="1"/>
            </p:cNvSpPr>
            <p:nvPr/>
          </p:nvSpPr>
          <p:spPr bwMode="auto">
            <a:xfrm>
              <a:off x="4871" y="3541"/>
              <a:ext cx="146"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5725" name="AutoShape 29"/>
            <p:cNvCxnSpPr>
              <a:cxnSpLocks noChangeShapeType="1"/>
              <a:stCxn id="285724" idx="0"/>
              <a:endCxn id="285722" idx="5"/>
            </p:cNvCxnSpPr>
            <p:nvPr/>
          </p:nvCxnSpPr>
          <p:spPr bwMode="auto">
            <a:xfrm flipH="1" flipV="1">
              <a:off x="4830" y="3356"/>
              <a:ext cx="114" cy="17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5726" name="AutoShape 30"/>
            <p:cNvCxnSpPr>
              <a:cxnSpLocks noChangeShapeType="1"/>
              <a:stCxn id="285723" idx="0"/>
              <a:endCxn id="285722" idx="3"/>
            </p:cNvCxnSpPr>
            <p:nvPr/>
          </p:nvCxnSpPr>
          <p:spPr bwMode="auto">
            <a:xfrm flipV="1">
              <a:off x="4575" y="3356"/>
              <a:ext cx="113" cy="17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Footer Placeholder 4"/>
          <p:cNvSpPr>
            <a:spLocks noGrp="1"/>
          </p:cNvSpPr>
          <p:nvPr>
            <p:ph type="ftr" sz="quarter" idx="11"/>
          </p:nvPr>
        </p:nvSpPr>
        <p:spPr/>
        <p:txBody>
          <a:bodyPr/>
          <a:lstStyle/>
          <a:p>
            <a:r>
              <a:rPr lang="en-US"/>
              <a:t>Data Structures and Algorithms</a:t>
            </a:r>
          </a:p>
        </p:txBody>
      </p:sp>
      <p:sp>
        <p:nvSpPr>
          <p:cNvPr id="34" name="Slide Number Placeholder 5"/>
          <p:cNvSpPr>
            <a:spLocks noGrp="1"/>
          </p:cNvSpPr>
          <p:nvPr>
            <p:ph type="sldNum" sz="quarter" idx="12"/>
          </p:nvPr>
        </p:nvSpPr>
        <p:spPr/>
        <p:txBody>
          <a:bodyPr/>
          <a:lstStyle/>
          <a:p>
            <a:fld id="{F3860A22-A656-4BF0-9A5C-BF709DC20107}" type="slidenum">
              <a:rPr lang="en-US"/>
              <a:pPr/>
              <a:t>19</a:t>
            </a:fld>
            <a:endParaRPr lang="en-US"/>
          </a:p>
        </p:txBody>
      </p:sp>
      <p:sp>
        <p:nvSpPr>
          <p:cNvPr id="286722" name="Rectangle 2"/>
          <p:cNvSpPr>
            <a:spLocks noGrp="1" noChangeArrowheads="1"/>
          </p:cNvSpPr>
          <p:nvPr>
            <p:ph type="title"/>
          </p:nvPr>
        </p:nvSpPr>
        <p:spPr/>
        <p:txBody>
          <a:bodyPr/>
          <a:lstStyle/>
          <a:p>
            <a:r>
              <a:rPr lang="en-US"/>
              <a:t>Search</a:t>
            </a:r>
            <a:endParaRPr lang="en-US" sz="3200"/>
          </a:p>
        </p:txBody>
      </p:sp>
      <p:sp>
        <p:nvSpPr>
          <p:cNvPr id="286723" name="Rectangle 3"/>
          <p:cNvSpPr>
            <a:spLocks noGrp="1" noChangeArrowheads="1"/>
          </p:cNvSpPr>
          <p:nvPr>
            <p:ph type="body" idx="1"/>
          </p:nvPr>
        </p:nvSpPr>
        <p:spPr>
          <a:xfrm>
            <a:off x="704850" y="1524000"/>
            <a:ext cx="3276600" cy="4572000"/>
          </a:xfrm>
        </p:spPr>
        <p:txBody>
          <a:bodyPr/>
          <a:lstStyle/>
          <a:p>
            <a:r>
              <a:rPr lang="en-US" sz="1800"/>
              <a:t>To search for a key </a:t>
            </a:r>
            <a:r>
              <a:rPr lang="en-US" sz="1800" b="1" i="1"/>
              <a:t>k</a:t>
            </a:r>
            <a:r>
              <a:rPr lang="en-US" sz="1800"/>
              <a:t>, we trace a downward path starting at the root</a:t>
            </a:r>
          </a:p>
          <a:p>
            <a:r>
              <a:rPr lang="en-US" sz="1800"/>
              <a:t>The next node visited depends on the outcome of the comparison of </a:t>
            </a:r>
            <a:r>
              <a:rPr lang="en-US" sz="1800" b="1" i="1"/>
              <a:t>k</a:t>
            </a:r>
            <a:r>
              <a:rPr lang="en-US" sz="1800"/>
              <a:t> with the key of the current node</a:t>
            </a:r>
          </a:p>
          <a:p>
            <a:r>
              <a:rPr lang="en-US" sz="1800"/>
              <a:t>If we reach a leaf, the key is not found and we return NO_SUCH_KEY</a:t>
            </a:r>
          </a:p>
          <a:p>
            <a:r>
              <a:rPr lang="en-US" sz="1800"/>
              <a:t>Example: </a:t>
            </a:r>
            <a:r>
              <a:rPr lang="en-US" sz="1800">
                <a:solidFill>
                  <a:schemeClr val="tx2"/>
                </a:solidFill>
              </a:rPr>
              <a:t>findElement</a:t>
            </a:r>
            <a:r>
              <a:rPr lang="en-US" sz="1800"/>
              <a:t>(</a:t>
            </a:r>
            <a:r>
              <a:rPr lang="en-US" sz="1800">
                <a:sym typeface="Symbol" pitchFamily="18" charset="2"/>
              </a:rPr>
              <a:t>4</a:t>
            </a:r>
            <a:r>
              <a:rPr lang="en-US" sz="1800"/>
              <a:t>)</a:t>
            </a:r>
          </a:p>
        </p:txBody>
      </p:sp>
      <p:sp>
        <p:nvSpPr>
          <p:cNvPr id="286724" name="Text Box 4"/>
          <p:cNvSpPr txBox="1">
            <a:spLocks noChangeArrowheads="1"/>
          </p:cNvSpPr>
          <p:nvPr/>
        </p:nvSpPr>
        <p:spPr bwMode="auto">
          <a:xfrm>
            <a:off x="3962400" y="1524000"/>
            <a:ext cx="4838700" cy="277495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285750">
              <a:defRPr>
                <a:solidFill>
                  <a:schemeClr val="tx1"/>
                </a:solidFill>
                <a:latin typeface="Arial" charset="0"/>
              </a:defRPr>
            </a:lvl1pPr>
            <a:lvl2pPr marL="285750" defTabSz="285750">
              <a:defRPr>
                <a:solidFill>
                  <a:schemeClr val="tx1"/>
                </a:solidFill>
                <a:latin typeface="Arial" charset="0"/>
              </a:defRPr>
            </a:lvl2pPr>
            <a:lvl3pPr defTabSz="285750">
              <a:defRPr>
                <a:solidFill>
                  <a:schemeClr val="tx1"/>
                </a:solidFill>
                <a:latin typeface="Arial" charset="0"/>
              </a:defRPr>
            </a:lvl3pPr>
            <a:lvl4pPr defTabSz="285750">
              <a:defRPr>
                <a:solidFill>
                  <a:schemeClr val="tx1"/>
                </a:solidFill>
                <a:latin typeface="Arial" charset="0"/>
              </a:defRPr>
            </a:lvl4pPr>
            <a:lvl5pPr defTabSz="285750">
              <a:defRPr>
                <a:solidFill>
                  <a:schemeClr val="tx1"/>
                </a:solidFill>
                <a:latin typeface="Arial" charset="0"/>
              </a:defRPr>
            </a:lvl5pPr>
            <a:lvl6pPr defTabSz="285750" fontAlgn="base">
              <a:spcBef>
                <a:spcPct val="0"/>
              </a:spcBef>
              <a:spcAft>
                <a:spcPct val="0"/>
              </a:spcAft>
              <a:defRPr>
                <a:solidFill>
                  <a:schemeClr val="tx1"/>
                </a:solidFill>
                <a:latin typeface="Arial" charset="0"/>
              </a:defRPr>
            </a:lvl6pPr>
            <a:lvl7pPr defTabSz="285750" fontAlgn="base">
              <a:spcBef>
                <a:spcPct val="0"/>
              </a:spcBef>
              <a:spcAft>
                <a:spcPct val="0"/>
              </a:spcAft>
              <a:defRPr>
                <a:solidFill>
                  <a:schemeClr val="tx1"/>
                </a:solidFill>
                <a:latin typeface="Arial" charset="0"/>
              </a:defRPr>
            </a:lvl7pPr>
            <a:lvl8pPr defTabSz="285750" fontAlgn="base">
              <a:spcBef>
                <a:spcPct val="0"/>
              </a:spcBef>
              <a:spcAft>
                <a:spcPct val="0"/>
              </a:spcAft>
              <a:defRPr>
                <a:solidFill>
                  <a:schemeClr val="tx1"/>
                </a:solidFill>
                <a:latin typeface="Arial" charset="0"/>
              </a:defRPr>
            </a:lvl8pPr>
            <a:lvl9pPr defTabSz="285750" fontAlgn="base">
              <a:spcBef>
                <a:spcPct val="0"/>
              </a:spcBef>
              <a:spcAft>
                <a:spcPct val="0"/>
              </a:spcAft>
              <a:defRPr>
                <a:solidFill>
                  <a:schemeClr val="tx1"/>
                </a:solidFill>
                <a:latin typeface="Arial" charset="0"/>
              </a:defRPr>
            </a:lvl9pPr>
          </a:lstStyle>
          <a:p>
            <a:pPr>
              <a:lnSpc>
                <a:spcPct val="90000"/>
              </a:lnSpc>
              <a:spcBef>
                <a:spcPct val="20000"/>
              </a:spcBef>
              <a:buClr>
                <a:schemeClr val="hlink"/>
              </a:buClr>
              <a:buSzPct val="110000"/>
              <a:buFont typeface="Wingdings" pitchFamily="2" charset="2"/>
              <a:buNone/>
            </a:pPr>
            <a:r>
              <a:rPr lang="en-US" b="1">
                <a:solidFill>
                  <a:srgbClr val="000000"/>
                </a:solidFill>
                <a:latin typeface="Times New Roman" pitchFamily="18" charset="0"/>
              </a:rPr>
              <a:t>Algorithm</a:t>
            </a:r>
            <a:r>
              <a:rPr lang="en-US">
                <a:latin typeface="Times New Roman" pitchFamily="18" charset="0"/>
              </a:rPr>
              <a:t> </a:t>
            </a:r>
            <a:r>
              <a:rPr lang="en-US" b="1" i="1">
                <a:solidFill>
                  <a:schemeClr val="tx2"/>
                </a:solidFill>
                <a:latin typeface="Times New Roman" pitchFamily="18" charset="0"/>
              </a:rPr>
              <a:t>findElement</a:t>
            </a:r>
            <a:r>
              <a:rPr lang="en-US">
                <a:solidFill>
                  <a:schemeClr val="tx2"/>
                </a:solidFill>
                <a:latin typeface="Times New Roman" pitchFamily="18" charset="0"/>
              </a:rPr>
              <a:t>(</a:t>
            </a:r>
            <a:r>
              <a:rPr lang="en-US" b="1" i="1">
                <a:solidFill>
                  <a:schemeClr val="tx2"/>
                </a:solidFill>
                <a:latin typeface="Times New Roman" pitchFamily="18" charset="0"/>
              </a:rPr>
              <a:t>k</a:t>
            </a:r>
            <a:r>
              <a:rPr lang="en-US">
                <a:solidFill>
                  <a:schemeClr val="tx2"/>
                </a:solidFill>
                <a:latin typeface="Times New Roman" pitchFamily="18" charset="0"/>
              </a:rPr>
              <a:t>,</a:t>
            </a:r>
            <a:r>
              <a:rPr lang="en-US" b="1" i="1">
                <a:solidFill>
                  <a:schemeClr val="tx2"/>
                </a:solidFill>
                <a:latin typeface="Times New Roman" pitchFamily="18" charset="0"/>
              </a:rPr>
              <a:t> v</a:t>
            </a:r>
            <a:r>
              <a:rPr lang="en-US">
                <a:solidFill>
                  <a:schemeClr val="tx2"/>
                </a:solidFill>
                <a:latin typeface="Times New Roman" pitchFamily="18" charset="0"/>
              </a:rPr>
              <a:t>)	</a:t>
            </a:r>
          </a:p>
          <a:p>
            <a:pPr>
              <a:lnSpc>
                <a:spcPct val="90000"/>
              </a:lnSpc>
              <a:spcBef>
                <a:spcPct val="20000"/>
              </a:spcBef>
              <a:buClr>
                <a:schemeClr val="hlink"/>
              </a:buClr>
              <a:buSzPct val="110000"/>
              <a:buFont typeface="Wingdings" pitchFamily="2" charset="2"/>
              <a:buNone/>
            </a:pPr>
            <a:r>
              <a:rPr lang="en-US">
                <a:solidFill>
                  <a:schemeClr val="tx2"/>
                </a:solidFill>
                <a:latin typeface="Times New Roman" pitchFamily="18" charset="0"/>
              </a:rPr>
              <a:t>	</a:t>
            </a:r>
            <a:r>
              <a:rPr lang="en-US" b="1">
                <a:solidFill>
                  <a:srgbClr val="000000"/>
                </a:solidFill>
                <a:latin typeface="Times New Roman" pitchFamily="18" charset="0"/>
              </a:rPr>
              <a:t>if</a:t>
            </a:r>
            <a:r>
              <a:rPr lang="en-US">
                <a:solidFill>
                  <a:schemeClr val="tx2"/>
                </a:solidFill>
                <a:latin typeface="Times New Roman" pitchFamily="18" charset="0"/>
              </a:rPr>
              <a:t> </a:t>
            </a:r>
            <a:r>
              <a:rPr lang="en-US" b="1" i="1">
                <a:solidFill>
                  <a:schemeClr val="accent2"/>
                </a:solidFill>
                <a:latin typeface="Times New Roman" pitchFamily="18" charset="0"/>
              </a:rPr>
              <a:t>T.isExternal </a:t>
            </a:r>
            <a:r>
              <a:rPr lang="en-US">
                <a:solidFill>
                  <a:schemeClr val="accent2"/>
                </a:solidFill>
                <a:latin typeface="Times New Roman" pitchFamily="18" charset="0"/>
              </a:rPr>
              <a:t>(</a:t>
            </a:r>
            <a:r>
              <a:rPr lang="en-US" b="1" i="1">
                <a:solidFill>
                  <a:schemeClr val="accent2"/>
                </a:solidFill>
                <a:latin typeface="Times New Roman" pitchFamily="18" charset="0"/>
              </a:rPr>
              <a:t>v</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b="1">
                <a:solidFill>
                  <a:srgbClr val="000000"/>
                </a:solidFill>
                <a:latin typeface="Times New Roman" pitchFamily="18" charset="0"/>
              </a:rPr>
              <a:t>	return</a:t>
            </a:r>
            <a:r>
              <a:rPr lang="en-US">
                <a:solidFill>
                  <a:schemeClr val="accent2"/>
                </a:solidFill>
                <a:latin typeface="Times New Roman" pitchFamily="18" charset="0"/>
              </a:rPr>
              <a:t> </a:t>
            </a:r>
            <a:r>
              <a:rPr lang="en-US" b="1" i="1">
                <a:solidFill>
                  <a:schemeClr val="accent2"/>
                </a:solidFill>
                <a:latin typeface="Times New Roman" pitchFamily="18" charset="0"/>
              </a:rPr>
              <a:t>NO_SUCH_KEY</a:t>
            </a:r>
          </a:p>
          <a:p>
            <a:pPr lvl="1">
              <a:lnSpc>
                <a:spcPct val="90000"/>
              </a:lnSpc>
              <a:spcBef>
                <a:spcPct val="20000"/>
              </a:spcBef>
              <a:buClr>
                <a:schemeClr val="hlink"/>
              </a:buClr>
              <a:buSzPct val="110000"/>
              <a:buFont typeface="Wingdings" pitchFamily="2" charset="2"/>
              <a:buNone/>
            </a:pPr>
            <a:r>
              <a:rPr lang="en-US" b="1">
                <a:solidFill>
                  <a:srgbClr val="000000"/>
                </a:solidFill>
                <a:latin typeface="Times New Roman" pitchFamily="18" charset="0"/>
              </a:rPr>
              <a:t>if </a:t>
            </a:r>
            <a:r>
              <a:rPr lang="en-US" b="1" i="1">
                <a:solidFill>
                  <a:schemeClr val="accent2"/>
                </a:solidFill>
                <a:latin typeface="Times New Roman" pitchFamily="18" charset="0"/>
              </a:rPr>
              <a:t>k</a:t>
            </a:r>
            <a:r>
              <a:rPr lang="en-US">
                <a:solidFill>
                  <a:schemeClr val="accent2"/>
                </a:solidFill>
                <a:latin typeface="Times New Roman" pitchFamily="18" charset="0"/>
              </a:rPr>
              <a:t> </a:t>
            </a:r>
            <a:r>
              <a:rPr lang="en-US">
                <a:solidFill>
                  <a:schemeClr val="accent2"/>
                </a:solidFill>
                <a:latin typeface="Symbol" pitchFamily="18" charset="2"/>
                <a:sym typeface="Symbol" pitchFamily="18" charset="2"/>
              </a:rPr>
              <a:t>&lt;</a:t>
            </a:r>
            <a:r>
              <a:rPr lang="en-US">
                <a:solidFill>
                  <a:schemeClr val="accent2"/>
                </a:solidFill>
                <a:latin typeface="Times New Roman" pitchFamily="18" charset="0"/>
              </a:rPr>
              <a:t> </a:t>
            </a:r>
            <a:r>
              <a:rPr lang="en-US" b="1" i="1">
                <a:solidFill>
                  <a:schemeClr val="accent2"/>
                </a:solidFill>
                <a:latin typeface="Times New Roman" pitchFamily="18" charset="0"/>
              </a:rPr>
              <a:t>key</a:t>
            </a:r>
            <a:r>
              <a:rPr lang="en-US">
                <a:solidFill>
                  <a:schemeClr val="accent2"/>
                </a:solidFill>
                <a:latin typeface="Times New Roman" pitchFamily="18" charset="0"/>
              </a:rPr>
              <a:t>(</a:t>
            </a:r>
            <a:r>
              <a:rPr lang="en-US" b="1" i="1">
                <a:solidFill>
                  <a:schemeClr val="accent2"/>
                </a:solidFill>
                <a:latin typeface="Times New Roman" pitchFamily="18" charset="0"/>
              </a:rPr>
              <a:t>v</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a:solidFill>
                  <a:srgbClr val="000000"/>
                </a:solidFill>
                <a:latin typeface="Times New Roman" pitchFamily="18" charset="0"/>
              </a:rPr>
              <a:t>return</a:t>
            </a:r>
            <a:r>
              <a:rPr lang="en-US">
                <a:solidFill>
                  <a:schemeClr val="accent2"/>
                </a:solidFill>
                <a:latin typeface="Times New Roman" pitchFamily="18" charset="0"/>
              </a:rPr>
              <a:t> </a:t>
            </a:r>
            <a:r>
              <a:rPr lang="en-US" b="1" i="1">
                <a:solidFill>
                  <a:schemeClr val="accent2"/>
                </a:solidFill>
                <a:latin typeface="Times New Roman" pitchFamily="18" charset="0"/>
              </a:rPr>
              <a:t>findElement</a:t>
            </a:r>
            <a:r>
              <a:rPr lang="en-US">
                <a:solidFill>
                  <a:schemeClr val="accent2"/>
                </a:solidFill>
                <a:latin typeface="Times New Roman" pitchFamily="18" charset="0"/>
              </a:rPr>
              <a:t>(</a:t>
            </a:r>
            <a:r>
              <a:rPr lang="en-US" b="1" i="1">
                <a:solidFill>
                  <a:schemeClr val="accent2"/>
                </a:solidFill>
                <a:latin typeface="Times New Roman" pitchFamily="18" charset="0"/>
              </a:rPr>
              <a:t>k</a:t>
            </a:r>
            <a:r>
              <a:rPr lang="en-US">
                <a:solidFill>
                  <a:schemeClr val="accent2"/>
                </a:solidFill>
                <a:latin typeface="Times New Roman" pitchFamily="18" charset="0"/>
              </a:rPr>
              <a:t>,</a:t>
            </a:r>
            <a:r>
              <a:rPr lang="en-US" b="1" i="1">
                <a:solidFill>
                  <a:schemeClr val="accent2"/>
                </a:solidFill>
                <a:latin typeface="Times New Roman" pitchFamily="18" charset="0"/>
              </a:rPr>
              <a:t> T.leftChild</a:t>
            </a:r>
            <a:r>
              <a:rPr lang="en-US">
                <a:solidFill>
                  <a:schemeClr val="accent2"/>
                </a:solidFill>
                <a:latin typeface="Times New Roman" pitchFamily="18" charset="0"/>
              </a:rPr>
              <a:t>(</a:t>
            </a:r>
            <a:r>
              <a:rPr lang="en-US" b="1" i="1">
                <a:solidFill>
                  <a:schemeClr val="accent2"/>
                </a:solidFill>
                <a:latin typeface="Times New Roman" pitchFamily="18" charset="0"/>
              </a:rPr>
              <a:t>v</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b="1">
                <a:solidFill>
                  <a:srgbClr val="000000"/>
                </a:solidFill>
                <a:latin typeface="Times New Roman" pitchFamily="18" charset="0"/>
              </a:rPr>
              <a:t>else if </a:t>
            </a:r>
            <a:r>
              <a:rPr lang="en-US" b="1" i="1">
                <a:solidFill>
                  <a:schemeClr val="accent2"/>
                </a:solidFill>
                <a:latin typeface="Times New Roman" pitchFamily="18" charset="0"/>
              </a:rPr>
              <a:t>k</a:t>
            </a:r>
            <a:r>
              <a:rPr lang="en-US">
                <a:solidFill>
                  <a:schemeClr val="accent2"/>
                </a:solidFill>
                <a:latin typeface="Times New Roman" pitchFamily="18" charset="0"/>
              </a:rPr>
              <a:t> </a:t>
            </a:r>
            <a:r>
              <a:rPr lang="en-US">
                <a:solidFill>
                  <a:schemeClr val="accent2"/>
                </a:solidFill>
                <a:latin typeface="Symbol" pitchFamily="18" charset="2"/>
                <a:sym typeface="Symbol" pitchFamily="18" charset="2"/>
              </a:rPr>
              <a:t>=</a:t>
            </a:r>
            <a:r>
              <a:rPr lang="en-US">
                <a:solidFill>
                  <a:schemeClr val="accent2"/>
                </a:solidFill>
                <a:latin typeface="Times New Roman" pitchFamily="18" charset="0"/>
              </a:rPr>
              <a:t> </a:t>
            </a:r>
            <a:r>
              <a:rPr lang="en-US" b="1" i="1">
                <a:solidFill>
                  <a:schemeClr val="accent2"/>
                </a:solidFill>
                <a:latin typeface="Times New Roman" pitchFamily="18" charset="0"/>
              </a:rPr>
              <a:t>key</a:t>
            </a:r>
            <a:r>
              <a:rPr lang="en-US">
                <a:solidFill>
                  <a:schemeClr val="accent2"/>
                </a:solidFill>
                <a:latin typeface="Times New Roman" pitchFamily="18" charset="0"/>
              </a:rPr>
              <a:t>(</a:t>
            </a:r>
            <a:r>
              <a:rPr lang="en-US" b="1" i="1">
                <a:solidFill>
                  <a:schemeClr val="accent2"/>
                </a:solidFill>
                <a:latin typeface="Times New Roman" pitchFamily="18" charset="0"/>
              </a:rPr>
              <a:t>v</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a:solidFill>
                  <a:srgbClr val="000000"/>
                </a:solidFill>
                <a:latin typeface="Times New Roman" pitchFamily="18" charset="0"/>
              </a:rPr>
              <a:t>return</a:t>
            </a:r>
            <a:r>
              <a:rPr lang="en-US">
                <a:solidFill>
                  <a:schemeClr val="accent2"/>
                </a:solidFill>
                <a:latin typeface="Times New Roman" pitchFamily="18" charset="0"/>
              </a:rPr>
              <a:t> </a:t>
            </a:r>
            <a:r>
              <a:rPr lang="en-US" b="1" i="1">
                <a:solidFill>
                  <a:schemeClr val="accent2"/>
                </a:solidFill>
                <a:latin typeface="Times New Roman" pitchFamily="18" charset="0"/>
              </a:rPr>
              <a:t>element</a:t>
            </a:r>
            <a:r>
              <a:rPr lang="en-US">
                <a:solidFill>
                  <a:schemeClr val="accent2"/>
                </a:solidFill>
                <a:latin typeface="Times New Roman" pitchFamily="18" charset="0"/>
              </a:rPr>
              <a:t>(</a:t>
            </a:r>
            <a:r>
              <a:rPr lang="en-US" b="1" i="1">
                <a:solidFill>
                  <a:schemeClr val="accent2"/>
                </a:solidFill>
                <a:latin typeface="Times New Roman" pitchFamily="18" charset="0"/>
              </a:rPr>
              <a:t>v</a:t>
            </a:r>
            <a:r>
              <a:rPr lang="en-US">
                <a:solidFill>
                  <a:schemeClr val="accent2"/>
                </a:solidFill>
                <a:latin typeface="Times New Roman" pitchFamily="18" charset="0"/>
              </a:rPr>
              <a:t>)</a:t>
            </a:r>
          </a:p>
          <a:p>
            <a:pPr lvl="1">
              <a:lnSpc>
                <a:spcPct val="90000"/>
              </a:lnSpc>
              <a:spcBef>
                <a:spcPct val="20000"/>
              </a:spcBef>
              <a:buClr>
                <a:schemeClr val="hlink"/>
              </a:buClr>
              <a:buSzPct val="110000"/>
              <a:buFont typeface="Wingdings" pitchFamily="2" charset="2"/>
              <a:buNone/>
            </a:pPr>
            <a:r>
              <a:rPr lang="en-US" b="1">
                <a:solidFill>
                  <a:srgbClr val="000000"/>
                </a:solidFill>
                <a:latin typeface="Times New Roman" pitchFamily="18" charset="0"/>
              </a:rPr>
              <a:t>else</a:t>
            </a:r>
            <a:r>
              <a:rPr lang="en-US">
                <a:solidFill>
                  <a:schemeClr val="accent2"/>
                </a:solidFill>
                <a:latin typeface="Times New Roman" pitchFamily="18" charset="0"/>
              </a:rPr>
              <a:t> </a:t>
            </a:r>
            <a:r>
              <a:rPr lang="en-US">
                <a:solidFill>
                  <a:schemeClr val="hlink"/>
                </a:solidFill>
                <a:latin typeface="Times New Roman" pitchFamily="18" charset="0"/>
              </a:rPr>
              <a:t>{ </a:t>
            </a:r>
            <a:r>
              <a:rPr lang="en-US" b="1" i="1">
                <a:solidFill>
                  <a:schemeClr val="hlink"/>
                </a:solidFill>
                <a:latin typeface="Times New Roman" pitchFamily="18" charset="0"/>
              </a:rPr>
              <a:t>k</a:t>
            </a:r>
            <a:r>
              <a:rPr lang="en-US">
                <a:solidFill>
                  <a:schemeClr val="hlink"/>
                </a:solidFill>
                <a:latin typeface="Times New Roman" pitchFamily="18" charset="0"/>
              </a:rPr>
              <a:t> </a:t>
            </a:r>
            <a:r>
              <a:rPr lang="en-US">
                <a:solidFill>
                  <a:schemeClr val="hlink"/>
                </a:solidFill>
                <a:latin typeface="Symbol" pitchFamily="18" charset="2"/>
                <a:sym typeface="Symbol" pitchFamily="18" charset="2"/>
              </a:rPr>
              <a:t>&gt;</a:t>
            </a:r>
            <a:r>
              <a:rPr lang="en-US">
                <a:solidFill>
                  <a:schemeClr val="hlink"/>
                </a:solidFill>
                <a:latin typeface="Times New Roman" pitchFamily="18" charset="0"/>
              </a:rPr>
              <a:t> </a:t>
            </a:r>
            <a:r>
              <a:rPr lang="en-US" b="1" i="1">
                <a:solidFill>
                  <a:schemeClr val="hlink"/>
                </a:solidFill>
                <a:latin typeface="Times New Roman" pitchFamily="18" charset="0"/>
              </a:rPr>
              <a:t>key</a:t>
            </a:r>
            <a:r>
              <a:rPr lang="en-US">
                <a:solidFill>
                  <a:schemeClr val="hlink"/>
                </a:solidFill>
                <a:latin typeface="Times New Roman" pitchFamily="18" charset="0"/>
              </a:rPr>
              <a:t>(</a:t>
            </a:r>
            <a:r>
              <a:rPr lang="en-US" b="1" i="1">
                <a:solidFill>
                  <a:schemeClr val="hlink"/>
                </a:solidFill>
                <a:latin typeface="Times New Roman" pitchFamily="18" charset="0"/>
              </a:rPr>
              <a:t>v</a:t>
            </a:r>
            <a:r>
              <a:rPr lang="en-US">
                <a:solidFill>
                  <a:schemeClr val="hlink"/>
                </a:solidFill>
                <a:latin typeface="Times New Roman" pitchFamily="18" charset="0"/>
              </a:rPr>
              <a:t>) }</a:t>
            </a:r>
          </a:p>
          <a:p>
            <a:pPr lvl="1">
              <a:lnSpc>
                <a:spcPct val="90000"/>
              </a:lnSpc>
              <a:spcBef>
                <a:spcPct val="20000"/>
              </a:spcBef>
              <a:buClr>
                <a:schemeClr val="hlink"/>
              </a:buClr>
              <a:buSzPct val="110000"/>
              <a:buFont typeface="Wingdings" pitchFamily="2" charset="2"/>
              <a:buNone/>
            </a:pPr>
            <a:r>
              <a:rPr lang="en-US">
                <a:solidFill>
                  <a:schemeClr val="accent2"/>
                </a:solidFill>
                <a:latin typeface="Times New Roman" pitchFamily="18" charset="0"/>
              </a:rPr>
              <a:t>	</a:t>
            </a:r>
            <a:r>
              <a:rPr lang="en-US" b="1">
                <a:solidFill>
                  <a:srgbClr val="000000"/>
                </a:solidFill>
                <a:latin typeface="Times New Roman" pitchFamily="18" charset="0"/>
              </a:rPr>
              <a:t>return</a:t>
            </a:r>
            <a:r>
              <a:rPr lang="en-US">
                <a:solidFill>
                  <a:schemeClr val="accent2"/>
                </a:solidFill>
                <a:latin typeface="Times New Roman" pitchFamily="18" charset="0"/>
              </a:rPr>
              <a:t> </a:t>
            </a:r>
            <a:r>
              <a:rPr lang="en-US" b="1" i="1">
                <a:solidFill>
                  <a:schemeClr val="accent2"/>
                </a:solidFill>
                <a:latin typeface="Times New Roman" pitchFamily="18" charset="0"/>
              </a:rPr>
              <a:t>findElement</a:t>
            </a:r>
            <a:r>
              <a:rPr lang="en-US">
                <a:solidFill>
                  <a:schemeClr val="accent2"/>
                </a:solidFill>
                <a:latin typeface="Times New Roman" pitchFamily="18" charset="0"/>
              </a:rPr>
              <a:t>(</a:t>
            </a:r>
            <a:r>
              <a:rPr lang="en-US" b="1" i="1">
                <a:solidFill>
                  <a:schemeClr val="accent2"/>
                </a:solidFill>
                <a:latin typeface="Times New Roman" pitchFamily="18" charset="0"/>
              </a:rPr>
              <a:t>k</a:t>
            </a:r>
            <a:r>
              <a:rPr lang="en-US">
                <a:solidFill>
                  <a:schemeClr val="accent2"/>
                </a:solidFill>
                <a:latin typeface="Times New Roman" pitchFamily="18" charset="0"/>
              </a:rPr>
              <a:t>,</a:t>
            </a:r>
            <a:r>
              <a:rPr lang="en-US" b="1" i="1">
                <a:solidFill>
                  <a:schemeClr val="accent2"/>
                </a:solidFill>
                <a:latin typeface="Times New Roman" pitchFamily="18" charset="0"/>
              </a:rPr>
              <a:t> T.rightChild</a:t>
            </a:r>
            <a:r>
              <a:rPr lang="en-US">
                <a:solidFill>
                  <a:schemeClr val="accent2"/>
                </a:solidFill>
                <a:latin typeface="Times New Roman" pitchFamily="18" charset="0"/>
              </a:rPr>
              <a:t>(</a:t>
            </a:r>
            <a:r>
              <a:rPr lang="en-US" b="1" i="1">
                <a:solidFill>
                  <a:schemeClr val="accent2"/>
                </a:solidFill>
                <a:latin typeface="Times New Roman" pitchFamily="18" charset="0"/>
              </a:rPr>
              <a:t>v</a:t>
            </a:r>
            <a:r>
              <a:rPr lang="en-US">
                <a:solidFill>
                  <a:schemeClr val="accent2"/>
                </a:solidFill>
                <a:latin typeface="Times New Roman" pitchFamily="18" charset="0"/>
              </a:rPr>
              <a:t>))</a:t>
            </a:r>
          </a:p>
        </p:txBody>
      </p:sp>
      <p:sp>
        <p:nvSpPr>
          <p:cNvPr id="286725" name="Oval 5"/>
          <p:cNvSpPr>
            <a:spLocks noChangeArrowheads="1"/>
          </p:cNvSpPr>
          <p:nvPr/>
        </p:nvSpPr>
        <p:spPr bwMode="auto">
          <a:xfrm>
            <a:off x="6361113" y="4435475"/>
            <a:ext cx="320675" cy="319088"/>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6</a:t>
            </a:r>
          </a:p>
        </p:txBody>
      </p:sp>
      <p:sp>
        <p:nvSpPr>
          <p:cNvPr id="286726" name="Oval 6"/>
          <p:cNvSpPr>
            <a:spLocks noChangeArrowheads="1"/>
          </p:cNvSpPr>
          <p:nvPr/>
        </p:nvSpPr>
        <p:spPr bwMode="auto">
          <a:xfrm>
            <a:off x="7772400" y="4946650"/>
            <a:ext cx="319088"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9</a:t>
            </a:r>
          </a:p>
        </p:txBody>
      </p:sp>
      <p:sp>
        <p:nvSpPr>
          <p:cNvPr id="286727" name="Oval 7"/>
          <p:cNvSpPr>
            <a:spLocks noChangeArrowheads="1"/>
          </p:cNvSpPr>
          <p:nvPr/>
        </p:nvSpPr>
        <p:spPr bwMode="auto">
          <a:xfrm>
            <a:off x="5408613" y="4946650"/>
            <a:ext cx="319087"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2</a:t>
            </a:r>
          </a:p>
        </p:txBody>
      </p:sp>
      <p:sp>
        <p:nvSpPr>
          <p:cNvPr id="286728" name="Oval 8"/>
          <p:cNvSpPr>
            <a:spLocks noChangeArrowheads="1"/>
          </p:cNvSpPr>
          <p:nvPr/>
        </p:nvSpPr>
        <p:spPr bwMode="auto">
          <a:xfrm>
            <a:off x="5995988" y="5441950"/>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4</a:t>
            </a:r>
          </a:p>
        </p:txBody>
      </p:sp>
      <p:sp>
        <p:nvSpPr>
          <p:cNvPr id="286729" name="Rectangle 9"/>
          <p:cNvSpPr>
            <a:spLocks noChangeAspect="1" noChangeArrowheads="1"/>
          </p:cNvSpPr>
          <p:nvPr/>
        </p:nvSpPr>
        <p:spPr bwMode="auto">
          <a:xfrm>
            <a:off x="5748338" y="6018213"/>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6730" name="Rectangle 10"/>
          <p:cNvSpPr>
            <a:spLocks noChangeAspect="1" noChangeArrowheads="1"/>
          </p:cNvSpPr>
          <p:nvPr/>
        </p:nvSpPr>
        <p:spPr bwMode="auto">
          <a:xfrm>
            <a:off x="6334125" y="6018213"/>
            <a:ext cx="231775"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6731" name="Rectangle 11"/>
          <p:cNvSpPr>
            <a:spLocks noChangeAspect="1" noChangeArrowheads="1"/>
          </p:cNvSpPr>
          <p:nvPr/>
        </p:nvSpPr>
        <p:spPr bwMode="auto">
          <a:xfrm>
            <a:off x="8304213" y="5486400"/>
            <a:ext cx="230187" cy="23177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6732" name="AutoShape 12"/>
          <p:cNvCxnSpPr>
            <a:cxnSpLocks noChangeShapeType="1"/>
            <a:stCxn id="286725" idx="3"/>
            <a:endCxn id="286727" idx="7"/>
          </p:cNvCxnSpPr>
          <p:nvPr/>
        </p:nvCxnSpPr>
        <p:spPr bwMode="auto">
          <a:xfrm flipH="1">
            <a:off x="5681663" y="4737100"/>
            <a:ext cx="727075" cy="228600"/>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33" name="AutoShape 13"/>
          <p:cNvCxnSpPr>
            <a:cxnSpLocks noChangeShapeType="1"/>
            <a:stCxn id="286726" idx="1"/>
            <a:endCxn id="286725" idx="5"/>
          </p:cNvCxnSpPr>
          <p:nvPr/>
        </p:nvCxnSpPr>
        <p:spPr bwMode="auto">
          <a:xfrm flipH="1" flipV="1">
            <a:off x="6634163" y="4737100"/>
            <a:ext cx="1184275"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34" name="AutoShape 14"/>
          <p:cNvCxnSpPr>
            <a:cxnSpLocks noChangeShapeType="1"/>
            <a:stCxn id="286731" idx="0"/>
            <a:endCxn id="286726" idx="5"/>
          </p:cNvCxnSpPr>
          <p:nvPr/>
        </p:nvCxnSpPr>
        <p:spPr bwMode="auto">
          <a:xfrm flipH="1" flipV="1">
            <a:off x="8045450" y="5229225"/>
            <a:ext cx="374650"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35" name="AutoShape 15"/>
          <p:cNvCxnSpPr>
            <a:cxnSpLocks noChangeShapeType="1"/>
            <a:stCxn id="286745" idx="7"/>
            <a:endCxn id="286726" idx="3"/>
          </p:cNvCxnSpPr>
          <p:nvPr/>
        </p:nvCxnSpPr>
        <p:spPr bwMode="auto">
          <a:xfrm flipV="1">
            <a:off x="7588250" y="5229225"/>
            <a:ext cx="230188" cy="2349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36" name="AutoShape 16"/>
          <p:cNvCxnSpPr>
            <a:cxnSpLocks noChangeShapeType="1"/>
            <a:stCxn id="286730" idx="0"/>
            <a:endCxn id="286728" idx="5"/>
          </p:cNvCxnSpPr>
          <p:nvPr/>
        </p:nvCxnSpPr>
        <p:spPr bwMode="auto">
          <a:xfrm flipH="1" flipV="1">
            <a:off x="6269038" y="5743575"/>
            <a:ext cx="180975" cy="26511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37" name="AutoShape 17"/>
          <p:cNvCxnSpPr>
            <a:cxnSpLocks noChangeShapeType="1"/>
            <a:stCxn id="286729" idx="0"/>
            <a:endCxn id="286728" idx="3"/>
          </p:cNvCxnSpPr>
          <p:nvPr/>
        </p:nvCxnSpPr>
        <p:spPr bwMode="auto">
          <a:xfrm flipV="1">
            <a:off x="5864225" y="5743575"/>
            <a:ext cx="179388" cy="26511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38" name="AutoShape 18"/>
          <p:cNvCxnSpPr>
            <a:cxnSpLocks noChangeShapeType="1"/>
            <a:stCxn id="286740" idx="7"/>
            <a:endCxn id="286727" idx="3"/>
          </p:cNvCxnSpPr>
          <p:nvPr/>
        </p:nvCxnSpPr>
        <p:spPr bwMode="auto">
          <a:xfrm flipV="1">
            <a:off x="5094288" y="5248275"/>
            <a:ext cx="360362" cy="2317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39" name="AutoShape 19"/>
          <p:cNvCxnSpPr>
            <a:cxnSpLocks noChangeShapeType="1"/>
            <a:stCxn id="286728" idx="1"/>
            <a:endCxn id="286727" idx="5"/>
          </p:cNvCxnSpPr>
          <p:nvPr/>
        </p:nvCxnSpPr>
        <p:spPr bwMode="auto">
          <a:xfrm flipH="1" flipV="1">
            <a:off x="5681663" y="5248275"/>
            <a:ext cx="361950" cy="212725"/>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40" name="Oval 20"/>
          <p:cNvSpPr>
            <a:spLocks noChangeArrowheads="1"/>
          </p:cNvSpPr>
          <p:nvPr/>
        </p:nvSpPr>
        <p:spPr bwMode="auto">
          <a:xfrm>
            <a:off x="4821238" y="5441950"/>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1</a:t>
            </a:r>
          </a:p>
        </p:txBody>
      </p:sp>
      <p:sp>
        <p:nvSpPr>
          <p:cNvPr id="286741" name="Rectangle 21"/>
          <p:cNvSpPr>
            <a:spLocks noChangeAspect="1" noChangeArrowheads="1"/>
          </p:cNvSpPr>
          <p:nvPr/>
        </p:nvSpPr>
        <p:spPr bwMode="auto">
          <a:xfrm>
            <a:off x="4572000" y="6018213"/>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6742" name="Rectangle 22"/>
          <p:cNvSpPr>
            <a:spLocks noChangeAspect="1" noChangeArrowheads="1"/>
          </p:cNvSpPr>
          <p:nvPr/>
        </p:nvSpPr>
        <p:spPr bwMode="auto">
          <a:xfrm>
            <a:off x="5159375" y="6018213"/>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6743" name="AutoShape 23"/>
          <p:cNvCxnSpPr>
            <a:cxnSpLocks noChangeShapeType="1"/>
            <a:stCxn id="286742" idx="0"/>
            <a:endCxn id="286740" idx="5"/>
          </p:cNvCxnSpPr>
          <p:nvPr/>
        </p:nvCxnSpPr>
        <p:spPr bwMode="auto">
          <a:xfrm flipH="1" flipV="1">
            <a:off x="5094288" y="5724525"/>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44" name="AutoShape 24"/>
          <p:cNvCxnSpPr>
            <a:cxnSpLocks noChangeShapeType="1"/>
            <a:stCxn id="286741" idx="0"/>
            <a:endCxn id="286740" idx="3"/>
          </p:cNvCxnSpPr>
          <p:nvPr/>
        </p:nvCxnSpPr>
        <p:spPr bwMode="auto">
          <a:xfrm flipV="1">
            <a:off x="4687888" y="5724525"/>
            <a:ext cx="179387"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45" name="Oval 25"/>
          <p:cNvSpPr>
            <a:spLocks noChangeArrowheads="1"/>
          </p:cNvSpPr>
          <p:nvPr/>
        </p:nvSpPr>
        <p:spPr bwMode="auto">
          <a:xfrm>
            <a:off x="7315200" y="5426075"/>
            <a:ext cx="320675"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8</a:t>
            </a:r>
          </a:p>
        </p:txBody>
      </p:sp>
      <p:sp>
        <p:nvSpPr>
          <p:cNvPr id="286746" name="Rectangle 26"/>
          <p:cNvSpPr>
            <a:spLocks noChangeAspect="1" noChangeArrowheads="1"/>
          </p:cNvSpPr>
          <p:nvPr/>
        </p:nvSpPr>
        <p:spPr bwMode="auto">
          <a:xfrm>
            <a:off x="7031038" y="6018213"/>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6747" name="Rectangle 27"/>
          <p:cNvSpPr>
            <a:spLocks noChangeAspect="1" noChangeArrowheads="1"/>
          </p:cNvSpPr>
          <p:nvPr/>
        </p:nvSpPr>
        <p:spPr bwMode="auto">
          <a:xfrm>
            <a:off x="7616825" y="6018213"/>
            <a:ext cx="231775"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6748" name="AutoShape 28"/>
          <p:cNvCxnSpPr>
            <a:cxnSpLocks noChangeShapeType="1"/>
            <a:stCxn id="286747" idx="0"/>
            <a:endCxn id="286745" idx="5"/>
          </p:cNvCxnSpPr>
          <p:nvPr/>
        </p:nvCxnSpPr>
        <p:spPr bwMode="auto">
          <a:xfrm flipH="1" flipV="1">
            <a:off x="7588250" y="5708650"/>
            <a:ext cx="144463" cy="30003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6749" name="AutoShape 29"/>
          <p:cNvCxnSpPr>
            <a:cxnSpLocks noChangeShapeType="1"/>
            <a:stCxn id="286746" idx="0"/>
            <a:endCxn id="286745" idx="3"/>
          </p:cNvCxnSpPr>
          <p:nvPr/>
        </p:nvCxnSpPr>
        <p:spPr bwMode="auto">
          <a:xfrm flipV="1">
            <a:off x="7146925" y="5708650"/>
            <a:ext cx="215900" cy="30003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6750" name="Text Box 30"/>
          <p:cNvSpPr txBox="1">
            <a:spLocks noChangeArrowheads="1"/>
          </p:cNvSpPr>
          <p:nvPr/>
        </p:nvSpPr>
        <p:spPr bwMode="auto">
          <a:xfrm>
            <a:off x="5810250" y="446722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solidFill>
                  <a:schemeClr val="tx2"/>
                </a:solidFill>
                <a:latin typeface="Symbol" pitchFamily="18" charset="2"/>
                <a:sym typeface="Symbol" pitchFamily="18" charset="2"/>
              </a:rPr>
              <a:t>&lt;</a:t>
            </a:r>
          </a:p>
        </p:txBody>
      </p:sp>
      <p:sp>
        <p:nvSpPr>
          <p:cNvPr id="286751" name="Text Box 31"/>
          <p:cNvSpPr txBox="1">
            <a:spLocks noChangeArrowheads="1"/>
          </p:cNvSpPr>
          <p:nvPr/>
        </p:nvSpPr>
        <p:spPr bwMode="auto">
          <a:xfrm>
            <a:off x="5810250" y="500062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solidFill>
                  <a:schemeClr val="tx2"/>
                </a:solidFill>
                <a:latin typeface="Symbol" pitchFamily="18" charset="2"/>
                <a:sym typeface="Symbol" pitchFamily="18" charset="2"/>
              </a:rPr>
              <a:t>&gt;</a:t>
            </a:r>
          </a:p>
        </p:txBody>
      </p:sp>
      <p:sp>
        <p:nvSpPr>
          <p:cNvPr id="286752" name="Text Box 32"/>
          <p:cNvSpPr txBox="1">
            <a:spLocks noChangeArrowheads="1"/>
          </p:cNvSpPr>
          <p:nvPr/>
        </p:nvSpPr>
        <p:spPr bwMode="auto">
          <a:xfrm>
            <a:off x="6324600" y="539432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solidFill>
                  <a:schemeClr val="tx2"/>
                </a:solidFill>
                <a:latin typeface="Symbol" pitchFamily="18" charset="2"/>
                <a:sym typeface="Symbol" pitchFamily="18" charset="2"/>
              </a:rPr>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4"/>
          <p:cNvSpPr>
            <a:spLocks noGrp="1"/>
          </p:cNvSpPr>
          <p:nvPr>
            <p:ph type="ftr" sz="quarter" idx="11"/>
          </p:nvPr>
        </p:nvSpPr>
        <p:spPr/>
        <p:txBody>
          <a:bodyPr/>
          <a:lstStyle/>
          <a:p>
            <a:r>
              <a:rPr lang="en-US"/>
              <a:t>Data Structures and Algorithms</a:t>
            </a:r>
          </a:p>
        </p:txBody>
      </p:sp>
      <p:sp>
        <p:nvSpPr>
          <p:cNvPr id="64" name="Slide Number Placeholder 5"/>
          <p:cNvSpPr>
            <a:spLocks noGrp="1"/>
          </p:cNvSpPr>
          <p:nvPr>
            <p:ph type="sldNum" sz="quarter" idx="12"/>
          </p:nvPr>
        </p:nvSpPr>
        <p:spPr/>
        <p:txBody>
          <a:bodyPr/>
          <a:lstStyle/>
          <a:p>
            <a:fld id="{1679FE5A-7548-4B11-85FA-FDE8700B0151}" type="slidenum">
              <a:rPr lang="en-US"/>
              <a:pPr/>
              <a:t>20</a:t>
            </a:fld>
            <a:endParaRPr lang="en-US"/>
          </a:p>
        </p:txBody>
      </p:sp>
      <p:sp>
        <p:nvSpPr>
          <p:cNvPr id="288770" name="Rectangle 2"/>
          <p:cNvSpPr>
            <a:spLocks noGrp="1" noChangeArrowheads="1"/>
          </p:cNvSpPr>
          <p:nvPr>
            <p:ph type="title"/>
          </p:nvPr>
        </p:nvSpPr>
        <p:spPr/>
        <p:txBody>
          <a:bodyPr/>
          <a:lstStyle/>
          <a:p>
            <a:r>
              <a:rPr lang="en-US"/>
              <a:t>Insertion</a:t>
            </a:r>
            <a:endParaRPr lang="en-US" sz="3200"/>
          </a:p>
        </p:txBody>
      </p:sp>
      <p:sp>
        <p:nvSpPr>
          <p:cNvPr id="288771" name="Rectangle 3"/>
          <p:cNvSpPr>
            <a:spLocks noGrp="1" noChangeArrowheads="1"/>
          </p:cNvSpPr>
          <p:nvPr>
            <p:ph type="body" idx="1"/>
          </p:nvPr>
        </p:nvSpPr>
        <p:spPr>
          <a:xfrm>
            <a:off x="838200" y="1676400"/>
            <a:ext cx="3657600" cy="4343400"/>
          </a:xfrm>
        </p:spPr>
        <p:txBody>
          <a:bodyPr/>
          <a:lstStyle/>
          <a:p>
            <a:r>
              <a:rPr lang="en-US" sz="1800"/>
              <a:t>To perform operation </a:t>
            </a:r>
            <a:r>
              <a:rPr lang="en-US" sz="1800">
                <a:solidFill>
                  <a:schemeClr val="tx2"/>
                </a:solidFill>
              </a:rPr>
              <a:t>insertItem</a:t>
            </a:r>
            <a:r>
              <a:rPr lang="en-US" sz="1800"/>
              <a:t>(k, o), we search for key k</a:t>
            </a:r>
          </a:p>
          <a:p>
            <a:r>
              <a:rPr lang="en-US" sz="1800"/>
              <a:t>Assume k is not already in the tree, and let let w be the leaf reached by the search</a:t>
            </a:r>
          </a:p>
          <a:p>
            <a:r>
              <a:rPr lang="en-US" sz="1800"/>
              <a:t>We insert k at node w and expand w into an internal node</a:t>
            </a:r>
          </a:p>
          <a:p>
            <a:r>
              <a:rPr lang="en-US" sz="1800"/>
              <a:t>Example: insert 5</a:t>
            </a:r>
          </a:p>
        </p:txBody>
      </p:sp>
      <p:sp>
        <p:nvSpPr>
          <p:cNvPr id="288772" name="Oval 4"/>
          <p:cNvSpPr>
            <a:spLocks noChangeArrowheads="1"/>
          </p:cNvSpPr>
          <p:nvPr/>
        </p:nvSpPr>
        <p:spPr bwMode="auto">
          <a:xfrm>
            <a:off x="6765925" y="3886200"/>
            <a:ext cx="320675" cy="319088"/>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6</a:t>
            </a:r>
          </a:p>
        </p:txBody>
      </p:sp>
      <p:sp>
        <p:nvSpPr>
          <p:cNvPr id="288773" name="Oval 5"/>
          <p:cNvSpPr>
            <a:spLocks noChangeArrowheads="1"/>
          </p:cNvSpPr>
          <p:nvPr/>
        </p:nvSpPr>
        <p:spPr bwMode="auto">
          <a:xfrm>
            <a:off x="7964488" y="4397375"/>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9</a:t>
            </a:r>
          </a:p>
        </p:txBody>
      </p:sp>
      <p:sp>
        <p:nvSpPr>
          <p:cNvPr id="288774" name="Oval 6"/>
          <p:cNvSpPr>
            <a:spLocks noChangeArrowheads="1"/>
          </p:cNvSpPr>
          <p:nvPr/>
        </p:nvSpPr>
        <p:spPr bwMode="auto">
          <a:xfrm>
            <a:off x="5408613" y="4397375"/>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2</a:t>
            </a:r>
          </a:p>
        </p:txBody>
      </p:sp>
      <p:sp>
        <p:nvSpPr>
          <p:cNvPr id="288775" name="Oval 7"/>
          <p:cNvSpPr>
            <a:spLocks noChangeArrowheads="1"/>
          </p:cNvSpPr>
          <p:nvPr/>
        </p:nvSpPr>
        <p:spPr bwMode="auto">
          <a:xfrm>
            <a:off x="5995988" y="4892675"/>
            <a:ext cx="320675"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4</a:t>
            </a:r>
          </a:p>
        </p:txBody>
      </p:sp>
      <p:sp>
        <p:nvSpPr>
          <p:cNvPr id="288776" name="Rectangle 8"/>
          <p:cNvSpPr>
            <a:spLocks noChangeAspect="1" noChangeArrowheads="1"/>
          </p:cNvSpPr>
          <p:nvPr/>
        </p:nvSpPr>
        <p:spPr bwMode="auto">
          <a:xfrm>
            <a:off x="5748338" y="5468938"/>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8777" name="Rectangle 9"/>
          <p:cNvSpPr>
            <a:spLocks noChangeAspect="1" noChangeArrowheads="1"/>
          </p:cNvSpPr>
          <p:nvPr/>
        </p:nvSpPr>
        <p:spPr bwMode="auto">
          <a:xfrm>
            <a:off x="8496300" y="4937125"/>
            <a:ext cx="230188" cy="23177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8778" name="AutoShape 10"/>
          <p:cNvCxnSpPr>
            <a:cxnSpLocks noChangeShapeType="1"/>
            <a:stCxn id="288772" idx="3"/>
            <a:endCxn id="288774" idx="7"/>
          </p:cNvCxnSpPr>
          <p:nvPr/>
        </p:nvCxnSpPr>
        <p:spPr bwMode="auto">
          <a:xfrm flipH="1">
            <a:off x="5681663" y="4168775"/>
            <a:ext cx="1131887" cy="26670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79" name="AutoShape 11"/>
          <p:cNvCxnSpPr>
            <a:cxnSpLocks noChangeShapeType="1"/>
            <a:stCxn id="288773" idx="1"/>
            <a:endCxn id="288772" idx="5"/>
          </p:cNvCxnSpPr>
          <p:nvPr/>
        </p:nvCxnSpPr>
        <p:spPr bwMode="auto">
          <a:xfrm flipH="1" flipV="1">
            <a:off x="7038975" y="4168775"/>
            <a:ext cx="971550" cy="26670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80" name="AutoShape 12"/>
          <p:cNvCxnSpPr>
            <a:cxnSpLocks noChangeShapeType="1"/>
            <a:stCxn id="288777" idx="0"/>
            <a:endCxn id="288773" idx="5"/>
          </p:cNvCxnSpPr>
          <p:nvPr/>
        </p:nvCxnSpPr>
        <p:spPr bwMode="auto">
          <a:xfrm flipH="1" flipV="1">
            <a:off x="8237538" y="4679950"/>
            <a:ext cx="374650"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81" name="AutoShape 13"/>
          <p:cNvCxnSpPr>
            <a:cxnSpLocks noChangeShapeType="1"/>
            <a:stCxn id="288791" idx="7"/>
            <a:endCxn id="288773" idx="3"/>
          </p:cNvCxnSpPr>
          <p:nvPr/>
        </p:nvCxnSpPr>
        <p:spPr bwMode="auto">
          <a:xfrm flipV="1">
            <a:off x="7743825" y="4679950"/>
            <a:ext cx="266700" cy="2508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82" name="AutoShape 14"/>
          <p:cNvCxnSpPr>
            <a:cxnSpLocks noChangeShapeType="1"/>
            <a:stCxn id="288821" idx="1"/>
            <a:endCxn id="288775" idx="5"/>
          </p:cNvCxnSpPr>
          <p:nvPr/>
        </p:nvCxnSpPr>
        <p:spPr bwMode="auto">
          <a:xfrm flipH="1" flipV="1">
            <a:off x="6269038" y="5175250"/>
            <a:ext cx="198437" cy="25400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83" name="AutoShape 15"/>
          <p:cNvCxnSpPr>
            <a:cxnSpLocks noChangeShapeType="1"/>
            <a:stCxn id="288776" idx="0"/>
            <a:endCxn id="288775" idx="3"/>
          </p:cNvCxnSpPr>
          <p:nvPr/>
        </p:nvCxnSpPr>
        <p:spPr bwMode="auto">
          <a:xfrm flipV="1">
            <a:off x="5864225" y="5175250"/>
            <a:ext cx="179388"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84" name="AutoShape 16"/>
          <p:cNvCxnSpPr>
            <a:cxnSpLocks noChangeShapeType="1"/>
            <a:stCxn id="288786" idx="7"/>
            <a:endCxn id="288774" idx="3"/>
          </p:cNvCxnSpPr>
          <p:nvPr/>
        </p:nvCxnSpPr>
        <p:spPr bwMode="auto">
          <a:xfrm flipV="1">
            <a:off x="5094288" y="4679950"/>
            <a:ext cx="360362" cy="2508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85" name="AutoShape 17"/>
          <p:cNvCxnSpPr>
            <a:cxnSpLocks noChangeShapeType="1"/>
            <a:stCxn id="288775" idx="1"/>
            <a:endCxn id="288774" idx="5"/>
          </p:cNvCxnSpPr>
          <p:nvPr/>
        </p:nvCxnSpPr>
        <p:spPr bwMode="auto">
          <a:xfrm flipH="1" flipV="1">
            <a:off x="5681663" y="4679950"/>
            <a:ext cx="361950" cy="2508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86" name="Oval 18"/>
          <p:cNvSpPr>
            <a:spLocks noChangeArrowheads="1"/>
          </p:cNvSpPr>
          <p:nvPr/>
        </p:nvSpPr>
        <p:spPr bwMode="auto">
          <a:xfrm>
            <a:off x="4821238" y="4892675"/>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1</a:t>
            </a:r>
          </a:p>
        </p:txBody>
      </p:sp>
      <p:sp>
        <p:nvSpPr>
          <p:cNvPr id="288787" name="Rectangle 19"/>
          <p:cNvSpPr>
            <a:spLocks noChangeAspect="1" noChangeArrowheads="1"/>
          </p:cNvSpPr>
          <p:nvPr/>
        </p:nvSpPr>
        <p:spPr bwMode="auto">
          <a:xfrm>
            <a:off x="4572000" y="54689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8788" name="Rectangle 20"/>
          <p:cNvSpPr>
            <a:spLocks noChangeAspect="1" noChangeArrowheads="1"/>
          </p:cNvSpPr>
          <p:nvPr/>
        </p:nvSpPr>
        <p:spPr bwMode="auto">
          <a:xfrm>
            <a:off x="5159375" y="54689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8789" name="AutoShape 21"/>
          <p:cNvCxnSpPr>
            <a:cxnSpLocks noChangeShapeType="1"/>
            <a:stCxn id="288788" idx="0"/>
            <a:endCxn id="288786" idx="5"/>
          </p:cNvCxnSpPr>
          <p:nvPr/>
        </p:nvCxnSpPr>
        <p:spPr bwMode="auto">
          <a:xfrm flipH="1" flipV="1">
            <a:off x="5094288" y="5175250"/>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90" name="AutoShape 22"/>
          <p:cNvCxnSpPr>
            <a:cxnSpLocks noChangeShapeType="1"/>
            <a:stCxn id="288787" idx="0"/>
            <a:endCxn id="288786" idx="3"/>
          </p:cNvCxnSpPr>
          <p:nvPr/>
        </p:nvCxnSpPr>
        <p:spPr bwMode="auto">
          <a:xfrm flipV="1">
            <a:off x="4687888" y="5175250"/>
            <a:ext cx="179387"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91" name="Oval 23"/>
          <p:cNvSpPr>
            <a:spLocks noChangeArrowheads="1"/>
          </p:cNvSpPr>
          <p:nvPr/>
        </p:nvSpPr>
        <p:spPr bwMode="auto">
          <a:xfrm>
            <a:off x="7470775" y="4892675"/>
            <a:ext cx="320675"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8</a:t>
            </a:r>
          </a:p>
        </p:txBody>
      </p:sp>
      <p:sp>
        <p:nvSpPr>
          <p:cNvPr id="288792" name="Rectangle 24"/>
          <p:cNvSpPr>
            <a:spLocks noChangeAspect="1" noChangeArrowheads="1"/>
          </p:cNvSpPr>
          <p:nvPr/>
        </p:nvSpPr>
        <p:spPr bwMode="auto">
          <a:xfrm>
            <a:off x="7223125" y="54689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8793" name="Rectangle 25"/>
          <p:cNvSpPr>
            <a:spLocks noChangeAspect="1" noChangeArrowheads="1"/>
          </p:cNvSpPr>
          <p:nvPr/>
        </p:nvSpPr>
        <p:spPr bwMode="auto">
          <a:xfrm>
            <a:off x="7808913" y="5468938"/>
            <a:ext cx="231775"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8794" name="AutoShape 26"/>
          <p:cNvCxnSpPr>
            <a:cxnSpLocks noChangeShapeType="1"/>
            <a:stCxn id="288793" idx="0"/>
            <a:endCxn id="288791" idx="5"/>
          </p:cNvCxnSpPr>
          <p:nvPr/>
        </p:nvCxnSpPr>
        <p:spPr bwMode="auto">
          <a:xfrm flipH="1" flipV="1">
            <a:off x="7743825" y="5175250"/>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795" name="AutoShape 27"/>
          <p:cNvCxnSpPr>
            <a:cxnSpLocks noChangeShapeType="1"/>
            <a:stCxn id="288792" idx="0"/>
            <a:endCxn id="288791" idx="3"/>
          </p:cNvCxnSpPr>
          <p:nvPr/>
        </p:nvCxnSpPr>
        <p:spPr bwMode="auto">
          <a:xfrm flipV="1">
            <a:off x="7339013" y="5175250"/>
            <a:ext cx="179387"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796" name="Oval 28"/>
          <p:cNvSpPr>
            <a:spLocks noChangeArrowheads="1"/>
          </p:cNvSpPr>
          <p:nvPr/>
        </p:nvSpPr>
        <p:spPr bwMode="auto">
          <a:xfrm>
            <a:off x="6553200" y="1524000"/>
            <a:ext cx="320675" cy="319088"/>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6</a:t>
            </a:r>
          </a:p>
        </p:txBody>
      </p:sp>
      <p:sp>
        <p:nvSpPr>
          <p:cNvPr id="288797" name="Oval 29"/>
          <p:cNvSpPr>
            <a:spLocks noChangeArrowheads="1"/>
          </p:cNvSpPr>
          <p:nvPr/>
        </p:nvSpPr>
        <p:spPr bwMode="auto">
          <a:xfrm>
            <a:off x="7964488" y="2035175"/>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9</a:t>
            </a:r>
          </a:p>
        </p:txBody>
      </p:sp>
      <p:sp>
        <p:nvSpPr>
          <p:cNvPr id="288798" name="Oval 30"/>
          <p:cNvSpPr>
            <a:spLocks noChangeArrowheads="1"/>
          </p:cNvSpPr>
          <p:nvPr/>
        </p:nvSpPr>
        <p:spPr bwMode="auto">
          <a:xfrm>
            <a:off x="5600700" y="2035175"/>
            <a:ext cx="319088"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2</a:t>
            </a:r>
          </a:p>
        </p:txBody>
      </p:sp>
      <p:sp>
        <p:nvSpPr>
          <p:cNvPr id="288799" name="Oval 31"/>
          <p:cNvSpPr>
            <a:spLocks noChangeArrowheads="1"/>
          </p:cNvSpPr>
          <p:nvPr/>
        </p:nvSpPr>
        <p:spPr bwMode="auto">
          <a:xfrm>
            <a:off x="6188075" y="2530475"/>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4</a:t>
            </a:r>
          </a:p>
        </p:txBody>
      </p:sp>
      <p:sp>
        <p:nvSpPr>
          <p:cNvPr id="288800" name="Rectangle 32"/>
          <p:cNvSpPr>
            <a:spLocks noChangeAspect="1" noChangeArrowheads="1"/>
          </p:cNvSpPr>
          <p:nvPr/>
        </p:nvSpPr>
        <p:spPr bwMode="auto">
          <a:xfrm>
            <a:off x="5940425" y="31067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8801" name="Rectangle 33"/>
          <p:cNvSpPr>
            <a:spLocks noChangeAspect="1" noChangeArrowheads="1"/>
          </p:cNvSpPr>
          <p:nvPr/>
        </p:nvSpPr>
        <p:spPr bwMode="auto">
          <a:xfrm>
            <a:off x="6526213" y="3106738"/>
            <a:ext cx="231775" cy="230187"/>
          </a:xfrm>
          <a:prstGeom prst="rect">
            <a:avLst/>
          </a:prstGeom>
          <a:solidFill>
            <a:schemeClr val="folHlink"/>
          </a:solidFill>
          <a:ln w="571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solidFill>
                <a:schemeClr val="tx2"/>
              </a:solidFill>
              <a:latin typeface="Tahoma" pitchFamily="34" charset="0"/>
            </a:endParaRPr>
          </a:p>
        </p:txBody>
      </p:sp>
      <p:sp>
        <p:nvSpPr>
          <p:cNvPr id="288802" name="Rectangle 34"/>
          <p:cNvSpPr>
            <a:spLocks noChangeAspect="1" noChangeArrowheads="1"/>
          </p:cNvSpPr>
          <p:nvPr/>
        </p:nvSpPr>
        <p:spPr bwMode="auto">
          <a:xfrm>
            <a:off x="8496300" y="2574925"/>
            <a:ext cx="230188" cy="23177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8803" name="AutoShape 35"/>
          <p:cNvCxnSpPr>
            <a:cxnSpLocks noChangeShapeType="1"/>
            <a:stCxn id="288796" idx="3"/>
            <a:endCxn id="288798" idx="7"/>
          </p:cNvCxnSpPr>
          <p:nvPr/>
        </p:nvCxnSpPr>
        <p:spPr bwMode="auto">
          <a:xfrm flipH="1">
            <a:off x="5873750" y="1825625"/>
            <a:ext cx="727075" cy="228600"/>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04" name="AutoShape 36"/>
          <p:cNvCxnSpPr>
            <a:cxnSpLocks noChangeShapeType="1"/>
            <a:stCxn id="288797" idx="1"/>
            <a:endCxn id="288796" idx="5"/>
          </p:cNvCxnSpPr>
          <p:nvPr/>
        </p:nvCxnSpPr>
        <p:spPr bwMode="auto">
          <a:xfrm flipH="1" flipV="1">
            <a:off x="6826250" y="1825625"/>
            <a:ext cx="1184275"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05" name="AutoShape 37"/>
          <p:cNvCxnSpPr>
            <a:cxnSpLocks noChangeShapeType="1"/>
            <a:stCxn id="288802" idx="0"/>
            <a:endCxn id="288797" idx="5"/>
          </p:cNvCxnSpPr>
          <p:nvPr/>
        </p:nvCxnSpPr>
        <p:spPr bwMode="auto">
          <a:xfrm flipH="1" flipV="1">
            <a:off x="8237538" y="2317750"/>
            <a:ext cx="374650"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06" name="AutoShape 38"/>
          <p:cNvCxnSpPr>
            <a:cxnSpLocks noChangeShapeType="1"/>
            <a:stCxn id="288816" idx="7"/>
            <a:endCxn id="288797" idx="3"/>
          </p:cNvCxnSpPr>
          <p:nvPr/>
        </p:nvCxnSpPr>
        <p:spPr bwMode="auto">
          <a:xfrm flipV="1">
            <a:off x="7743825" y="2317750"/>
            <a:ext cx="266700" cy="2508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07" name="AutoShape 39"/>
          <p:cNvCxnSpPr>
            <a:cxnSpLocks noChangeShapeType="1"/>
            <a:stCxn id="288801" idx="0"/>
            <a:endCxn id="288799" idx="5"/>
          </p:cNvCxnSpPr>
          <p:nvPr/>
        </p:nvCxnSpPr>
        <p:spPr bwMode="auto">
          <a:xfrm flipH="1" flipV="1">
            <a:off x="6461125" y="2832100"/>
            <a:ext cx="180975" cy="246063"/>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08" name="AutoShape 40"/>
          <p:cNvCxnSpPr>
            <a:cxnSpLocks noChangeShapeType="1"/>
            <a:stCxn id="288800" idx="0"/>
            <a:endCxn id="288799" idx="3"/>
          </p:cNvCxnSpPr>
          <p:nvPr/>
        </p:nvCxnSpPr>
        <p:spPr bwMode="auto">
          <a:xfrm flipV="1">
            <a:off x="6056313" y="2832100"/>
            <a:ext cx="179387" cy="26511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09" name="AutoShape 41"/>
          <p:cNvCxnSpPr>
            <a:cxnSpLocks noChangeShapeType="1"/>
            <a:stCxn id="288811" idx="7"/>
            <a:endCxn id="288798" idx="3"/>
          </p:cNvCxnSpPr>
          <p:nvPr/>
        </p:nvCxnSpPr>
        <p:spPr bwMode="auto">
          <a:xfrm flipV="1">
            <a:off x="5286375" y="2336800"/>
            <a:ext cx="360363" cy="2317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10" name="AutoShape 42"/>
          <p:cNvCxnSpPr>
            <a:cxnSpLocks noChangeShapeType="1"/>
            <a:stCxn id="288799" idx="1"/>
            <a:endCxn id="288798" idx="5"/>
          </p:cNvCxnSpPr>
          <p:nvPr/>
        </p:nvCxnSpPr>
        <p:spPr bwMode="auto">
          <a:xfrm flipH="1" flipV="1">
            <a:off x="5873750" y="2336800"/>
            <a:ext cx="361950" cy="212725"/>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11" name="Oval 43"/>
          <p:cNvSpPr>
            <a:spLocks noChangeArrowheads="1"/>
          </p:cNvSpPr>
          <p:nvPr/>
        </p:nvSpPr>
        <p:spPr bwMode="auto">
          <a:xfrm>
            <a:off x="5013325" y="2530475"/>
            <a:ext cx="319088"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1</a:t>
            </a:r>
          </a:p>
        </p:txBody>
      </p:sp>
      <p:sp>
        <p:nvSpPr>
          <p:cNvPr id="288812" name="Rectangle 44"/>
          <p:cNvSpPr>
            <a:spLocks noChangeAspect="1" noChangeArrowheads="1"/>
          </p:cNvSpPr>
          <p:nvPr/>
        </p:nvSpPr>
        <p:spPr bwMode="auto">
          <a:xfrm>
            <a:off x="4764088" y="3106738"/>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8813" name="Rectangle 45"/>
          <p:cNvSpPr>
            <a:spLocks noChangeAspect="1" noChangeArrowheads="1"/>
          </p:cNvSpPr>
          <p:nvPr/>
        </p:nvSpPr>
        <p:spPr bwMode="auto">
          <a:xfrm>
            <a:off x="5351463" y="3106738"/>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8814" name="AutoShape 46"/>
          <p:cNvCxnSpPr>
            <a:cxnSpLocks noChangeShapeType="1"/>
            <a:stCxn id="288813" idx="0"/>
            <a:endCxn id="288811" idx="5"/>
          </p:cNvCxnSpPr>
          <p:nvPr/>
        </p:nvCxnSpPr>
        <p:spPr bwMode="auto">
          <a:xfrm flipH="1" flipV="1">
            <a:off x="5286375" y="2813050"/>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15" name="AutoShape 47"/>
          <p:cNvCxnSpPr>
            <a:cxnSpLocks noChangeShapeType="1"/>
            <a:stCxn id="288812" idx="0"/>
            <a:endCxn id="288811" idx="3"/>
          </p:cNvCxnSpPr>
          <p:nvPr/>
        </p:nvCxnSpPr>
        <p:spPr bwMode="auto">
          <a:xfrm flipV="1">
            <a:off x="4879975" y="2813050"/>
            <a:ext cx="179388"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16" name="Oval 48"/>
          <p:cNvSpPr>
            <a:spLocks noChangeArrowheads="1"/>
          </p:cNvSpPr>
          <p:nvPr/>
        </p:nvSpPr>
        <p:spPr bwMode="auto">
          <a:xfrm>
            <a:off x="7470775" y="2530475"/>
            <a:ext cx="320675"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8</a:t>
            </a:r>
          </a:p>
        </p:txBody>
      </p:sp>
      <p:sp>
        <p:nvSpPr>
          <p:cNvPr id="288817" name="Rectangle 49"/>
          <p:cNvSpPr>
            <a:spLocks noChangeAspect="1" noChangeArrowheads="1"/>
          </p:cNvSpPr>
          <p:nvPr/>
        </p:nvSpPr>
        <p:spPr bwMode="auto">
          <a:xfrm>
            <a:off x="7223125" y="31067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8818" name="Rectangle 50"/>
          <p:cNvSpPr>
            <a:spLocks noChangeAspect="1" noChangeArrowheads="1"/>
          </p:cNvSpPr>
          <p:nvPr/>
        </p:nvSpPr>
        <p:spPr bwMode="auto">
          <a:xfrm>
            <a:off x="7808913" y="3106738"/>
            <a:ext cx="231775"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8819" name="AutoShape 51"/>
          <p:cNvCxnSpPr>
            <a:cxnSpLocks noChangeShapeType="1"/>
            <a:stCxn id="288818" idx="0"/>
            <a:endCxn id="288816" idx="5"/>
          </p:cNvCxnSpPr>
          <p:nvPr/>
        </p:nvCxnSpPr>
        <p:spPr bwMode="auto">
          <a:xfrm flipH="1" flipV="1">
            <a:off x="7743825" y="2813050"/>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20" name="AutoShape 52"/>
          <p:cNvCxnSpPr>
            <a:cxnSpLocks noChangeShapeType="1"/>
            <a:stCxn id="288817" idx="0"/>
            <a:endCxn id="288816" idx="3"/>
          </p:cNvCxnSpPr>
          <p:nvPr/>
        </p:nvCxnSpPr>
        <p:spPr bwMode="auto">
          <a:xfrm flipV="1">
            <a:off x="7339013" y="2813050"/>
            <a:ext cx="179387"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21" name="Oval 53"/>
          <p:cNvSpPr>
            <a:spLocks noChangeArrowheads="1"/>
          </p:cNvSpPr>
          <p:nvPr/>
        </p:nvSpPr>
        <p:spPr bwMode="auto">
          <a:xfrm>
            <a:off x="6419850" y="5410200"/>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5</a:t>
            </a:r>
          </a:p>
        </p:txBody>
      </p:sp>
      <p:sp>
        <p:nvSpPr>
          <p:cNvPr id="288822" name="Rectangle 54"/>
          <p:cNvSpPr>
            <a:spLocks noChangeAspect="1" noChangeArrowheads="1"/>
          </p:cNvSpPr>
          <p:nvPr/>
        </p:nvSpPr>
        <p:spPr bwMode="auto">
          <a:xfrm>
            <a:off x="6172200" y="5986463"/>
            <a:ext cx="230188" cy="230187"/>
          </a:xfrm>
          <a:prstGeom prst="rect">
            <a:avLst/>
          </a:prstGeom>
          <a:solidFill>
            <a:schemeClr val="folHlink"/>
          </a:solidFill>
          <a:ln w="571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solidFill>
                <a:schemeClr val="tx2"/>
              </a:solidFill>
              <a:latin typeface="Tahoma" pitchFamily="34" charset="0"/>
            </a:endParaRPr>
          </a:p>
        </p:txBody>
      </p:sp>
      <p:sp>
        <p:nvSpPr>
          <p:cNvPr id="288823" name="Rectangle 55"/>
          <p:cNvSpPr>
            <a:spLocks noChangeAspect="1" noChangeArrowheads="1"/>
          </p:cNvSpPr>
          <p:nvPr/>
        </p:nvSpPr>
        <p:spPr bwMode="auto">
          <a:xfrm>
            <a:off x="6757988" y="5986463"/>
            <a:ext cx="231775" cy="230187"/>
          </a:xfrm>
          <a:prstGeom prst="rect">
            <a:avLst/>
          </a:prstGeom>
          <a:solidFill>
            <a:schemeClr val="folHlink"/>
          </a:solidFill>
          <a:ln w="571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solidFill>
                <a:schemeClr val="tx2"/>
              </a:solidFill>
              <a:latin typeface="Tahoma" pitchFamily="34" charset="0"/>
            </a:endParaRPr>
          </a:p>
        </p:txBody>
      </p:sp>
      <p:cxnSp>
        <p:nvCxnSpPr>
          <p:cNvPr id="288824" name="AutoShape 56"/>
          <p:cNvCxnSpPr>
            <a:cxnSpLocks noChangeShapeType="1"/>
            <a:stCxn id="288823" idx="0"/>
            <a:endCxn id="288821" idx="5"/>
          </p:cNvCxnSpPr>
          <p:nvPr/>
        </p:nvCxnSpPr>
        <p:spPr bwMode="auto">
          <a:xfrm flipH="1" flipV="1">
            <a:off x="6692900" y="5711825"/>
            <a:ext cx="180975" cy="246063"/>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8825" name="AutoShape 57"/>
          <p:cNvCxnSpPr>
            <a:cxnSpLocks noChangeShapeType="1"/>
            <a:stCxn id="288822" idx="0"/>
            <a:endCxn id="288821" idx="3"/>
          </p:cNvCxnSpPr>
          <p:nvPr/>
        </p:nvCxnSpPr>
        <p:spPr bwMode="auto">
          <a:xfrm flipV="1">
            <a:off x="6288088" y="5711825"/>
            <a:ext cx="179387" cy="246063"/>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8826" name="Text Box 58"/>
          <p:cNvSpPr txBox="1">
            <a:spLocks noChangeArrowheads="1"/>
          </p:cNvSpPr>
          <p:nvPr/>
        </p:nvSpPr>
        <p:spPr bwMode="auto">
          <a:xfrm>
            <a:off x="6029325" y="1581150"/>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solidFill>
                  <a:schemeClr val="tx2"/>
                </a:solidFill>
                <a:latin typeface="Symbol" pitchFamily="18" charset="2"/>
                <a:sym typeface="Symbol" pitchFamily="18" charset="2"/>
              </a:rPr>
              <a:t>&lt;</a:t>
            </a:r>
          </a:p>
        </p:txBody>
      </p:sp>
      <p:sp>
        <p:nvSpPr>
          <p:cNvPr id="288827" name="Text Box 59"/>
          <p:cNvSpPr txBox="1">
            <a:spLocks noChangeArrowheads="1"/>
          </p:cNvSpPr>
          <p:nvPr/>
        </p:nvSpPr>
        <p:spPr bwMode="auto">
          <a:xfrm>
            <a:off x="6029325" y="2114550"/>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solidFill>
                  <a:schemeClr val="tx2"/>
                </a:solidFill>
                <a:latin typeface="Symbol" pitchFamily="18" charset="2"/>
                <a:sym typeface="Symbol" pitchFamily="18" charset="2"/>
              </a:rPr>
              <a:t>&gt;</a:t>
            </a:r>
          </a:p>
        </p:txBody>
      </p:sp>
      <p:sp>
        <p:nvSpPr>
          <p:cNvPr id="288828" name="Text Box 60"/>
          <p:cNvSpPr txBox="1">
            <a:spLocks noChangeArrowheads="1"/>
          </p:cNvSpPr>
          <p:nvPr/>
        </p:nvSpPr>
        <p:spPr bwMode="auto">
          <a:xfrm>
            <a:off x="6534150" y="2667000"/>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solidFill>
                  <a:schemeClr val="tx2"/>
                </a:solidFill>
                <a:latin typeface="Symbol" pitchFamily="18" charset="2"/>
                <a:sym typeface="Symbol" pitchFamily="18" charset="2"/>
              </a:rPr>
              <a:t>&gt;</a:t>
            </a:r>
          </a:p>
        </p:txBody>
      </p:sp>
      <p:sp>
        <p:nvSpPr>
          <p:cNvPr id="288829" name="Text Box 61"/>
          <p:cNvSpPr txBox="1">
            <a:spLocks noChangeArrowheads="1"/>
          </p:cNvSpPr>
          <p:nvPr/>
        </p:nvSpPr>
        <p:spPr bwMode="auto">
          <a:xfrm>
            <a:off x="6461125" y="3276600"/>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b="1" i="1">
                <a:solidFill>
                  <a:schemeClr val="tx2"/>
                </a:solidFill>
                <a:latin typeface="Times New Roman" pitchFamily="18" charset="0"/>
                <a:sym typeface="Symbol" pitchFamily="18" charset="2"/>
              </a:rPr>
              <a:t>w</a:t>
            </a:r>
          </a:p>
        </p:txBody>
      </p:sp>
      <p:sp>
        <p:nvSpPr>
          <p:cNvPr id="288830" name="Text Box 62"/>
          <p:cNvSpPr txBox="1">
            <a:spLocks noChangeArrowheads="1"/>
          </p:cNvSpPr>
          <p:nvPr/>
        </p:nvSpPr>
        <p:spPr bwMode="auto">
          <a:xfrm>
            <a:off x="6629400" y="5105400"/>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b="1" i="1">
                <a:solidFill>
                  <a:schemeClr val="tx2"/>
                </a:solidFill>
                <a:latin typeface="Times New Roman" pitchFamily="18" charset="0"/>
                <a:sym typeface="Symbol" pitchFamily="18" charset="2"/>
              </a:rPr>
              <a:t>w</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4"/>
          <p:cNvSpPr>
            <a:spLocks noGrp="1"/>
          </p:cNvSpPr>
          <p:nvPr>
            <p:ph type="ftr" sz="quarter" idx="11"/>
          </p:nvPr>
        </p:nvSpPr>
        <p:spPr/>
        <p:txBody>
          <a:bodyPr/>
          <a:lstStyle/>
          <a:p>
            <a:r>
              <a:rPr lang="en-US"/>
              <a:t>Data Structures and Algorithms</a:t>
            </a:r>
          </a:p>
        </p:txBody>
      </p:sp>
      <p:sp>
        <p:nvSpPr>
          <p:cNvPr id="64" name="Slide Number Placeholder 5"/>
          <p:cNvSpPr>
            <a:spLocks noGrp="1"/>
          </p:cNvSpPr>
          <p:nvPr>
            <p:ph type="sldNum" sz="quarter" idx="12"/>
          </p:nvPr>
        </p:nvSpPr>
        <p:spPr/>
        <p:txBody>
          <a:bodyPr/>
          <a:lstStyle/>
          <a:p>
            <a:fld id="{1F531D3C-28A4-4724-9E4F-77DF91C225A6}" type="slidenum">
              <a:rPr lang="en-US"/>
              <a:pPr/>
              <a:t>21</a:t>
            </a:fld>
            <a:endParaRPr lang="en-US"/>
          </a:p>
        </p:txBody>
      </p:sp>
      <p:sp>
        <p:nvSpPr>
          <p:cNvPr id="289794" name="Rectangle 2"/>
          <p:cNvSpPr>
            <a:spLocks noGrp="1" noChangeArrowheads="1"/>
          </p:cNvSpPr>
          <p:nvPr>
            <p:ph type="title"/>
          </p:nvPr>
        </p:nvSpPr>
        <p:spPr/>
        <p:txBody>
          <a:bodyPr/>
          <a:lstStyle/>
          <a:p>
            <a:r>
              <a:rPr lang="en-US"/>
              <a:t>Deletion</a:t>
            </a:r>
            <a:endParaRPr lang="en-US" sz="3200"/>
          </a:p>
        </p:txBody>
      </p:sp>
      <p:sp>
        <p:nvSpPr>
          <p:cNvPr id="289795" name="Rectangle 3"/>
          <p:cNvSpPr>
            <a:spLocks noGrp="1" noChangeArrowheads="1"/>
          </p:cNvSpPr>
          <p:nvPr>
            <p:ph type="body" idx="1"/>
          </p:nvPr>
        </p:nvSpPr>
        <p:spPr>
          <a:xfrm>
            <a:off x="790575" y="1676400"/>
            <a:ext cx="3781425" cy="4419600"/>
          </a:xfrm>
        </p:spPr>
        <p:txBody>
          <a:bodyPr/>
          <a:lstStyle/>
          <a:p>
            <a:r>
              <a:rPr lang="en-US" sz="1800"/>
              <a:t>To perform operation </a:t>
            </a:r>
            <a:r>
              <a:rPr lang="en-US" sz="1800">
                <a:solidFill>
                  <a:schemeClr val="tx2"/>
                </a:solidFill>
              </a:rPr>
              <a:t>removeElement</a:t>
            </a:r>
            <a:r>
              <a:rPr lang="en-US" sz="1800"/>
              <a:t>(</a:t>
            </a:r>
            <a:r>
              <a:rPr lang="en-US" sz="1800" b="1" i="1"/>
              <a:t>k</a:t>
            </a:r>
            <a:r>
              <a:rPr lang="en-US" sz="1800"/>
              <a:t>), we search for key </a:t>
            </a:r>
            <a:r>
              <a:rPr lang="en-US" sz="1800" b="1" i="1"/>
              <a:t>k</a:t>
            </a:r>
          </a:p>
          <a:p>
            <a:r>
              <a:rPr lang="en-US" sz="1800"/>
              <a:t>Assume key </a:t>
            </a:r>
            <a:r>
              <a:rPr lang="en-US" sz="1800" b="1" i="1"/>
              <a:t>k</a:t>
            </a:r>
            <a:r>
              <a:rPr lang="en-US" sz="1800"/>
              <a:t> is in the tree, and let let </a:t>
            </a:r>
            <a:r>
              <a:rPr lang="en-US" sz="1800" b="1" i="1"/>
              <a:t>v</a:t>
            </a:r>
            <a:r>
              <a:rPr lang="en-US" sz="1800"/>
              <a:t> be the node storing </a:t>
            </a:r>
            <a:r>
              <a:rPr lang="en-US" sz="1800" b="1" i="1"/>
              <a:t>k</a:t>
            </a:r>
          </a:p>
          <a:p>
            <a:r>
              <a:rPr lang="en-US" sz="1800"/>
              <a:t>If node </a:t>
            </a:r>
            <a:r>
              <a:rPr lang="en-US" sz="1800" b="1" i="1"/>
              <a:t>v</a:t>
            </a:r>
            <a:r>
              <a:rPr lang="en-US" sz="1800"/>
              <a:t> has a leaf child </a:t>
            </a:r>
            <a:r>
              <a:rPr lang="en-US" sz="1800" b="1" i="1"/>
              <a:t>w</a:t>
            </a:r>
            <a:r>
              <a:rPr lang="en-US" sz="1800"/>
              <a:t>, we remove </a:t>
            </a:r>
            <a:r>
              <a:rPr lang="en-US" sz="1800" b="1" i="1"/>
              <a:t>v</a:t>
            </a:r>
            <a:r>
              <a:rPr lang="en-US" sz="1800"/>
              <a:t> and </a:t>
            </a:r>
            <a:r>
              <a:rPr lang="en-US" sz="1800" b="1" i="1"/>
              <a:t>w</a:t>
            </a:r>
            <a:r>
              <a:rPr lang="en-US" sz="1800"/>
              <a:t> from the tree with operation </a:t>
            </a:r>
            <a:r>
              <a:rPr lang="en-US" sz="1800">
                <a:solidFill>
                  <a:schemeClr val="tx2"/>
                </a:solidFill>
              </a:rPr>
              <a:t>removeAboveExternal</a:t>
            </a:r>
            <a:r>
              <a:rPr lang="en-US" sz="1800"/>
              <a:t>(</a:t>
            </a:r>
            <a:r>
              <a:rPr lang="en-US" sz="1800" b="1" i="1"/>
              <a:t>w</a:t>
            </a:r>
            <a:r>
              <a:rPr lang="en-US" sz="1800"/>
              <a:t>)</a:t>
            </a:r>
          </a:p>
          <a:p>
            <a:r>
              <a:rPr lang="en-US" sz="1800"/>
              <a:t>Example: remove 4</a:t>
            </a:r>
          </a:p>
        </p:txBody>
      </p:sp>
      <p:sp>
        <p:nvSpPr>
          <p:cNvPr id="289796" name="Oval 4"/>
          <p:cNvSpPr>
            <a:spLocks noChangeArrowheads="1"/>
          </p:cNvSpPr>
          <p:nvPr/>
        </p:nvSpPr>
        <p:spPr bwMode="auto">
          <a:xfrm>
            <a:off x="6781800" y="1600200"/>
            <a:ext cx="320675" cy="319088"/>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6</a:t>
            </a:r>
          </a:p>
        </p:txBody>
      </p:sp>
      <p:sp>
        <p:nvSpPr>
          <p:cNvPr id="289797" name="Oval 5"/>
          <p:cNvSpPr>
            <a:spLocks noChangeArrowheads="1"/>
          </p:cNvSpPr>
          <p:nvPr/>
        </p:nvSpPr>
        <p:spPr bwMode="auto">
          <a:xfrm>
            <a:off x="7980363" y="2111375"/>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9</a:t>
            </a:r>
          </a:p>
        </p:txBody>
      </p:sp>
      <p:sp>
        <p:nvSpPr>
          <p:cNvPr id="289798" name="Oval 6"/>
          <p:cNvSpPr>
            <a:spLocks noChangeArrowheads="1"/>
          </p:cNvSpPr>
          <p:nvPr/>
        </p:nvSpPr>
        <p:spPr bwMode="auto">
          <a:xfrm>
            <a:off x="5424488" y="2111375"/>
            <a:ext cx="319087"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2</a:t>
            </a:r>
          </a:p>
        </p:txBody>
      </p:sp>
      <p:sp>
        <p:nvSpPr>
          <p:cNvPr id="289799" name="Oval 7"/>
          <p:cNvSpPr>
            <a:spLocks noChangeArrowheads="1"/>
          </p:cNvSpPr>
          <p:nvPr/>
        </p:nvSpPr>
        <p:spPr bwMode="auto">
          <a:xfrm>
            <a:off x="6011863" y="2606675"/>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4</a:t>
            </a:r>
          </a:p>
        </p:txBody>
      </p:sp>
      <p:sp>
        <p:nvSpPr>
          <p:cNvPr id="289800" name="Rectangle 8"/>
          <p:cNvSpPr>
            <a:spLocks noChangeAspect="1" noChangeArrowheads="1"/>
          </p:cNvSpPr>
          <p:nvPr/>
        </p:nvSpPr>
        <p:spPr bwMode="auto">
          <a:xfrm>
            <a:off x="5764213" y="3182938"/>
            <a:ext cx="230187" cy="230187"/>
          </a:xfrm>
          <a:prstGeom prst="rect">
            <a:avLst/>
          </a:prstGeom>
          <a:solidFill>
            <a:schemeClr val="folHlink"/>
          </a:solidFill>
          <a:ln w="571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9801" name="Rectangle 9"/>
          <p:cNvSpPr>
            <a:spLocks noChangeAspect="1" noChangeArrowheads="1"/>
          </p:cNvSpPr>
          <p:nvPr/>
        </p:nvSpPr>
        <p:spPr bwMode="auto">
          <a:xfrm>
            <a:off x="8512175" y="2651125"/>
            <a:ext cx="230188" cy="23177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9802" name="AutoShape 10"/>
          <p:cNvCxnSpPr>
            <a:cxnSpLocks noChangeShapeType="1"/>
            <a:stCxn id="289796" idx="3"/>
            <a:endCxn id="289798" idx="7"/>
          </p:cNvCxnSpPr>
          <p:nvPr/>
        </p:nvCxnSpPr>
        <p:spPr bwMode="auto">
          <a:xfrm flipH="1">
            <a:off x="5697538" y="1901825"/>
            <a:ext cx="1131887" cy="228600"/>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03" name="AutoShape 11"/>
          <p:cNvCxnSpPr>
            <a:cxnSpLocks noChangeShapeType="1"/>
            <a:stCxn id="289797" idx="1"/>
            <a:endCxn id="289796" idx="5"/>
          </p:cNvCxnSpPr>
          <p:nvPr/>
        </p:nvCxnSpPr>
        <p:spPr bwMode="auto">
          <a:xfrm flipH="1" flipV="1">
            <a:off x="7054850" y="1901825"/>
            <a:ext cx="971550"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04" name="AutoShape 12"/>
          <p:cNvCxnSpPr>
            <a:cxnSpLocks noChangeShapeType="1"/>
            <a:stCxn id="289801" idx="0"/>
            <a:endCxn id="289797" idx="5"/>
          </p:cNvCxnSpPr>
          <p:nvPr/>
        </p:nvCxnSpPr>
        <p:spPr bwMode="auto">
          <a:xfrm flipH="1" flipV="1">
            <a:off x="8253413" y="2393950"/>
            <a:ext cx="374650"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05" name="AutoShape 13"/>
          <p:cNvCxnSpPr>
            <a:cxnSpLocks noChangeShapeType="1"/>
            <a:stCxn id="289815" idx="7"/>
            <a:endCxn id="289797" idx="3"/>
          </p:cNvCxnSpPr>
          <p:nvPr/>
        </p:nvCxnSpPr>
        <p:spPr bwMode="auto">
          <a:xfrm flipV="1">
            <a:off x="7759700" y="2393950"/>
            <a:ext cx="266700" cy="2508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06" name="AutoShape 14"/>
          <p:cNvCxnSpPr>
            <a:cxnSpLocks noChangeShapeType="1"/>
            <a:stCxn id="289820" idx="1"/>
            <a:endCxn id="289799" idx="5"/>
          </p:cNvCxnSpPr>
          <p:nvPr/>
        </p:nvCxnSpPr>
        <p:spPr bwMode="auto">
          <a:xfrm flipH="1" flipV="1">
            <a:off x="6284913" y="2908300"/>
            <a:ext cx="198437" cy="234950"/>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07" name="AutoShape 15"/>
          <p:cNvCxnSpPr>
            <a:cxnSpLocks noChangeShapeType="1"/>
            <a:stCxn id="289800" idx="0"/>
            <a:endCxn id="289799" idx="3"/>
          </p:cNvCxnSpPr>
          <p:nvPr/>
        </p:nvCxnSpPr>
        <p:spPr bwMode="auto">
          <a:xfrm flipV="1">
            <a:off x="5880100" y="2908300"/>
            <a:ext cx="179388" cy="246063"/>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08" name="AutoShape 16"/>
          <p:cNvCxnSpPr>
            <a:cxnSpLocks noChangeShapeType="1"/>
            <a:stCxn id="289810" idx="7"/>
            <a:endCxn id="289798" idx="3"/>
          </p:cNvCxnSpPr>
          <p:nvPr/>
        </p:nvCxnSpPr>
        <p:spPr bwMode="auto">
          <a:xfrm flipV="1">
            <a:off x="5110163" y="2413000"/>
            <a:ext cx="360362" cy="2317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09" name="AutoShape 17"/>
          <p:cNvCxnSpPr>
            <a:cxnSpLocks noChangeShapeType="1"/>
            <a:stCxn id="289799" idx="1"/>
            <a:endCxn id="289798" idx="5"/>
          </p:cNvCxnSpPr>
          <p:nvPr/>
        </p:nvCxnSpPr>
        <p:spPr bwMode="auto">
          <a:xfrm flipH="1" flipV="1">
            <a:off x="5697538" y="2413000"/>
            <a:ext cx="361950" cy="212725"/>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10" name="Oval 18"/>
          <p:cNvSpPr>
            <a:spLocks noChangeArrowheads="1"/>
          </p:cNvSpPr>
          <p:nvPr/>
        </p:nvSpPr>
        <p:spPr bwMode="auto">
          <a:xfrm>
            <a:off x="4837113" y="2606675"/>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1</a:t>
            </a:r>
          </a:p>
        </p:txBody>
      </p:sp>
      <p:sp>
        <p:nvSpPr>
          <p:cNvPr id="289811" name="Rectangle 19"/>
          <p:cNvSpPr>
            <a:spLocks noChangeAspect="1" noChangeArrowheads="1"/>
          </p:cNvSpPr>
          <p:nvPr/>
        </p:nvSpPr>
        <p:spPr bwMode="auto">
          <a:xfrm>
            <a:off x="4587875" y="31829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9812" name="Rectangle 20"/>
          <p:cNvSpPr>
            <a:spLocks noChangeAspect="1" noChangeArrowheads="1"/>
          </p:cNvSpPr>
          <p:nvPr/>
        </p:nvSpPr>
        <p:spPr bwMode="auto">
          <a:xfrm>
            <a:off x="5175250" y="31829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9813" name="AutoShape 21"/>
          <p:cNvCxnSpPr>
            <a:cxnSpLocks noChangeShapeType="1"/>
            <a:stCxn id="289812" idx="0"/>
            <a:endCxn id="289810" idx="5"/>
          </p:cNvCxnSpPr>
          <p:nvPr/>
        </p:nvCxnSpPr>
        <p:spPr bwMode="auto">
          <a:xfrm flipH="1" flipV="1">
            <a:off x="5110163" y="2889250"/>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14" name="AutoShape 22"/>
          <p:cNvCxnSpPr>
            <a:cxnSpLocks noChangeShapeType="1"/>
            <a:stCxn id="289811" idx="0"/>
            <a:endCxn id="289810" idx="3"/>
          </p:cNvCxnSpPr>
          <p:nvPr/>
        </p:nvCxnSpPr>
        <p:spPr bwMode="auto">
          <a:xfrm flipV="1">
            <a:off x="4703763" y="2889250"/>
            <a:ext cx="179387"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15" name="Oval 23"/>
          <p:cNvSpPr>
            <a:spLocks noChangeArrowheads="1"/>
          </p:cNvSpPr>
          <p:nvPr/>
        </p:nvSpPr>
        <p:spPr bwMode="auto">
          <a:xfrm>
            <a:off x="7486650" y="2606675"/>
            <a:ext cx="320675"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8</a:t>
            </a:r>
          </a:p>
        </p:txBody>
      </p:sp>
      <p:sp>
        <p:nvSpPr>
          <p:cNvPr id="289816" name="Rectangle 24"/>
          <p:cNvSpPr>
            <a:spLocks noChangeAspect="1" noChangeArrowheads="1"/>
          </p:cNvSpPr>
          <p:nvPr/>
        </p:nvSpPr>
        <p:spPr bwMode="auto">
          <a:xfrm>
            <a:off x="7239000" y="31829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9817" name="Rectangle 25"/>
          <p:cNvSpPr>
            <a:spLocks noChangeAspect="1" noChangeArrowheads="1"/>
          </p:cNvSpPr>
          <p:nvPr/>
        </p:nvSpPr>
        <p:spPr bwMode="auto">
          <a:xfrm>
            <a:off x="7824788" y="3182938"/>
            <a:ext cx="231775"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9818" name="AutoShape 26"/>
          <p:cNvCxnSpPr>
            <a:cxnSpLocks noChangeShapeType="1"/>
            <a:stCxn id="289817" idx="0"/>
            <a:endCxn id="289815" idx="5"/>
          </p:cNvCxnSpPr>
          <p:nvPr/>
        </p:nvCxnSpPr>
        <p:spPr bwMode="auto">
          <a:xfrm flipH="1" flipV="1">
            <a:off x="7759700" y="2889250"/>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19" name="AutoShape 27"/>
          <p:cNvCxnSpPr>
            <a:cxnSpLocks noChangeShapeType="1"/>
            <a:stCxn id="289816" idx="0"/>
            <a:endCxn id="289815" idx="3"/>
          </p:cNvCxnSpPr>
          <p:nvPr/>
        </p:nvCxnSpPr>
        <p:spPr bwMode="auto">
          <a:xfrm flipV="1">
            <a:off x="7354888" y="2889250"/>
            <a:ext cx="179387"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20" name="Oval 28"/>
          <p:cNvSpPr>
            <a:spLocks noChangeArrowheads="1"/>
          </p:cNvSpPr>
          <p:nvPr/>
        </p:nvSpPr>
        <p:spPr bwMode="auto">
          <a:xfrm>
            <a:off x="6435725" y="3124200"/>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5</a:t>
            </a:r>
          </a:p>
        </p:txBody>
      </p:sp>
      <p:sp>
        <p:nvSpPr>
          <p:cNvPr id="289821" name="Rectangle 29"/>
          <p:cNvSpPr>
            <a:spLocks noChangeAspect="1" noChangeArrowheads="1"/>
          </p:cNvSpPr>
          <p:nvPr/>
        </p:nvSpPr>
        <p:spPr bwMode="auto">
          <a:xfrm>
            <a:off x="6188075" y="3700463"/>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9822" name="Rectangle 30"/>
          <p:cNvSpPr>
            <a:spLocks noChangeAspect="1" noChangeArrowheads="1"/>
          </p:cNvSpPr>
          <p:nvPr/>
        </p:nvSpPr>
        <p:spPr bwMode="auto">
          <a:xfrm>
            <a:off x="6773863" y="3700463"/>
            <a:ext cx="231775"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9823" name="AutoShape 31"/>
          <p:cNvCxnSpPr>
            <a:cxnSpLocks noChangeShapeType="1"/>
            <a:stCxn id="289822" idx="0"/>
            <a:endCxn id="289820" idx="5"/>
          </p:cNvCxnSpPr>
          <p:nvPr/>
        </p:nvCxnSpPr>
        <p:spPr bwMode="auto">
          <a:xfrm flipH="1" flipV="1">
            <a:off x="6708775" y="3425825"/>
            <a:ext cx="180975" cy="26511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24" name="AutoShape 32"/>
          <p:cNvCxnSpPr>
            <a:cxnSpLocks noChangeShapeType="1"/>
            <a:stCxn id="289821" idx="0"/>
            <a:endCxn id="289820" idx="3"/>
          </p:cNvCxnSpPr>
          <p:nvPr/>
        </p:nvCxnSpPr>
        <p:spPr bwMode="auto">
          <a:xfrm flipV="1">
            <a:off x="6303963" y="3425825"/>
            <a:ext cx="179387" cy="26511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25" name="Text Box 33"/>
          <p:cNvSpPr txBox="1">
            <a:spLocks noChangeArrowheads="1"/>
          </p:cNvSpPr>
          <p:nvPr/>
        </p:nvSpPr>
        <p:spPr bwMode="auto">
          <a:xfrm>
            <a:off x="6324600" y="2498725"/>
            <a:ext cx="296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b="1" i="1">
                <a:solidFill>
                  <a:schemeClr val="tx2"/>
                </a:solidFill>
                <a:latin typeface="Times New Roman" pitchFamily="18" charset="0"/>
                <a:sym typeface="Symbol" pitchFamily="18" charset="2"/>
              </a:rPr>
              <a:t>v</a:t>
            </a:r>
          </a:p>
        </p:txBody>
      </p:sp>
      <p:sp>
        <p:nvSpPr>
          <p:cNvPr id="289826" name="Text Box 34"/>
          <p:cNvSpPr txBox="1">
            <a:spLocks noChangeArrowheads="1"/>
          </p:cNvSpPr>
          <p:nvPr/>
        </p:nvSpPr>
        <p:spPr bwMode="auto">
          <a:xfrm>
            <a:off x="5589588" y="2819400"/>
            <a:ext cx="354012"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b="1" i="1">
                <a:solidFill>
                  <a:schemeClr val="tx2"/>
                </a:solidFill>
                <a:latin typeface="Times New Roman" pitchFamily="18" charset="0"/>
                <a:sym typeface="Symbol" pitchFamily="18" charset="2"/>
              </a:rPr>
              <a:t>w</a:t>
            </a:r>
          </a:p>
        </p:txBody>
      </p:sp>
      <p:sp>
        <p:nvSpPr>
          <p:cNvPr id="289827" name="Oval 35"/>
          <p:cNvSpPr>
            <a:spLocks noChangeArrowheads="1"/>
          </p:cNvSpPr>
          <p:nvPr/>
        </p:nvSpPr>
        <p:spPr bwMode="auto">
          <a:xfrm>
            <a:off x="6553200" y="4251325"/>
            <a:ext cx="320675" cy="319088"/>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6</a:t>
            </a:r>
          </a:p>
        </p:txBody>
      </p:sp>
      <p:sp>
        <p:nvSpPr>
          <p:cNvPr id="289828" name="Oval 36"/>
          <p:cNvSpPr>
            <a:spLocks noChangeArrowheads="1"/>
          </p:cNvSpPr>
          <p:nvPr/>
        </p:nvSpPr>
        <p:spPr bwMode="auto">
          <a:xfrm>
            <a:off x="7964488" y="4762500"/>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9</a:t>
            </a:r>
          </a:p>
        </p:txBody>
      </p:sp>
      <p:sp>
        <p:nvSpPr>
          <p:cNvPr id="289829" name="Oval 37"/>
          <p:cNvSpPr>
            <a:spLocks noChangeArrowheads="1"/>
          </p:cNvSpPr>
          <p:nvPr/>
        </p:nvSpPr>
        <p:spPr bwMode="auto">
          <a:xfrm>
            <a:off x="5600700" y="4762500"/>
            <a:ext cx="319088"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2</a:t>
            </a:r>
          </a:p>
        </p:txBody>
      </p:sp>
      <p:sp>
        <p:nvSpPr>
          <p:cNvPr id="289830" name="Oval 38"/>
          <p:cNvSpPr>
            <a:spLocks noChangeArrowheads="1"/>
          </p:cNvSpPr>
          <p:nvPr/>
        </p:nvSpPr>
        <p:spPr bwMode="auto">
          <a:xfrm>
            <a:off x="6188075" y="5257800"/>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5</a:t>
            </a:r>
          </a:p>
        </p:txBody>
      </p:sp>
      <p:sp>
        <p:nvSpPr>
          <p:cNvPr id="289831" name="Rectangle 39"/>
          <p:cNvSpPr>
            <a:spLocks noChangeAspect="1" noChangeArrowheads="1"/>
          </p:cNvSpPr>
          <p:nvPr/>
        </p:nvSpPr>
        <p:spPr bwMode="auto">
          <a:xfrm>
            <a:off x="5940425" y="5834063"/>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9832" name="Rectangle 40"/>
          <p:cNvSpPr>
            <a:spLocks noChangeAspect="1" noChangeArrowheads="1"/>
          </p:cNvSpPr>
          <p:nvPr/>
        </p:nvSpPr>
        <p:spPr bwMode="auto">
          <a:xfrm>
            <a:off x="6553200" y="5834063"/>
            <a:ext cx="231775"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9833" name="Rectangle 41"/>
          <p:cNvSpPr>
            <a:spLocks noChangeAspect="1" noChangeArrowheads="1"/>
          </p:cNvSpPr>
          <p:nvPr/>
        </p:nvSpPr>
        <p:spPr bwMode="auto">
          <a:xfrm>
            <a:off x="8496300" y="5302250"/>
            <a:ext cx="230188" cy="23177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9834" name="AutoShape 42"/>
          <p:cNvCxnSpPr>
            <a:cxnSpLocks noChangeShapeType="1"/>
            <a:stCxn id="289827" idx="3"/>
            <a:endCxn id="289829" idx="7"/>
          </p:cNvCxnSpPr>
          <p:nvPr/>
        </p:nvCxnSpPr>
        <p:spPr bwMode="auto">
          <a:xfrm flipH="1">
            <a:off x="5873750" y="4533900"/>
            <a:ext cx="727075"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35" name="AutoShape 43"/>
          <p:cNvCxnSpPr>
            <a:cxnSpLocks noChangeShapeType="1"/>
            <a:stCxn id="289828" idx="1"/>
            <a:endCxn id="289827" idx="5"/>
          </p:cNvCxnSpPr>
          <p:nvPr/>
        </p:nvCxnSpPr>
        <p:spPr bwMode="auto">
          <a:xfrm flipH="1" flipV="1">
            <a:off x="6826250" y="4533900"/>
            <a:ext cx="1184275" cy="26670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36" name="AutoShape 44"/>
          <p:cNvCxnSpPr>
            <a:cxnSpLocks noChangeShapeType="1"/>
            <a:stCxn id="289833" idx="0"/>
            <a:endCxn id="289828" idx="5"/>
          </p:cNvCxnSpPr>
          <p:nvPr/>
        </p:nvCxnSpPr>
        <p:spPr bwMode="auto">
          <a:xfrm flipH="1" flipV="1">
            <a:off x="8237538" y="5045075"/>
            <a:ext cx="374650" cy="2476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37" name="AutoShape 45"/>
          <p:cNvCxnSpPr>
            <a:cxnSpLocks noChangeShapeType="1"/>
            <a:stCxn id="289847" idx="7"/>
            <a:endCxn id="289828" idx="3"/>
          </p:cNvCxnSpPr>
          <p:nvPr/>
        </p:nvCxnSpPr>
        <p:spPr bwMode="auto">
          <a:xfrm flipV="1">
            <a:off x="7743825" y="5045075"/>
            <a:ext cx="266700" cy="2508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38" name="AutoShape 46"/>
          <p:cNvCxnSpPr>
            <a:cxnSpLocks noChangeShapeType="1"/>
            <a:stCxn id="289832" idx="0"/>
            <a:endCxn id="289830" idx="5"/>
          </p:cNvCxnSpPr>
          <p:nvPr/>
        </p:nvCxnSpPr>
        <p:spPr bwMode="auto">
          <a:xfrm flipH="1" flipV="1">
            <a:off x="6461125" y="5559425"/>
            <a:ext cx="207963" cy="26511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39" name="AutoShape 47"/>
          <p:cNvCxnSpPr>
            <a:cxnSpLocks noChangeShapeType="1"/>
            <a:stCxn id="289831" idx="0"/>
            <a:endCxn id="289830" idx="3"/>
          </p:cNvCxnSpPr>
          <p:nvPr/>
        </p:nvCxnSpPr>
        <p:spPr bwMode="auto">
          <a:xfrm flipV="1">
            <a:off x="6056313" y="5559425"/>
            <a:ext cx="179387" cy="26511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40" name="AutoShape 48"/>
          <p:cNvCxnSpPr>
            <a:cxnSpLocks noChangeShapeType="1"/>
            <a:stCxn id="289842" idx="7"/>
            <a:endCxn id="289829" idx="3"/>
          </p:cNvCxnSpPr>
          <p:nvPr/>
        </p:nvCxnSpPr>
        <p:spPr bwMode="auto">
          <a:xfrm flipV="1">
            <a:off x="5286375" y="5064125"/>
            <a:ext cx="360363" cy="2317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41" name="AutoShape 49"/>
          <p:cNvCxnSpPr>
            <a:cxnSpLocks noChangeShapeType="1"/>
            <a:stCxn id="289830" idx="1"/>
            <a:endCxn id="289829" idx="5"/>
          </p:cNvCxnSpPr>
          <p:nvPr/>
        </p:nvCxnSpPr>
        <p:spPr bwMode="auto">
          <a:xfrm flipH="1" flipV="1">
            <a:off x="5873750" y="5064125"/>
            <a:ext cx="361950" cy="212725"/>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42" name="Oval 50"/>
          <p:cNvSpPr>
            <a:spLocks noChangeArrowheads="1"/>
          </p:cNvSpPr>
          <p:nvPr/>
        </p:nvSpPr>
        <p:spPr bwMode="auto">
          <a:xfrm>
            <a:off x="5013325" y="5257800"/>
            <a:ext cx="319088"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1</a:t>
            </a:r>
          </a:p>
        </p:txBody>
      </p:sp>
      <p:sp>
        <p:nvSpPr>
          <p:cNvPr id="289843" name="Rectangle 51"/>
          <p:cNvSpPr>
            <a:spLocks noChangeAspect="1" noChangeArrowheads="1"/>
          </p:cNvSpPr>
          <p:nvPr/>
        </p:nvSpPr>
        <p:spPr bwMode="auto">
          <a:xfrm>
            <a:off x="4764088" y="5834063"/>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9844" name="Rectangle 52"/>
          <p:cNvSpPr>
            <a:spLocks noChangeAspect="1" noChangeArrowheads="1"/>
          </p:cNvSpPr>
          <p:nvPr/>
        </p:nvSpPr>
        <p:spPr bwMode="auto">
          <a:xfrm>
            <a:off x="5351463" y="5834063"/>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9845" name="AutoShape 53"/>
          <p:cNvCxnSpPr>
            <a:cxnSpLocks noChangeShapeType="1"/>
            <a:stCxn id="289844" idx="0"/>
            <a:endCxn id="289842" idx="5"/>
          </p:cNvCxnSpPr>
          <p:nvPr/>
        </p:nvCxnSpPr>
        <p:spPr bwMode="auto">
          <a:xfrm flipH="1" flipV="1">
            <a:off x="5286375" y="5540375"/>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46" name="AutoShape 54"/>
          <p:cNvCxnSpPr>
            <a:cxnSpLocks noChangeShapeType="1"/>
            <a:stCxn id="289843" idx="0"/>
            <a:endCxn id="289842" idx="3"/>
          </p:cNvCxnSpPr>
          <p:nvPr/>
        </p:nvCxnSpPr>
        <p:spPr bwMode="auto">
          <a:xfrm flipV="1">
            <a:off x="4879975" y="5540375"/>
            <a:ext cx="179388"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47" name="Oval 55"/>
          <p:cNvSpPr>
            <a:spLocks noChangeArrowheads="1"/>
          </p:cNvSpPr>
          <p:nvPr/>
        </p:nvSpPr>
        <p:spPr bwMode="auto">
          <a:xfrm>
            <a:off x="7470775" y="5257800"/>
            <a:ext cx="320675"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8</a:t>
            </a:r>
          </a:p>
        </p:txBody>
      </p:sp>
      <p:sp>
        <p:nvSpPr>
          <p:cNvPr id="289848" name="Rectangle 56"/>
          <p:cNvSpPr>
            <a:spLocks noChangeAspect="1" noChangeArrowheads="1"/>
          </p:cNvSpPr>
          <p:nvPr/>
        </p:nvSpPr>
        <p:spPr bwMode="auto">
          <a:xfrm>
            <a:off x="7223125" y="5834063"/>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89849" name="Rectangle 57"/>
          <p:cNvSpPr>
            <a:spLocks noChangeAspect="1" noChangeArrowheads="1"/>
          </p:cNvSpPr>
          <p:nvPr/>
        </p:nvSpPr>
        <p:spPr bwMode="auto">
          <a:xfrm>
            <a:off x="7808913" y="5834063"/>
            <a:ext cx="231775"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89850" name="AutoShape 58"/>
          <p:cNvCxnSpPr>
            <a:cxnSpLocks noChangeShapeType="1"/>
            <a:stCxn id="289849" idx="0"/>
            <a:endCxn id="289847" idx="5"/>
          </p:cNvCxnSpPr>
          <p:nvPr/>
        </p:nvCxnSpPr>
        <p:spPr bwMode="auto">
          <a:xfrm flipH="1" flipV="1">
            <a:off x="7743825" y="5540375"/>
            <a:ext cx="180975"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9851" name="AutoShape 59"/>
          <p:cNvCxnSpPr>
            <a:cxnSpLocks noChangeShapeType="1"/>
            <a:stCxn id="289848" idx="0"/>
            <a:endCxn id="289847" idx="3"/>
          </p:cNvCxnSpPr>
          <p:nvPr/>
        </p:nvCxnSpPr>
        <p:spPr bwMode="auto">
          <a:xfrm flipV="1">
            <a:off x="7339013" y="5540375"/>
            <a:ext cx="179387" cy="2841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852" name="Text Box 60"/>
          <p:cNvSpPr txBox="1">
            <a:spLocks noChangeArrowheads="1"/>
          </p:cNvSpPr>
          <p:nvPr/>
        </p:nvSpPr>
        <p:spPr bwMode="auto">
          <a:xfrm>
            <a:off x="6019800" y="166052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solidFill>
                  <a:schemeClr val="tx2"/>
                </a:solidFill>
                <a:latin typeface="Symbol" pitchFamily="18" charset="2"/>
                <a:sym typeface="Symbol" pitchFamily="18" charset="2"/>
              </a:rPr>
              <a:t>&lt;</a:t>
            </a:r>
          </a:p>
        </p:txBody>
      </p:sp>
      <p:sp>
        <p:nvSpPr>
          <p:cNvPr id="289853" name="Text Box 61"/>
          <p:cNvSpPr txBox="1">
            <a:spLocks noChangeArrowheads="1"/>
          </p:cNvSpPr>
          <p:nvPr/>
        </p:nvSpPr>
        <p:spPr bwMode="auto">
          <a:xfrm>
            <a:off x="5791200" y="2193925"/>
            <a:ext cx="323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a:solidFill>
                  <a:schemeClr val="tx2"/>
                </a:solidFill>
                <a:latin typeface="Symbol" pitchFamily="18" charset="2"/>
                <a:sym typeface="Symbol" pitchFamily="18" charset="2"/>
              </a:rPr>
              <a:t>&gt;</a:t>
            </a:r>
          </a:p>
        </p:txBody>
      </p:sp>
      <p:sp>
        <p:nvSpPr>
          <p:cNvPr id="289854" name="AutoShape 62"/>
          <p:cNvSpPr>
            <a:spLocks noChangeArrowheads="1"/>
          </p:cNvSpPr>
          <p:nvPr/>
        </p:nvSpPr>
        <p:spPr bwMode="auto">
          <a:xfrm rot="18601582" flipH="1">
            <a:off x="5442744" y="2667794"/>
            <a:ext cx="1217613" cy="612775"/>
          </a:xfrm>
          <a:prstGeom prst="roundRect">
            <a:avLst>
              <a:gd name="adj" fmla="val 29167"/>
            </a:avLst>
          </a:prstGeom>
          <a:noFill/>
          <a:ln w="12700">
            <a:solidFill>
              <a:schemeClr val="tx2"/>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Footer Placeholder 4"/>
          <p:cNvSpPr>
            <a:spLocks noGrp="1"/>
          </p:cNvSpPr>
          <p:nvPr>
            <p:ph type="ftr" sz="quarter" idx="11"/>
          </p:nvPr>
        </p:nvSpPr>
        <p:spPr/>
        <p:txBody>
          <a:bodyPr/>
          <a:lstStyle/>
          <a:p>
            <a:r>
              <a:rPr lang="en-US"/>
              <a:t>Data Structures and Algorithms</a:t>
            </a:r>
          </a:p>
        </p:txBody>
      </p:sp>
      <p:sp>
        <p:nvSpPr>
          <p:cNvPr id="64" name="Slide Number Placeholder 5"/>
          <p:cNvSpPr>
            <a:spLocks noGrp="1"/>
          </p:cNvSpPr>
          <p:nvPr>
            <p:ph type="sldNum" sz="quarter" idx="12"/>
          </p:nvPr>
        </p:nvSpPr>
        <p:spPr/>
        <p:txBody>
          <a:bodyPr/>
          <a:lstStyle/>
          <a:p>
            <a:fld id="{A3EE7B3D-D590-453D-A57A-6E1EB5367431}" type="slidenum">
              <a:rPr lang="en-US"/>
              <a:pPr/>
              <a:t>22</a:t>
            </a:fld>
            <a:endParaRPr lang="en-US"/>
          </a:p>
        </p:txBody>
      </p:sp>
      <p:sp>
        <p:nvSpPr>
          <p:cNvPr id="290818" name="Rectangle 2"/>
          <p:cNvSpPr>
            <a:spLocks noGrp="1" noChangeArrowheads="1"/>
          </p:cNvSpPr>
          <p:nvPr>
            <p:ph type="title"/>
          </p:nvPr>
        </p:nvSpPr>
        <p:spPr/>
        <p:txBody>
          <a:bodyPr/>
          <a:lstStyle/>
          <a:p>
            <a:r>
              <a:rPr lang="en-US"/>
              <a:t>Deletion (cont.)</a:t>
            </a:r>
          </a:p>
        </p:txBody>
      </p:sp>
      <p:sp>
        <p:nvSpPr>
          <p:cNvPr id="290819" name="Rectangle 3"/>
          <p:cNvSpPr>
            <a:spLocks noGrp="1" noChangeArrowheads="1"/>
          </p:cNvSpPr>
          <p:nvPr>
            <p:ph type="body" idx="1"/>
          </p:nvPr>
        </p:nvSpPr>
        <p:spPr>
          <a:xfrm>
            <a:off x="838200" y="1752600"/>
            <a:ext cx="3886200" cy="4114800"/>
          </a:xfrm>
        </p:spPr>
        <p:txBody>
          <a:bodyPr/>
          <a:lstStyle/>
          <a:p>
            <a:r>
              <a:rPr lang="en-US" sz="1800"/>
              <a:t>We consider the case where the key </a:t>
            </a:r>
            <a:r>
              <a:rPr lang="en-US" sz="1800" b="1" i="1"/>
              <a:t>k</a:t>
            </a:r>
            <a:r>
              <a:rPr lang="en-US" sz="1800"/>
              <a:t> to be removed is stored at a node </a:t>
            </a:r>
            <a:r>
              <a:rPr lang="en-US" sz="1800" b="1" i="1"/>
              <a:t>v</a:t>
            </a:r>
            <a:r>
              <a:rPr lang="en-US" sz="1800"/>
              <a:t> whose children are both internal</a:t>
            </a:r>
          </a:p>
          <a:p>
            <a:pPr lvl="1"/>
            <a:r>
              <a:rPr lang="en-US" sz="1700"/>
              <a:t>we find the internal node </a:t>
            </a:r>
            <a:r>
              <a:rPr lang="en-US" sz="1700" b="1" i="1"/>
              <a:t>w </a:t>
            </a:r>
            <a:r>
              <a:rPr lang="en-US" sz="1700"/>
              <a:t>that follows </a:t>
            </a:r>
            <a:r>
              <a:rPr lang="en-US" sz="1700" b="1" i="1"/>
              <a:t>v</a:t>
            </a:r>
            <a:r>
              <a:rPr lang="en-US" sz="1700"/>
              <a:t> in an inorder traversal</a:t>
            </a:r>
          </a:p>
          <a:p>
            <a:pPr lvl="1"/>
            <a:r>
              <a:rPr lang="en-US" sz="1700"/>
              <a:t>we copy </a:t>
            </a:r>
            <a:r>
              <a:rPr lang="en-US" sz="1700" b="1" i="1"/>
              <a:t>key</a:t>
            </a:r>
            <a:r>
              <a:rPr lang="en-US" sz="1700"/>
              <a:t>(</a:t>
            </a:r>
            <a:r>
              <a:rPr lang="en-US" sz="1700" b="1" i="1"/>
              <a:t>w</a:t>
            </a:r>
            <a:r>
              <a:rPr lang="en-US" sz="1700"/>
              <a:t>) into node </a:t>
            </a:r>
            <a:r>
              <a:rPr lang="en-US" sz="1700" b="1" i="1"/>
              <a:t>v</a:t>
            </a:r>
            <a:endParaRPr lang="en-US" sz="1700"/>
          </a:p>
          <a:p>
            <a:pPr lvl="1"/>
            <a:r>
              <a:rPr lang="en-US" sz="1700"/>
              <a:t>we remove node </a:t>
            </a:r>
            <a:r>
              <a:rPr lang="en-US" sz="1700" b="1" i="1"/>
              <a:t>w </a:t>
            </a:r>
            <a:r>
              <a:rPr lang="en-US" sz="1700"/>
              <a:t>and its left child </a:t>
            </a:r>
            <a:r>
              <a:rPr lang="en-US" sz="1700" b="1" i="1"/>
              <a:t>z </a:t>
            </a:r>
            <a:r>
              <a:rPr lang="en-US" sz="1700"/>
              <a:t>(which must be a leaf) by means of operation </a:t>
            </a:r>
            <a:r>
              <a:rPr lang="en-US" sz="1700">
                <a:solidFill>
                  <a:schemeClr val="tx2"/>
                </a:solidFill>
              </a:rPr>
              <a:t>removeAboveExternal</a:t>
            </a:r>
            <a:r>
              <a:rPr lang="en-US" sz="1700"/>
              <a:t>(</a:t>
            </a:r>
            <a:r>
              <a:rPr lang="en-US" sz="1700" b="1" i="1"/>
              <a:t>z</a:t>
            </a:r>
            <a:r>
              <a:rPr lang="en-US" sz="1700"/>
              <a:t>)</a:t>
            </a:r>
          </a:p>
          <a:p>
            <a:r>
              <a:rPr lang="en-US" sz="1800"/>
              <a:t>Example: remove 3</a:t>
            </a:r>
          </a:p>
          <a:p>
            <a:endParaRPr lang="en-US"/>
          </a:p>
        </p:txBody>
      </p:sp>
      <p:sp>
        <p:nvSpPr>
          <p:cNvPr id="290820" name="Oval 4"/>
          <p:cNvSpPr>
            <a:spLocks noChangeArrowheads="1"/>
          </p:cNvSpPr>
          <p:nvPr/>
        </p:nvSpPr>
        <p:spPr bwMode="auto">
          <a:xfrm flipH="1">
            <a:off x="6248400" y="1966913"/>
            <a:ext cx="320675" cy="319087"/>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3</a:t>
            </a:r>
          </a:p>
        </p:txBody>
      </p:sp>
      <p:sp>
        <p:nvSpPr>
          <p:cNvPr id="290821" name="Oval 5"/>
          <p:cNvSpPr>
            <a:spLocks noChangeArrowheads="1"/>
          </p:cNvSpPr>
          <p:nvPr/>
        </p:nvSpPr>
        <p:spPr bwMode="auto">
          <a:xfrm flipH="1">
            <a:off x="5257800" y="1584325"/>
            <a:ext cx="319088"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1</a:t>
            </a:r>
          </a:p>
        </p:txBody>
      </p:sp>
      <p:sp>
        <p:nvSpPr>
          <p:cNvPr id="290822" name="Oval 6"/>
          <p:cNvSpPr>
            <a:spLocks noChangeArrowheads="1"/>
          </p:cNvSpPr>
          <p:nvPr/>
        </p:nvSpPr>
        <p:spPr bwMode="auto">
          <a:xfrm flipH="1">
            <a:off x="7586663" y="2346325"/>
            <a:ext cx="319087"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8</a:t>
            </a:r>
          </a:p>
        </p:txBody>
      </p:sp>
      <p:sp>
        <p:nvSpPr>
          <p:cNvPr id="290823" name="Oval 7"/>
          <p:cNvSpPr>
            <a:spLocks noChangeArrowheads="1"/>
          </p:cNvSpPr>
          <p:nvPr/>
        </p:nvSpPr>
        <p:spPr bwMode="auto">
          <a:xfrm flipH="1">
            <a:off x="6997700" y="2819400"/>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6</a:t>
            </a:r>
          </a:p>
        </p:txBody>
      </p:sp>
      <p:sp>
        <p:nvSpPr>
          <p:cNvPr id="290824" name="Rectangle 8"/>
          <p:cNvSpPr>
            <a:spLocks noChangeAspect="1" noChangeArrowheads="1"/>
          </p:cNvSpPr>
          <p:nvPr/>
        </p:nvSpPr>
        <p:spPr bwMode="auto">
          <a:xfrm flipH="1">
            <a:off x="7335838" y="3367088"/>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25" name="AutoShape 9"/>
          <p:cNvCxnSpPr>
            <a:cxnSpLocks noChangeShapeType="1"/>
            <a:stCxn id="290820" idx="3"/>
            <a:endCxn id="290822" idx="7"/>
          </p:cNvCxnSpPr>
          <p:nvPr/>
        </p:nvCxnSpPr>
        <p:spPr bwMode="auto">
          <a:xfrm>
            <a:off x="6521450" y="2266950"/>
            <a:ext cx="1112838" cy="96838"/>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26" name="AutoShape 10"/>
          <p:cNvCxnSpPr>
            <a:cxnSpLocks noChangeShapeType="1"/>
            <a:stCxn id="290821" idx="3"/>
            <a:endCxn id="290820" idx="7"/>
          </p:cNvCxnSpPr>
          <p:nvPr/>
        </p:nvCxnSpPr>
        <p:spPr bwMode="auto">
          <a:xfrm>
            <a:off x="5530850" y="1885950"/>
            <a:ext cx="763588" cy="98425"/>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27" name="AutoShape 11"/>
          <p:cNvCxnSpPr>
            <a:cxnSpLocks noChangeShapeType="1"/>
            <a:stCxn id="290850" idx="0"/>
            <a:endCxn id="290821" idx="5"/>
          </p:cNvCxnSpPr>
          <p:nvPr/>
        </p:nvCxnSpPr>
        <p:spPr bwMode="auto">
          <a:xfrm flipV="1">
            <a:off x="4840288" y="1885950"/>
            <a:ext cx="465137" cy="11588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28" name="AutoShape 12"/>
          <p:cNvCxnSpPr>
            <a:cxnSpLocks noChangeShapeType="1"/>
            <a:stCxn id="290837" idx="1"/>
            <a:endCxn id="290823" idx="5"/>
          </p:cNvCxnSpPr>
          <p:nvPr/>
        </p:nvCxnSpPr>
        <p:spPr bwMode="auto">
          <a:xfrm flipV="1">
            <a:off x="6846888" y="3121025"/>
            <a:ext cx="196850" cy="204788"/>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29" name="AutoShape 13"/>
          <p:cNvCxnSpPr>
            <a:cxnSpLocks noChangeShapeType="1"/>
            <a:stCxn id="290824" idx="0"/>
            <a:endCxn id="290823" idx="3"/>
          </p:cNvCxnSpPr>
          <p:nvPr/>
        </p:nvCxnSpPr>
        <p:spPr bwMode="auto">
          <a:xfrm flipH="1" flipV="1">
            <a:off x="7270750" y="3121025"/>
            <a:ext cx="180975" cy="23653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30" name="AutoShape 14"/>
          <p:cNvCxnSpPr>
            <a:cxnSpLocks noChangeShapeType="1"/>
            <a:stCxn id="290832" idx="7"/>
            <a:endCxn id="290822" idx="3"/>
          </p:cNvCxnSpPr>
          <p:nvPr/>
        </p:nvCxnSpPr>
        <p:spPr bwMode="auto">
          <a:xfrm flipH="1" flipV="1">
            <a:off x="7859713" y="2647950"/>
            <a:ext cx="361950" cy="2079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31" name="AutoShape 15"/>
          <p:cNvCxnSpPr>
            <a:cxnSpLocks noChangeShapeType="1"/>
            <a:stCxn id="290823" idx="1"/>
            <a:endCxn id="290822" idx="5"/>
          </p:cNvCxnSpPr>
          <p:nvPr/>
        </p:nvCxnSpPr>
        <p:spPr bwMode="auto">
          <a:xfrm flipV="1">
            <a:off x="7270750" y="2647950"/>
            <a:ext cx="363538" cy="188913"/>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32" name="Oval 16"/>
          <p:cNvSpPr>
            <a:spLocks noChangeArrowheads="1"/>
          </p:cNvSpPr>
          <p:nvPr/>
        </p:nvSpPr>
        <p:spPr bwMode="auto">
          <a:xfrm flipH="1">
            <a:off x="8174038" y="2819400"/>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9</a:t>
            </a:r>
          </a:p>
        </p:txBody>
      </p:sp>
      <p:sp>
        <p:nvSpPr>
          <p:cNvPr id="290833" name="Rectangle 17"/>
          <p:cNvSpPr>
            <a:spLocks noChangeAspect="1" noChangeArrowheads="1"/>
          </p:cNvSpPr>
          <p:nvPr/>
        </p:nvSpPr>
        <p:spPr bwMode="auto">
          <a:xfrm flipH="1">
            <a:off x="8512175" y="336708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90834" name="Rectangle 18"/>
          <p:cNvSpPr>
            <a:spLocks noChangeAspect="1" noChangeArrowheads="1"/>
          </p:cNvSpPr>
          <p:nvPr/>
        </p:nvSpPr>
        <p:spPr bwMode="auto">
          <a:xfrm flipH="1">
            <a:off x="7924800" y="336708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35" name="AutoShape 19"/>
          <p:cNvCxnSpPr>
            <a:cxnSpLocks noChangeShapeType="1"/>
            <a:stCxn id="290834" idx="0"/>
            <a:endCxn id="290832" idx="5"/>
          </p:cNvCxnSpPr>
          <p:nvPr/>
        </p:nvCxnSpPr>
        <p:spPr bwMode="auto">
          <a:xfrm flipV="1">
            <a:off x="8040688" y="3101975"/>
            <a:ext cx="180975" cy="25558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36" name="AutoShape 20"/>
          <p:cNvCxnSpPr>
            <a:cxnSpLocks noChangeShapeType="1"/>
            <a:stCxn id="290833" idx="0"/>
            <a:endCxn id="290832" idx="3"/>
          </p:cNvCxnSpPr>
          <p:nvPr/>
        </p:nvCxnSpPr>
        <p:spPr bwMode="auto">
          <a:xfrm flipH="1" flipV="1">
            <a:off x="8447088" y="3101975"/>
            <a:ext cx="180975" cy="25558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37" name="Oval 21"/>
          <p:cNvSpPr>
            <a:spLocks noChangeArrowheads="1"/>
          </p:cNvSpPr>
          <p:nvPr/>
        </p:nvSpPr>
        <p:spPr bwMode="auto">
          <a:xfrm flipH="1">
            <a:off x="6573838" y="3308350"/>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5</a:t>
            </a:r>
          </a:p>
        </p:txBody>
      </p:sp>
      <p:sp>
        <p:nvSpPr>
          <p:cNvPr id="290838" name="Rectangle 22"/>
          <p:cNvSpPr>
            <a:spLocks noChangeAspect="1" noChangeArrowheads="1"/>
          </p:cNvSpPr>
          <p:nvPr/>
        </p:nvSpPr>
        <p:spPr bwMode="auto">
          <a:xfrm flipH="1">
            <a:off x="6911975" y="3884613"/>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90839" name="Rectangle 23"/>
          <p:cNvSpPr>
            <a:spLocks noChangeAspect="1" noChangeArrowheads="1"/>
          </p:cNvSpPr>
          <p:nvPr/>
        </p:nvSpPr>
        <p:spPr bwMode="auto">
          <a:xfrm flipH="1">
            <a:off x="6324600" y="3884613"/>
            <a:ext cx="231775" cy="230187"/>
          </a:xfrm>
          <a:prstGeom prst="rect">
            <a:avLst/>
          </a:prstGeom>
          <a:solidFill>
            <a:schemeClr val="folHlink"/>
          </a:solidFill>
          <a:ln w="571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40" name="AutoShape 24"/>
          <p:cNvCxnSpPr>
            <a:cxnSpLocks noChangeShapeType="1"/>
            <a:stCxn id="290839" idx="0"/>
            <a:endCxn id="290837" idx="5"/>
          </p:cNvCxnSpPr>
          <p:nvPr/>
        </p:nvCxnSpPr>
        <p:spPr bwMode="auto">
          <a:xfrm flipV="1">
            <a:off x="6440488" y="3609975"/>
            <a:ext cx="179387" cy="246063"/>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41" name="AutoShape 25"/>
          <p:cNvCxnSpPr>
            <a:cxnSpLocks noChangeShapeType="1"/>
            <a:stCxn id="290838" idx="0"/>
            <a:endCxn id="290837" idx="3"/>
          </p:cNvCxnSpPr>
          <p:nvPr/>
        </p:nvCxnSpPr>
        <p:spPr bwMode="auto">
          <a:xfrm flipH="1" flipV="1">
            <a:off x="6846888" y="3609975"/>
            <a:ext cx="180975" cy="26511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42" name="Text Box 26"/>
          <p:cNvSpPr txBox="1">
            <a:spLocks noChangeArrowheads="1"/>
          </p:cNvSpPr>
          <p:nvPr/>
        </p:nvSpPr>
        <p:spPr bwMode="auto">
          <a:xfrm flipH="1">
            <a:off x="6477000" y="1676400"/>
            <a:ext cx="296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b="1" i="1">
                <a:solidFill>
                  <a:schemeClr val="tx2"/>
                </a:solidFill>
                <a:latin typeface="Times New Roman" pitchFamily="18" charset="0"/>
                <a:sym typeface="Symbol" pitchFamily="18" charset="2"/>
              </a:rPr>
              <a:t>v</a:t>
            </a:r>
          </a:p>
        </p:txBody>
      </p:sp>
      <p:sp>
        <p:nvSpPr>
          <p:cNvPr id="290843" name="Text Box 27"/>
          <p:cNvSpPr txBox="1">
            <a:spLocks noChangeArrowheads="1"/>
          </p:cNvSpPr>
          <p:nvPr/>
        </p:nvSpPr>
        <p:spPr bwMode="auto">
          <a:xfrm flipH="1">
            <a:off x="6286500" y="3073400"/>
            <a:ext cx="35401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b="1" i="1">
                <a:solidFill>
                  <a:schemeClr val="tx2"/>
                </a:solidFill>
                <a:latin typeface="Times New Roman" pitchFamily="18" charset="0"/>
                <a:sym typeface="Symbol" pitchFamily="18" charset="2"/>
              </a:rPr>
              <a:t>w</a:t>
            </a:r>
          </a:p>
        </p:txBody>
      </p:sp>
      <p:sp>
        <p:nvSpPr>
          <p:cNvPr id="290844" name="Text Box 28"/>
          <p:cNvSpPr txBox="1">
            <a:spLocks noChangeArrowheads="1"/>
          </p:cNvSpPr>
          <p:nvPr/>
        </p:nvSpPr>
        <p:spPr bwMode="auto">
          <a:xfrm flipH="1">
            <a:off x="6032500" y="3581400"/>
            <a:ext cx="28257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b="1" i="1">
                <a:solidFill>
                  <a:schemeClr val="tx2"/>
                </a:solidFill>
                <a:latin typeface="Times New Roman" pitchFamily="18" charset="0"/>
                <a:sym typeface="Symbol" pitchFamily="18" charset="2"/>
              </a:rPr>
              <a:t>z</a:t>
            </a:r>
          </a:p>
        </p:txBody>
      </p:sp>
      <p:sp>
        <p:nvSpPr>
          <p:cNvPr id="290845" name="Oval 29"/>
          <p:cNvSpPr>
            <a:spLocks noChangeArrowheads="1"/>
          </p:cNvSpPr>
          <p:nvPr/>
        </p:nvSpPr>
        <p:spPr bwMode="auto">
          <a:xfrm flipH="1">
            <a:off x="5486400" y="2346325"/>
            <a:ext cx="319088"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2</a:t>
            </a:r>
          </a:p>
        </p:txBody>
      </p:sp>
      <p:sp>
        <p:nvSpPr>
          <p:cNvPr id="290846" name="Rectangle 30"/>
          <p:cNvSpPr>
            <a:spLocks noChangeAspect="1" noChangeArrowheads="1"/>
          </p:cNvSpPr>
          <p:nvPr/>
        </p:nvSpPr>
        <p:spPr bwMode="auto">
          <a:xfrm flipH="1">
            <a:off x="5859463" y="2863850"/>
            <a:ext cx="230187" cy="2301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90847" name="Rectangle 31"/>
          <p:cNvSpPr>
            <a:spLocks noChangeAspect="1" noChangeArrowheads="1"/>
          </p:cNvSpPr>
          <p:nvPr/>
        </p:nvSpPr>
        <p:spPr bwMode="auto">
          <a:xfrm flipH="1">
            <a:off x="5202238" y="2863850"/>
            <a:ext cx="230187" cy="2301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48" name="AutoShape 32"/>
          <p:cNvCxnSpPr>
            <a:cxnSpLocks noChangeShapeType="1"/>
            <a:stCxn id="290847" idx="0"/>
            <a:endCxn id="290845" idx="5"/>
          </p:cNvCxnSpPr>
          <p:nvPr/>
        </p:nvCxnSpPr>
        <p:spPr bwMode="auto">
          <a:xfrm flipV="1">
            <a:off x="5318125" y="2647950"/>
            <a:ext cx="215900" cy="2063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49" name="AutoShape 33"/>
          <p:cNvCxnSpPr>
            <a:cxnSpLocks noChangeShapeType="1"/>
            <a:stCxn id="290846" idx="0"/>
            <a:endCxn id="290845" idx="3"/>
          </p:cNvCxnSpPr>
          <p:nvPr/>
        </p:nvCxnSpPr>
        <p:spPr bwMode="auto">
          <a:xfrm flipH="1" flipV="1">
            <a:off x="5759450" y="2647950"/>
            <a:ext cx="215900" cy="2063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50" name="Rectangle 34"/>
          <p:cNvSpPr>
            <a:spLocks noChangeAspect="1" noChangeArrowheads="1"/>
          </p:cNvSpPr>
          <p:nvPr/>
        </p:nvSpPr>
        <p:spPr bwMode="auto">
          <a:xfrm flipH="1">
            <a:off x="4724400" y="2011363"/>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51" name="AutoShape 35"/>
          <p:cNvCxnSpPr>
            <a:cxnSpLocks noChangeShapeType="1"/>
            <a:stCxn id="290845" idx="1"/>
            <a:endCxn id="290820" idx="5"/>
          </p:cNvCxnSpPr>
          <p:nvPr/>
        </p:nvCxnSpPr>
        <p:spPr bwMode="auto">
          <a:xfrm flipV="1">
            <a:off x="5759450" y="2266950"/>
            <a:ext cx="534988" cy="96838"/>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52" name="Oval 36"/>
          <p:cNvSpPr>
            <a:spLocks noChangeArrowheads="1"/>
          </p:cNvSpPr>
          <p:nvPr/>
        </p:nvSpPr>
        <p:spPr bwMode="auto">
          <a:xfrm flipH="1">
            <a:off x="6324600" y="4725988"/>
            <a:ext cx="320675" cy="319087"/>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5</a:t>
            </a:r>
          </a:p>
        </p:txBody>
      </p:sp>
      <p:sp>
        <p:nvSpPr>
          <p:cNvPr id="290853" name="Oval 37"/>
          <p:cNvSpPr>
            <a:spLocks noChangeArrowheads="1"/>
          </p:cNvSpPr>
          <p:nvPr/>
        </p:nvSpPr>
        <p:spPr bwMode="auto">
          <a:xfrm flipH="1">
            <a:off x="5334000" y="4343400"/>
            <a:ext cx="319088"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solidFill>
                  <a:schemeClr val="tx2"/>
                </a:solidFill>
                <a:latin typeface="Times New Roman" pitchFamily="18" charset="0"/>
                <a:sym typeface="Symbol" pitchFamily="18" charset="2"/>
              </a:rPr>
              <a:t>1</a:t>
            </a:r>
          </a:p>
        </p:txBody>
      </p:sp>
      <p:sp>
        <p:nvSpPr>
          <p:cNvPr id="290854" name="Oval 38"/>
          <p:cNvSpPr>
            <a:spLocks noChangeArrowheads="1"/>
          </p:cNvSpPr>
          <p:nvPr/>
        </p:nvSpPr>
        <p:spPr bwMode="auto">
          <a:xfrm flipH="1">
            <a:off x="7662863" y="5075238"/>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8</a:t>
            </a:r>
          </a:p>
        </p:txBody>
      </p:sp>
      <p:sp>
        <p:nvSpPr>
          <p:cNvPr id="290855" name="Oval 39"/>
          <p:cNvSpPr>
            <a:spLocks noChangeArrowheads="1"/>
          </p:cNvSpPr>
          <p:nvPr/>
        </p:nvSpPr>
        <p:spPr bwMode="auto">
          <a:xfrm flipH="1">
            <a:off x="7073900" y="5548313"/>
            <a:ext cx="320675" cy="320675"/>
          </a:xfrm>
          <a:prstGeom prst="ellipse">
            <a:avLst/>
          </a:prstGeom>
          <a:solidFill>
            <a:schemeClr val="accent1"/>
          </a:solidFill>
          <a:ln w="571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6</a:t>
            </a:r>
          </a:p>
        </p:txBody>
      </p:sp>
      <p:sp>
        <p:nvSpPr>
          <p:cNvPr id="290856" name="Rectangle 40"/>
          <p:cNvSpPr>
            <a:spLocks noChangeAspect="1" noChangeArrowheads="1"/>
          </p:cNvSpPr>
          <p:nvPr/>
        </p:nvSpPr>
        <p:spPr bwMode="auto">
          <a:xfrm flipH="1">
            <a:off x="7412038" y="6096000"/>
            <a:ext cx="230187" cy="2301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57" name="AutoShape 41"/>
          <p:cNvCxnSpPr>
            <a:cxnSpLocks noChangeShapeType="1"/>
            <a:stCxn id="290852" idx="3"/>
            <a:endCxn id="290854" idx="7"/>
          </p:cNvCxnSpPr>
          <p:nvPr/>
        </p:nvCxnSpPr>
        <p:spPr bwMode="auto">
          <a:xfrm>
            <a:off x="6597650" y="5026025"/>
            <a:ext cx="1112838" cy="857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58" name="AutoShape 42"/>
          <p:cNvCxnSpPr>
            <a:cxnSpLocks noChangeShapeType="1"/>
            <a:stCxn id="290853" idx="3"/>
            <a:endCxn id="290852" idx="7"/>
          </p:cNvCxnSpPr>
          <p:nvPr/>
        </p:nvCxnSpPr>
        <p:spPr bwMode="auto">
          <a:xfrm>
            <a:off x="5607050" y="4625975"/>
            <a:ext cx="763588" cy="11747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59" name="AutoShape 43"/>
          <p:cNvCxnSpPr>
            <a:cxnSpLocks noChangeShapeType="1"/>
            <a:stCxn id="290876" idx="0"/>
            <a:endCxn id="290853" idx="5"/>
          </p:cNvCxnSpPr>
          <p:nvPr/>
        </p:nvCxnSpPr>
        <p:spPr bwMode="auto">
          <a:xfrm flipV="1">
            <a:off x="4916488" y="4625975"/>
            <a:ext cx="465137" cy="13493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60" name="AutoShape 44"/>
          <p:cNvCxnSpPr>
            <a:cxnSpLocks noChangeShapeType="1"/>
            <a:stCxn id="290869" idx="0"/>
            <a:endCxn id="290855" idx="5"/>
          </p:cNvCxnSpPr>
          <p:nvPr/>
        </p:nvCxnSpPr>
        <p:spPr bwMode="auto">
          <a:xfrm flipV="1">
            <a:off x="6875463" y="5849938"/>
            <a:ext cx="244475" cy="223837"/>
          </a:xfrm>
          <a:prstGeom prst="straightConnector1">
            <a:avLst/>
          </a:prstGeom>
          <a:noFill/>
          <a:ln w="571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61" name="AutoShape 45"/>
          <p:cNvCxnSpPr>
            <a:cxnSpLocks noChangeShapeType="1"/>
            <a:stCxn id="290856" idx="0"/>
            <a:endCxn id="290855" idx="3"/>
          </p:cNvCxnSpPr>
          <p:nvPr/>
        </p:nvCxnSpPr>
        <p:spPr bwMode="auto">
          <a:xfrm flipH="1" flipV="1">
            <a:off x="7346950" y="5849938"/>
            <a:ext cx="180975" cy="23653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62" name="AutoShape 46"/>
          <p:cNvCxnSpPr>
            <a:cxnSpLocks noChangeShapeType="1"/>
            <a:stCxn id="290864" idx="7"/>
            <a:endCxn id="290854" idx="3"/>
          </p:cNvCxnSpPr>
          <p:nvPr/>
        </p:nvCxnSpPr>
        <p:spPr bwMode="auto">
          <a:xfrm flipH="1" flipV="1">
            <a:off x="7935913" y="5357813"/>
            <a:ext cx="361950" cy="22701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63" name="AutoShape 47"/>
          <p:cNvCxnSpPr>
            <a:cxnSpLocks noChangeShapeType="1"/>
            <a:stCxn id="290855" idx="1"/>
            <a:endCxn id="290854" idx="5"/>
          </p:cNvCxnSpPr>
          <p:nvPr/>
        </p:nvCxnSpPr>
        <p:spPr bwMode="auto">
          <a:xfrm flipV="1">
            <a:off x="7346950" y="5357813"/>
            <a:ext cx="363538" cy="20796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64" name="Oval 48"/>
          <p:cNvSpPr>
            <a:spLocks noChangeArrowheads="1"/>
          </p:cNvSpPr>
          <p:nvPr/>
        </p:nvSpPr>
        <p:spPr bwMode="auto">
          <a:xfrm flipH="1">
            <a:off x="8250238" y="5548313"/>
            <a:ext cx="319087"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9</a:t>
            </a:r>
          </a:p>
        </p:txBody>
      </p:sp>
      <p:sp>
        <p:nvSpPr>
          <p:cNvPr id="290865" name="Rectangle 49"/>
          <p:cNvSpPr>
            <a:spLocks noChangeAspect="1" noChangeArrowheads="1"/>
          </p:cNvSpPr>
          <p:nvPr/>
        </p:nvSpPr>
        <p:spPr bwMode="auto">
          <a:xfrm flipH="1">
            <a:off x="8588375" y="6096000"/>
            <a:ext cx="230188" cy="2301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90866" name="Rectangle 50"/>
          <p:cNvSpPr>
            <a:spLocks noChangeAspect="1" noChangeArrowheads="1"/>
          </p:cNvSpPr>
          <p:nvPr/>
        </p:nvSpPr>
        <p:spPr bwMode="auto">
          <a:xfrm flipH="1">
            <a:off x="8001000" y="6096000"/>
            <a:ext cx="230188" cy="2301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67" name="AutoShape 51"/>
          <p:cNvCxnSpPr>
            <a:cxnSpLocks noChangeShapeType="1"/>
            <a:stCxn id="290866" idx="0"/>
            <a:endCxn id="290864" idx="5"/>
          </p:cNvCxnSpPr>
          <p:nvPr/>
        </p:nvCxnSpPr>
        <p:spPr bwMode="auto">
          <a:xfrm flipV="1">
            <a:off x="8116888" y="5830888"/>
            <a:ext cx="180975" cy="25558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68" name="AutoShape 52"/>
          <p:cNvCxnSpPr>
            <a:cxnSpLocks noChangeShapeType="1"/>
            <a:stCxn id="290865" idx="0"/>
            <a:endCxn id="290864" idx="3"/>
          </p:cNvCxnSpPr>
          <p:nvPr/>
        </p:nvCxnSpPr>
        <p:spPr bwMode="auto">
          <a:xfrm flipH="1" flipV="1">
            <a:off x="8523288" y="5830888"/>
            <a:ext cx="180975" cy="25558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69" name="Rectangle 53"/>
          <p:cNvSpPr>
            <a:spLocks noChangeAspect="1" noChangeArrowheads="1"/>
          </p:cNvSpPr>
          <p:nvPr/>
        </p:nvSpPr>
        <p:spPr bwMode="auto">
          <a:xfrm flipH="1">
            <a:off x="6759575" y="6102350"/>
            <a:ext cx="231775" cy="230188"/>
          </a:xfrm>
          <a:prstGeom prst="rect">
            <a:avLst/>
          </a:prstGeom>
          <a:solidFill>
            <a:schemeClr val="folHlink"/>
          </a:solidFill>
          <a:ln w="57150">
            <a:solidFill>
              <a:schemeClr val="tx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90870" name="Text Box 54"/>
          <p:cNvSpPr txBox="1">
            <a:spLocks noChangeArrowheads="1"/>
          </p:cNvSpPr>
          <p:nvPr/>
        </p:nvSpPr>
        <p:spPr bwMode="auto">
          <a:xfrm flipH="1">
            <a:off x="6553200" y="4419600"/>
            <a:ext cx="296863"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sz="2000" b="1" i="1">
                <a:solidFill>
                  <a:schemeClr val="tx2"/>
                </a:solidFill>
                <a:latin typeface="Times New Roman" pitchFamily="18" charset="0"/>
                <a:sym typeface="Symbol" pitchFamily="18" charset="2"/>
              </a:rPr>
              <a:t>v</a:t>
            </a:r>
          </a:p>
        </p:txBody>
      </p:sp>
      <p:sp>
        <p:nvSpPr>
          <p:cNvPr id="290871" name="Oval 55"/>
          <p:cNvSpPr>
            <a:spLocks noChangeArrowheads="1"/>
          </p:cNvSpPr>
          <p:nvPr/>
        </p:nvSpPr>
        <p:spPr bwMode="auto">
          <a:xfrm flipH="1">
            <a:off x="5562600" y="5075238"/>
            <a:ext cx="319088" cy="320675"/>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a:latin typeface="Times New Roman" pitchFamily="18" charset="0"/>
                <a:sym typeface="Symbol" pitchFamily="18" charset="2"/>
              </a:rPr>
              <a:t>2</a:t>
            </a:r>
          </a:p>
        </p:txBody>
      </p:sp>
      <p:sp>
        <p:nvSpPr>
          <p:cNvPr id="290872" name="Rectangle 56"/>
          <p:cNvSpPr>
            <a:spLocks noChangeAspect="1" noChangeArrowheads="1"/>
          </p:cNvSpPr>
          <p:nvPr/>
        </p:nvSpPr>
        <p:spPr bwMode="auto">
          <a:xfrm flipH="1">
            <a:off x="5935663" y="5592763"/>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90873" name="Rectangle 57"/>
          <p:cNvSpPr>
            <a:spLocks noChangeAspect="1" noChangeArrowheads="1"/>
          </p:cNvSpPr>
          <p:nvPr/>
        </p:nvSpPr>
        <p:spPr bwMode="auto">
          <a:xfrm flipH="1">
            <a:off x="5278438" y="5592763"/>
            <a:ext cx="230187"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74" name="AutoShape 58"/>
          <p:cNvCxnSpPr>
            <a:cxnSpLocks noChangeShapeType="1"/>
            <a:stCxn id="290873" idx="0"/>
            <a:endCxn id="290871" idx="5"/>
          </p:cNvCxnSpPr>
          <p:nvPr/>
        </p:nvCxnSpPr>
        <p:spPr bwMode="auto">
          <a:xfrm flipV="1">
            <a:off x="5394325" y="5357813"/>
            <a:ext cx="215900" cy="2254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0875" name="AutoShape 59"/>
          <p:cNvCxnSpPr>
            <a:cxnSpLocks noChangeShapeType="1"/>
            <a:stCxn id="290872" idx="0"/>
            <a:endCxn id="290871" idx="3"/>
          </p:cNvCxnSpPr>
          <p:nvPr/>
        </p:nvCxnSpPr>
        <p:spPr bwMode="auto">
          <a:xfrm flipH="1" flipV="1">
            <a:off x="5835650" y="5357813"/>
            <a:ext cx="215900" cy="2254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76" name="Rectangle 60"/>
          <p:cNvSpPr>
            <a:spLocks noChangeAspect="1" noChangeArrowheads="1"/>
          </p:cNvSpPr>
          <p:nvPr/>
        </p:nvSpPr>
        <p:spPr bwMode="auto">
          <a:xfrm flipH="1">
            <a:off x="4800600" y="4770438"/>
            <a:ext cx="230188" cy="2301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cxnSp>
        <p:nvCxnSpPr>
          <p:cNvPr id="290877" name="AutoShape 61"/>
          <p:cNvCxnSpPr>
            <a:cxnSpLocks noChangeShapeType="1"/>
            <a:stCxn id="290871" idx="1"/>
            <a:endCxn id="290852" idx="5"/>
          </p:cNvCxnSpPr>
          <p:nvPr/>
        </p:nvCxnSpPr>
        <p:spPr bwMode="auto">
          <a:xfrm flipV="1">
            <a:off x="5835650" y="5026025"/>
            <a:ext cx="534988" cy="8572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0878" name="AutoShape 62"/>
          <p:cNvSpPr>
            <a:spLocks noChangeArrowheads="1"/>
          </p:cNvSpPr>
          <p:nvPr/>
        </p:nvSpPr>
        <p:spPr bwMode="auto">
          <a:xfrm rot="18050680" flipH="1">
            <a:off x="5938044" y="3299619"/>
            <a:ext cx="1103312" cy="736600"/>
          </a:xfrm>
          <a:prstGeom prst="roundRect">
            <a:avLst>
              <a:gd name="adj" fmla="val 29167"/>
            </a:avLst>
          </a:prstGeom>
          <a:noFill/>
          <a:ln w="12700">
            <a:solidFill>
              <a:schemeClr val="tx2"/>
            </a:solidFill>
            <a:prstDash val="lg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Footer Placeholder 4"/>
          <p:cNvSpPr>
            <a:spLocks noGrp="1"/>
          </p:cNvSpPr>
          <p:nvPr>
            <p:ph type="ftr" sz="quarter" idx="11"/>
          </p:nvPr>
        </p:nvSpPr>
        <p:spPr/>
        <p:txBody>
          <a:bodyPr/>
          <a:lstStyle/>
          <a:p>
            <a:r>
              <a:rPr lang="en-US"/>
              <a:t>Data Structures and Algorithms</a:t>
            </a:r>
          </a:p>
        </p:txBody>
      </p:sp>
      <p:sp>
        <p:nvSpPr>
          <p:cNvPr id="61" name="Slide Number Placeholder 5"/>
          <p:cNvSpPr>
            <a:spLocks noGrp="1"/>
          </p:cNvSpPr>
          <p:nvPr>
            <p:ph type="sldNum" sz="quarter" idx="12"/>
          </p:nvPr>
        </p:nvSpPr>
        <p:spPr/>
        <p:txBody>
          <a:bodyPr/>
          <a:lstStyle/>
          <a:p>
            <a:fld id="{CA6D779F-2BF7-4AB7-AF5C-401C75AB96B4}" type="slidenum">
              <a:rPr lang="en-US"/>
              <a:pPr/>
              <a:t>23</a:t>
            </a:fld>
            <a:endParaRPr lang="en-US"/>
          </a:p>
        </p:txBody>
      </p:sp>
      <p:sp>
        <p:nvSpPr>
          <p:cNvPr id="291842" name="Rectangle 2"/>
          <p:cNvSpPr>
            <a:spLocks noGrp="1" noChangeArrowheads="1"/>
          </p:cNvSpPr>
          <p:nvPr>
            <p:ph type="title"/>
          </p:nvPr>
        </p:nvSpPr>
        <p:spPr/>
        <p:txBody>
          <a:bodyPr/>
          <a:lstStyle/>
          <a:p>
            <a:r>
              <a:rPr lang="en-US"/>
              <a:t>Performance</a:t>
            </a:r>
            <a:endParaRPr lang="en-US" sz="3200"/>
          </a:p>
        </p:txBody>
      </p:sp>
      <p:sp>
        <p:nvSpPr>
          <p:cNvPr id="291843" name="Rectangle 3"/>
          <p:cNvSpPr>
            <a:spLocks noGrp="1" noChangeArrowheads="1"/>
          </p:cNvSpPr>
          <p:nvPr>
            <p:ph type="body" idx="1"/>
          </p:nvPr>
        </p:nvSpPr>
        <p:spPr>
          <a:xfrm>
            <a:off x="838200" y="1676400"/>
            <a:ext cx="3733800" cy="4572000"/>
          </a:xfrm>
        </p:spPr>
        <p:txBody>
          <a:bodyPr/>
          <a:lstStyle/>
          <a:p>
            <a:pPr>
              <a:lnSpc>
                <a:spcPct val="90000"/>
              </a:lnSpc>
            </a:pPr>
            <a:r>
              <a:rPr lang="en-US" sz="2000"/>
              <a:t>Consider a dictionary with </a:t>
            </a:r>
            <a:r>
              <a:rPr lang="en-US" sz="2000" b="1" i="1"/>
              <a:t>n</a:t>
            </a:r>
            <a:r>
              <a:rPr lang="en-US" sz="2000"/>
              <a:t> items implemented by means of a binary search tree of height </a:t>
            </a:r>
            <a:r>
              <a:rPr lang="en-US" sz="2000" b="1" i="1"/>
              <a:t>h</a:t>
            </a:r>
            <a:endParaRPr lang="en-US" sz="2000"/>
          </a:p>
          <a:p>
            <a:pPr lvl="1">
              <a:lnSpc>
                <a:spcPct val="90000"/>
              </a:lnSpc>
            </a:pPr>
            <a:r>
              <a:rPr lang="en-US" sz="2000"/>
              <a:t>the space used is </a:t>
            </a:r>
            <a:r>
              <a:rPr lang="en-US" sz="2000" b="1" i="1"/>
              <a:t>O</a:t>
            </a:r>
            <a:r>
              <a:rPr lang="en-US" sz="2000"/>
              <a:t>(</a:t>
            </a:r>
            <a:r>
              <a:rPr lang="en-US" sz="2000" b="1" i="1"/>
              <a:t>n</a:t>
            </a:r>
            <a:r>
              <a:rPr lang="en-US" sz="2000"/>
              <a:t>)</a:t>
            </a:r>
          </a:p>
          <a:p>
            <a:pPr lvl="1">
              <a:lnSpc>
                <a:spcPct val="90000"/>
              </a:lnSpc>
            </a:pPr>
            <a:r>
              <a:rPr lang="en-US" sz="2000"/>
              <a:t>methods </a:t>
            </a:r>
            <a:r>
              <a:rPr lang="en-US" sz="2000">
                <a:solidFill>
                  <a:schemeClr val="tx2"/>
                </a:solidFill>
              </a:rPr>
              <a:t>findElement </a:t>
            </a:r>
            <a:r>
              <a:rPr lang="en-US" sz="2000"/>
              <a:t>, </a:t>
            </a:r>
            <a:r>
              <a:rPr lang="en-US" sz="2000">
                <a:solidFill>
                  <a:schemeClr val="tx2"/>
                </a:solidFill>
              </a:rPr>
              <a:t>insertItem</a:t>
            </a:r>
            <a:r>
              <a:rPr lang="en-US" sz="2000"/>
              <a:t> and </a:t>
            </a:r>
            <a:r>
              <a:rPr lang="en-US" sz="2000">
                <a:solidFill>
                  <a:schemeClr val="tx2"/>
                </a:solidFill>
              </a:rPr>
              <a:t>removeElement</a:t>
            </a:r>
            <a:r>
              <a:rPr lang="en-US" sz="2000"/>
              <a:t> take </a:t>
            </a:r>
            <a:r>
              <a:rPr lang="en-US" sz="2000" b="1" i="1"/>
              <a:t>O</a:t>
            </a:r>
            <a:r>
              <a:rPr lang="en-US" sz="2000"/>
              <a:t>(</a:t>
            </a:r>
            <a:r>
              <a:rPr lang="en-US" sz="2000" b="1" i="1"/>
              <a:t>h</a:t>
            </a:r>
            <a:r>
              <a:rPr lang="en-US" sz="2000"/>
              <a:t>) time</a:t>
            </a:r>
          </a:p>
          <a:p>
            <a:pPr>
              <a:lnSpc>
                <a:spcPct val="90000"/>
              </a:lnSpc>
            </a:pPr>
            <a:r>
              <a:rPr lang="en-US" sz="2000"/>
              <a:t>The height </a:t>
            </a:r>
            <a:r>
              <a:rPr lang="en-US" sz="2000" b="1" i="1"/>
              <a:t>h</a:t>
            </a:r>
            <a:r>
              <a:rPr lang="en-US" sz="2000"/>
              <a:t> is </a:t>
            </a:r>
            <a:r>
              <a:rPr lang="en-US" sz="2000" b="1" i="1"/>
              <a:t>O</a:t>
            </a:r>
            <a:r>
              <a:rPr lang="en-US" sz="2000"/>
              <a:t>(</a:t>
            </a:r>
            <a:r>
              <a:rPr lang="en-US" sz="2000" b="1" i="1"/>
              <a:t>n</a:t>
            </a:r>
            <a:r>
              <a:rPr lang="en-US" sz="2000"/>
              <a:t>) in the worst case and </a:t>
            </a:r>
            <a:r>
              <a:rPr lang="en-US" sz="2000" b="1" i="1"/>
              <a:t>O</a:t>
            </a:r>
            <a:r>
              <a:rPr lang="en-US" sz="2000"/>
              <a:t>(log </a:t>
            </a:r>
            <a:r>
              <a:rPr lang="en-US" sz="2000" b="1" i="1"/>
              <a:t>n</a:t>
            </a:r>
            <a:r>
              <a:rPr lang="en-US" sz="2000"/>
              <a:t>) in the best case</a:t>
            </a:r>
          </a:p>
        </p:txBody>
      </p:sp>
      <p:grpSp>
        <p:nvGrpSpPr>
          <p:cNvPr id="291844" name="Group 4"/>
          <p:cNvGrpSpPr>
            <a:grpSpLocks/>
          </p:cNvGrpSpPr>
          <p:nvPr/>
        </p:nvGrpSpPr>
        <p:grpSpPr bwMode="auto">
          <a:xfrm>
            <a:off x="5181600" y="1676400"/>
            <a:ext cx="3067050" cy="2120900"/>
            <a:chOff x="2938" y="960"/>
            <a:chExt cx="2258" cy="1562"/>
          </a:xfrm>
        </p:grpSpPr>
        <p:sp>
          <p:nvSpPr>
            <p:cNvPr id="291845" name="Oval 5"/>
            <p:cNvSpPr>
              <a:spLocks noChangeArrowheads="1"/>
            </p:cNvSpPr>
            <p:nvPr/>
          </p:nvSpPr>
          <p:spPr bwMode="auto">
            <a:xfrm flipH="1">
              <a:off x="3120" y="960"/>
              <a:ext cx="201"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a:latin typeface="Times New Roman" pitchFamily="18" charset="0"/>
                <a:sym typeface="Symbol" pitchFamily="18" charset="2"/>
              </a:endParaRPr>
            </a:p>
          </p:txBody>
        </p:sp>
        <p:cxnSp>
          <p:nvCxnSpPr>
            <p:cNvPr id="291846" name="AutoShape 6"/>
            <p:cNvCxnSpPr>
              <a:cxnSpLocks noChangeShapeType="1"/>
              <a:stCxn id="291865" idx="3"/>
              <a:endCxn id="291862" idx="7"/>
            </p:cNvCxnSpPr>
            <p:nvPr/>
          </p:nvCxnSpPr>
          <p:spPr bwMode="auto">
            <a:xfrm>
              <a:off x="3714" y="1420"/>
              <a:ext cx="281" cy="13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47" name="AutoShape 7"/>
            <p:cNvCxnSpPr>
              <a:cxnSpLocks noChangeShapeType="1"/>
              <a:stCxn id="291845" idx="3"/>
              <a:endCxn id="291865" idx="7"/>
            </p:cNvCxnSpPr>
            <p:nvPr/>
          </p:nvCxnSpPr>
          <p:spPr bwMode="auto">
            <a:xfrm>
              <a:off x="3292" y="1138"/>
              <a:ext cx="279" cy="12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48" name="AutoShape 8"/>
            <p:cNvCxnSpPr>
              <a:cxnSpLocks noChangeShapeType="1"/>
              <a:stCxn id="291866" idx="0"/>
              <a:endCxn id="291845" idx="5"/>
            </p:cNvCxnSpPr>
            <p:nvPr/>
          </p:nvCxnSpPr>
          <p:spPr bwMode="auto">
            <a:xfrm flipV="1">
              <a:off x="3011" y="1138"/>
              <a:ext cx="139" cy="12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49" name="AutoShape 9"/>
            <p:cNvCxnSpPr>
              <a:cxnSpLocks noChangeShapeType="1"/>
              <a:stCxn id="291855" idx="7"/>
              <a:endCxn id="291869" idx="3"/>
            </p:cNvCxnSpPr>
            <p:nvPr/>
          </p:nvCxnSpPr>
          <p:spPr bwMode="auto">
            <a:xfrm flipH="1" flipV="1">
              <a:off x="4559" y="1988"/>
              <a:ext cx="281" cy="12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50" name="AutoShape 10"/>
            <p:cNvCxnSpPr>
              <a:cxnSpLocks noChangeShapeType="1"/>
              <a:stCxn id="291854" idx="0"/>
              <a:endCxn id="291869" idx="5"/>
            </p:cNvCxnSpPr>
            <p:nvPr/>
          </p:nvCxnSpPr>
          <p:spPr bwMode="auto">
            <a:xfrm flipV="1">
              <a:off x="4277" y="1988"/>
              <a:ext cx="139" cy="14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51" name="AutoShape 11"/>
            <p:cNvCxnSpPr>
              <a:cxnSpLocks noChangeShapeType="1"/>
              <a:stCxn id="291870" idx="0"/>
              <a:endCxn id="291862" idx="5"/>
            </p:cNvCxnSpPr>
            <p:nvPr/>
          </p:nvCxnSpPr>
          <p:spPr bwMode="auto">
            <a:xfrm flipV="1">
              <a:off x="3855" y="1705"/>
              <a:ext cx="140" cy="135"/>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52" name="AutoShape 12"/>
            <p:cNvCxnSpPr>
              <a:cxnSpLocks noChangeShapeType="1"/>
              <a:stCxn id="291869" idx="7"/>
              <a:endCxn id="291862" idx="3"/>
            </p:cNvCxnSpPr>
            <p:nvPr/>
          </p:nvCxnSpPr>
          <p:spPr bwMode="auto">
            <a:xfrm flipH="1" flipV="1">
              <a:off x="4137" y="1705"/>
              <a:ext cx="279" cy="12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1853" name="Group 13"/>
            <p:cNvGrpSpPr>
              <a:grpSpLocks/>
            </p:cNvGrpSpPr>
            <p:nvPr/>
          </p:nvGrpSpPr>
          <p:grpSpPr bwMode="auto">
            <a:xfrm>
              <a:off x="4204" y="2093"/>
              <a:ext cx="809" cy="202"/>
              <a:chOff x="4214" y="2496"/>
              <a:chExt cx="809" cy="202"/>
            </a:xfrm>
          </p:grpSpPr>
          <p:sp>
            <p:nvSpPr>
              <p:cNvPr id="291854" name="Rectangle 14"/>
              <p:cNvSpPr>
                <a:spLocks noChangeAspect="1" noChangeArrowheads="1"/>
              </p:cNvSpPr>
              <p:nvPr/>
            </p:nvSpPr>
            <p:spPr bwMode="auto">
              <a:xfrm flipH="1">
                <a:off x="4214" y="2544"/>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91855" name="Oval 15"/>
              <p:cNvSpPr>
                <a:spLocks noChangeArrowheads="1"/>
              </p:cNvSpPr>
              <p:nvPr/>
            </p:nvSpPr>
            <p:spPr bwMode="auto">
              <a:xfrm flipH="1">
                <a:off x="4821" y="2496"/>
                <a:ext cx="202"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a:latin typeface="Times New Roman" pitchFamily="18" charset="0"/>
                  <a:sym typeface="Symbol" pitchFamily="18" charset="2"/>
                </a:endParaRPr>
              </a:p>
            </p:txBody>
          </p:sp>
        </p:grpSp>
        <p:grpSp>
          <p:nvGrpSpPr>
            <p:cNvPr id="291856" name="Group 16"/>
            <p:cNvGrpSpPr>
              <a:grpSpLocks/>
            </p:cNvGrpSpPr>
            <p:nvPr/>
          </p:nvGrpSpPr>
          <p:grpSpPr bwMode="auto">
            <a:xfrm>
              <a:off x="4627" y="2377"/>
              <a:ext cx="569" cy="145"/>
              <a:chOff x="4637" y="2859"/>
              <a:chExt cx="569" cy="145"/>
            </a:xfrm>
          </p:grpSpPr>
          <p:sp>
            <p:nvSpPr>
              <p:cNvPr id="291857" name="Rectangle 17"/>
              <p:cNvSpPr>
                <a:spLocks noChangeAspect="1" noChangeArrowheads="1"/>
              </p:cNvSpPr>
              <p:nvPr/>
            </p:nvSpPr>
            <p:spPr bwMode="auto">
              <a:xfrm flipH="1">
                <a:off x="5061" y="2859"/>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sp>
            <p:nvSpPr>
              <p:cNvPr id="291858" name="Rectangle 18"/>
              <p:cNvSpPr>
                <a:spLocks noChangeAspect="1" noChangeArrowheads="1"/>
              </p:cNvSpPr>
              <p:nvPr/>
            </p:nvSpPr>
            <p:spPr bwMode="auto">
              <a:xfrm flipH="1">
                <a:off x="4637" y="2859"/>
                <a:ext cx="146"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grpSp>
        <p:cxnSp>
          <p:nvCxnSpPr>
            <p:cNvPr id="291859" name="AutoShape 19"/>
            <p:cNvCxnSpPr>
              <a:cxnSpLocks noChangeShapeType="1"/>
              <a:stCxn id="291858" idx="0"/>
              <a:endCxn id="291855" idx="5"/>
            </p:cNvCxnSpPr>
            <p:nvPr/>
          </p:nvCxnSpPr>
          <p:spPr bwMode="auto">
            <a:xfrm flipV="1">
              <a:off x="4700" y="2271"/>
              <a:ext cx="140" cy="10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60" name="AutoShape 20"/>
            <p:cNvCxnSpPr>
              <a:cxnSpLocks noChangeShapeType="1"/>
              <a:stCxn id="291857" idx="0"/>
              <a:endCxn id="291855" idx="3"/>
            </p:cNvCxnSpPr>
            <p:nvPr/>
          </p:nvCxnSpPr>
          <p:spPr bwMode="auto">
            <a:xfrm flipH="1" flipV="1">
              <a:off x="4983" y="2271"/>
              <a:ext cx="141" cy="10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1861" name="Group 21"/>
            <p:cNvGrpSpPr>
              <a:grpSpLocks/>
            </p:cNvGrpSpPr>
            <p:nvPr/>
          </p:nvGrpSpPr>
          <p:grpSpPr bwMode="auto">
            <a:xfrm>
              <a:off x="3359" y="1525"/>
              <a:ext cx="807" cy="204"/>
              <a:chOff x="3369" y="1920"/>
              <a:chExt cx="807" cy="204"/>
            </a:xfrm>
          </p:grpSpPr>
          <p:sp>
            <p:nvSpPr>
              <p:cNvPr id="291862" name="Oval 22"/>
              <p:cNvSpPr>
                <a:spLocks noChangeArrowheads="1"/>
              </p:cNvSpPr>
              <p:nvPr/>
            </p:nvSpPr>
            <p:spPr bwMode="auto">
              <a:xfrm flipH="1">
                <a:off x="3975" y="1922"/>
                <a:ext cx="201"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a:latin typeface="Times New Roman" pitchFamily="18" charset="0"/>
                  <a:sym typeface="Symbol" pitchFamily="18" charset="2"/>
                </a:endParaRPr>
              </a:p>
            </p:txBody>
          </p:sp>
          <p:sp>
            <p:nvSpPr>
              <p:cNvPr id="291863" name="Rectangle 23"/>
              <p:cNvSpPr>
                <a:spLocks noChangeAspect="1" noChangeArrowheads="1"/>
              </p:cNvSpPr>
              <p:nvPr/>
            </p:nvSpPr>
            <p:spPr bwMode="auto">
              <a:xfrm flipH="1">
                <a:off x="3369" y="1920"/>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grpSp>
        <p:grpSp>
          <p:nvGrpSpPr>
            <p:cNvPr id="291864" name="Group 24"/>
            <p:cNvGrpSpPr>
              <a:grpSpLocks/>
            </p:cNvGrpSpPr>
            <p:nvPr/>
          </p:nvGrpSpPr>
          <p:grpSpPr bwMode="auto">
            <a:xfrm>
              <a:off x="2938" y="1243"/>
              <a:ext cx="806" cy="201"/>
              <a:chOff x="2948" y="1683"/>
              <a:chExt cx="806" cy="201"/>
            </a:xfrm>
          </p:grpSpPr>
          <p:sp>
            <p:nvSpPr>
              <p:cNvPr id="291865" name="Oval 25"/>
              <p:cNvSpPr>
                <a:spLocks noChangeArrowheads="1"/>
              </p:cNvSpPr>
              <p:nvPr/>
            </p:nvSpPr>
            <p:spPr bwMode="auto">
              <a:xfrm flipH="1">
                <a:off x="3552" y="1683"/>
                <a:ext cx="202" cy="201"/>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a:latin typeface="Times New Roman" pitchFamily="18" charset="0"/>
                  <a:sym typeface="Symbol" pitchFamily="18" charset="2"/>
                </a:endParaRPr>
              </a:p>
            </p:txBody>
          </p:sp>
          <p:sp>
            <p:nvSpPr>
              <p:cNvPr id="291866" name="Rectangle 26"/>
              <p:cNvSpPr>
                <a:spLocks noChangeAspect="1" noChangeArrowheads="1"/>
              </p:cNvSpPr>
              <p:nvPr/>
            </p:nvSpPr>
            <p:spPr bwMode="auto">
              <a:xfrm flipH="1">
                <a:off x="2948" y="1711"/>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grpSp>
        <p:cxnSp>
          <p:nvCxnSpPr>
            <p:cNvPr id="291867" name="AutoShape 27"/>
            <p:cNvCxnSpPr>
              <a:cxnSpLocks noChangeShapeType="1"/>
              <a:stCxn id="291863" idx="0"/>
              <a:endCxn id="291865" idx="5"/>
            </p:cNvCxnSpPr>
            <p:nvPr/>
          </p:nvCxnSpPr>
          <p:spPr bwMode="auto">
            <a:xfrm flipV="1">
              <a:off x="3432" y="1420"/>
              <a:ext cx="139" cy="99"/>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291868" name="Group 28"/>
            <p:cNvGrpSpPr>
              <a:grpSpLocks/>
            </p:cNvGrpSpPr>
            <p:nvPr/>
          </p:nvGrpSpPr>
          <p:grpSpPr bwMode="auto">
            <a:xfrm>
              <a:off x="3782" y="1810"/>
              <a:ext cx="807" cy="202"/>
              <a:chOff x="3792" y="2220"/>
              <a:chExt cx="807" cy="202"/>
            </a:xfrm>
          </p:grpSpPr>
          <p:sp>
            <p:nvSpPr>
              <p:cNvPr id="291869" name="Oval 29"/>
              <p:cNvSpPr>
                <a:spLocks noChangeArrowheads="1"/>
              </p:cNvSpPr>
              <p:nvPr/>
            </p:nvSpPr>
            <p:spPr bwMode="auto">
              <a:xfrm flipH="1">
                <a:off x="4397" y="2220"/>
                <a:ext cx="202" cy="202"/>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a:latin typeface="Times New Roman" pitchFamily="18" charset="0"/>
                  <a:sym typeface="Symbol" pitchFamily="18" charset="2"/>
                </a:endParaRPr>
              </a:p>
            </p:txBody>
          </p:sp>
          <p:sp>
            <p:nvSpPr>
              <p:cNvPr id="291870" name="Rectangle 30"/>
              <p:cNvSpPr>
                <a:spLocks noChangeAspect="1" noChangeArrowheads="1"/>
              </p:cNvSpPr>
              <p:nvPr/>
            </p:nvSpPr>
            <p:spPr bwMode="auto">
              <a:xfrm flipH="1">
                <a:off x="3792" y="2256"/>
                <a:ext cx="145" cy="145"/>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a:latin typeface="Tahoma" pitchFamily="34" charset="0"/>
                </a:endParaRPr>
              </a:p>
            </p:txBody>
          </p:sp>
        </p:grpSp>
      </p:grpSp>
      <p:sp>
        <p:nvSpPr>
          <p:cNvPr id="291871" name="Oval 31"/>
          <p:cNvSpPr>
            <a:spLocks noChangeArrowheads="1"/>
          </p:cNvSpPr>
          <p:nvPr/>
        </p:nvSpPr>
        <p:spPr bwMode="auto">
          <a:xfrm>
            <a:off x="6629400" y="4191000"/>
            <a:ext cx="285750" cy="284163"/>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sz="1600">
              <a:solidFill>
                <a:schemeClr val="tx2"/>
              </a:solidFill>
              <a:latin typeface="Times New Roman" pitchFamily="18" charset="0"/>
              <a:sym typeface="Symbol" pitchFamily="18" charset="2"/>
            </a:endParaRPr>
          </a:p>
        </p:txBody>
      </p:sp>
      <p:cxnSp>
        <p:nvCxnSpPr>
          <p:cNvPr id="291872" name="AutoShape 32"/>
          <p:cNvCxnSpPr>
            <a:cxnSpLocks noChangeShapeType="1"/>
            <a:stCxn id="291871" idx="3"/>
            <a:endCxn id="291874" idx="7"/>
          </p:cNvCxnSpPr>
          <p:nvPr/>
        </p:nvCxnSpPr>
        <p:spPr bwMode="auto">
          <a:xfrm flipH="1">
            <a:off x="5813425" y="4443413"/>
            <a:ext cx="857250" cy="234950"/>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73" name="AutoShape 33"/>
          <p:cNvCxnSpPr>
            <a:cxnSpLocks noChangeShapeType="1"/>
            <a:stCxn id="291887" idx="1"/>
            <a:endCxn id="291871" idx="5"/>
          </p:cNvCxnSpPr>
          <p:nvPr/>
        </p:nvCxnSpPr>
        <p:spPr bwMode="auto">
          <a:xfrm flipH="1" flipV="1">
            <a:off x="6873875" y="4443413"/>
            <a:ext cx="857250" cy="23653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1874" name="Oval 34"/>
          <p:cNvSpPr>
            <a:spLocks noChangeArrowheads="1"/>
          </p:cNvSpPr>
          <p:nvPr/>
        </p:nvSpPr>
        <p:spPr bwMode="auto">
          <a:xfrm>
            <a:off x="5570538" y="4646613"/>
            <a:ext cx="284162" cy="28575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sz="1600">
              <a:latin typeface="Times New Roman" pitchFamily="18" charset="0"/>
              <a:sym typeface="Symbol" pitchFamily="18" charset="2"/>
            </a:endParaRPr>
          </a:p>
        </p:txBody>
      </p:sp>
      <p:sp>
        <p:nvSpPr>
          <p:cNvPr id="291875" name="Oval 35"/>
          <p:cNvSpPr>
            <a:spLocks noChangeArrowheads="1"/>
          </p:cNvSpPr>
          <p:nvPr/>
        </p:nvSpPr>
        <p:spPr bwMode="auto">
          <a:xfrm>
            <a:off x="6092825" y="5102225"/>
            <a:ext cx="285750" cy="28575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sz="1600">
              <a:latin typeface="Times New Roman" pitchFamily="18" charset="0"/>
              <a:sym typeface="Symbol" pitchFamily="18" charset="2"/>
            </a:endParaRPr>
          </a:p>
        </p:txBody>
      </p:sp>
      <p:sp>
        <p:nvSpPr>
          <p:cNvPr id="291876" name="Rectangle 36"/>
          <p:cNvSpPr>
            <a:spLocks noChangeAspect="1" noChangeArrowheads="1"/>
          </p:cNvSpPr>
          <p:nvPr/>
        </p:nvSpPr>
        <p:spPr bwMode="auto">
          <a:xfrm>
            <a:off x="5873750" y="5614988"/>
            <a:ext cx="204788" cy="2047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sp>
        <p:nvSpPr>
          <p:cNvPr id="291877" name="Rectangle 37"/>
          <p:cNvSpPr>
            <a:spLocks noChangeAspect="1" noChangeArrowheads="1"/>
          </p:cNvSpPr>
          <p:nvPr/>
        </p:nvSpPr>
        <p:spPr bwMode="auto">
          <a:xfrm>
            <a:off x="6394450" y="5614988"/>
            <a:ext cx="206375" cy="2047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cxnSp>
        <p:nvCxnSpPr>
          <p:cNvPr id="291878" name="AutoShape 38"/>
          <p:cNvCxnSpPr>
            <a:cxnSpLocks noChangeShapeType="1"/>
            <a:stCxn id="291877" idx="0"/>
            <a:endCxn id="291875" idx="5"/>
          </p:cNvCxnSpPr>
          <p:nvPr/>
        </p:nvCxnSpPr>
        <p:spPr bwMode="auto">
          <a:xfrm flipH="1" flipV="1">
            <a:off x="6337300" y="5356225"/>
            <a:ext cx="160338" cy="24923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79" name="AutoShape 39"/>
          <p:cNvCxnSpPr>
            <a:cxnSpLocks noChangeShapeType="1"/>
            <a:stCxn id="291876" idx="0"/>
            <a:endCxn id="291875" idx="3"/>
          </p:cNvCxnSpPr>
          <p:nvPr/>
        </p:nvCxnSpPr>
        <p:spPr bwMode="auto">
          <a:xfrm flipV="1">
            <a:off x="5976938" y="5356225"/>
            <a:ext cx="157162" cy="24923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80" name="AutoShape 40"/>
          <p:cNvCxnSpPr>
            <a:cxnSpLocks noChangeShapeType="1"/>
            <a:stCxn id="291882" idx="7"/>
            <a:endCxn id="291874" idx="3"/>
          </p:cNvCxnSpPr>
          <p:nvPr/>
        </p:nvCxnSpPr>
        <p:spPr bwMode="auto">
          <a:xfrm flipV="1">
            <a:off x="5291138" y="4900613"/>
            <a:ext cx="320675" cy="23336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81" name="AutoShape 41"/>
          <p:cNvCxnSpPr>
            <a:cxnSpLocks noChangeShapeType="1"/>
            <a:stCxn id="291875" idx="1"/>
            <a:endCxn id="291874" idx="5"/>
          </p:cNvCxnSpPr>
          <p:nvPr/>
        </p:nvCxnSpPr>
        <p:spPr bwMode="auto">
          <a:xfrm flipH="1" flipV="1">
            <a:off x="5813425" y="4900613"/>
            <a:ext cx="320675" cy="233362"/>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1882" name="Oval 42"/>
          <p:cNvSpPr>
            <a:spLocks noChangeArrowheads="1"/>
          </p:cNvSpPr>
          <p:nvPr/>
        </p:nvSpPr>
        <p:spPr bwMode="auto">
          <a:xfrm>
            <a:off x="5048250" y="5102225"/>
            <a:ext cx="284163" cy="28575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sz="1600">
              <a:latin typeface="Times New Roman" pitchFamily="18" charset="0"/>
              <a:sym typeface="Symbol" pitchFamily="18" charset="2"/>
            </a:endParaRPr>
          </a:p>
        </p:txBody>
      </p:sp>
      <p:sp>
        <p:nvSpPr>
          <p:cNvPr id="291883" name="Rectangle 43"/>
          <p:cNvSpPr>
            <a:spLocks noChangeAspect="1" noChangeArrowheads="1"/>
          </p:cNvSpPr>
          <p:nvPr/>
        </p:nvSpPr>
        <p:spPr bwMode="auto">
          <a:xfrm>
            <a:off x="4826000" y="5614988"/>
            <a:ext cx="204788" cy="2047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sp>
        <p:nvSpPr>
          <p:cNvPr id="291884" name="Rectangle 44"/>
          <p:cNvSpPr>
            <a:spLocks noChangeAspect="1" noChangeArrowheads="1"/>
          </p:cNvSpPr>
          <p:nvPr/>
        </p:nvSpPr>
        <p:spPr bwMode="auto">
          <a:xfrm>
            <a:off x="5348288" y="5614988"/>
            <a:ext cx="204787" cy="204787"/>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cxnSp>
        <p:nvCxnSpPr>
          <p:cNvPr id="291885" name="AutoShape 45"/>
          <p:cNvCxnSpPr>
            <a:cxnSpLocks noChangeShapeType="1"/>
            <a:stCxn id="291884" idx="0"/>
            <a:endCxn id="291882" idx="5"/>
          </p:cNvCxnSpPr>
          <p:nvPr/>
        </p:nvCxnSpPr>
        <p:spPr bwMode="auto">
          <a:xfrm flipH="1" flipV="1">
            <a:off x="5291138" y="5356225"/>
            <a:ext cx="160337" cy="24923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86" name="AutoShape 46"/>
          <p:cNvCxnSpPr>
            <a:cxnSpLocks noChangeShapeType="1"/>
            <a:stCxn id="291883" idx="0"/>
            <a:endCxn id="291882" idx="3"/>
          </p:cNvCxnSpPr>
          <p:nvPr/>
        </p:nvCxnSpPr>
        <p:spPr bwMode="auto">
          <a:xfrm flipV="1">
            <a:off x="4929188" y="5356225"/>
            <a:ext cx="160337" cy="249238"/>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1887" name="Oval 47"/>
          <p:cNvSpPr>
            <a:spLocks noChangeArrowheads="1"/>
          </p:cNvSpPr>
          <p:nvPr/>
        </p:nvSpPr>
        <p:spPr bwMode="auto">
          <a:xfrm>
            <a:off x="7689850" y="4648200"/>
            <a:ext cx="284163" cy="28575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sz="1600">
              <a:latin typeface="Times New Roman" pitchFamily="18" charset="0"/>
              <a:sym typeface="Symbol" pitchFamily="18" charset="2"/>
            </a:endParaRPr>
          </a:p>
        </p:txBody>
      </p:sp>
      <p:sp>
        <p:nvSpPr>
          <p:cNvPr id="291888" name="Oval 48"/>
          <p:cNvSpPr>
            <a:spLocks noChangeArrowheads="1"/>
          </p:cNvSpPr>
          <p:nvPr/>
        </p:nvSpPr>
        <p:spPr bwMode="auto">
          <a:xfrm>
            <a:off x="8212138" y="5103813"/>
            <a:ext cx="285750" cy="28575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sz="1600">
              <a:latin typeface="Times New Roman" pitchFamily="18" charset="0"/>
              <a:sym typeface="Symbol" pitchFamily="18" charset="2"/>
            </a:endParaRPr>
          </a:p>
        </p:txBody>
      </p:sp>
      <p:sp>
        <p:nvSpPr>
          <p:cNvPr id="291889" name="Rectangle 49"/>
          <p:cNvSpPr>
            <a:spLocks noChangeAspect="1" noChangeArrowheads="1"/>
          </p:cNvSpPr>
          <p:nvPr/>
        </p:nvSpPr>
        <p:spPr bwMode="auto">
          <a:xfrm>
            <a:off x="7993063" y="5616575"/>
            <a:ext cx="204787" cy="2047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sp>
        <p:nvSpPr>
          <p:cNvPr id="291890" name="Rectangle 50"/>
          <p:cNvSpPr>
            <a:spLocks noChangeAspect="1" noChangeArrowheads="1"/>
          </p:cNvSpPr>
          <p:nvPr/>
        </p:nvSpPr>
        <p:spPr bwMode="auto">
          <a:xfrm>
            <a:off x="8513763" y="5616575"/>
            <a:ext cx="206375" cy="2047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cxnSp>
        <p:nvCxnSpPr>
          <p:cNvPr id="291891" name="AutoShape 51"/>
          <p:cNvCxnSpPr>
            <a:cxnSpLocks noChangeShapeType="1"/>
            <a:stCxn id="291890" idx="0"/>
            <a:endCxn id="291888" idx="5"/>
          </p:cNvCxnSpPr>
          <p:nvPr/>
        </p:nvCxnSpPr>
        <p:spPr bwMode="auto">
          <a:xfrm flipH="1" flipV="1">
            <a:off x="8456613" y="5357813"/>
            <a:ext cx="160337" cy="24923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92" name="AutoShape 52"/>
          <p:cNvCxnSpPr>
            <a:cxnSpLocks noChangeShapeType="1"/>
            <a:stCxn id="291889" idx="0"/>
            <a:endCxn id="291888" idx="3"/>
          </p:cNvCxnSpPr>
          <p:nvPr/>
        </p:nvCxnSpPr>
        <p:spPr bwMode="auto">
          <a:xfrm flipV="1">
            <a:off x="8096250" y="5357813"/>
            <a:ext cx="157163" cy="24923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93" name="AutoShape 53"/>
          <p:cNvCxnSpPr>
            <a:cxnSpLocks noChangeShapeType="1"/>
            <a:stCxn id="291895" idx="7"/>
            <a:endCxn id="291887" idx="3"/>
          </p:cNvCxnSpPr>
          <p:nvPr/>
        </p:nvCxnSpPr>
        <p:spPr bwMode="auto">
          <a:xfrm flipV="1">
            <a:off x="7410450" y="4902200"/>
            <a:ext cx="320675" cy="2333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94" name="AutoShape 54"/>
          <p:cNvCxnSpPr>
            <a:cxnSpLocks noChangeShapeType="1"/>
            <a:stCxn id="291888" idx="1"/>
            <a:endCxn id="291887" idx="5"/>
          </p:cNvCxnSpPr>
          <p:nvPr/>
        </p:nvCxnSpPr>
        <p:spPr bwMode="auto">
          <a:xfrm flipH="1" flipV="1">
            <a:off x="7932738" y="4902200"/>
            <a:ext cx="320675" cy="233363"/>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1895" name="Oval 55"/>
          <p:cNvSpPr>
            <a:spLocks noChangeArrowheads="1"/>
          </p:cNvSpPr>
          <p:nvPr/>
        </p:nvSpPr>
        <p:spPr bwMode="auto">
          <a:xfrm>
            <a:off x="7167563" y="5103813"/>
            <a:ext cx="284162" cy="285750"/>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endParaRPr lang="en-US" sz="1600">
              <a:latin typeface="Times New Roman" pitchFamily="18" charset="0"/>
              <a:sym typeface="Symbol" pitchFamily="18" charset="2"/>
            </a:endParaRPr>
          </a:p>
        </p:txBody>
      </p:sp>
      <p:sp>
        <p:nvSpPr>
          <p:cNvPr id="291896" name="Rectangle 56"/>
          <p:cNvSpPr>
            <a:spLocks noChangeAspect="1" noChangeArrowheads="1"/>
          </p:cNvSpPr>
          <p:nvPr/>
        </p:nvSpPr>
        <p:spPr bwMode="auto">
          <a:xfrm>
            <a:off x="6945313" y="5616575"/>
            <a:ext cx="204787" cy="2047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sp>
        <p:nvSpPr>
          <p:cNvPr id="291897" name="Rectangle 57"/>
          <p:cNvSpPr>
            <a:spLocks noChangeAspect="1" noChangeArrowheads="1"/>
          </p:cNvSpPr>
          <p:nvPr/>
        </p:nvSpPr>
        <p:spPr bwMode="auto">
          <a:xfrm>
            <a:off x="7467600" y="5616575"/>
            <a:ext cx="204788" cy="204788"/>
          </a:xfrm>
          <a:prstGeom prst="rect">
            <a:avLst/>
          </a:prstGeom>
          <a:solidFill>
            <a:schemeClr val="folHlink"/>
          </a:solidFill>
          <a:ln w="1905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cxnSp>
        <p:nvCxnSpPr>
          <p:cNvPr id="291898" name="AutoShape 58"/>
          <p:cNvCxnSpPr>
            <a:cxnSpLocks noChangeShapeType="1"/>
            <a:stCxn id="291897" idx="0"/>
            <a:endCxn id="291895" idx="5"/>
          </p:cNvCxnSpPr>
          <p:nvPr/>
        </p:nvCxnSpPr>
        <p:spPr bwMode="auto">
          <a:xfrm flipH="1" flipV="1">
            <a:off x="7410450" y="5357813"/>
            <a:ext cx="160338" cy="24923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899" name="AutoShape 59"/>
          <p:cNvCxnSpPr>
            <a:cxnSpLocks noChangeShapeType="1"/>
            <a:stCxn id="291896" idx="0"/>
            <a:endCxn id="291895" idx="3"/>
          </p:cNvCxnSpPr>
          <p:nvPr/>
        </p:nvCxnSpPr>
        <p:spPr bwMode="auto">
          <a:xfrm flipV="1">
            <a:off x="7048500" y="5357813"/>
            <a:ext cx="160338" cy="249237"/>
          </a:xfrm>
          <a:prstGeom prst="straightConnector1">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4"/>
          <p:cNvSpPr>
            <a:spLocks noGrp="1"/>
          </p:cNvSpPr>
          <p:nvPr>
            <p:ph type="ftr" sz="quarter" idx="11"/>
          </p:nvPr>
        </p:nvSpPr>
        <p:spPr/>
        <p:txBody>
          <a:bodyPr/>
          <a:lstStyle/>
          <a:p>
            <a:r>
              <a:rPr lang="en-US"/>
              <a:t>Data Structures and Algorithms</a:t>
            </a:r>
          </a:p>
        </p:txBody>
      </p:sp>
      <p:sp>
        <p:nvSpPr>
          <p:cNvPr id="4" name="Slide Number Placeholder 5"/>
          <p:cNvSpPr>
            <a:spLocks noGrp="1"/>
          </p:cNvSpPr>
          <p:nvPr>
            <p:ph type="sldNum" sz="quarter" idx="12"/>
          </p:nvPr>
        </p:nvSpPr>
        <p:spPr/>
        <p:txBody>
          <a:bodyPr/>
          <a:lstStyle/>
          <a:p>
            <a:fld id="{283B090A-6668-4F9F-BD03-30C28FABA820}" type="slidenum">
              <a:rPr lang="en-US"/>
              <a:pPr/>
              <a:t>24</a:t>
            </a:fld>
            <a:endParaRPr lang="en-US"/>
          </a:p>
        </p:txBody>
      </p:sp>
      <p:sp>
        <p:nvSpPr>
          <p:cNvPr id="292866" name="Rectangle 2"/>
          <p:cNvSpPr>
            <a:spLocks noGrp="1" noChangeArrowheads="1"/>
          </p:cNvSpPr>
          <p:nvPr>
            <p:ph type="title"/>
          </p:nvPr>
        </p:nvSpPr>
        <p:spPr>
          <a:xfrm>
            <a:off x="533400" y="2438400"/>
            <a:ext cx="7924800" cy="1524000"/>
          </a:xfrm>
        </p:spPr>
        <p:txBody>
          <a:bodyPr/>
          <a:lstStyle/>
          <a:p>
            <a:pPr algn="ctr"/>
            <a:r>
              <a:rPr lang="en-US"/>
              <a:t>AVL Trees</a:t>
            </a:r>
            <a:br>
              <a:rPr lang="en-US"/>
            </a:br>
            <a:r>
              <a:rPr lang="en-US" sz="1800" b="1">
                <a:solidFill>
                  <a:srgbClr val="652907"/>
                </a:solidFill>
              </a:rPr>
              <a:t>(Text book Reference 3.2)</a:t>
            </a:r>
            <a:endParaRPr lang="en-US" b="1">
              <a:solidFill>
                <a:srgbClr val="652907"/>
              </a:solidFill>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Data Structures and Algorithms</a:t>
            </a:r>
          </a:p>
        </p:txBody>
      </p:sp>
      <p:sp>
        <p:nvSpPr>
          <p:cNvPr id="7" name="Slide Number Placeholder 6"/>
          <p:cNvSpPr>
            <a:spLocks noGrp="1"/>
          </p:cNvSpPr>
          <p:nvPr>
            <p:ph type="sldNum" sz="quarter" idx="12"/>
          </p:nvPr>
        </p:nvSpPr>
        <p:spPr/>
        <p:txBody>
          <a:bodyPr/>
          <a:lstStyle/>
          <a:p>
            <a:fld id="{E2D404B9-703C-49FD-AA4F-ADF9DD35AAA7}" type="slidenum">
              <a:rPr lang="en-US"/>
              <a:pPr/>
              <a:t>25</a:t>
            </a:fld>
            <a:endParaRPr lang="en-US"/>
          </a:p>
        </p:txBody>
      </p:sp>
      <p:sp>
        <p:nvSpPr>
          <p:cNvPr id="293890" name="Rectangle 2"/>
          <p:cNvSpPr>
            <a:spLocks noGrp="1" noChangeArrowheads="1"/>
          </p:cNvSpPr>
          <p:nvPr>
            <p:ph type="title"/>
          </p:nvPr>
        </p:nvSpPr>
        <p:spPr/>
        <p:txBody>
          <a:bodyPr/>
          <a:lstStyle/>
          <a:p>
            <a:r>
              <a:rPr lang="en-US" altLang="en-US"/>
              <a:t>AVL Tree Definition</a:t>
            </a:r>
          </a:p>
        </p:txBody>
      </p:sp>
      <p:sp>
        <p:nvSpPr>
          <p:cNvPr id="293891" name="Rectangle 3"/>
          <p:cNvSpPr>
            <a:spLocks noGrp="1" noChangeArrowheads="1"/>
          </p:cNvSpPr>
          <p:nvPr>
            <p:ph type="body" sz="half" idx="1"/>
          </p:nvPr>
        </p:nvSpPr>
        <p:spPr>
          <a:xfrm>
            <a:off x="304800" y="1905000"/>
            <a:ext cx="4038600" cy="4114800"/>
          </a:xfrm>
        </p:spPr>
        <p:txBody>
          <a:bodyPr/>
          <a:lstStyle/>
          <a:p>
            <a:r>
              <a:rPr lang="en-US" altLang="en-US" sz="2400" b="1"/>
              <a:t>AVL trees are balanced.</a:t>
            </a:r>
            <a:endParaRPr lang="en-US" altLang="en-US" sz="2400"/>
          </a:p>
          <a:p>
            <a:r>
              <a:rPr lang="en-US" altLang="en-US" sz="2400"/>
              <a:t>An AVL Tree is a </a:t>
            </a:r>
            <a:r>
              <a:rPr lang="en-US" altLang="en-US" sz="2400" b="1" i="1">
                <a:solidFill>
                  <a:srgbClr val="3028FF"/>
                </a:solidFill>
              </a:rPr>
              <a:t>binary search tree</a:t>
            </a:r>
            <a:r>
              <a:rPr lang="en-US" altLang="en-US" sz="2400"/>
              <a:t> such that for every internal node v of T, the </a:t>
            </a:r>
            <a:r>
              <a:rPr lang="en-US" altLang="en-US" sz="2400" i="1">
                <a:solidFill>
                  <a:srgbClr val="3028FF"/>
                </a:solidFill>
              </a:rPr>
              <a:t>heights of the children of v can differ by at most 1</a:t>
            </a:r>
            <a:r>
              <a:rPr lang="en-US" altLang="en-US" sz="2400" i="1"/>
              <a:t>.</a:t>
            </a:r>
            <a:endParaRPr lang="en-US" altLang="en-US" sz="2000" i="1"/>
          </a:p>
          <a:p>
            <a:endParaRPr lang="en-US" altLang="en-US" sz="2000"/>
          </a:p>
        </p:txBody>
      </p:sp>
      <p:pic>
        <p:nvPicPr>
          <p:cNvPr id="293892"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648200" y="2209800"/>
            <a:ext cx="4191000" cy="3087688"/>
          </a:xfrm>
          <a:noFill/>
          <a:ln/>
        </p:spPr>
      </p:pic>
      <p:sp>
        <p:nvSpPr>
          <p:cNvPr id="293893" name="Text Box 5"/>
          <p:cNvSpPr txBox="1">
            <a:spLocks noChangeArrowheads="1"/>
          </p:cNvSpPr>
          <p:nvPr/>
        </p:nvSpPr>
        <p:spPr bwMode="auto">
          <a:xfrm>
            <a:off x="4495800" y="5486400"/>
            <a:ext cx="4114800"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000">
                <a:latin typeface="Times New Roman" pitchFamily="18" charset="0"/>
              </a:rPr>
              <a:t>An example of an AVL tree where the heights are shown next to the nodes: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Footer Placeholder 5"/>
          <p:cNvSpPr>
            <a:spLocks noGrp="1"/>
          </p:cNvSpPr>
          <p:nvPr>
            <p:ph type="ftr" sz="quarter" idx="11"/>
          </p:nvPr>
        </p:nvSpPr>
        <p:spPr/>
        <p:txBody>
          <a:bodyPr/>
          <a:lstStyle/>
          <a:p>
            <a:r>
              <a:rPr lang="en-US"/>
              <a:t>Data Structures and Algorithms</a:t>
            </a:r>
          </a:p>
        </p:txBody>
      </p:sp>
      <p:sp>
        <p:nvSpPr>
          <p:cNvPr id="19" name="Slide Number Placeholder 6"/>
          <p:cNvSpPr>
            <a:spLocks noGrp="1"/>
          </p:cNvSpPr>
          <p:nvPr>
            <p:ph type="sldNum" sz="quarter" idx="12"/>
          </p:nvPr>
        </p:nvSpPr>
        <p:spPr/>
        <p:txBody>
          <a:bodyPr/>
          <a:lstStyle/>
          <a:p>
            <a:fld id="{0262F05F-6066-4CC4-B4B4-143EE44CCE53}" type="slidenum">
              <a:rPr lang="en-US"/>
              <a:pPr/>
              <a:t>26</a:t>
            </a:fld>
            <a:endParaRPr lang="en-US"/>
          </a:p>
        </p:txBody>
      </p:sp>
      <p:sp>
        <p:nvSpPr>
          <p:cNvPr id="294914" name="Rectangle 2"/>
          <p:cNvSpPr>
            <a:spLocks noGrp="1" noChangeArrowheads="1"/>
          </p:cNvSpPr>
          <p:nvPr>
            <p:ph type="title"/>
          </p:nvPr>
        </p:nvSpPr>
        <p:spPr/>
        <p:txBody>
          <a:bodyPr/>
          <a:lstStyle/>
          <a:p>
            <a:r>
              <a:rPr lang="en-US" altLang="en-US"/>
              <a:t>Height of an AVL Tree</a:t>
            </a:r>
          </a:p>
        </p:txBody>
      </p:sp>
      <p:sp>
        <p:nvSpPr>
          <p:cNvPr id="294915" name="Rectangle 3"/>
          <p:cNvSpPr>
            <a:spLocks noGrp="1" noChangeArrowheads="1"/>
          </p:cNvSpPr>
          <p:nvPr>
            <p:ph type="body" sz="half" idx="1"/>
          </p:nvPr>
        </p:nvSpPr>
        <p:spPr>
          <a:xfrm>
            <a:off x="533400" y="1676400"/>
            <a:ext cx="8534400" cy="4876800"/>
          </a:xfrm>
        </p:spPr>
        <p:txBody>
          <a:bodyPr/>
          <a:lstStyle/>
          <a:p>
            <a:pPr>
              <a:lnSpc>
                <a:spcPct val="90000"/>
              </a:lnSpc>
            </a:pPr>
            <a:r>
              <a:rPr lang="en-US" altLang="en-US" sz="2100" b="1">
                <a:solidFill>
                  <a:srgbClr val="3028FF"/>
                </a:solidFill>
              </a:rPr>
              <a:t>Fact</a:t>
            </a:r>
            <a:r>
              <a:rPr lang="en-US" altLang="en-US" sz="2100"/>
              <a:t>: The </a:t>
            </a:r>
            <a:r>
              <a:rPr lang="en-US" altLang="en-US" sz="2100" b="1" i="1"/>
              <a:t>height</a:t>
            </a:r>
            <a:r>
              <a:rPr lang="en-US" altLang="en-US" sz="2100"/>
              <a:t> of an AVL tree storing n keys is O(log n).</a:t>
            </a:r>
          </a:p>
          <a:p>
            <a:pPr>
              <a:lnSpc>
                <a:spcPct val="90000"/>
              </a:lnSpc>
            </a:pPr>
            <a:r>
              <a:rPr lang="en-US" altLang="en-US" sz="2100" b="1">
                <a:solidFill>
                  <a:srgbClr val="3028FF"/>
                </a:solidFill>
              </a:rPr>
              <a:t>Proof</a:t>
            </a:r>
            <a:r>
              <a:rPr lang="en-US" altLang="en-US" sz="2100"/>
              <a:t>: Let us bound </a:t>
            </a:r>
            <a:r>
              <a:rPr lang="en-US" altLang="en-US" sz="2100" b="1"/>
              <a:t>n(h):</a:t>
            </a:r>
            <a:r>
              <a:rPr lang="en-US" altLang="en-US" sz="2100"/>
              <a:t> the minimum number of internal nodes of an AVL tree of height h.</a:t>
            </a:r>
          </a:p>
          <a:p>
            <a:pPr>
              <a:lnSpc>
                <a:spcPct val="90000"/>
              </a:lnSpc>
            </a:pPr>
            <a:r>
              <a:rPr lang="en-US" altLang="en-US" sz="2100"/>
              <a:t>We easily see that n(1) = 1 and n(2) = 2</a:t>
            </a:r>
          </a:p>
          <a:p>
            <a:pPr>
              <a:lnSpc>
                <a:spcPct val="90000"/>
              </a:lnSpc>
            </a:pPr>
            <a:r>
              <a:rPr lang="en-US" altLang="en-US" sz="2100"/>
              <a:t>For n &gt; 2, an AVL tree of height h contains the root node, one AVL subtree of height n-1 and another of height n-2.</a:t>
            </a:r>
          </a:p>
          <a:p>
            <a:pPr>
              <a:lnSpc>
                <a:spcPct val="90000"/>
              </a:lnSpc>
            </a:pPr>
            <a:r>
              <a:rPr lang="en-US" altLang="en-US" sz="2100"/>
              <a:t>That is, n(h) = 1 + n(h-1) + n(h-2)</a:t>
            </a:r>
          </a:p>
          <a:p>
            <a:pPr>
              <a:lnSpc>
                <a:spcPct val="90000"/>
              </a:lnSpc>
            </a:pPr>
            <a:r>
              <a:rPr lang="en-US" altLang="en-US" sz="2100"/>
              <a:t>Knowing n(h-1) &gt; n(h-2), we get n(h) &gt; 2n(h-2). So</a:t>
            </a:r>
          </a:p>
          <a:p>
            <a:pPr lvl="1">
              <a:lnSpc>
                <a:spcPct val="90000"/>
              </a:lnSpc>
              <a:buFontTx/>
              <a:buNone/>
            </a:pPr>
            <a:r>
              <a:rPr lang="en-US" altLang="en-US" sz="2000">
                <a:solidFill>
                  <a:schemeClr val="tx2"/>
                </a:solidFill>
              </a:rPr>
              <a:t>n(h) &gt; 2n(h-2), n(h) &gt; 4n(h-4), n(h) &gt; 8n(n-6), … (by induction),</a:t>
            </a:r>
          </a:p>
          <a:p>
            <a:pPr lvl="1">
              <a:lnSpc>
                <a:spcPct val="90000"/>
              </a:lnSpc>
              <a:buFontTx/>
              <a:buNone/>
            </a:pPr>
            <a:r>
              <a:rPr lang="en-US" altLang="en-US" sz="2000">
                <a:solidFill>
                  <a:schemeClr val="tx2"/>
                </a:solidFill>
              </a:rPr>
              <a:t>n(h) &gt; 2</a:t>
            </a:r>
            <a:r>
              <a:rPr lang="en-US" altLang="en-US" sz="2000" baseline="30000">
                <a:solidFill>
                  <a:schemeClr val="tx2"/>
                </a:solidFill>
              </a:rPr>
              <a:t>i</a:t>
            </a:r>
            <a:r>
              <a:rPr lang="en-US" altLang="en-US" sz="2000">
                <a:solidFill>
                  <a:schemeClr val="tx2"/>
                </a:solidFill>
              </a:rPr>
              <a:t>n(h-2i)</a:t>
            </a:r>
            <a:endParaRPr lang="en-US" altLang="en-US" sz="2000"/>
          </a:p>
          <a:p>
            <a:pPr>
              <a:lnSpc>
                <a:spcPct val="90000"/>
              </a:lnSpc>
            </a:pPr>
            <a:r>
              <a:rPr lang="en-US" altLang="en-US" sz="2100"/>
              <a:t>Solving the base case we get: n(h) &gt; 2 </a:t>
            </a:r>
            <a:r>
              <a:rPr lang="en-US" altLang="en-US" sz="2100" baseline="30000"/>
              <a:t>h/2-1</a:t>
            </a:r>
          </a:p>
          <a:p>
            <a:pPr>
              <a:lnSpc>
                <a:spcPct val="90000"/>
              </a:lnSpc>
            </a:pPr>
            <a:r>
              <a:rPr lang="en-US" altLang="en-US" sz="2100"/>
              <a:t>Taking logarithms: h &lt; 2log n(h) +2</a:t>
            </a:r>
          </a:p>
          <a:p>
            <a:pPr>
              <a:lnSpc>
                <a:spcPct val="90000"/>
              </a:lnSpc>
            </a:pPr>
            <a:r>
              <a:rPr lang="en-US" altLang="en-US" sz="2100"/>
              <a:t>Thus the height of an AVL tree is O(log n)</a:t>
            </a:r>
          </a:p>
        </p:txBody>
      </p:sp>
      <p:grpSp>
        <p:nvGrpSpPr>
          <p:cNvPr id="294916" name="Group 4"/>
          <p:cNvGrpSpPr>
            <a:grpSpLocks/>
          </p:cNvGrpSpPr>
          <p:nvPr/>
        </p:nvGrpSpPr>
        <p:grpSpPr bwMode="auto">
          <a:xfrm>
            <a:off x="6629400" y="76200"/>
            <a:ext cx="2360613" cy="1371600"/>
            <a:chOff x="3984" y="144"/>
            <a:chExt cx="1487" cy="864"/>
          </a:xfrm>
        </p:grpSpPr>
        <p:sp>
          <p:nvSpPr>
            <p:cNvPr id="294917" name="Oval 5"/>
            <p:cNvSpPr>
              <a:spLocks noChangeArrowheads="1"/>
            </p:cNvSpPr>
            <p:nvPr/>
          </p:nvSpPr>
          <p:spPr bwMode="auto">
            <a:xfrm>
              <a:off x="4545" y="254"/>
              <a:ext cx="156" cy="164"/>
            </a:xfrm>
            <a:prstGeom prst="ellipse">
              <a:avLst/>
            </a:prstGeom>
            <a:solidFill>
              <a:schemeClr val="accent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sz="1600">
                  <a:solidFill>
                    <a:schemeClr val="tx2"/>
                  </a:solidFill>
                  <a:latin typeface="Times New Roman" pitchFamily="18" charset="0"/>
                  <a:sym typeface="Symbol" pitchFamily="18" charset="2"/>
                </a:rPr>
                <a:t>3</a:t>
              </a:r>
            </a:p>
          </p:txBody>
        </p:sp>
        <p:sp>
          <p:nvSpPr>
            <p:cNvPr id="294918" name="Rectangle 6"/>
            <p:cNvSpPr>
              <a:spLocks noChangeAspect="1" noChangeArrowheads="1"/>
            </p:cNvSpPr>
            <p:nvPr/>
          </p:nvSpPr>
          <p:spPr bwMode="auto">
            <a:xfrm>
              <a:off x="4368" y="549"/>
              <a:ext cx="112" cy="118"/>
            </a:xfrm>
            <a:prstGeom prst="rect">
              <a:avLst/>
            </a:prstGeom>
            <a:solidFill>
              <a:schemeClr val="fo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cxnSp>
          <p:nvCxnSpPr>
            <p:cNvPr id="294919" name="AutoShape 7"/>
            <p:cNvCxnSpPr>
              <a:cxnSpLocks noChangeShapeType="1"/>
              <a:stCxn id="294918" idx="0"/>
              <a:endCxn id="294917" idx="3"/>
            </p:cNvCxnSpPr>
            <p:nvPr/>
          </p:nvCxnSpPr>
          <p:spPr bwMode="auto">
            <a:xfrm flipV="1">
              <a:off x="4424" y="399"/>
              <a:ext cx="145" cy="14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4920" name="Oval 8"/>
            <p:cNvSpPr>
              <a:spLocks noChangeArrowheads="1"/>
            </p:cNvSpPr>
            <p:nvPr/>
          </p:nvSpPr>
          <p:spPr bwMode="auto">
            <a:xfrm>
              <a:off x="4749" y="547"/>
              <a:ext cx="155" cy="164"/>
            </a:xfrm>
            <a:prstGeom prst="ellipse">
              <a:avLst/>
            </a:prstGeom>
            <a:solidFill>
              <a:schemeClr val="accent1"/>
            </a:solidFill>
            <a:ln w="19050">
              <a:solidFill>
                <a:schemeClr val="tx2"/>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anchor="ctr" anchorCtr="1"/>
            <a:lstStyle/>
            <a:p>
              <a:pPr algn="ctr"/>
              <a:r>
                <a:rPr lang="en-US" sz="1600">
                  <a:solidFill>
                    <a:schemeClr val="tx2"/>
                  </a:solidFill>
                  <a:latin typeface="Times New Roman" pitchFamily="18" charset="0"/>
                  <a:sym typeface="Symbol" pitchFamily="18" charset="2"/>
                </a:rPr>
                <a:t>4</a:t>
              </a:r>
            </a:p>
          </p:txBody>
        </p:sp>
        <p:sp>
          <p:nvSpPr>
            <p:cNvPr id="294921" name="Rectangle 9"/>
            <p:cNvSpPr>
              <a:spLocks noChangeAspect="1" noChangeArrowheads="1"/>
            </p:cNvSpPr>
            <p:nvPr/>
          </p:nvSpPr>
          <p:spPr bwMode="auto">
            <a:xfrm>
              <a:off x="4628" y="842"/>
              <a:ext cx="112" cy="118"/>
            </a:xfrm>
            <a:prstGeom prst="rect">
              <a:avLst/>
            </a:prstGeom>
            <a:solidFill>
              <a:schemeClr val="fo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sp>
          <p:nvSpPr>
            <p:cNvPr id="294922" name="Rectangle 10"/>
            <p:cNvSpPr>
              <a:spLocks noChangeAspect="1" noChangeArrowheads="1"/>
            </p:cNvSpPr>
            <p:nvPr/>
          </p:nvSpPr>
          <p:spPr bwMode="auto">
            <a:xfrm>
              <a:off x="4942" y="842"/>
              <a:ext cx="112" cy="118"/>
            </a:xfrm>
            <a:prstGeom prst="rect">
              <a:avLst/>
            </a:prstGeom>
            <a:solidFill>
              <a:schemeClr val="folHlink"/>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endParaRPr lang="en-US" sz="1600">
                <a:latin typeface="Tahoma" pitchFamily="34" charset="0"/>
              </a:endParaRPr>
            </a:p>
          </p:txBody>
        </p:sp>
        <p:cxnSp>
          <p:nvCxnSpPr>
            <p:cNvPr id="294923" name="AutoShape 11"/>
            <p:cNvCxnSpPr>
              <a:cxnSpLocks noChangeShapeType="1"/>
              <a:stCxn id="294922" idx="0"/>
              <a:endCxn id="294920" idx="5"/>
            </p:cNvCxnSpPr>
            <p:nvPr/>
          </p:nvCxnSpPr>
          <p:spPr bwMode="auto">
            <a:xfrm flipH="1" flipV="1">
              <a:off x="4882" y="692"/>
              <a:ext cx="116" cy="14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924" name="AutoShape 12"/>
            <p:cNvCxnSpPr>
              <a:cxnSpLocks noChangeShapeType="1"/>
              <a:stCxn id="294921" idx="0"/>
              <a:endCxn id="294920" idx="3"/>
            </p:cNvCxnSpPr>
            <p:nvPr/>
          </p:nvCxnSpPr>
          <p:spPr bwMode="auto">
            <a:xfrm flipV="1">
              <a:off x="4684" y="692"/>
              <a:ext cx="87" cy="140"/>
            </a:xfrm>
            <a:prstGeom prst="straightConnector1">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925" name="AutoShape 13"/>
            <p:cNvCxnSpPr>
              <a:cxnSpLocks noChangeShapeType="1"/>
              <a:stCxn id="294920" idx="0"/>
              <a:endCxn id="294917" idx="5"/>
            </p:cNvCxnSpPr>
            <p:nvPr/>
          </p:nvCxnSpPr>
          <p:spPr bwMode="auto">
            <a:xfrm flipH="1" flipV="1">
              <a:off x="4678" y="399"/>
              <a:ext cx="149" cy="143"/>
            </a:xfrm>
            <a:prstGeom prst="straightConnector1">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4926" name="Text Box 14"/>
            <p:cNvSpPr txBox="1">
              <a:spLocks noChangeArrowheads="1"/>
            </p:cNvSpPr>
            <p:nvPr/>
          </p:nvSpPr>
          <p:spPr bwMode="auto">
            <a:xfrm>
              <a:off x="4944" y="480"/>
              <a:ext cx="5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1600" b="1">
                  <a:solidFill>
                    <a:schemeClr val="tx2"/>
                  </a:solidFill>
                  <a:latin typeface="Tahoma" pitchFamily="34" charset="0"/>
                </a:rPr>
                <a:t>n(1)</a:t>
              </a:r>
              <a:endParaRPr lang="en-US" sz="1600" b="1" i="1">
                <a:solidFill>
                  <a:schemeClr val="tx2"/>
                </a:solidFill>
                <a:latin typeface="Tahoma" pitchFamily="34" charset="0"/>
              </a:endParaRPr>
            </a:p>
          </p:txBody>
        </p:sp>
        <p:sp>
          <p:nvSpPr>
            <p:cNvPr id="294927" name="Text Box 15"/>
            <p:cNvSpPr txBox="1">
              <a:spLocks noChangeArrowheads="1"/>
            </p:cNvSpPr>
            <p:nvPr/>
          </p:nvSpPr>
          <p:spPr bwMode="auto">
            <a:xfrm>
              <a:off x="4033" y="192"/>
              <a:ext cx="527"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r>
                <a:rPr lang="en-US" sz="1600" b="1">
                  <a:latin typeface="Tahoma" pitchFamily="34" charset="0"/>
                </a:rPr>
                <a:t>n(2)</a:t>
              </a:r>
              <a:endParaRPr lang="en-US" sz="1600" b="1" i="1">
                <a:latin typeface="Tahoma" pitchFamily="34" charset="0"/>
              </a:endParaRPr>
            </a:p>
          </p:txBody>
        </p:sp>
        <p:sp>
          <p:nvSpPr>
            <p:cNvPr id="294928" name="AutoShape 16"/>
            <p:cNvSpPr>
              <a:spLocks noChangeArrowheads="1"/>
            </p:cNvSpPr>
            <p:nvPr/>
          </p:nvSpPr>
          <p:spPr bwMode="auto">
            <a:xfrm>
              <a:off x="4416" y="432"/>
              <a:ext cx="768" cy="528"/>
            </a:xfrm>
            <a:prstGeom prst="triangle">
              <a:avLst>
                <a:gd name="adj" fmla="val 50000"/>
              </a:avLst>
            </a:prstGeom>
            <a:noFill/>
            <a:ln w="38100">
              <a:solidFill>
                <a:schemeClr val="tx2"/>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4929" name="AutoShape 17"/>
            <p:cNvSpPr>
              <a:spLocks noChangeArrowheads="1"/>
            </p:cNvSpPr>
            <p:nvPr/>
          </p:nvSpPr>
          <p:spPr bwMode="auto">
            <a:xfrm>
              <a:off x="3984" y="144"/>
              <a:ext cx="1296" cy="864"/>
            </a:xfrm>
            <a:prstGeom prst="triangle">
              <a:avLst>
                <a:gd name="adj" fmla="val 50000"/>
              </a:avLst>
            </a:prstGeom>
            <a:noFill/>
            <a:ln w="3810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Footer Placeholder 4"/>
          <p:cNvSpPr>
            <a:spLocks noGrp="1"/>
          </p:cNvSpPr>
          <p:nvPr>
            <p:ph type="ftr" sz="quarter" idx="11"/>
          </p:nvPr>
        </p:nvSpPr>
        <p:spPr/>
        <p:txBody>
          <a:bodyPr/>
          <a:lstStyle/>
          <a:p>
            <a:r>
              <a:rPr lang="en-US"/>
              <a:t>Data Structures and Algorithms</a:t>
            </a:r>
          </a:p>
        </p:txBody>
      </p:sp>
      <p:sp>
        <p:nvSpPr>
          <p:cNvPr id="87" name="Slide Number Placeholder 5"/>
          <p:cNvSpPr>
            <a:spLocks noGrp="1"/>
          </p:cNvSpPr>
          <p:nvPr>
            <p:ph type="sldNum" sz="quarter" idx="12"/>
          </p:nvPr>
        </p:nvSpPr>
        <p:spPr/>
        <p:txBody>
          <a:bodyPr/>
          <a:lstStyle/>
          <a:p>
            <a:fld id="{2AC44636-68DD-439F-A75C-EE6CD3AABD11}" type="slidenum">
              <a:rPr lang="en-US"/>
              <a:pPr/>
              <a:t>27</a:t>
            </a:fld>
            <a:endParaRPr lang="en-US"/>
          </a:p>
        </p:txBody>
      </p:sp>
      <p:sp>
        <p:nvSpPr>
          <p:cNvPr id="295938" name="Rectangle 2"/>
          <p:cNvSpPr>
            <a:spLocks noGrp="1" noChangeArrowheads="1"/>
          </p:cNvSpPr>
          <p:nvPr>
            <p:ph type="title"/>
          </p:nvPr>
        </p:nvSpPr>
        <p:spPr>
          <a:xfrm>
            <a:off x="1524000" y="304800"/>
            <a:ext cx="6781800" cy="1143000"/>
          </a:xfrm>
        </p:spPr>
        <p:txBody>
          <a:bodyPr/>
          <a:lstStyle/>
          <a:p>
            <a:r>
              <a:rPr lang="en-US" altLang="en-US"/>
              <a:t>Insertion in an AVL Tree</a:t>
            </a:r>
          </a:p>
        </p:txBody>
      </p:sp>
      <p:sp>
        <p:nvSpPr>
          <p:cNvPr id="295939" name="Rectangle 3"/>
          <p:cNvSpPr>
            <a:spLocks noGrp="1" noChangeArrowheads="1"/>
          </p:cNvSpPr>
          <p:nvPr>
            <p:ph type="body" idx="1"/>
          </p:nvPr>
        </p:nvSpPr>
        <p:spPr>
          <a:xfrm>
            <a:off x="685800" y="1524000"/>
            <a:ext cx="7772400" cy="4114800"/>
          </a:xfrm>
        </p:spPr>
        <p:txBody>
          <a:bodyPr/>
          <a:lstStyle/>
          <a:p>
            <a:pPr>
              <a:lnSpc>
                <a:spcPct val="80000"/>
              </a:lnSpc>
            </a:pPr>
            <a:r>
              <a:rPr lang="en-US" altLang="en-US" sz="2000"/>
              <a:t>Insertion is as in a binary search tree</a:t>
            </a:r>
          </a:p>
          <a:p>
            <a:pPr>
              <a:lnSpc>
                <a:spcPct val="80000"/>
              </a:lnSpc>
            </a:pPr>
            <a:r>
              <a:rPr lang="en-US" altLang="en-US" sz="2000"/>
              <a:t>Always done by expanding an external node.</a:t>
            </a:r>
          </a:p>
          <a:p>
            <a:pPr>
              <a:lnSpc>
                <a:spcPct val="80000"/>
              </a:lnSpc>
            </a:pPr>
            <a:r>
              <a:rPr lang="en-US" altLang="en-US" sz="2000"/>
              <a:t>Example:</a:t>
            </a:r>
          </a:p>
        </p:txBody>
      </p:sp>
      <p:grpSp>
        <p:nvGrpSpPr>
          <p:cNvPr id="295940" name="Group 4"/>
          <p:cNvGrpSpPr>
            <a:grpSpLocks/>
          </p:cNvGrpSpPr>
          <p:nvPr/>
        </p:nvGrpSpPr>
        <p:grpSpPr bwMode="auto">
          <a:xfrm>
            <a:off x="5181600" y="2362200"/>
            <a:ext cx="2743200" cy="3429000"/>
            <a:chOff x="3696" y="1200"/>
            <a:chExt cx="1728" cy="2160"/>
          </a:xfrm>
        </p:grpSpPr>
        <p:sp>
          <p:nvSpPr>
            <p:cNvPr id="295941" name="Oval 5"/>
            <p:cNvSpPr>
              <a:spLocks noChangeArrowheads="1"/>
            </p:cNvSpPr>
            <p:nvPr/>
          </p:nvSpPr>
          <p:spPr bwMode="auto">
            <a:xfrm>
              <a:off x="4252" y="1200"/>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44</a:t>
              </a:r>
            </a:p>
          </p:txBody>
        </p:sp>
        <p:sp>
          <p:nvSpPr>
            <p:cNvPr id="295942" name="Oval 6"/>
            <p:cNvSpPr>
              <a:spLocks noChangeArrowheads="1"/>
            </p:cNvSpPr>
            <p:nvPr/>
          </p:nvSpPr>
          <p:spPr bwMode="auto">
            <a:xfrm>
              <a:off x="3748" y="1584"/>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17</a:t>
              </a:r>
            </a:p>
          </p:txBody>
        </p:sp>
        <p:sp>
          <p:nvSpPr>
            <p:cNvPr id="295943" name="Oval 7"/>
            <p:cNvSpPr>
              <a:spLocks noChangeArrowheads="1"/>
            </p:cNvSpPr>
            <p:nvPr/>
          </p:nvSpPr>
          <p:spPr bwMode="auto">
            <a:xfrm>
              <a:off x="4792" y="1584"/>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78</a:t>
              </a:r>
            </a:p>
          </p:txBody>
        </p:sp>
        <p:sp>
          <p:nvSpPr>
            <p:cNvPr id="295944" name="Oval 8"/>
            <p:cNvSpPr>
              <a:spLocks noChangeArrowheads="1"/>
            </p:cNvSpPr>
            <p:nvPr/>
          </p:nvSpPr>
          <p:spPr bwMode="auto">
            <a:xfrm>
              <a:off x="3880" y="2016"/>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32</a:t>
              </a:r>
            </a:p>
          </p:txBody>
        </p:sp>
        <p:sp>
          <p:nvSpPr>
            <p:cNvPr id="295945" name="Oval 9"/>
            <p:cNvSpPr>
              <a:spLocks noChangeArrowheads="1"/>
            </p:cNvSpPr>
            <p:nvPr/>
          </p:nvSpPr>
          <p:spPr bwMode="auto">
            <a:xfrm>
              <a:off x="4492" y="2016"/>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50</a:t>
              </a:r>
            </a:p>
          </p:txBody>
        </p:sp>
        <p:sp>
          <p:nvSpPr>
            <p:cNvPr id="295946" name="Oval 10"/>
            <p:cNvSpPr>
              <a:spLocks noChangeArrowheads="1"/>
            </p:cNvSpPr>
            <p:nvPr/>
          </p:nvSpPr>
          <p:spPr bwMode="auto">
            <a:xfrm>
              <a:off x="5128" y="2016"/>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88</a:t>
              </a:r>
            </a:p>
          </p:txBody>
        </p:sp>
        <p:sp>
          <p:nvSpPr>
            <p:cNvPr id="295947" name="Oval 11"/>
            <p:cNvSpPr>
              <a:spLocks noChangeArrowheads="1"/>
            </p:cNvSpPr>
            <p:nvPr/>
          </p:nvSpPr>
          <p:spPr bwMode="auto">
            <a:xfrm>
              <a:off x="4270" y="2448"/>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48</a:t>
              </a:r>
            </a:p>
          </p:txBody>
        </p:sp>
        <p:sp>
          <p:nvSpPr>
            <p:cNvPr id="295948" name="Oval 12"/>
            <p:cNvSpPr>
              <a:spLocks noChangeArrowheads="1"/>
            </p:cNvSpPr>
            <p:nvPr/>
          </p:nvSpPr>
          <p:spPr bwMode="auto">
            <a:xfrm>
              <a:off x="4744" y="2448"/>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62</a:t>
              </a:r>
            </a:p>
          </p:txBody>
        </p:sp>
        <p:sp>
          <p:nvSpPr>
            <p:cNvPr id="295949" name="Rectangle 13"/>
            <p:cNvSpPr>
              <a:spLocks noChangeArrowheads="1"/>
            </p:cNvSpPr>
            <p:nvPr/>
          </p:nvSpPr>
          <p:spPr bwMode="auto">
            <a:xfrm>
              <a:off x="3696" y="1976"/>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50" name="Rectangle 14"/>
            <p:cNvSpPr>
              <a:spLocks noChangeArrowheads="1"/>
            </p:cNvSpPr>
            <p:nvPr/>
          </p:nvSpPr>
          <p:spPr bwMode="auto">
            <a:xfrm>
              <a:off x="3888" y="2408"/>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51" name="Rectangle 15"/>
            <p:cNvSpPr>
              <a:spLocks noChangeArrowheads="1"/>
            </p:cNvSpPr>
            <p:nvPr/>
          </p:nvSpPr>
          <p:spPr bwMode="auto">
            <a:xfrm>
              <a:off x="4080" y="2408"/>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52" name="Rectangle 16"/>
            <p:cNvSpPr>
              <a:spLocks noChangeArrowheads="1"/>
            </p:cNvSpPr>
            <p:nvPr/>
          </p:nvSpPr>
          <p:spPr bwMode="auto">
            <a:xfrm>
              <a:off x="4272" y="2840"/>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53" name="Rectangle 17"/>
            <p:cNvSpPr>
              <a:spLocks noChangeArrowheads="1"/>
            </p:cNvSpPr>
            <p:nvPr/>
          </p:nvSpPr>
          <p:spPr bwMode="auto">
            <a:xfrm>
              <a:off x="4464" y="2840"/>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54" name="Rectangle 18"/>
            <p:cNvSpPr>
              <a:spLocks noChangeArrowheads="1"/>
            </p:cNvSpPr>
            <p:nvPr/>
          </p:nvSpPr>
          <p:spPr bwMode="auto">
            <a:xfrm>
              <a:off x="4944" y="2840"/>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55" name="Rectangle 19"/>
            <p:cNvSpPr>
              <a:spLocks noChangeArrowheads="1"/>
            </p:cNvSpPr>
            <p:nvPr/>
          </p:nvSpPr>
          <p:spPr bwMode="auto">
            <a:xfrm>
              <a:off x="5136" y="2408"/>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56" name="Rectangle 20"/>
            <p:cNvSpPr>
              <a:spLocks noChangeArrowheads="1"/>
            </p:cNvSpPr>
            <p:nvPr/>
          </p:nvSpPr>
          <p:spPr bwMode="auto">
            <a:xfrm>
              <a:off x="5328" y="2408"/>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295957" name="AutoShape 21"/>
            <p:cNvCxnSpPr>
              <a:cxnSpLocks noChangeShapeType="1"/>
              <a:stCxn id="295941" idx="4"/>
              <a:endCxn id="295942" idx="0"/>
            </p:cNvCxnSpPr>
            <p:nvPr/>
          </p:nvCxnSpPr>
          <p:spPr bwMode="auto">
            <a:xfrm flipH="1">
              <a:off x="3889" y="1454"/>
              <a:ext cx="504"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58" name="AutoShape 22"/>
            <p:cNvCxnSpPr>
              <a:cxnSpLocks noChangeShapeType="1"/>
              <a:stCxn id="295942" idx="4"/>
              <a:endCxn id="295949" idx="0"/>
            </p:cNvCxnSpPr>
            <p:nvPr/>
          </p:nvCxnSpPr>
          <p:spPr bwMode="auto">
            <a:xfrm flipH="1">
              <a:off x="3744" y="1838"/>
              <a:ext cx="14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59" name="AutoShape 23"/>
            <p:cNvCxnSpPr>
              <a:cxnSpLocks noChangeShapeType="1"/>
              <a:stCxn id="295942" idx="4"/>
              <a:endCxn id="295944" idx="0"/>
            </p:cNvCxnSpPr>
            <p:nvPr/>
          </p:nvCxnSpPr>
          <p:spPr bwMode="auto">
            <a:xfrm>
              <a:off x="3889" y="1838"/>
              <a:ext cx="13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0" name="AutoShape 24"/>
            <p:cNvCxnSpPr>
              <a:cxnSpLocks noChangeShapeType="1"/>
              <a:stCxn id="295941" idx="4"/>
              <a:endCxn id="295943" idx="0"/>
            </p:cNvCxnSpPr>
            <p:nvPr/>
          </p:nvCxnSpPr>
          <p:spPr bwMode="auto">
            <a:xfrm>
              <a:off x="4393" y="1454"/>
              <a:ext cx="540"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1" name="AutoShape 25"/>
            <p:cNvCxnSpPr>
              <a:cxnSpLocks noChangeShapeType="1"/>
              <a:stCxn id="295943" idx="4"/>
              <a:endCxn id="295945" idx="0"/>
            </p:cNvCxnSpPr>
            <p:nvPr/>
          </p:nvCxnSpPr>
          <p:spPr bwMode="auto">
            <a:xfrm flipH="1">
              <a:off x="4633" y="1838"/>
              <a:ext cx="300"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2" name="AutoShape 26"/>
            <p:cNvCxnSpPr>
              <a:cxnSpLocks noChangeShapeType="1"/>
              <a:stCxn id="295943" idx="4"/>
              <a:endCxn id="295946" idx="0"/>
            </p:cNvCxnSpPr>
            <p:nvPr/>
          </p:nvCxnSpPr>
          <p:spPr bwMode="auto">
            <a:xfrm>
              <a:off x="4933" y="1838"/>
              <a:ext cx="336"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3" name="AutoShape 27"/>
            <p:cNvCxnSpPr>
              <a:cxnSpLocks noChangeShapeType="1"/>
              <a:stCxn id="295945" idx="4"/>
              <a:endCxn id="295947" idx="0"/>
            </p:cNvCxnSpPr>
            <p:nvPr/>
          </p:nvCxnSpPr>
          <p:spPr bwMode="auto">
            <a:xfrm flipH="1">
              <a:off x="4411" y="2270"/>
              <a:ext cx="22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4" name="AutoShape 28"/>
            <p:cNvCxnSpPr>
              <a:cxnSpLocks noChangeShapeType="1"/>
              <a:stCxn id="295944" idx="4"/>
              <a:endCxn id="295950" idx="0"/>
            </p:cNvCxnSpPr>
            <p:nvPr/>
          </p:nvCxnSpPr>
          <p:spPr bwMode="auto">
            <a:xfrm flipH="1">
              <a:off x="3936" y="2270"/>
              <a:ext cx="8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5" name="AutoShape 29"/>
            <p:cNvCxnSpPr>
              <a:cxnSpLocks noChangeShapeType="1"/>
              <a:stCxn id="295944" idx="4"/>
              <a:endCxn id="295951" idx="0"/>
            </p:cNvCxnSpPr>
            <p:nvPr/>
          </p:nvCxnSpPr>
          <p:spPr bwMode="auto">
            <a:xfrm>
              <a:off x="4021" y="2270"/>
              <a:ext cx="107"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6" name="AutoShape 30"/>
            <p:cNvCxnSpPr>
              <a:cxnSpLocks noChangeShapeType="1"/>
              <a:stCxn id="295947" idx="4"/>
              <a:endCxn id="295952" idx="0"/>
            </p:cNvCxnSpPr>
            <p:nvPr/>
          </p:nvCxnSpPr>
          <p:spPr bwMode="auto">
            <a:xfrm flipH="1">
              <a:off x="4320" y="2702"/>
              <a:ext cx="9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7" name="AutoShape 31"/>
            <p:cNvCxnSpPr>
              <a:cxnSpLocks noChangeShapeType="1"/>
              <a:stCxn id="295947" idx="4"/>
              <a:endCxn id="295953" idx="0"/>
            </p:cNvCxnSpPr>
            <p:nvPr/>
          </p:nvCxnSpPr>
          <p:spPr bwMode="auto">
            <a:xfrm>
              <a:off x="4411" y="2702"/>
              <a:ext cx="10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8" name="AutoShape 32"/>
            <p:cNvCxnSpPr>
              <a:cxnSpLocks noChangeShapeType="1"/>
              <a:stCxn id="295948" idx="4"/>
              <a:endCxn id="295973" idx="0"/>
            </p:cNvCxnSpPr>
            <p:nvPr/>
          </p:nvCxnSpPr>
          <p:spPr bwMode="auto">
            <a:xfrm flipH="1">
              <a:off x="4757" y="2702"/>
              <a:ext cx="128" cy="17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69" name="AutoShape 33"/>
            <p:cNvCxnSpPr>
              <a:cxnSpLocks noChangeShapeType="1"/>
              <a:stCxn id="295948" idx="4"/>
              <a:endCxn id="295954" idx="0"/>
            </p:cNvCxnSpPr>
            <p:nvPr/>
          </p:nvCxnSpPr>
          <p:spPr bwMode="auto">
            <a:xfrm>
              <a:off x="4885" y="2702"/>
              <a:ext cx="107"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70" name="AutoShape 34"/>
            <p:cNvCxnSpPr>
              <a:cxnSpLocks noChangeShapeType="1"/>
              <a:stCxn id="295945" idx="4"/>
              <a:endCxn id="295948" idx="0"/>
            </p:cNvCxnSpPr>
            <p:nvPr/>
          </p:nvCxnSpPr>
          <p:spPr bwMode="auto">
            <a:xfrm>
              <a:off x="4633" y="2270"/>
              <a:ext cx="25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71" name="AutoShape 35"/>
            <p:cNvCxnSpPr>
              <a:cxnSpLocks noChangeShapeType="1"/>
              <a:stCxn id="295946" idx="4"/>
              <a:endCxn id="295955" idx="0"/>
            </p:cNvCxnSpPr>
            <p:nvPr/>
          </p:nvCxnSpPr>
          <p:spPr bwMode="auto">
            <a:xfrm flipH="1">
              <a:off x="5184" y="2270"/>
              <a:ext cx="8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72" name="AutoShape 36"/>
            <p:cNvCxnSpPr>
              <a:cxnSpLocks noChangeShapeType="1"/>
              <a:stCxn id="295946" idx="4"/>
              <a:endCxn id="295956" idx="0"/>
            </p:cNvCxnSpPr>
            <p:nvPr/>
          </p:nvCxnSpPr>
          <p:spPr bwMode="auto">
            <a:xfrm>
              <a:off x="5269" y="2270"/>
              <a:ext cx="107"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95973" name="Oval 37"/>
            <p:cNvSpPr>
              <a:spLocks noChangeArrowheads="1"/>
            </p:cNvSpPr>
            <p:nvPr/>
          </p:nvSpPr>
          <p:spPr bwMode="auto">
            <a:xfrm>
              <a:off x="4616" y="2872"/>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54</a:t>
              </a:r>
            </a:p>
          </p:txBody>
        </p:sp>
        <p:sp>
          <p:nvSpPr>
            <p:cNvPr id="295974" name="Rectangle 38"/>
            <p:cNvSpPr>
              <a:spLocks noChangeArrowheads="1"/>
            </p:cNvSpPr>
            <p:nvPr/>
          </p:nvSpPr>
          <p:spPr bwMode="auto">
            <a:xfrm>
              <a:off x="4618" y="3264"/>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75" name="Rectangle 39"/>
            <p:cNvSpPr>
              <a:spLocks noChangeArrowheads="1"/>
            </p:cNvSpPr>
            <p:nvPr/>
          </p:nvSpPr>
          <p:spPr bwMode="auto">
            <a:xfrm>
              <a:off x="4810" y="3264"/>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295976" name="AutoShape 40"/>
            <p:cNvCxnSpPr>
              <a:cxnSpLocks noChangeShapeType="1"/>
              <a:stCxn id="295973" idx="4"/>
              <a:endCxn id="295974" idx="0"/>
            </p:cNvCxnSpPr>
            <p:nvPr/>
          </p:nvCxnSpPr>
          <p:spPr bwMode="auto">
            <a:xfrm flipH="1">
              <a:off x="4666" y="3126"/>
              <a:ext cx="9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977" name="AutoShape 41"/>
            <p:cNvCxnSpPr>
              <a:cxnSpLocks noChangeShapeType="1"/>
              <a:stCxn id="295973" idx="4"/>
              <a:endCxn id="295975" idx="0"/>
            </p:cNvCxnSpPr>
            <p:nvPr/>
          </p:nvCxnSpPr>
          <p:spPr bwMode="auto">
            <a:xfrm>
              <a:off x="4757" y="3126"/>
              <a:ext cx="10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5978" name="Text Box 42"/>
          <p:cNvSpPr txBox="1">
            <a:spLocks noChangeArrowheads="1"/>
          </p:cNvSpPr>
          <p:nvPr/>
        </p:nvSpPr>
        <p:spPr bwMode="auto">
          <a:xfrm>
            <a:off x="6172200" y="525780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solidFill>
                  <a:schemeClr val="accent2"/>
                </a:solidFill>
                <a:latin typeface="Times New Roman" pitchFamily="18" charset="0"/>
              </a:rPr>
              <a:t>w</a:t>
            </a:r>
          </a:p>
        </p:txBody>
      </p:sp>
      <p:sp>
        <p:nvSpPr>
          <p:cNvPr id="295979" name="Text Box 43"/>
          <p:cNvSpPr txBox="1">
            <a:spLocks noChangeArrowheads="1"/>
          </p:cNvSpPr>
          <p:nvPr/>
        </p:nvSpPr>
        <p:spPr bwMode="auto">
          <a:xfrm>
            <a:off x="7470775" y="4524375"/>
            <a:ext cx="46196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solidFill>
                  <a:schemeClr val="accent2"/>
                </a:solidFill>
                <a:latin typeface="Times New Roman" pitchFamily="18" charset="0"/>
              </a:rPr>
              <a:t>b=x</a:t>
            </a:r>
          </a:p>
        </p:txBody>
      </p:sp>
      <p:sp>
        <p:nvSpPr>
          <p:cNvPr id="295980" name="Text Box 44"/>
          <p:cNvSpPr txBox="1">
            <a:spLocks noChangeArrowheads="1"/>
          </p:cNvSpPr>
          <p:nvPr/>
        </p:nvSpPr>
        <p:spPr bwMode="auto">
          <a:xfrm>
            <a:off x="6078538" y="3238500"/>
            <a:ext cx="4524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solidFill>
                  <a:schemeClr val="accent2"/>
                </a:solidFill>
                <a:latin typeface="Times New Roman" pitchFamily="18" charset="0"/>
              </a:rPr>
              <a:t>a=y</a:t>
            </a:r>
          </a:p>
        </p:txBody>
      </p:sp>
      <p:sp>
        <p:nvSpPr>
          <p:cNvPr id="295981" name="Text Box 45"/>
          <p:cNvSpPr txBox="1">
            <a:spLocks noChangeArrowheads="1"/>
          </p:cNvSpPr>
          <p:nvPr/>
        </p:nvSpPr>
        <p:spPr bwMode="auto">
          <a:xfrm>
            <a:off x="7640638" y="2914650"/>
            <a:ext cx="4429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solidFill>
                  <a:schemeClr val="accent2"/>
                </a:solidFill>
                <a:latin typeface="Times New Roman" pitchFamily="18" charset="0"/>
              </a:rPr>
              <a:t>c=z</a:t>
            </a:r>
          </a:p>
        </p:txBody>
      </p:sp>
      <p:sp>
        <p:nvSpPr>
          <p:cNvPr id="295982" name="Line 46"/>
          <p:cNvSpPr>
            <a:spLocks noChangeShapeType="1"/>
          </p:cNvSpPr>
          <p:nvPr/>
        </p:nvSpPr>
        <p:spPr bwMode="auto">
          <a:xfrm flipV="1">
            <a:off x="6429375" y="5229225"/>
            <a:ext cx="228600" cy="15240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95983" name="Line 47"/>
          <p:cNvSpPr>
            <a:spLocks noChangeShapeType="1"/>
          </p:cNvSpPr>
          <p:nvPr/>
        </p:nvSpPr>
        <p:spPr bwMode="auto">
          <a:xfrm>
            <a:off x="6324600" y="3505200"/>
            <a:ext cx="152400" cy="15240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95984" name="Line 48"/>
          <p:cNvSpPr>
            <a:spLocks noChangeShapeType="1"/>
          </p:cNvSpPr>
          <p:nvPr/>
        </p:nvSpPr>
        <p:spPr bwMode="auto">
          <a:xfrm flipH="1">
            <a:off x="7391400" y="3067050"/>
            <a:ext cx="3048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95985" name="Line 49"/>
          <p:cNvSpPr>
            <a:spLocks noChangeShapeType="1"/>
          </p:cNvSpPr>
          <p:nvPr/>
        </p:nvSpPr>
        <p:spPr bwMode="auto">
          <a:xfrm flipH="1" flipV="1">
            <a:off x="7277100" y="4505325"/>
            <a:ext cx="228600" cy="15240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grpSp>
        <p:nvGrpSpPr>
          <p:cNvPr id="295986" name="Group 50"/>
          <p:cNvGrpSpPr>
            <a:grpSpLocks/>
          </p:cNvGrpSpPr>
          <p:nvPr/>
        </p:nvGrpSpPr>
        <p:grpSpPr bwMode="auto">
          <a:xfrm>
            <a:off x="1981200" y="2362200"/>
            <a:ext cx="2743200" cy="2755900"/>
            <a:chOff x="3840" y="1882"/>
            <a:chExt cx="1728" cy="1736"/>
          </a:xfrm>
        </p:grpSpPr>
        <p:sp>
          <p:nvSpPr>
            <p:cNvPr id="295987" name="Oval 51"/>
            <p:cNvSpPr>
              <a:spLocks noChangeArrowheads="1"/>
            </p:cNvSpPr>
            <p:nvPr/>
          </p:nvSpPr>
          <p:spPr bwMode="auto">
            <a:xfrm>
              <a:off x="4396" y="1882"/>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44</a:t>
              </a:r>
            </a:p>
          </p:txBody>
        </p:sp>
        <p:sp>
          <p:nvSpPr>
            <p:cNvPr id="295988" name="Oval 52"/>
            <p:cNvSpPr>
              <a:spLocks noChangeArrowheads="1"/>
            </p:cNvSpPr>
            <p:nvPr/>
          </p:nvSpPr>
          <p:spPr bwMode="auto">
            <a:xfrm>
              <a:off x="3892" y="2266"/>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17</a:t>
              </a:r>
            </a:p>
          </p:txBody>
        </p:sp>
        <p:sp>
          <p:nvSpPr>
            <p:cNvPr id="295989" name="Oval 53"/>
            <p:cNvSpPr>
              <a:spLocks noChangeArrowheads="1"/>
            </p:cNvSpPr>
            <p:nvPr/>
          </p:nvSpPr>
          <p:spPr bwMode="auto">
            <a:xfrm>
              <a:off x="4936" y="2266"/>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78</a:t>
              </a:r>
            </a:p>
          </p:txBody>
        </p:sp>
        <p:sp>
          <p:nvSpPr>
            <p:cNvPr id="295990" name="Oval 54"/>
            <p:cNvSpPr>
              <a:spLocks noChangeArrowheads="1"/>
            </p:cNvSpPr>
            <p:nvPr/>
          </p:nvSpPr>
          <p:spPr bwMode="auto">
            <a:xfrm>
              <a:off x="4024" y="2698"/>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32</a:t>
              </a:r>
            </a:p>
          </p:txBody>
        </p:sp>
        <p:sp>
          <p:nvSpPr>
            <p:cNvPr id="295991" name="Oval 55"/>
            <p:cNvSpPr>
              <a:spLocks noChangeArrowheads="1"/>
            </p:cNvSpPr>
            <p:nvPr/>
          </p:nvSpPr>
          <p:spPr bwMode="auto">
            <a:xfrm>
              <a:off x="4636" y="2698"/>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50</a:t>
              </a:r>
            </a:p>
          </p:txBody>
        </p:sp>
        <p:sp>
          <p:nvSpPr>
            <p:cNvPr id="295992" name="Oval 56"/>
            <p:cNvSpPr>
              <a:spLocks noChangeArrowheads="1"/>
            </p:cNvSpPr>
            <p:nvPr/>
          </p:nvSpPr>
          <p:spPr bwMode="auto">
            <a:xfrm>
              <a:off x="5272" y="2698"/>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88</a:t>
              </a:r>
            </a:p>
          </p:txBody>
        </p:sp>
        <p:sp>
          <p:nvSpPr>
            <p:cNvPr id="295993" name="Oval 57"/>
            <p:cNvSpPr>
              <a:spLocks noChangeArrowheads="1"/>
            </p:cNvSpPr>
            <p:nvPr/>
          </p:nvSpPr>
          <p:spPr bwMode="auto">
            <a:xfrm>
              <a:off x="4414" y="3130"/>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48</a:t>
              </a:r>
            </a:p>
          </p:txBody>
        </p:sp>
        <p:sp>
          <p:nvSpPr>
            <p:cNvPr id="295994" name="Oval 58"/>
            <p:cNvSpPr>
              <a:spLocks noChangeArrowheads="1"/>
            </p:cNvSpPr>
            <p:nvPr/>
          </p:nvSpPr>
          <p:spPr bwMode="auto">
            <a:xfrm>
              <a:off x="4888" y="3130"/>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62</a:t>
              </a:r>
            </a:p>
          </p:txBody>
        </p:sp>
        <p:sp>
          <p:nvSpPr>
            <p:cNvPr id="295995" name="Rectangle 59"/>
            <p:cNvSpPr>
              <a:spLocks noChangeArrowheads="1"/>
            </p:cNvSpPr>
            <p:nvPr/>
          </p:nvSpPr>
          <p:spPr bwMode="auto">
            <a:xfrm>
              <a:off x="3840" y="2658"/>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96" name="Rectangle 60"/>
            <p:cNvSpPr>
              <a:spLocks noChangeArrowheads="1"/>
            </p:cNvSpPr>
            <p:nvPr/>
          </p:nvSpPr>
          <p:spPr bwMode="auto">
            <a:xfrm>
              <a:off x="4032" y="3090"/>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97" name="Rectangle 61"/>
            <p:cNvSpPr>
              <a:spLocks noChangeArrowheads="1"/>
            </p:cNvSpPr>
            <p:nvPr/>
          </p:nvSpPr>
          <p:spPr bwMode="auto">
            <a:xfrm>
              <a:off x="4224" y="3090"/>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98" name="Rectangle 62"/>
            <p:cNvSpPr>
              <a:spLocks noChangeArrowheads="1"/>
            </p:cNvSpPr>
            <p:nvPr/>
          </p:nvSpPr>
          <p:spPr bwMode="auto">
            <a:xfrm>
              <a:off x="4416" y="3522"/>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5999" name="Rectangle 63"/>
            <p:cNvSpPr>
              <a:spLocks noChangeArrowheads="1"/>
            </p:cNvSpPr>
            <p:nvPr/>
          </p:nvSpPr>
          <p:spPr bwMode="auto">
            <a:xfrm>
              <a:off x="4608" y="3522"/>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6000" name="Rectangle 64"/>
            <p:cNvSpPr>
              <a:spLocks noChangeArrowheads="1"/>
            </p:cNvSpPr>
            <p:nvPr/>
          </p:nvSpPr>
          <p:spPr bwMode="auto">
            <a:xfrm>
              <a:off x="4896" y="3522"/>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6001" name="Rectangle 65"/>
            <p:cNvSpPr>
              <a:spLocks noChangeArrowheads="1"/>
            </p:cNvSpPr>
            <p:nvPr/>
          </p:nvSpPr>
          <p:spPr bwMode="auto">
            <a:xfrm>
              <a:off x="5088" y="3522"/>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6002" name="Rectangle 66"/>
            <p:cNvSpPr>
              <a:spLocks noChangeArrowheads="1"/>
            </p:cNvSpPr>
            <p:nvPr/>
          </p:nvSpPr>
          <p:spPr bwMode="auto">
            <a:xfrm>
              <a:off x="5280" y="3090"/>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96003" name="Rectangle 67"/>
            <p:cNvSpPr>
              <a:spLocks noChangeArrowheads="1"/>
            </p:cNvSpPr>
            <p:nvPr/>
          </p:nvSpPr>
          <p:spPr bwMode="auto">
            <a:xfrm>
              <a:off x="5472" y="3090"/>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296004" name="AutoShape 68"/>
            <p:cNvCxnSpPr>
              <a:cxnSpLocks noChangeShapeType="1"/>
              <a:stCxn id="295987" idx="4"/>
              <a:endCxn id="295988" idx="0"/>
            </p:cNvCxnSpPr>
            <p:nvPr/>
          </p:nvCxnSpPr>
          <p:spPr bwMode="auto">
            <a:xfrm flipH="1">
              <a:off x="4033" y="2136"/>
              <a:ext cx="504"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05" name="AutoShape 69"/>
            <p:cNvCxnSpPr>
              <a:cxnSpLocks noChangeShapeType="1"/>
              <a:stCxn id="295988" idx="4"/>
              <a:endCxn id="295995" idx="0"/>
            </p:cNvCxnSpPr>
            <p:nvPr/>
          </p:nvCxnSpPr>
          <p:spPr bwMode="auto">
            <a:xfrm flipH="1">
              <a:off x="3888" y="2520"/>
              <a:ext cx="14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06" name="AutoShape 70"/>
            <p:cNvCxnSpPr>
              <a:cxnSpLocks noChangeShapeType="1"/>
              <a:stCxn id="295988" idx="4"/>
              <a:endCxn id="295990" idx="0"/>
            </p:cNvCxnSpPr>
            <p:nvPr/>
          </p:nvCxnSpPr>
          <p:spPr bwMode="auto">
            <a:xfrm>
              <a:off x="4033" y="2520"/>
              <a:ext cx="13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07" name="AutoShape 71"/>
            <p:cNvCxnSpPr>
              <a:cxnSpLocks noChangeShapeType="1"/>
              <a:stCxn id="295987" idx="4"/>
              <a:endCxn id="295989" idx="0"/>
            </p:cNvCxnSpPr>
            <p:nvPr/>
          </p:nvCxnSpPr>
          <p:spPr bwMode="auto">
            <a:xfrm>
              <a:off x="4537" y="2136"/>
              <a:ext cx="540"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08" name="AutoShape 72"/>
            <p:cNvCxnSpPr>
              <a:cxnSpLocks noChangeShapeType="1"/>
              <a:stCxn id="295989" idx="4"/>
              <a:endCxn id="295991" idx="0"/>
            </p:cNvCxnSpPr>
            <p:nvPr/>
          </p:nvCxnSpPr>
          <p:spPr bwMode="auto">
            <a:xfrm flipH="1">
              <a:off x="4777" y="2520"/>
              <a:ext cx="300"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09" name="AutoShape 73"/>
            <p:cNvCxnSpPr>
              <a:cxnSpLocks noChangeShapeType="1"/>
              <a:stCxn id="295989" idx="4"/>
              <a:endCxn id="295992" idx="0"/>
            </p:cNvCxnSpPr>
            <p:nvPr/>
          </p:nvCxnSpPr>
          <p:spPr bwMode="auto">
            <a:xfrm>
              <a:off x="5077" y="2520"/>
              <a:ext cx="336"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0" name="AutoShape 74"/>
            <p:cNvCxnSpPr>
              <a:cxnSpLocks noChangeShapeType="1"/>
              <a:stCxn id="295991" idx="4"/>
              <a:endCxn id="295993" idx="0"/>
            </p:cNvCxnSpPr>
            <p:nvPr/>
          </p:nvCxnSpPr>
          <p:spPr bwMode="auto">
            <a:xfrm flipH="1">
              <a:off x="4555" y="2952"/>
              <a:ext cx="22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1" name="AutoShape 75"/>
            <p:cNvCxnSpPr>
              <a:cxnSpLocks noChangeShapeType="1"/>
              <a:stCxn id="295990" idx="4"/>
              <a:endCxn id="295996" idx="0"/>
            </p:cNvCxnSpPr>
            <p:nvPr/>
          </p:nvCxnSpPr>
          <p:spPr bwMode="auto">
            <a:xfrm flipH="1">
              <a:off x="4080" y="2952"/>
              <a:ext cx="8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2" name="AutoShape 76"/>
            <p:cNvCxnSpPr>
              <a:cxnSpLocks noChangeShapeType="1"/>
              <a:stCxn id="295990" idx="4"/>
              <a:endCxn id="295997" idx="0"/>
            </p:cNvCxnSpPr>
            <p:nvPr/>
          </p:nvCxnSpPr>
          <p:spPr bwMode="auto">
            <a:xfrm>
              <a:off x="4165" y="2952"/>
              <a:ext cx="107"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3" name="AutoShape 77"/>
            <p:cNvCxnSpPr>
              <a:cxnSpLocks noChangeShapeType="1"/>
              <a:stCxn id="295993" idx="4"/>
              <a:endCxn id="295998" idx="0"/>
            </p:cNvCxnSpPr>
            <p:nvPr/>
          </p:nvCxnSpPr>
          <p:spPr bwMode="auto">
            <a:xfrm flipH="1">
              <a:off x="4464" y="3384"/>
              <a:ext cx="9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4" name="AutoShape 78"/>
            <p:cNvCxnSpPr>
              <a:cxnSpLocks noChangeShapeType="1"/>
              <a:stCxn id="295993" idx="4"/>
              <a:endCxn id="295999" idx="0"/>
            </p:cNvCxnSpPr>
            <p:nvPr/>
          </p:nvCxnSpPr>
          <p:spPr bwMode="auto">
            <a:xfrm>
              <a:off x="4555" y="3384"/>
              <a:ext cx="10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5" name="AutoShape 79"/>
            <p:cNvCxnSpPr>
              <a:cxnSpLocks noChangeShapeType="1"/>
              <a:stCxn id="295994" idx="4"/>
              <a:endCxn id="296000" idx="0"/>
            </p:cNvCxnSpPr>
            <p:nvPr/>
          </p:nvCxnSpPr>
          <p:spPr bwMode="auto">
            <a:xfrm flipH="1">
              <a:off x="4944" y="3384"/>
              <a:ext cx="8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6" name="AutoShape 80"/>
            <p:cNvCxnSpPr>
              <a:cxnSpLocks noChangeShapeType="1"/>
              <a:stCxn id="295994" idx="4"/>
              <a:endCxn id="296001" idx="0"/>
            </p:cNvCxnSpPr>
            <p:nvPr/>
          </p:nvCxnSpPr>
          <p:spPr bwMode="auto">
            <a:xfrm>
              <a:off x="5029" y="3384"/>
              <a:ext cx="107"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7" name="AutoShape 81"/>
            <p:cNvCxnSpPr>
              <a:cxnSpLocks noChangeShapeType="1"/>
              <a:stCxn id="295991" idx="4"/>
              <a:endCxn id="295994" idx="0"/>
            </p:cNvCxnSpPr>
            <p:nvPr/>
          </p:nvCxnSpPr>
          <p:spPr bwMode="auto">
            <a:xfrm>
              <a:off x="4777" y="2952"/>
              <a:ext cx="25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8" name="AutoShape 82"/>
            <p:cNvCxnSpPr>
              <a:cxnSpLocks noChangeShapeType="1"/>
              <a:stCxn id="295992" idx="4"/>
              <a:endCxn id="296002" idx="0"/>
            </p:cNvCxnSpPr>
            <p:nvPr/>
          </p:nvCxnSpPr>
          <p:spPr bwMode="auto">
            <a:xfrm flipH="1">
              <a:off x="5328" y="2952"/>
              <a:ext cx="8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019" name="AutoShape 83"/>
            <p:cNvCxnSpPr>
              <a:cxnSpLocks noChangeShapeType="1"/>
              <a:stCxn id="295992" idx="4"/>
              <a:endCxn id="296003" idx="0"/>
            </p:cNvCxnSpPr>
            <p:nvPr/>
          </p:nvCxnSpPr>
          <p:spPr bwMode="auto">
            <a:xfrm>
              <a:off x="5413" y="2952"/>
              <a:ext cx="107"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6020" name="Text Box 84"/>
          <p:cNvSpPr txBox="1">
            <a:spLocks noChangeArrowheads="1"/>
          </p:cNvSpPr>
          <p:nvPr/>
        </p:nvSpPr>
        <p:spPr bwMode="auto">
          <a:xfrm>
            <a:off x="2514600" y="5867400"/>
            <a:ext cx="14700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itchFamily="18" charset="0"/>
              </a:rPr>
              <a:t>before insertion</a:t>
            </a:r>
          </a:p>
        </p:txBody>
      </p:sp>
      <p:sp>
        <p:nvSpPr>
          <p:cNvPr id="296021" name="Text Box 85"/>
          <p:cNvSpPr txBox="1">
            <a:spLocks noChangeArrowheads="1"/>
          </p:cNvSpPr>
          <p:nvPr/>
        </p:nvSpPr>
        <p:spPr bwMode="auto">
          <a:xfrm>
            <a:off x="5730875" y="5867400"/>
            <a:ext cx="13239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itchFamily="18" charset="0"/>
              </a:rPr>
              <a:t>after insertion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Footer Placeholder 4"/>
          <p:cNvSpPr>
            <a:spLocks noGrp="1"/>
          </p:cNvSpPr>
          <p:nvPr>
            <p:ph type="ftr" sz="quarter" idx="11"/>
          </p:nvPr>
        </p:nvSpPr>
        <p:spPr/>
        <p:txBody>
          <a:bodyPr/>
          <a:lstStyle/>
          <a:p>
            <a:r>
              <a:rPr lang="en-US"/>
              <a:t>Data Structures and Algorithms</a:t>
            </a:r>
          </a:p>
        </p:txBody>
      </p:sp>
      <p:sp>
        <p:nvSpPr>
          <p:cNvPr id="70" name="Slide Number Placeholder 5"/>
          <p:cNvSpPr>
            <a:spLocks noGrp="1"/>
          </p:cNvSpPr>
          <p:nvPr>
            <p:ph type="sldNum" sz="quarter" idx="12"/>
          </p:nvPr>
        </p:nvSpPr>
        <p:spPr/>
        <p:txBody>
          <a:bodyPr/>
          <a:lstStyle/>
          <a:p>
            <a:fld id="{2DFCE195-5C78-4169-844D-10F795A4985A}" type="slidenum">
              <a:rPr lang="en-US"/>
              <a:pPr/>
              <a:t>28</a:t>
            </a:fld>
            <a:endParaRPr lang="en-US"/>
          </a:p>
        </p:txBody>
      </p:sp>
      <p:sp>
        <p:nvSpPr>
          <p:cNvPr id="296962" name="Rectangle 2"/>
          <p:cNvSpPr>
            <a:spLocks noGrp="1" noChangeArrowheads="1"/>
          </p:cNvSpPr>
          <p:nvPr>
            <p:ph type="title"/>
          </p:nvPr>
        </p:nvSpPr>
        <p:spPr/>
        <p:txBody>
          <a:bodyPr/>
          <a:lstStyle/>
          <a:p>
            <a:r>
              <a:rPr lang="en-US" altLang="en-US"/>
              <a:t>Trinode Restructuring</a:t>
            </a:r>
          </a:p>
        </p:txBody>
      </p:sp>
      <p:sp>
        <p:nvSpPr>
          <p:cNvPr id="296963" name="Rectangle 3"/>
          <p:cNvSpPr>
            <a:spLocks noGrp="1" noChangeArrowheads="1"/>
          </p:cNvSpPr>
          <p:nvPr>
            <p:ph type="body" idx="1"/>
          </p:nvPr>
        </p:nvSpPr>
        <p:spPr>
          <a:xfrm>
            <a:off x="685800" y="1524000"/>
            <a:ext cx="7772400" cy="1143000"/>
          </a:xfrm>
        </p:spPr>
        <p:txBody>
          <a:bodyPr/>
          <a:lstStyle/>
          <a:p>
            <a:pPr>
              <a:lnSpc>
                <a:spcPct val="90000"/>
              </a:lnSpc>
            </a:pPr>
            <a:r>
              <a:rPr lang="en-US" altLang="en-US" sz="1800"/>
              <a:t>let (</a:t>
            </a:r>
            <a:r>
              <a:rPr lang="en-US" altLang="en-US" sz="1800" i="1"/>
              <a:t>a</a:t>
            </a:r>
            <a:r>
              <a:rPr lang="en-US" altLang="en-US" sz="1800"/>
              <a:t>,</a:t>
            </a:r>
            <a:r>
              <a:rPr lang="en-US" altLang="en-US" sz="1800" i="1"/>
              <a:t>b</a:t>
            </a:r>
            <a:r>
              <a:rPr lang="en-US" altLang="en-US" sz="1800"/>
              <a:t>,</a:t>
            </a:r>
            <a:r>
              <a:rPr lang="en-US" altLang="en-US" sz="1800" i="1"/>
              <a:t>c</a:t>
            </a:r>
            <a:r>
              <a:rPr lang="en-US" altLang="en-US" sz="1800"/>
              <a:t>) be an inorder listing of </a:t>
            </a:r>
            <a:r>
              <a:rPr lang="en-US" altLang="en-US" sz="1800" i="1"/>
              <a:t>x</a:t>
            </a:r>
            <a:r>
              <a:rPr lang="en-US" altLang="en-US" sz="1800"/>
              <a:t>, </a:t>
            </a:r>
            <a:r>
              <a:rPr lang="en-US" altLang="en-US" sz="1800" i="1"/>
              <a:t>y</a:t>
            </a:r>
            <a:r>
              <a:rPr lang="en-US" altLang="en-US" sz="1800"/>
              <a:t>, </a:t>
            </a:r>
            <a:r>
              <a:rPr lang="en-US" altLang="en-US" sz="1800" i="1"/>
              <a:t>z</a:t>
            </a:r>
            <a:endParaRPr lang="en-US" altLang="en-US" sz="1800"/>
          </a:p>
          <a:p>
            <a:pPr>
              <a:lnSpc>
                <a:spcPct val="90000"/>
              </a:lnSpc>
            </a:pPr>
            <a:r>
              <a:rPr lang="en-US" altLang="en-US" sz="1800"/>
              <a:t>perform the rotations needed to make </a:t>
            </a:r>
            <a:r>
              <a:rPr lang="en-US" altLang="en-US" sz="1800" i="1"/>
              <a:t>b</a:t>
            </a:r>
            <a:r>
              <a:rPr lang="en-US" altLang="en-US" sz="1800"/>
              <a:t> the topmost node of the three</a:t>
            </a:r>
          </a:p>
        </p:txBody>
      </p:sp>
      <p:grpSp>
        <p:nvGrpSpPr>
          <p:cNvPr id="296964" name="Group 4"/>
          <p:cNvGrpSpPr>
            <a:grpSpLocks/>
          </p:cNvGrpSpPr>
          <p:nvPr/>
        </p:nvGrpSpPr>
        <p:grpSpPr bwMode="auto">
          <a:xfrm>
            <a:off x="608013" y="2514600"/>
            <a:ext cx="2058987" cy="2701925"/>
            <a:chOff x="148" y="1802"/>
            <a:chExt cx="1297" cy="1702"/>
          </a:xfrm>
        </p:grpSpPr>
        <p:sp>
          <p:nvSpPr>
            <p:cNvPr id="296965" name="Oval 5"/>
            <p:cNvSpPr>
              <a:spLocks noChangeArrowheads="1"/>
            </p:cNvSpPr>
            <p:nvPr/>
          </p:nvSpPr>
          <p:spPr bwMode="auto">
            <a:xfrm>
              <a:off x="679" y="2294"/>
              <a:ext cx="371"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b=y</a:t>
              </a:r>
            </a:p>
          </p:txBody>
        </p:sp>
        <p:sp>
          <p:nvSpPr>
            <p:cNvPr id="296966" name="Oval 6"/>
            <p:cNvSpPr>
              <a:spLocks noChangeArrowheads="1"/>
            </p:cNvSpPr>
            <p:nvPr/>
          </p:nvSpPr>
          <p:spPr bwMode="auto">
            <a:xfrm>
              <a:off x="451" y="1910"/>
              <a:ext cx="353"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a=z</a:t>
              </a:r>
            </a:p>
          </p:txBody>
        </p:sp>
        <p:sp>
          <p:nvSpPr>
            <p:cNvPr id="296967" name="Oval 7"/>
            <p:cNvSpPr>
              <a:spLocks noChangeArrowheads="1"/>
            </p:cNvSpPr>
            <p:nvPr/>
          </p:nvSpPr>
          <p:spPr bwMode="auto">
            <a:xfrm>
              <a:off x="920" y="2678"/>
              <a:ext cx="361"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c=x</a:t>
              </a:r>
            </a:p>
          </p:txBody>
        </p:sp>
        <p:sp>
          <p:nvSpPr>
            <p:cNvPr id="296968" name="AutoShape 8"/>
            <p:cNvSpPr>
              <a:spLocks noChangeArrowheads="1"/>
            </p:cNvSpPr>
            <p:nvPr/>
          </p:nvSpPr>
          <p:spPr bwMode="auto">
            <a:xfrm>
              <a:off x="148" y="2294"/>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0</a:t>
              </a:r>
              <a:endParaRPr lang="en-US" altLang="en-US" sz="1400">
                <a:latin typeface="Times New Roman" pitchFamily="18" charset="0"/>
              </a:endParaRPr>
            </a:p>
          </p:txBody>
        </p:sp>
        <p:sp>
          <p:nvSpPr>
            <p:cNvPr id="296969" name="AutoShape 9"/>
            <p:cNvSpPr>
              <a:spLocks noChangeArrowheads="1"/>
            </p:cNvSpPr>
            <p:nvPr/>
          </p:nvSpPr>
          <p:spPr bwMode="auto">
            <a:xfrm>
              <a:off x="438" y="2726"/>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1</a:t>
              </a:r>
              <a:endParaRPr lang="en-US" altLang="en-US" sz="1400">
                <a:latin typeface="Times New Roman" pitchFamily="18" charset="0"/>
              </a:endParaRPr>
            </a:p>
          </p:txBody>
        </p:sp>
        <p:sp>
          <p:nvSpPr>
            <p:cNvPr id="296970" name="AutoShape 10"/>
            <p:cNvSpPr>
              <a:spLocks noChangeArrowheads="1"/>
            </p:cNvSpPr>
            <p:nvPr/>
          </p:nvSpPr>
          <p:spPr bwMode="auto">
            <a:xfrm>
              <a:off x="726" y="3038"/>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2</a:t>
              </a:r>
              <a:endParaRPr lang="en-US" altLang="en-US" sz="1400">
                <a:latin typeface="Times New Roman" pitchFamily="18" charset="0"/>
              </a:endParaRPr>
            </a:p>
          </p:txBody>
        </p:sp>
        <p:sp>
          <p:nvSpPr>
            <p:cNvPr id="296971" name="AutoShape 11"/>
            <p:cNvSpPr>
              <a:spLocks noChangeArrowheads="1"/>
            </p:cNvSpPr>
            <p:nvPr/>
          </p:nvSpPr>
          <p:spPr bwMode="auto">
            <a:xfrm>
              <a:off x="1115" y="3038"/>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3</a:t>
              </a:r>
              <a:endParaRPr lang="en-US" altLang="en-US" sz="1400">
                <a:latin typeface="Times New Roman" pitchFamily="18" charset="0"/>
              </a:endParaRPr>
            </a:p>
          </p:txBody>
        </p:sp>
        <p:cxnSp>
          <p:nvCxnSpPr>
            <p:cNvPr id="296972" name="AutoShape 12"/>
            <p:cNvCxnSpPr>
              <a:cxnSpLocks noChangeShapeType="1"/>
              <a:stCxn id="296967" idx="4"/>
              <a:endCxn id="296971" idx="0"/>
            </p:cNvCxnSpPr>
            <p:nvPr/>
          </p:nvCxnSpPr>
          <p:spPr bwMode="auto">
            <a:xfrm>
              <a:off x="1101" y="2932"/>
              <a:ext cx="179" cy="106"/>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73" name="AutoShape 13"/>
            <p:cNvCxnSpPr>
              <a:cxnSpLocks noChangeShapeType="1"/>
              <a:stCxn id="296967" idx="4"/>
              <a:endCxn id="296970" idx="0"/>
            </p:cNvCxnSpPr>
            <p:nvPr/>
          </p:nvCxnSpPr>
          <p:spPr bwMode="auto">
            <a:xfrm flipH="1">
              <a:off x="891" y="2932"/>
              <a:ext cx="210" cy="106"/>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74" name="AutoShape 14"/>
            <p:cNvCxnSpPr>
              <a:cxnSpLocks noChangeShapeType="1"/>
              <a:stCxn id="296965" idx="4"/>
              <a:endCxn id="296967" idx="0"/>
            </p:cNvCxnSpPr>
            <p:nvPr/>
          </p:nvCxnSpPr>
          <p:spPr bwMode="auto">
            <a:xfrm>
              <a:off x="865" y="2548"/>
              <a:ext cx="236"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75" name="AutoShape 15"/>
            <p:cNvCxnSpPr>
              <a:cxnSpLocks noChangeShapeType="1"/>
              <a:stCxn id="296965" idx="4"/>
              <a:endCxn id="296969" idx="0"/>
            </p:cNvCxnSpPr>
            <p:nvPr/>
          </p:nvCxnSpPr>
          <p:spPr bwMode="auto">
            <a:xfrm flipH="1">
              <a:off x="603" y="2548"/>
              <a:ext cx="26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76" name="AutoShape 16"/>
            <p:cNvCxnSpPr>
              <a:cxnSpLocks noChangeShapeType="1"/>
              <a:stCxn id="296966" idx="4"/>
              <a:endCxn id="296965" idx="0"/>
            </p:cNvCxnSpPr>
            <p:nvPr/>
          </p:nvCxnSpPr>
          <p:spPr bwMode="auto">
            <a:xfrm>
              <a:off x="628" y="2164"/>
              <a:ext cx="237"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77" name="AutoShape 17"/>
            <p:cNvCxnSpPr>
              <a:cxnSpLocks noChangeShapeType="1"/>
              <a:stCxn id="296966" idx="4"/>
              <a:endCxn id="296968" idx="0"/>
            </p:cNvCxnSpPr>
            <p:nvPr/>
          </p:nvCxnSpPr>
          <p:spPr bwMode="auto">
            <a:xfrm flipH="1">
              <a:off x="313" y="2164"/>
              <a:ext cx="315"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78" name="AutoShape 18"/>
            <p:cNvCxnSpPr>
              <a:cxnSpLocks noChangeShapeType="1"/>
              <a:stCxn id="296966" idx="0"/>
            </p:cNvCxnSpPr>
            <p:nvPr/>
          </p:nvCxnSpPr>
          <p:spPr bwMode="auto">
            <a:xfrm flipH="1" flipV="1">
              <a:off x="484" y="1802"/>
              <a:ext cx="144" cy="10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6979" name="Group 19"/>
          <p:cNvGrpSpPr>
            <a:grpSpLocks/>
          </p:cNvGrpSpPr>
          <p:nvPr/>
        </p:nvGrpSpPr>
        <p:grpSpPr bwMode="auto">
          <a:xfrm>
            <a:off x="2679700" y="4191000"/>
            <a:ext cx="2501900" cy="2133600"/>
            <a:chOff x="1540" y="2640"/>
            <a:chExt cx="1576" cy="1344"/>
          </a:xfrm>
        </p:grpSpPr>
        <p:sp>
          <p:nvSpPr>
            <p:cNvPr id="296980" name="Oval 20"/>
            <p:cNvSpPr>
              <a:spLocks noChangeArrowheads="1"/>
            </p:cNvSpPr>
            <p:nvPr/>
          </p:nvSpPr>
          <p:spPr bwMode="auto">
            <a:xfrm>
              <a:off x="2135" y="2748"/>
              <a:ext cx="371"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b=y</a:t>
              </a:r>
            </a:p>
          </p:txBody>
        </p:sp>
        <p:sp>
          <p:nvSpPr>
            <p:cNvPr id="296981" name="Oval 21"/>
            <p:cNvSpPr>
              <a:spLocks noChangeArrowheads="1"/>
            </p:cNvSpPr>
            <p:nvPr/>
          </p:nvSpPr>
          <p:spPr bwMode="auto">
            <a:xfrm>
              <a:off x="1723" y="3148"/>
              <a:ext cx="353"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a=z</a:t>
              </a:r>
            </a:p>
          </p:txBody>
        </p:sp>
        <p:sp>
          <p:nvSpPr>
            <p:cNvPr id="296982" name="Oval 22"/>
            <p:cNvSpPr>
              <a:spLocks noChangeArrowheads="1"/>
            </p:cNvSpPr>
            <p:nvPr/>
          </p:nvSpPr>
          <p:spPr bwMode="auto">
            <a:xfrm>
              <a:off x="2579" y="3154"/>
              <a:ext cx="361"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c=x</a:t>
              </a:r>
            </a:p>
          </p:txBody>
        </p:sp>
        <p:sp>
          <p:nvSpPr>
            <p:cNvPr id="296983" name="AutoShape 23"/>
            <p:cNvSpPr>
              <a:spLocks noChangeArrowheads="1"/>
            </p:cNvSpPr>
            <p:nvPr/>
          </p:nvSpPr>
          <p:spPr bwMode="auto">
            <a:xfrm>
              <a:off x="1540" y="3518"/>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0</a:t>
              </a:r>
              <a:endParaRPr lang="en-US" altLang="en-US" sz="1400">
                <a:latin typeface="Times New Roman" pitchFamily="18" charset="0"/>
              </a:endParaRPr>
            </a:p>
          </p:txBody>
        </p:sp>
        <p:sp>
          <p:nvSpPr>
            <p:cNvPr id="296984" name="AutoShape 24"/>
            <p:cNvSpPr>
              <a:spLocks noChangeArrowheads="1"/>
            </p:cNvSpPr>
            <p:nvPr/>
          </p:nvSpPr>
          <p:spPr bwMode="auto">
            <a:xfrm>
              <a:off x="1919" y="3516"/>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1</a:t>
              </a:r>
              <a:endParaRPr lang="en-US" altLang="en-US" sz="1400">
                <a:latin typeface="Times New Roman" pitchFamily="18" charset="0"/>
              </a:endParaRPr>
            </a:p>
          </p:txBody>
        </p:sp>
        <p:sp>
          <p:nvSpPr>
            <p:cNvPr id="296985" name="AutoShape 25"/>
            <p:cNvSpPr>
              <a:spLocks noChangeArrowheads="1"/>
            </p:cNvSpPr>
            <p:nvPr/>
          </p:nvSpPr>
          <p:spPr bwMode="auto">
            <a:xfrm>
              <a:off x="2397" y="3514"/>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2</a:t>
              </a:r>
              <a:endParaRPr lang="en-US" altLang="en-US" sz="1400">
                <a:latin typeface="Times New Roman" pitchFamily="18" charset="0"/>
              </a:endParaRPr>
            </a:p>
          </p:txBody>
        </p:sp>
        <p:sp>
          <p:nvSpPr>
            <p:cNvPr id="296986" name="AutoShape 26"/>
            <p:cNvSpPr>
              <a:spLocks noChangeArrowheads="1"/>
            </p:cNvSpPr>
            <p:nvPr/>
          </p:nvSpPr>
          <p:spPr bwMode="auto">
            <a:xfrm>
              <a:off x="2786" y="3514"/>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3</a:t>
              </a:r>
              <a:endParaRPr lang="en-US" altLang="en-US" sz="1400">
                <a:latin typeface="Times New Roman" pitchFamily="18" charset="0"/>
              </a:endParaRPr>
            </a:p>
          </p:txBody>
        </p:sp>
        <p:cxnSp>
          <p:nvCxnSpPr>
            <p:cNvPr id="296987" name="AutoShape 27"/>
            <p:cNvCxnSpPr>
              <a:cxnSpLocks noChangeShapeType="1"/>
              <a:stCxn id="296982" idx="4"/>
              <a:endCxn id="296986" idx="0"/>
            </p:cNvCxnSpPr>
            <p:nvPr/>
          </p:nvCxnSpPr>
          <p:spPr bwMode="auto">
            <a:xfrm>
              <a:off x="2760" y="3408"/>
              <a:ext cx="191" cy="106"/>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88" name="AutoShape 28"/>
            <p:cNvCxnSpPr>
              <a:cxnSpLocks noChangeShapeType="1"/>
              <a:stCxn id="296982" idx="4"/>
              <a:endCxn id="296985" idx="0"/>
            </p:cNvCxnSpPr>
            <p:nvPr/>
          </p:nvCxnSpPr>
          <p:spPr bwMode="auto">
            <a:xfrm flipH="1">
              <a:off x="2562" y="3408"/>
              <a:ext cx="198" cy="106"/>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89" name="AutoShape 29"/>
            <p:cNvCxnSpPr>
              <a:cxnSpLocks noChangeShapeType="1"/>
              <a:stCxn id="296980" idx="4"/>
              <a:endCxn id="296982" idx="0"/>
            </p:cNvCxnSpPr>
            <p:nvPr/>
          </p:nvCxnSpPr>
          <p:spPr bwMode="auto">
            <a:xfrm>
              <a:off x="2321" y="3002"/>
              <a:ext cx="439" cy="15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90" name="AutoShape 30"/>
            <p:cNvCxnSpPr>
              <a:cxnSpLocks noChangeShapeType="1"/>
              <a:stCxn id="296981" idx="4"/>
              <a:endCxn id="296984" idx="0"/>
            </p:cNvCxnSpPr>
            <p:nvPr/>
          </p:nvCxnSpPr>
          <p:spPr bwMode="auto">
            <a:xfrm>
              <a:off x="1900" y="3402"/>
              <a:ext cx="184" cy="114"/>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91" name="AutoShape 31"/>
            <p:cNvCxnSpPr>
              <a:cxnSpLocks noChangeShapeType="1"/>
              <a:stCxn id="296981" idx="0"/>
              <a:endCxn id="296980" idx="4"/>
            </p:cNvCxnSpPr>
            <p:nvPr/>
          </p:nvCxnSpPr>
          <p:spPr bwMode="auto">
            <a:xfrm flipV="1">
              <a:off x="1900" y="3002"/>
              <a:ext cx="421" cy="146"/>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92" name="AutoShape 32"/>
            <p:cNvCxnSpPr>
              <a:cxnSpLocks noChangeShapeType="1"/>
              <a:stCxn id="296981" idx="4"/>
              <a:endCxn id="296983" idx="0"/>
            </p:cNvCxnSpPr>
            <p:nvPr/>
          </p:nvCxnSpPr>
          <p:spPr bwMode="auto">
            <a:xfrm flipH="1">
              <a:off x="1705" y="3402"/>
              <a:ext cx="195" cy="116"/>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993" name="AutoShape 33"/>
            <p:cNvCxnSpPr>
              <a:cxnSpLocks noChangeShapeType="1"/>
              <a:stCxn id="296980" idx="0"/>
            </p:cNvCxnSpPr>
            <p:nvPr/>
          </p:nvCxnSpPr>
          <p:spPr bwMode="auto">
            <a:xfrm flipH="1" flipV="1">
              <a:off x="2181" y="2640"/>
              <a:ext cx="140" cy="10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6994" name="Group 34"/>
          <p:cNvGrpSpPr>
            <a:grpSpLocks/>
          </p:cNvGrpSpPr>
          <p:nvPr/>
        </p:nvGrpSpPr>
        <p:grpSpPr bwMode="auto">
          <a:xfrm>
            <a:off x="4800600" y="2403475"/>
            <a:ext cx="2047875" cy="2701925"/>
            <a:chOff x="3124" y="1584"/>
            <a:chExt cx="1290" cy="1702"/>
          </a:xfrm>
        </p:grpSpPr>
        <p:sp>
          <p:nvSpPr>
            <p:cNvPr id="296995" name="Oval 35"/>
            <p:cNvSpPr>
              <a:spLocks noChangeArrowheads="1"/>
            </p:cNvSpPr>
            <p:nvPr/>
          </p:nvSpPr>
          <p:spPr bwMode="auto">
            <a:xfrm>
              <a:off x="3797" y="2080"/>
              <a:ext cx="361"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c=y</a:t>
              </a:r>
            </a:p>
          </p:txBody>
        </p:sp>
        <p:sp>
          <p:nvSpPr>
            <p:cNvPr id="296996" name="Oval 36"/>
            <p:cNvSpPr>
              <a:spLocks noChangeArrowheads="1"/>
            </p:cNvSpPr>
            <p:nvPr/>
          </p:nvSpPr>
          <p:spPr bwMode="auto">
            <a:xfrm>
              <a:off x="3548" y="2496"/>
              <a:ext cx="371"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b=x</a:t>
              </a:r>
            </a:p>
          </p:txBody>
        </p:sp>
        <p:sp>
          <p:nvSpPr>
            <p:cNvPr id="296997" name="Oval 37"/>
            <p:cNvSpPr>
              <a:spLocks noChangeArrowheads="1"/>
            </p:cNvSpPr>
            <p:nvPr/>
          </p:nvSpPr>
          <p:spPr bwMode="auto">
            <a:xfrm>
              <a:off x="3440" y="1692"/>
              <a:ext cx="353"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a=z</a:t>
              </a:r>
            </a:p>
          </p:txBody>
        </p:sp>
        <p:sp>
          <p:nvSpPr>
            <p:cNvPr id="296998" name="AutoShape 38"/>
            <p:cNvSpPr>
              <a:spLocks noChangeArrowheads="1"/>
            </p:cNvSpPr>
            <p:nvPr/>
          </p:nvSpPr>
          <p:spPr bwMode="auto">
            <a:xfrm>
              <a:off x="3124" y="2076"/>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0</a:t>
              </a:r>
              <a:endParaRPr lang="en-US" altLang="en-US" sz="1400">
                <a:latin typeface="Times New Roman" pitchFamily="18" charset="0"/>
              </a:endParaRPr>
            </a:p>
          </p:txBody>
        </p:sp>
        <p:sp>
          <p:nvSpPr>
            <p:cNvPr id="296999" name="AutoShape 39"/>
            <p:cNvSpPr>
              <a:spLocks noChangeArrowheads="1"/>
            </p:cNvSpPr>
            <p:nvPr/>
          </p:nvSpPr>
          <p:spPr bwMode="auto">
            <a:xfrm>
              <a:off x="3362" y="2810"/>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1</a:t>
              </a:r>
              <a:endParaRPr lang="en-US" altLang="en-US" sz="1400">
                <a:latin typeface="Times New Roman" pitchFamily="18" charset="0"/>
              </a:endParaRPr>
            </a:p>
          </p:txBody>
        </p:sp>
        <p:sp>
          <p:nvSpPr>
            <p:cNvPr id="297000" name="AutoShape 40"/>
            <p:cNvSpPr>
              <a:spLocks noChangeArrowheads="1"/>
            </p:cNvSpPr>
            <p:nvPr/>
          </p:nvSpPr>
          <p:spPr bwMode="auto">
            <a:xfrm>
              <a:off x="3796" y="2820"/>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2</a:t>
              </a:r>
              <a:endParaRPr lang="en-US" altLang="en-US" sz="1400">
                <a:latin typeface="Times New Roman" pitchFamily="18" charset="0"/>
              </a:endParaRPr>
            </a:p>
          </p:txBody>
        </p:sp>
        <p:sp>
          <p:nvSpPr>
            <p:cNvPr id="297001" name="AutoShape 41"/>
            <p:cNvSpPr>
              <a:spLocks noChangeArrowheads="1"/>
            </p:cNvSpPr>
            <p:nvPr/>
          </p:nvSpPr>
          <p:spPr bwMode="auto">
            <a:xfrm>
              <a:off x="4084" y="2510"/>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3</a:t>
              </a:r>
              <a:endParaRPr lang="en-US" altLang="en-US" sz="1400">
                <a:latin typeface="Times New Roman" pitchFamily="18" charset="0"/>
              </a:endParaRPr>
            </a:p>
          </p:txBody>
        </p:sp>
        <p:cxnSp>
          <p:nvCxnSpPr>
            <p:cNvPr id="297002" name="AutoShape 42"/>
            <p:cNvCxnSpPr>
              <a:cxnSpLocks noChangeShapeType="1"/>
              <a:stCxn id="296995" idx="4"/>
              <a:endCxn id="297001" idx="0"/>
            </p:cNvCxnSpPr>
            <p:nvPr/>
          </p:nvCxnSpPr>
          <p:spPr bwMode="auto">
            <a:xfrm>
              <a:off x="3978" y="2334"/>
              <a:ext cx="271" cy="176"/>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03" name="AutoShape 43"/>
            <p:cNvCxnSpPr>
              <a:cxnSpLocks noChangeShapeType="1"/>
              <a:stCxn id="296996" idx="4"/>
              <a:endCxn id="297000" idx="0"/>
            </p:cNvCxnSpPr>
            <p:nvPr/>
          </p:nvCxnSpPr>
          <p:spPr bwMode="auto">
            <a:xfrm>
              <a:off x="3734" y="2750"/>
              <a:ext cx="227" cy="7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04" name="AutoShape 44"/>
            <p:cNvCxnSpPr>
              <a:cxnSpLocks noChangeShapeType="1"/>
              <a:stCxn id="296996" idx="0"/>
              <a:endCxn id="296995" idx="4"/>
            </p:cNvCxnSpPr>
            <p:nvPr/>
          </p:nvCxnSpPr>
          <p:spPr bwMode="auto">
            <a:xfrm flipV="1">
              <a:off x="3734" y="2334"/>
              <a:ext cx="244" cy="16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05" name="AutoShape 45"/>
            <p:cNvCxnSpPr>
              <a:cxnSpLocks noChangeShapeType="1"/>
              <a:stCxn id="296996" idx="4"/>
              <a:endCxn id="296999" idx="0"/>
            </p:cNvCxnSpPr>
            <p:nvPr/>
          </p:nvCxnSpPr>
          <p:spPr bwMode="auto">
            <a:xfrm flipH="1">
              <a:off x="3527" y="2750"/>
              <a:ext cx="207" cy="6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06" name="AutoShape 46"/>
            <p:cNvCxnSpPr>
              <a:cxnSpLocks noChangeShapeType="1"/>
              <a:stCxn id="296997" idx="4"/>
              <a:endCxn id="296995" idx="0"/>
            </p:cNvCxnSpPr>
            <p:nvPr/>
          </p:nvCxnSpPr>
          <p:spPr bwMode="auto">
            <a:xfrm>
              <a:off x="3617" y="1946"/>
              <a:ext cx="361" cy="134"/>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07" name="AutoShape 47"/>
            <p:cNvCxnSpPr>
              <a:cxnSpLocks noChangeShapeType="1"/>
              <a:stCxn id="296997" idx="4"/>
              <a:endCxn id="296998" idx="0"/>
            </p:cNvCxnSpPr>
            <p:nvPr/>
          </p:nvCxnSpPr>
          <p:spPr bwMode="auto">
            <a:xfrm flipH="1">
              <a:off x="3289" y="1946"/>
              <a:ext cx="328"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08" name="AutoShape 48"/>
            <p:cNvCxnSpPr>
              <a:cxnSpLocks noChangeShapeType="1"/>
              <a:stCxn id="296997" idx="0"/>
            </p:cNvCxnSpPr>
            <p:nvPr/>
          </p:nvCxnSpPr>
          <p:spPr bwMode="auto">
            <a:xfrm flipH="1" flipV="1">
              <a:off x="3473" y="1584"/>
              <a:ext cx="144" cy="10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297009" name="Group 49"/>
          <p:cNvGrpSpPr>
            <a:grpSpLocks/>
          </p:cNvGrpSpPr>
          <p:nvPr/>
        </p:nvGrpSpPr>
        <p:grpSpPr bwMode="auto">
          <a:xfrm>
            <a:off x="6629400" y="4210050"/>
            <a:ext cx="2355850" cy="2117725"/>
            <a:chOff x="4226" y="2652"/>
            <a:chExt cx="1484" cy="1334"/>
          </a:xfrm>
        </p:grpSpPr>
        <p:sp>
          <p:nvSpPr>
            <p:cNvPr id="297010" name="Oval 50"/>
            <p:cNvSpPr>
              <a:spLocks noChangeArrowheads="1"/>
            </p:cNvSpPr>
            <p:nvPr/>
          </p:nvSpPr>
          <p:spPr bwMode="auto">
            <a:xfrm>
              <a:off x="4772" y="2758"/>
              <a:ext cx="371"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b=x</a:t>
              </a:r>
            </a:p>
          </p:txBody>
        </p:sp>
        <p:sp>
          <p:nvSpPr>
            <p:cNvPr id="297011" name="Oval 51"/>
            <p:cNvSpPr>
              <a:spLocks noChangeArrowheads="1"/>
            </p:cNvSpPr>
            <p:nvPr/>
          </p:nvSpPr>
          <p:spPr bwMode="auto">
            <a:xfrm>
              <a:off x="5183" y="3154"/>
              <a:ext cx="361"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c=y</a:t>
              </a:r>
            </a:p>
          </p:txBody>
        </p:sp>
        <p:sp>
          <p:nvSpPr>
            <p:cNvPr id="297012" name="Oval 52"/>
            <p:cNvSpPr>
              <a:spLocks noChangeArrowheads="1"/>
            </p:cNvSpPr>
            <p:nvPr/>
          </p:nvSpPr>
          <p:spPr bwMode="auto">
            <a:xfrm>
              <a:off x="4394" y="3154"/>
              <a:ext cx="353"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a=z</a:t>
              </a:r>
            </a:p>
          </p:txBody>
        </p:sp>
        <p:sp>
          <p:nvSpPr>
            <p:cNvPr id="297013" name="AutoShape 53"/>
            <p:cNvSpPr>
              <a:spLocks noChangeArrowheads="1"/>
            </p:cNvSpPr>
            <p:nvPr/>
          </p:nvSpPr>
          <p:spPr bwMode="auto">
            <a:xfrm>
              <a:off x="4226" y="3518"/>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0</a:t>
              </a:r>
              <a:endParaRPr lang="en-US" altLang="en-US" sz="1400">
                <a:latin typeface="Times New Roman" pitchFamily="18" charset="0"/>
              </a:endParaRPr>
            </a:p>
          </p:txBody>
        </p:sp>
        <p:sp>
          <p:nvSpPr>
            <p:cNvPr id="297014" name="AutoShape 54"/>
            <p:cNvSpPr>
              <a:spLocks noChangeArrowheads="1"/>
            </p:cNvSpPr>
            <p:nvPr/>
          </p:nvSpPr>
          <p:spPr bwMode="auto">
            <a:xfrm>
              <a:off x="4610" y="3520"/>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1</a:t>
              </a:r>
              <a:endParaRPr lang="en-US" altLang="en-US" sz="1400">
                <a:latin typeface="Times New Roman" pitchFamily="18" charset="0"/>
              </a:endParaRPr>
            </a:p>
          </p:txBody>
        </p:sp>
        <p:sp>
          <p:nvSpPr>
            <p:cNvPr id="297015" name="AutoShape 55"/>
            <p:cNvSpPr>
              <a:spLocks noChangeArrowheads="1"/>
            </p:cNvSpPr>
            <p:nvPr/>
          </p:nvSpPr>
          <p:spPr bwMode="auto">
            <a:xfrm>
              <a:off x="4996" y="3518"/>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2</a:t>
              </a:r>
              <a:endParaRPr lang="en-US" altLang="en-US" sz="1400">
                <a:latin typeface="Times New Roman" pitchFamily="18" charset="0"/>
              </a:endParaRPr>
            </a:p>
          </p:txBody>
        </p:sp>
        <p:sp>
          <p:nvSpPr>
            <p:cNvPr id="297016" name="AutoShape 56"/>
            <p:cNvSpPr>
              <a:spLocks noChangeArrowheads="1"/>
            </p:cNvSpPr>
            <p:nvPr/>
          </p:nvSpPr>
          <p:spPr bwMode="auto">
            <a:xfrm>
              <a:off x="5380" y="3516"/>
              <a:ext cx="330" cy="466"/>
            </a:xfrm>
            <a:prstGeom prst="triangle">
              <a:avLst>
                <a:gd name="adj" fmla="val 50000"/>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T</a:t>
              </a:r>
              <a:r>
                <a:rPr lang="en-US" altLang="en-US" sz="1400" baseline="-25000">
                  <a:latin typeface="Times New Roman" pitchFamily="18" charset="0"/>
                </a:rPr>
                <a:t>3</a:t>
              </a:r>
              <a:endParaRPr lang="en-US" altLang="en-US" sz="1400">
                <a:latin typeface="Times New Roman" pitchFamily="18" charset="0"/>
              </a:endParaRPr>
            </a:p>
          </p:txBody>
        </p:sp>
        <p:cxnSp>
          <p:nvCxnSpPr>
            <p:cNvPr id="297017" name="AutoShape 57"/>
            <p:cNvCxnSpPr>
              <a:cxnSpLocks noChangeShapeType="1"/>
              <a:stCxn id="297011" idx="4"/>
              <a:endCxn id="297016" idx="0"/>
            </p:cNvCxnSpPr>
            <p:nvPr/>
          </p:nvCxnSpPr>
          <p:spPr bwMode="auto">
            <a:xfrm>
              <a:off x="5364" y="3408"/>
              <a:ext cx="181" cy="10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18" name="AutoShape 58"/>
            <p:cNvCxnSpPr>
              <a:cxnSpLocks noChangeShapeType="1"/>
              <a:stCxn id="297011" idx="4"/>
              <a:endCxn id="297015" idx="0"/>
            </p:cNvCxnSpPr>
            <p:nvPr/>
          </p:nvCxnSpPr>
          <p:spPr bwMode="auto">
            <a:xfrm flipH="1">
              <a:off x="5161" y="3408"/>
              <a:ext cx="203" cy="11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19" name="AutoShape 59"/>
            <p:cNvCxnSpPr>
              <a:cxnSpLocks noChangeShapeType="1"/>
              <a:stCxn id="297010" idx="4"/>
              <a:endCxn id="297012" idx="0"/>
            </p:cNvCxnSpPr>
            <p:nvPr/>
          </p:nvCxnSpPr>
          <p:spPr bwMode="auto">
            <a:xfrm flipH="1">
              <a:off x="4571" y="3012"/>
              <a:ext cx="387" cy="14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20" name="AutoShape 60"/>
            <p:cNvCxnSpPr>
              <a:cxnSpLocks noChangeShapeType="1"/>
              <a:stCxn id="297012" idx="4"/>
              <a:endCxn id="297014" idx="0"/>
            </p:cNvCxnSpPr>
            <p:nvPr/>
          </p:nvCxnSpPr>
          <p:spPr bwMode="auto">
            <a:xfrm>
              <a:off x="4571" y="3408"/>
              <a:ext cx="204" cy="11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21" name="AutoShape 61"/>
            <p:cNvCxnSpPr>
              <a:cxnSpLocks noChangeShapeType="1"/>
              <a:stCxn id="297010" idx="4"/>
              <a:endCxn id="297011" idx="0"/>
            </p:cNvCxnSpPr>
            <p:nvPr/>
          </p:nvCxnSpPr>
          <p:spPr bwMode="auto">
            <a:xfrm>
              <a:off x="4958" y="3012"/>
              <a:ext cx="406" cy="142"/>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22" name="AutoShape 62"/>
            <p:cNvCxnSpPr>
              <a:cxnSpLocks noChangeShapeType="1"/>
              <a:stCxn id="297012" idx="4"/>
              <a:endCxn id="297013" idx="0"/>
            </p:cNvCxnSpPr>
            <p:nvPr/>
          </p:nvCxnSpPr>
          <p:spPr bwMode="auto">
            <a:xfrm flipH="1">
              <a:off x="4391" y="3408"/>
              <a:ext cx="180" cy="11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023" name="AutoShape 63"/>
            <p:cNvCxnSpPr>
              <a:cxnSpLocks noChangeShapeType="1"/>
              <a:stCxn id="297010" idx="0"/>
            </p:cNvCxnSpPr>
            <p:nvPr/>
          </p:nvCxnSpPr>
          <p:spPr bwMode="auto">
            <a:xfrm flipH="1" flipV="1">
              <a:off x="4821" y="2652"/>
              <a:ext cx="137" cy="106"/>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297024" name="Line 64"/>
          <p:cNvSpPr>
            <a:spLocks noChangeShapeType="1"/>
          </p:cNvSpPr>
          <p:nvPr/>
        </p:nvSpPr>
        <p:spPr bwMode="auto">
          <a:xfrm>
            <a:off x="2590800" y="4267200"/>
            <a:ext cx="685800" cy="45720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97025" name="Line 65"/>
          <p:cNvSpPr>
            <a:spLocks noChangeShapeType="1"/>
          </p:cNvSpPr>
          <p:nvPr/>
        </p:nvSpPr>
        <p:spPr bwMode="auto">
          <a:xfrm>
            <a:off x="6931025" y="4038600"/>
            <a:ext cx="457200" cy="304800"/>
          </a:xfrm>
          <a:prstGeom prst="line">
            <a:avLst/>
          </a:prstGeom>
          <a:noFill/>
          <a:ln w="2857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97026" name="Text Box 66"/>
          <p:cNvSpPr txBox="1">
            <a:spLocks noChangeArrowheads="1"/>
          </p:cNvSpPr>
          <p:nvPr/>
        </p:nvSpPr>
        <p:spPr bwMode="auto">
          <a:xfrm>
            <a:off x="152400" y="5683250"/>
            <a:ext cx="22320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itchFamily="18" charset="0"/>
              </a:rPr>
              <a:t>case 1: single rotation</a:t>
            </a:r>
          </a:p>
          <a:p>
            <a:r>
              <a:rPr lang="en-US" altLang="en-US" sz="1600">
                <a:latin typeface="Times New Roman" pitchFamily="18" charset="0"/>
              </a:rPr>
              <a:t>(a left rotation about </a:t>
            </a:r>
            <a:r>
              <a:rPr lang="en-US" altLang="en-US" sz="1600" i="1">
                <a:latin typeface="Times New Roman" pitchFamily="18" charset="0"/>
              </a:rPr>
              <a:t>a</a:t>
            </a:r>
            <a:r>
              <a:rPr lang="en-US" altLang="en-US" sz="1600">
                <a:latin typeface="Times New Roman" pitchFamily="18" charset="0"/>
              </a:rPr>
              <a:t>)</a:t>
            </a:r>
          </a:p>
        </p:txBody>
      </p:sp>
      <p:sp>
        <p:nvSpPr>
          <p:cNvPr id="297027" name="Text Box 67"/>
          <p:cNvSpPr txBox="1">
            <a:spLocks noChangeArrowheads="1"/>
          </p:cNvSpPr>
          <p:nvPr/>
        </p:nvSpPr>
        <p:spPr bwMode="auto">
          <a:xfrm>
            <a:off x="6629400" y="2663825"/>
            <a:ext cx="2514600" cy="82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1600">
                <a:latin typeface="Times New Roman" pitchFamily="18" charset="0"/>
              </a:rPr>
              <a:t>case 2: double rotation</a:t>
            </a:r>
          </a:p>
          <a:p>
            <a:r>
              <a:rPr lang="en-US" altLang="en-US" sz="1600">
                <a:latin typeface="Times New Roman" pitchFamily="18" charset="0"/>
              </a:rPr>
              <a:t>(a right rotation about </a:t>
            </a:r>
            <a:r>
              <a:rPr lang="en-US" altLang="en-US" sz="1600" i="1">
                <a:latin typeface="Times New Roman" pitchFamily="18" charset="0"/>
              </a:rPr>
              <a:t>c</a:t>
            </a:r>
            <a:r>
              <a:rPr lang="en-US" altLang="en-US" sz="1600">
                <a:latin typeface="Times New Roman" pitchFamily="18" charset="0"/>
              </a:rPr>
              <a:t>, then a left rotation about </a:t>
            </a:r>
            <a:r>
              <a:rPr lang="en-US" altLang="en-US" sz="1600" i="1">
                <a:latin typeface="Times New Roman" pitchFamily="18" charset="0"/>
              </a:rPr>
              <a:t>a</a:t>
            </a:r>
            <a:r>
              <a:rPr lang="en-US" altLang="en-US" sz="1600">
                <a:latin typeface="Times New Roman" pitchFamily="18" charset="0"/>
              </a:rPr>
              <a:t>)</a:t>
            </a:r>
          </a:p>
        </p:txBody>
      </p:sp>
      <p:sp>
        <p:nvSpPr>
          <p:cNvPr id="297028" name="Text Box 68"/>
          <p:cNvSpPr txBox="1">
            <a:spLocks noChangeArrowheads="1"/>
          </p:cNvSpPr>
          <p:nvPr/>
        </p:nvSpPr>
        <p:spPr bwMode="auto">
          <a:xfrm>
            <a:off x="2514600" y="2438400"/>
            <a:ext cx="1905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a:latin typeface="Times New Roman" pitchFamily="18" charset="0"/>
              </a:rPr>
              <a:t>(other two cases are symmetrical)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 name="Footer Placeholder 5"/>
          <p:cNvSpPr>
            <a:spLocks noGrp="1"/>
          </p:cNvSpPr>
          <p:nvPr>
            <p:ph type="ftr" sz="quarter" idx="11"/>
          </p:nvPr>
        </p:nvSpPr>
        <p:spPr/>
        <p:txBody>
          <a:bodyPr/>
          <a:lstStyle/>
          <a:p>
            <a:r>
              <a:rPr lang="en-US"/>
              <a:t>Data Structures and Algorithms</a:t>
            </a:r>
          </a:p>
        </p:txBody>
      </p:sp>
      <p:sp>
        <p:nvSpPr>
          <p:cNvPr id="206" name="Slide Number Placeholder 6"/>
          <p:cNvSpPr>
            <a:spLocks noGrp="1"/>
          </p:cNvSpPr>
          <p:nvPr>
            <p:ph type="sldNum" sz="quarter" idx="12"/>
          </p:nvPr>
        </p:nvSpPr>
        <p:spPr/>
        <p:txBody>
          <a:bodyPr/>
          <a:lstStyle/>
          <a:p>
            <a:fld id="{77918B88-0DAB-413F-A922-3F4DB2BAD472}" type="slidenum">
              <a:rPr lang="en-US"/>
              <a:pPr/>
              <a:t>29</a:t>
            </a:fld>
            <a:endParaRPr lang="en-US"/>
          </a:p>
        </p:txBody>
      </p:sp>
      <p:sp>
        <p:nvSpPr>
          <p:cNvPr id="297986" name="Rectangle 2"/>
          <p:cNvSpPr>
            <a:spLocks noGrp="1" noChangeArrowheads="1"/>
          </p:cNvSpPr>
          <p:nvPr>
            <p:ph type="title"/>
          </p:nvPr>
        </p:nvSpPr>
        <p:spPr>
          <a:xfrm>
            <a:off x="1295400" y="228600"/>
            <a:ext cx="7010400" cy="838200"/>
          </a:xfrm>
        </p:spPr>
        <p:txBody>
          <a:bodyPr/>
          <a:lstStyle/>
          <a:p>
            <a:r>
              <a:rPr lang="en-US" altLang="en-US"/>
              <a:t>Insertion Example, continued</a:t>
            </a:r>
          </a:p>
        </p:txBody>
      </p:sp>
      <p:pic>
        <p:nvPicPr>
          <p:cNvPr id="297987" name="Picture 3"/>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600200" y="1295400"/>
            <a:ext cx="4572000" cy="2530475"/>
          </a:xfrm>
          <a:noFill/>
          <a:ln/>
        </p:spPr>
      </p:pic>
      <p:sp>
        <p:nvSpPr>
          <p:cNvPr id="297988" name="Line 4"/>
          <p:cNvSpPr>
            <a:spLocks noChangeShapeType="1"/>
          </p:cNvSpPr>
          <p:nvPr/>
        </p:nvSpPr>
        <p:spPr bwMode="auto">
          <a:xfrm>
            <a:off x="5438775" y="5845175"/>
            <a:ext cx="9525" cy="8731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989" name="Freeform 5"/>
          <p:cNvSpPr>
            <a:spLocks/>
          </p:cNvSpPr>
          <p:nvPr/>
        </p:nvSpPr>
        <p:spPr bwMode="auto">
          <a:xfrm>
            <a:off x="5459413" y="5997575"/>
            <a:ext cx="55562" cy="53975"/>
          </a:xfrm>
          <a:custGeom>
            <a:avLst/>
            <a:gdLst>
              <a:gd name="T0" fmla="*/ 0 w 35"/>
              <a:gd name="T1" fmla="*/ 0 h 34"/>
              <a:gd name="T2" fmla="*/ 0 w 35"/>
              <a:gd name="T3" fmla="*/ 14 h 34"/>
              <a:gd name="T4" fmla="*/ 21 w 35"/>
              <a:gd name="T5" fmla="*/ 34 h 34"/>
              <a:gd name="T6" fmla="*/ 35 w 35"/>
              <a:gd name="T7" fmla="*/ 34 h 34"/>
            </a:gdLst>
            <a:ahLst/>
            <a:cxnLst>
              <a:cxn ang="0">
                <a:pos x="T0" y="T1"/>
              </a:cxn>
              <a:cxn ang="0">
                <a:pos x="T2" y="T3"/>
              </a:cxn>
              <a:cxn ang="0">
                <a:pos x="T4" y="T5"/>
              </a:cxn>
              <a:cxn ang="0">
                <a:pos x="T6" y="T7"/>
              </a:cxn>
            </a:cxnLst>
            <a:rect l="0" t="0" r="r" b="b"/>
            <a:pathLst>
              <a:path w="35" h="34">
                <a:moveTo>
                  <a:pt x="0" y="0"/>
                </a:moveTo>
                <a:lnTo>
                  <a:pt x="0" y="14"/>
                </a:lnTo>
                <a:lnTo>
                  <a:pt x="21" y="34"/>
                </a:lnTo>
                <a:lnTo>
                  <a:pt x="35" y="34"/>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90" name="Freeform 6"/>
          <p:cNvSpPr>
            <a:spLocks/>
          </p:cNvSpPr>
          <p:nvPr/>
        </p:nvSpPr>
        <p:spPr bwMode="auto">
          <a:xfrm>
            <a:off x="5580063" y="6073775"/>
            <a:ext cx="87312" cy="1588"/>
          </a:xfrm>
          <a:custGeom>
            <a:avLst/>
            <a:gdLst>
              <a:gd name="T0" fmla="*/ 0 w 55"/>
              <a:gd name="T1" fmla="*/ 28 w 55"/>
              <a:gd name="T2" fmla="*/ 55 w 55"/>
            </a:gdLst>
            <a:ahLst/>
            <a:cxnLst>
              <a:cxn ang="0">
                <a:pos x="T0" y="0"/>
              </a:cxn>
              <a:cxn ang="0">
                <a:pos x="T1" y="0"/>
              </a:cxn>
              <a:cxn ang="0">
                <a:pos x="T2" y="0"/>
              </a:cxn>
            </a:cxnLst>
            <a:rect l="0" t="0" r="r" b="b"/>
            <a:pathLst>
              <a:path w="55">
                <a:moveTo>
                  <a:pt x="0" y="0"/>
                </a:moveTo>
                <a:lnTo>
                  <a:pt x="28" y="0"/>
                </a:lnTo>
                <a:lnTo>
                  <a:pt x="5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91" name="Line 7"/>
          <p:cNvSpPr>
            <a:spLocks noChangeShapeType="1"/>
          </p:cNvSpPr>
          <p:nvPr/>
        </p:nvSpPr>
        <p:spPr bwMode="auto">
          <a:xfrm>
            <a:off x="5734050" y="6084888"/>
            <a:ext cx="98425"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992" name="Line 8"/>
          <p:cNvSpPr>
            <a:spLocks noChangeShapeType="1"/>
          </p:cNvSpPr>
          <p:nvPr/>
        </p:nvSpPr>
        <p:spPr bwMode="auto">
          <a:xfrm>
            <a:off x="5897563" y="6084888"/>
            <a:ext cx="87312"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993" name="Freeform 9"/>
          <p:cNvSpPr>
            <a:spLocks/>
          </p:cNvSpPr>
          <p:nvPr/>
        </p:nvSpPr>
        <p:spPr bwMode="auto">
          <a:xfrm>
            <a:off x="6049963" y="6073775"/>
            <a:ext cx="87312" cy="1588"/>
          </a:xfrm>
          <a:custGeom>
            <a:avLst/>
            <a:gdLst>
              <a:gd name="T0" fmla="*/ 0 w 55"/>
              <a:gd name="T1" fmla="*/ 42 w 55"/>
              <a:gd name="T2" fmla="*/ 55 w 55"/>
            </a:gdLst>
            <a:ahLst/>
            <a:cxnLst>
              <a:cxn ang="0">
                <a:pos x="T0" y="0"/>
              </a:cxn>
              <a:cxn ang="0">
                <a:pos x="T1" y="0"/>
              </a:cxn>
              <a:cxn ang="0">
                <a:pos x="T2" y="0"/>
              </a:cxn>
            </a:cxnLst>
            <a:rect l="0" t="0" r="r" b="b"/>
            <a:pathLst>
              <a:path w="55">
                <a:moveTo>
                  <a:pt x="0" y="0"/>
                </a:moveTo>
                <a:lnTo>
                  <a:pt x="42" y="0"/>
                </a:lnTo>
                <a:lnTo>
                  <a:pt x="5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94" name="Freeform 10"/>
          <p:cNvSpPr>
            <a:spLocks/>
          </p:cNvSpPr>
          <p:nvPr/>
        </p:nvSpPr>
        <p:spPr bwMode="auto">
          <a:xfrm>
            <a:off x="6203950" y="6019800"/>
            <a:ext cx="76200" cy="42863"/>
          </a:xfrm>
          <a:custGeom>
            <a:avLst/>
            <a:gdLst>
              <a:gd name="T0" fmla="*/ 0 w 48"/>
              <a:gd name="T1" fmla="*/ 27 h 27"/>
              <a:gd name="T2" fmla="*/ 27 w 48"/>
              <a:gd name="T3" fmla="*/ 20 h 27"/>
              <a:gd name="T4" fmla="*/ 48 w 48"/>
              <a:gd name="T5" fmla="*/ 7 h 27"/>
              <a:gd name="T6" fmla="*/ 48 w 48"/>
              <a:gd name="T7" fmla="*/ 0 h 27"/>
            </a:gdLst>
            <a:ahLst/>
            <a:cxnLst>
              <a:cxn ang="0">
                <a:pos x="T0" y="T1"/>
              </a:cxn>
              <a:cxn ang="0">
                <a:pos x="T2" y="T3"/>
              </a:cxn>
              <a:cxn ang="0">
                <a:pos x="T4" y="T5"/>
              </a:cxn>
              <a:cxn ang="0">
                <a:pos x="T6" y="T7"/>
              </a:cxn>
            </a:cxnLst>
            <a:rect l="0" t="0" r="r" b="b"/>
            <a:pathLst>
              <a:path w="48" h="27">
                <a:moveTo>
                  <a:pt x="0" y="27"/>
                </a:moveTo>
                <a:lnTo>
                  <a:pt x="27" y="20"/>
                </a:lnTo>
                <a:lnTo>
                  <a:pt x="48" y="7"/>
                </a:lnTo>
                <a:lnTo>
                  <a:pt x="48"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95" name="Line 11"/>
          <p:cNvSpPr>
            <a:spLocks noChangeShapeType="1"/>
          </p:cNvSpPr>
          <p:nvPr/>
        </p:nvSpPr>
        <p:spPr bwMode="auto">
          <a:xfrm flipV="1">
            <a:off x="6302375" y="5876925"/>
            <a:ext cx="20638" cy="8731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996" name="Freeform 12"/>
          <p:cNvSpPr>
            <a:spLocks/>
          </p:cNvSpPr>
          <p:nvPr/>
        </p:nvSpPr>
        <p:spPr bwMode="auto">
          <a:xfrm>
            <a:off x="6323013" y="5713413"/>
            <a:ext cx="11112" cy="87312"/>
          </a:xfrm>
          <a:custGeom>
            <a:avLst/>
            <a:gdLst>
              <a:gd name="T0" fmla="*/ 0 w 7"/>
              <a:gd name="T1" fmla="*/ 55 h 55"/>
              <a:gd name="T2" fmla="*/ 7 w 7"/>
              <a:gd name="T3" fmla="*/ 21 h 55"/>
              <a:gd name="T4" fmla="*/ 0 w 7"/>
              <a:gd name="T5" fmla="*/ 0 h 55"/>
            </a:gdLst>
            <a:ahLst/>
            <a:cxnLst>
              <a:cxn ang="0">
                <a:pos x="T0" y="T1"/>
              </a:cxn>
              <a:cxn ang="0">
                <a:pos x="T2" y="T3"/>
              </a:cxn>
              <a:cxn ang="0">
                <a:pos x="T4" y="T5"/>
              </a:cxn>
            </a:cxnLst>
            <a:rect l="0" t="0" r="r" b="b"/>
            <a:pathLst>
              <a:path w="7" h="55">
                <a:moveTo>
                  <a:pt x="0" y="55"/>
                </a:moveTo>
                <a:lnTo>
                  <a:pt x="7" y="21"/>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97" name="Freeform 13"/>
          <p:cNvSpPr>
            <a:spLocks/>
          </p:cNvSpPr>
          <p:nvPr/>
        </p:nvSpPr>
        <p:spPr bwMode="auto">
          <a:xfrm>
            <a:off x="6269038" y="5570538"/>
            <a:ext cx="44450" cy="77787"/>
          </a:xfrm>
          <a:custGeom>
            <a:avLst/>
            <a:gdLst>
              <a:gd name="T0" fmla="*/ 28 w 28"/>
              <a:gd name="T1" fmla="*/ 49 h 49"/>
              <a:gd name="T2" fmla="*/ 28 w 28"/>
              <a:gd name="T3" fmla="*/ 49 h 49"/>
              <a:gd name="T4" fmla="*/ 0 w 28"/>
              <a:gd name="T5" fmla="*/ 0 h 49"/>
            </a:gdLst>
            <a:ahLst/>
            <a:cxnLst>
              <a:cxn ang="0">
                <a:pos x="T0" y="T1"/>
              </a:cxn>
              <a:cxn ang="0">
                <a:pos x="T2" y="T3"/>
              </a:cxn>
              <a:cxn ang="0">
                <a:pos x="T4" y="T5"/>
              </a:cxn>
            </a:cxnLst>
            <a:rect l="0" t="0" r="r" b="b"/>
            <a:pathLst>
              <a:path w="28" h="49">
                <a:moveTo>
                  <a:pt x="28" y="49"/>
                </a:moveTo>
                <a:lnTo>
                  <a:pt x="28" y="49"/>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7998" name="Line 14"/>
          <p:cNvSpPr>
            <a:spLocks noChangeShapeType="1"/>
          </p:cNvSpPr>
          <p:nvPr/>
        </p:nvSpPr>
        <p:spPr bwMode="auto">
          <a:xfrm flipH="1" flipV="1">
            <a:off x="6192838" y="5440363"/>
            <a:ext cx="42862"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7999" name="Line 15"/>
          <p:cNvSpPr>
            <a:spLocks noChangeShapeType="1"/>
          </p:cNvSpPr>
          <p:nvPr/>
        </p:nvSpPr>
        <p:spPr bwMode="auto">
          <a:xfrm flipH="1" flipV="1">
            <a:off x="6105525" y="5308600"/>
            <a:ext cx="53975"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00" name="Line 16"/>
          <p:cNvSpPr>
            <a:spLocks noChangeShapeType="1"/>
          </p:cNvSpPr>
          <p:nvPr/>
        </p:nvSpPr>
        <p:spPr bwMode="auto">
          <a:xfrm flipH="1" flipV="1">
            <a:off x="6018213" y="5176838"/>
            <a:ext cx="53975" cy="777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01" name="Freeform 17"/>
          <p:cNvSpPr>
            <a:spLocks/>
          </p:cNvSpPr>
          <p:nvPr/>
        </p:nvSpPr>
        <p:spPr bwMode="auto">
          <a:xfrm>
            <a:off x="5908675" y="5068888"/>
            <a:ext cx="65088" cy="53975"/>
          </a:xfrm>
          <a:custGeom>
            <a:avLst/>
            <a:gdLst>
              <a:gd name="T0" fmla="*/ 41 w 41"/>
              <a:gd name="T1" fmla="*/ 34 h 34"/>
              <a:gd name="T2" fmla="*/ 34 w 41"/>
              <a:gd name="T3" fmla="*/ 27 h 34"/>
              <a:gd name="T4" fmla="*/ 0 w 41"/>
              <a:gd name="T5" fmla="*/ 0 h 34"/>
            </a:gdLst>
            <a:ahLst/>
            <a:cxnLst>
              <a:cxn ang="0">
                <a:pos x="T0" y="T1"/>
              </a:cxn>
              <a:cxn ang="0">
                <a:pos x="T2" y="T3"/>
              </a:cxn>
              <a:cxn ang="0">
                <a:pos x="T4" y="T5"/>
              </a:cxn>
            </a:cxnLst>
            <a:rect l="0" t="0" r="r" b="b"/>
            <a:pathLst>
              <a:path w="41" h="34">
                <a:moveTo>
                  <a:pt x="41" y="34"/>
                </a:moveTo>
                <a:lnTo>
                  <a:pt x="34" y="27"/>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02" name="Freeform 18"/>
          <p:cNvSpPr>
            <a:spLocks/>
          </p:cNvSpPr>
          <p:nvPr/>
        </p:nvSpPr>
        <p:spPr bwMode="auto">
          <a:xfrm>
            <a:off x="5765800" y="5046663"/>
            <a:ext cx="76200" cy="42862"/>
          </a:xfrm>
          <a:custGeom>
            <a:avLst/>
            <a:gdLst>
              <a:gd name="T0" fmla="*/ 48 w 48"/>
              <a:gd name="T1" fmla="*/ 0 h 27"/>
              <a:gd name="T2" fmla="*/ 14 w 48"/>
              <a:gd name="T3" fmla="*/ 14 h 27"/>
              <a:gd name="T4" fmla="*/ 0 w 48"/>
              <a:gd name="T5" fmla="*/ 27 h 27"/>
            </a:gdLst>
            <a:ahLst/>
            <a:cxnLst>
              <a:cxn ang="0">
                <a:pos x="T0" y="T1"/>
              </a:cxn>
              <a:cxn ang="0">
                <a:pos x="T2" y="T3"/>
              </a:cxn>
              <a:cxn ang="0">
                <a:pos x="T4" y="T5"/>
              </a:cxn>
            </a:cxnLst>
            <a:rect l="0" t="0" r="r" b="b"/>
            <a:pathLst>
              <a:path w="48" h="27">
                <a:moveTo>
                  <a:pt x="48" y="0"/>
                </a:moveTo>
                <a:lnTo>
                  <a:pt x="14" y="14"/>
                </a:lnTo>
                <a:lnTo>
                  <a:pt x="0" y="27"/>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03" name="Line 19"/>
          <p:cNvSpPr>
            <a:spLocks noChangeShapeType="1"/>
          </p:cNvSpPr>
          <p:nvPr/>
        </p:nvSpPr>
        <p:spPr bwMode="auto">
          <a:xfrm flipH="1">
            <a:off x="5667375" y="5133975"/>
            <a:ext cx="55563"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04" name="Freeform 20"/>
          <p:cNvSpPr>
            <a:spLocks/>
          </p:cNvSpPr>
          <p:nvPr/>
        </p:nvSpPr>
        <p:spPr bwMode="auto">
          <a:xfrm>
            <a:off x="5580063" y="5264150"/>
            <a:ext cx="55562" cy="77788"/>
          </a:xfrm>
          <a:custGeom>
            <a:avLst/>
            <a:gdLst>
              <a:gd name="T0" fmla="*/ 35 w 35"/>
              <a:gd name="T1" fmla="*/ 0 h 49"/>
              <a:gd name="T2" fmla="*/ 14 w 35"/>
              <a:gd name="T3" fmla="*/ 28 h 49"/>
              <a:gd name="T4" fmla="*/ 0 w 35"/>
              <a:gd name="T5" fmla="*/ 49 h 49"/>
            </a:gdLst>
            <a:ahLst/>
            <a:cxnLst>
              <a:cxn ang="0">
                <a:pos x="T0" y="T1"/>
              </a:cxn>
              <a:cxn ang="0">
                <a:pos x="T2" y="T3"/>
              </a:cxn>
              <a:cxn ang="0">
                <a:pos x="T4" y="T5"/>
              </a:cxn>
            </a:cxnLst>
            <a:rect l="0" t="0" r="r" b="b"/>
            <a:pathLst>
              <a:path w="35" h="49">
                <a:moveTo>
                  <a:pt x="35" y="0"/>
                </a:moveTo>
                <a:lnTo>
                  <a:pt x="14" y="28"/>
                </a:lnTo>
                <a:lnTo>
                  <a:pt x="0" y="49"/>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05" name="Line 21"/>
          <p:cNvSpPr>
            <a:spLocks noChangeShapeType="1"/>
          </p:cNvSpPr>
          <p:nvPr/>
        </p:nvSpPr>
        <p:spPr bwMode="auto">
          <a:xfrm flipH="1">
            <a:off x="5503863" y="5395913"/>
            <a:ext cx="42862"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06" name="Freeform 22"/>
          <p:cNvSpPr>
            <a:spLocks/>
          </p:cNvSpPr>
          <p:nvPr/>
        </p:nvSpPr>
        <p:spPr bwMode="auto">
          <a:xfrm>
            <a:off x="5438775" y="5538788"/>
            <a:ext cx="31750" cy="76200"/>
          </a:xfrm>
          <a:custGeom>
            <a:avLst/>
            <a:gdLst>
              <a:gd name="T0" fmla="*/ 20 w 20"/>
              <a:gd name="T1" fmla="*/ 0 h 48"/>
              <a:gd name="T2" fmla="*/ 0 w 20"/>
              <a:gd name="T3" fmla="*/ 41 h 48"/>
              <a:gd name="T4" fmla="*/ 0 w 20"/>
              <a:gd name="T5" fmla="*/ 48 h 48"/>
            </a:gdLst>
            <a:ahLst/>
            <a:cxnLst>
              <a:cxn ang="0">
                <a:pos x="T0" y="T1"/>
              </a:cxn>
              <a:cxn ang="0">
                <a:pos x="T2" y="T3"/>
              </a:cxn>
              <a:cxn ang="0">
                <a:pos x="T4" y="T5"/>
              </a:cxn>
            </a:cxnLst>
            <a:rect l="0" t="0" r="r" b="b"/>
            <a:pathLst>
              <a:path w="20" h="48">
                <a:moveTo>
                  <a:pt x="20" y="0"/>
                </a:moveTo>
                <a:lnTo>
                  <a:pt x="0" y="41"/>
                </a:lnTo>
                <a:lnTo>
                  <a:pt x="0" y="48"/>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07" name="Line 23"/>
          <p:cNvSpPr>
            <a:spLocks noChangeShapeType="1"/>
          </p:cNvSpPr>
          <p:nvPr/>
        </p:nvSpPr>
        <p:spPr bwMode="auto">
          <a:xfrm>
            <a:off x="5438775" y="5691188"/>
            <a:ext cx="1588" cy="873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08" name="Freeform 24"/>
          <p:cNvSpPr>
            <a:spLocks/>
          </p:cNvSpPr>
          <p:nvPr/>
        </p:nvSpPr>
        <p:spPr bwMode="auto">
          <a:xfrm>
            <a:off x="6400800" y="5046663"/>
            <a:ext cx="885825" cy="1038225"/>
          </a:xfrm>
          <a:custGeom>
            <a:avLst/>
            <a:gdLst>
              <a:gd name="T0" fmla="*/ 0 w 558"/>
              <a:gd name="T1" fmla="*/ 503 h 654"/>
              <a:gd name="T2" fmla="*/ 0 w 558"/>
              <a:gd name="T3" fmla="*/ 585 h 654"/>
              <a:gd name="T4" fmla="*/ 13 w 558"/>
              <a:gd name="T5" fmla="*/ 613 h 654"/>
              <a:gd name="T6" fmla="*/ 27 w 558"/>
              <a:gd name="T7" fmla="*/ 633 h 654"/>
              <a:gd name="T8" fmla="*/ 110 w 558"/>
              <a:gd name="T9" fmla="*/ 647 h 654"/>
              <a:gd name="T10" fmla="*/ 268 w 558"/>
              <a:gd name="T11" fmla="*/ 654 h 654"/>
              <a:gd name="T12" fmla="*/ 420 w 558"/>
              <a:gd name="T13" fmla="*/ 647 h 654"/>
              <a:gd name="T14" fmla="*/ 502 w 558"/>
              <a:gd name="T15" fmla="*/ 633 h 654"/>
              <a:gd name="T16" fmla="*/ 523 w 558"/>
              <a:gd name="T17" fmla="*/ 620 h 654"/>
              <a:gd name="T18" fmla="*/ 537 w 558"/>
              <a:gd name="T19" fmla="*/ 599 h 654"/>
              <a:gd name="T20" fmla="*/ 551 w 558"/>
              <a:gd name="T21" fmla="*/ 523 h 654"/>
              <a:gd name="T22" fmla="*/ 558 w 558"/>
              <a:gd name="T23" fmla="*/ 441 h 654"/>
              <a:gd name="T24" fmla="*/ 544 w 558"/>
              <a:gd name="T25" fmla="*/ 379 h 654"/>
              <a:gd name="T26" fmla="*/ 413 w 558"/>
              <a:gd name="T27" fmla="*/ 165 h 654"/>
              <a:gd name="T28" fmla="*/ 323 w 558"/>
              <a:gd name="T29" fmla="*/ 41 h 654"/>
              <a:gd name="T30" fmla="*/ 282 w 558"/>
              <a:gd name="T31" fmla="*/ 7 h 654"/>
              <a:gd name="T32" fmla="*/ 248 w 558"/>
              <a:gd name="T33" fmla="*/ 0 h 654"/>
              <a:gd name="T34" fmla="*/ 220 w 558"/>
              <a:gd name="T35" fmla="*/ 14 h 654"/>
              <a:gd name="T36" fmla="*/ 186 w 558"/>
              <a:gd name="T37" fmla="*/ 41 h 654"/>
              <a:gd name="T38" fmla="*/ 96 w 558"/>
              <a:gd name="T39" fmla="*/ 165 h 654"/>
              <a:gd name="T40" fmla="*/ 27 w 558"/>
              <a:gd name="T41" fmla="*/ 282 h 654"/>
              <a:gd name="T42" fmla="*/ 0 w 558"/>
              <a:gd name="T43" fmla="*/ 351 h 654"/>
              <a:gd name="T44" fmla="*/ 0 w 558"/>
              <a:gd name="T45" fmla="*/ 503 h 654"/>
              <a:gd name="T46" fmla="*/ 0 w 558"/>
              <a:gd name="T47" fmla="*/ 503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58" h="654">
                <a:moveTo>
                  <a:pt x="0" y="503"/>
                </a:moveTo>
                <a:lnTo>
                  <a:pt x="0" y="585"/>
                </a:lnTo>
                <a:lnTo>
                  <a:pt x="13" y="613"/>
                </a:lnTo>
                <a:lnTo>
                  <a:pt x="27" y="633"/>
                </a:lnTo>
                <a:lnTo>
                  <a:pt x="110" y="647"/>
                </a:lnTo>
                <a:lnTo>
                  <a:pt x="268" y="654"/>
                </a:lnTo>
                <a:lnTo>
                  <a:pt x="420" y="647"/>
                </a:lnTo>
                <a:lnTo>
                  <a:pt x="502" y="633"/>
                </a:lnTo>
                <a:lnTo>
                  <a:pt x="523" y="620"/>
                </a:lnTo>
                <a:lnTo>
                  <a:pt x="537" y="599"/>
                </a:lnTo>
                <a:lnTo>
                  <a:pt x="551" y="523"/>
                </a:lnTo>
                <a:lnTo>
                  <a:pt x="558" y="441"/>
                </a:lnTo>
                <a:lnTo>
                  <a:pt x="544" y="379"/>
                </a:lnTo>
                <a:lnTo>
                  <a:pt x="413" y="165"/>
                </a:lnTo>
                <a:lnTo>
                  <a:pt x="323" y="41"/>
                </a:lnTo>
                <a:lnTo>
                  <a:pt x="282" y="7"/>
                </a:lnTo>
                <a:lnTo>
                  <a:pt x="248" y="0"/>
                </a:lnTo>
                <a:lnTo>
                  <a:pt x="220" y="14"/>
                </a:lnTo>
                <a:lnTo>
                  <a:pt x="186" y="41"/>
                </a:lnTo>
                <a:lnTo>
                  <a:pt x="96" y="165"/>
                </a:lnTo>
                <a:lnTo>
                  <a:pt x="27" y="282"/>
                </a:lnTo>
                <a:lnTo>
                  <a:pt x="0" y="351"/>
                </a:lnTo>
                <a:lnTo>
                  <a:pt x="0" y="503"/>
                </a:lnTo>
                <a:lnTo>
                  <a:pt x="0" y="503"/>
                </a:lnTo>
                <a:close/>
              </a:path>
            </a:pathLst>
          </a:custGeom>
          <a:blipFill dpi="0" rotWithShape="0">
            <a:blip r:embed="rId3"/>
            <a:srcRect/>
            <a:tile tx="0" ty="0" sx="100000" sy="100000" flip="none" algn="tl"/>
          </a:blip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09" name="Line 25"/>
          <p:cNvSpPr>
            <a:spLocks noChangeShapeType="1"/>
          </p:cNvSpPr>
          <p:nvPr/>
        </p:nvSpPr>
        <p:spPr bwMode="auto">
          <a:xfrm>
            <a:off x="6400800" y="5845175"/>
            <a:ext cx="1588" cy="8731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10" name="Freeform 26"/>
          <p:cNvSpPr>
            <a:spLocks/>
          </p:cNvSpPr>
          <p:nvPr/>
        </p:nvSpPr>
        <p:spPr bwMode="auto">
          <a:xfrm>
            <a:off x="6411913" y="5997575"/>
            <a:ext cx="53975" cy="53975"/>
          </a:xfrm>
          <a:custGeom>
            <a:avLst/>
            <a:gdLst>
              <a:gd name="T0" fmla="*/ 0 w 34"/>
              <a:gd name="T1" fmla="*/ 0 h 34"/>
              <a:gd name="T2" fmla="*/ 6 w 34"/>
              <a:gd name="T3" fmla="*/ 14 h 34"/>
              <a:gd name="T4" fmla="*/ 20 w 34"/>
              <a:gd name="T5" fmla="*/ 34 h 34"/>
              <a:gd name="T6" fmla="*/ 34 w 34"/>
              <a:gd name="T7" fmla="*/ 34 h 34"/>
            </a:gdLst>
            <a:ahLst/>
            <a:cxnLst>
              <a:cxn ang="0">
                <a:pos x="T0" y="T1"/>
              </a:cxn>
              <a:cxn ang="0">
                <a:pos x="T2" y="T3"/>
              </a:cxn>
              <a:cxn ang="0">
                <a:pos x="T4" y="T5"/>
              </a:cxn>
              <a:cxn ang="0">
                <a:pos x="T6" y="T7"/>
              </a:cxn>
            </a:cxnLst>
            <a:rect l="0" t="0" r="r" b="b"/>
            <a:pathLst>
              <a:path w="34" h="34">
                <a:moveTo>
                  <a:pt x="0" y="0"/>
                </a:moveTo>
                <a:lnTo>
                  <a:pt x="6" y="14"/>
                </a:lnTo>
                <a:lnTo>
                  <a:pt x="20" y="34"/>
                </a:lnTo>
                <a:lnTo>
                  <a:pt x="34" y="34"/>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11" name="Freeform 27"/>
          <p:cNvSpPr>
            <a:spLocks/>
          </p:cNvSpPr>
          <p:nvPr/>
        </p:nvSpPr>
        <p:spPr bwMode="auto">
          <a:xfrm>
            <a:off x="6530975" y="6073775"/>
            <a:ext cx="87313" cy="1588"/>
          </a:xfrm>
          <a:custGeom>
            <a:avLst/>
            <a:gdLst>
              <a:gd name="T0" fmla="*/ 0 w 55"/>
              <a:gd name="T1" fmla="*/ 28 w 55"/>
              <a:gd name="T2" fmla="*/ 55 w 55"/>
            </a:gdLst>
            <a:ahLst/>
            <a:cxnLst>
              <a:cxn ang="0">
                <a:pos x="T0" y="0"/>
              </a:cxn>
              <a:cxn ang="0">
                <a:pos x="T1" y="0"/>
              </a:cxn>
              <a:cxn ang="0">
                <a:pos x="T2" y="0"/>
              </a:cxn>
            </a:cxnLst>
            <a:rect l="0" t="0" r="r" b="b"/>
            <a:pathLst>
              <a:path w="55">
                <a:moveTo>
                  <a:pt x="0" y="0"/>
                </a:moveTo>
                <a:lnTo>
                  <a:pt x="28" y="0"/>
                </a:lnTo>
                <a:lnTo>
                  <a:pt x="5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12" name="Line 28"/>
          <p:cNvSpPr>
            <a:spLocks noChangeShapeType="1"/>
          </p:cNvSpPr>
          <p:nvPr/>
        </p:nvSpPr>
        <p:spPr bwMode="auto">
          <a:xfrm>
            <a:off x="6696075" y="6084888"/>
            <a:ext cx="87313"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13" name="Line 29"/>
          <p:cNvSpPr>
            <a:spLocks noChangeShapeType="1"/>
          </p:cNvSpPr>
          <p:nvPr/>
        </p:nvSpPr>
        <p:spPr bwMode="auto">
          <a:xfrm>
            <a:off x="6848475" y="6084888"/>
            <a:ext cx="87313"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14" name="Freeform 30"/>
          <p:cNvSpPr>
            <a:spLocks/>
          </p:cNvSpPr>
          <p:nvPr/>
        </p:nvSpPr>
        <p:spPr bwMode="auto">
          <a:xfrm>
            <a:off x="7000875" y="6073775"/>
            <a:ext cx="88900" cy="1588"/>
          </a:xfrm>
          <a:custGeom>
            <a:avLst/>
            <a:gdLst>
              <a:gd name="T0" fmla="*/ 0 w 56"/>
              <a:gd name="T1" fmla="*/ 42 w 56"/>
              <a:gd name="T2" fmla="*/ 56 w 56"/>
            </a:gdLst>
            <a:ahLst/>
            <a:cxnLst>
              <a:cxn ang="0">
                <a:pos x="T0" y="0"/>
              </a:cxn>
              <a:cxn ang="0">
                <a:pos x="T1" y="0"/>
              </a:cxn>
              <a:cxn ang="0">
                <a:pos x="T2" y="0"/>
              </a:cxn>
            </a:cxnLst>
            <a:rect l="0" t="0" r="r" b="b"/>
            <a:pathLst>
              <a:path w="56">
                <a:moveTo>
                  <a:pt x="0" y="0"/>
                </a:moveTo>
                <a:lnTo>
                  <a:pt x="42" y="0"/>
                </a:lnTo>
                <a:lnTo>
                  <a:pt x="56"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15" name="Freeform 31"/>
          <p:cNvSpPr>
            <a:spLocks/>
          </p:cNvSpPr>
          <p:nvPr/>
        </p:nvSpPr>
        <p:spPr bwMode="auto">
          <a:xfrm>
            <a:off x="7154863" y="6019800"/>
            <a:ext cx="76200" cy="42863"/>
          </a:xfrm>
          <a:custGeom>
            <a:avLst/>
            <a:gdLst>
              <a:gd name="T0" fmla="*/ 0 w 48"/>
              <a:gd name="T1" fmla="*/ 27 h 27"/>
              <a:gd name="T2" fmla="*/ 27 w 48"/>
              <a:gd name="T3" fmla="*/ 20 h 27"/>
              <a:gd name="T4" fmla="*/ 48 w 48"/>
              <a:gd name="T5" fmla="*/ 7 h 27"/>
              <a:gd name="T6" fmla="*/ 48 w 48"/>
              <a:gd name="T7" fmla="*/ 0 h 27"/>
            </a:gdLst>
            <a:ahLst/>
            <a:cxnLst>
              <a:cxn ang="0">
                <a:pos x="T0" y="T1"/>
              </a:cxn>
              <a:cxn ang="0">
                <a:pos x="T2" y="T3"/>
              </a:cxn>
              <a:cxn ang="0">
                <a:pos x="T4" y="T5"/>
              </a:cxn>
              <a:cxn ang="0">
                <a:pos x="T6" y="T7"/>
              </a:cxn>
            </a:cxnLst>
            <a:rect l="0" t="0" r="r" b="b"/>
            <a:pathLst>
              <a:path w="48" h="27">
                <a:moveTo>
                  <a:pt x="0" y="27"/>
                </a:moveTo>
                <a:lnTo>
                  <a:pt x="27" y="20"/>
                </a:lnTo>
                <a:lnTo>
                  <a:pt x="48" y="7"/>
                </a:lnTo>
                <a:lnTo>
                  <a:pt x="48"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16" name="Line 32"/>
          <p:cNvSpPr>
            <a:spLocks noChangeShapeType="1"/>
          </p:cNvSpPr>
          <p:nvPr/>
        </p:nvSpPr>
        <p:spPr bwMode="auto">
          <a:xfrm flipV="1">
            <a:off x="7253288" y="5876925"/>
            <a:ext cx="22225" cy="8731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17" name="Freeform 33"/>
          <p:cNvSpPr>
            <a:spLocks/>
          </p:cNvSpPr>
          <p:nvPr/>
        </p:nvSpPr>
        <p:spPr bwMode="auto">
          <a:xfrm>
            <a:off x="7286625" y="5713413"/>
            <a:ext cx="1588" cy="87312"/>
          </a:xfrm>
          <a:custGeom>
            <a:avLst/>
            <a:gdLst>
              <a:gd name="T0" fmla="*/ 55 h 55"/>
              <a:gd name="T1" fmla="*/ 21 h 55"/>
              <a:gd name="T2" fmla="*/ 0 h 55"/>
            </a:gdLst>
            <a:ahLst/>
            <a:cxnLst>
              <a:cxn ang="0">
                <a:pos x="0" y="T0"/>
              </a:cxn>
              <a:cxn ang="0">
                <a:pos x="0" y="T1"/>
              </a:cxn>
              <a:cxn ang="0">
                <a:pos x="0" y="T2"/>
              </a:cxn>
            </a:cxnLst>
            <a:rect l="0" t="0" r="r" b="b"/>
            <a:pathLst>
              <a:path h="55">
                <a:moveTo>
                  <a:pt x="0" y="55"/>
                </a:moveTo>
                <a:lnTo>
                  <a:pt x="0" y="21"/>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18" name="Freeform 34"/>
          <p:cNvSpPr>
            <a:spLocks/>
          </p:cNvSpPr>
          <p:nvPr/>
        </p:nvSpPr>
        <p:spPr bwMode="auto">
          <a:xfrm>
            <a:off x="7219950" y="5570538"/>
            <a:ext cx="44450" cy="77787"/>
          </a:xfrm>
          <a:custGeom>
            <a:avLst/>
            <a:gdLst>
              <a:gd name="T0" fmla="*/ 28 w 28"/>
              <a:gd name="T1" fmla="*/ 49 h 49"/>
              <a:gd name="T2" fmla="*/ 28 w 28"/>
              <a:gd name="T3" fmla="*/ 49 h 49"/>
              <a:gd name="T4" fmla="*/ 0 w 28"/>
              <a:gd name="T5" fmla="*/ 0 h 49"/>
            </a:gdLst>
            <a:ahLst/>
            <a:cxnLst>
              <a:cxn ang="0">
                <a:pos x="T0" y="T1"/>
              </a:cxn>
              <a:cxn ang="0">
                <a:pos x="T2" y="T3"/>
              </a:cxn>
              <a:cxn ang="0">
                <a:pos x="T4" y="T5"/>
              </a:cxn>
            </a:cxnLst>
            <a:rect l="0" t="0" r="r" b="b"/>
            <a:pathLst>
              <a:path w="28" h="49">
                <a:moveTo>
                  <a:pt x="28" y="49"/>
                </a:moveTo>
                <a:lnTo>
                  <a:pt x="28" y="49"/>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19" name="Line 35"/>
          <p:cNvSpPr>
            <a:spLocks noChangeShapeType="1"/>
          </p:cNvSpPr>
          <p:nvPr/>
        </p:nvSpPr>
        <p:spPr bwMode="auto">
          <a:xfrm flipH="1" flipV="1">
            <a:off x="7143750" y="5440363"/>
            <a:ext cx="44450"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20" name="Line 36"/>
          <p:cNvSpPr>
            <a:spLocks noChangeShapeType="1"/>
          </p:cNvSpPr>
          <p:nvPr/>
        </p:nvSpPr>
        <p:spPr bwMode="auto">
          <a:xfrm flipH="1" flipV="1">
            <a:off x="7067550" y="5308600"/>
            <a:ext cx="42863"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21" name="Line 37"/>
          <p:cNvSpPr>
            <a:spLocks noChangeShapeType="1"/>
          </p:cNvSpPr>
          <p:nvPr/>
        </p:nvSpPr>
        <p:spPr bwMode="auto">
          <a:xfrm flipH="1" flipV="1">
            <a:off x="6969125" y="5176838"/>
            <a:ext cx="53975" cy="777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22" name="Freeform 38"/>
          <p:cNvSpPr>
            <a:spLocks/>
          </p:cNvSpPr>
          <p:nvPr/>
        </p:nvSpPr>
        <p:spPr bwMode="auto">
          <a:xfrm>
            <a:off x="6859588" y="5068888"/>
            <a:ext cx="65087" cy="53975"/>
          </a:xfrm>
          <a:custGeom>
            <a:avLst/>
            <a:gdLst>
              <a:gd name="T0" fmla="*/ 41 w 41"/>
              <a:gd name="T1" fmla="*/ 34 h 34"/>
              <a:gd name="T2" fmla="*/ 34 w 41"/>
              <a:gd name="T3" fmla="*/ 27 h 34"/>
              <a:gd name="T4" fmla="*/ 0 w 41"/>
              <a:gd name="T5" fmla="*/ 0 h 34"/>
            </a:gdLst>
            <a:ahLst/>
            <a:cxnLst>
              <a:cxn ang="0">
                <a:pos x="T0" y="T1"/>
              </a:cxn>
              <a:cxn ang="0">
                <a:pos x="T2" y="T3"/>
              </a:cxn>
              <a:cxn ang="0">
                <a:pos x="T4" y="T5"/>
              </a:cxn>
            </a:cxnLst>
            <a:rect l="0" t="0" r="r" b="b"/>
            <a:pathLst>
              <a:path w="41" h="34">
                <a:moveTo>
                  <a:pt x="41" y="34"/>
                </a:moveTo>
                <a:lnTo>
                  <a:pt x="34" y="27"/>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23" name="Freeform 39"/>
          <p:cNvSpPr>
            <a:spLocks/>
          </p:cNvSpPr>
          <p:nvPr/>
        </p:nvSpPr>
        <p:spPr bwMode="auto">
          <a:xfrm>
            <a:off x="6716713" y="5046663"/>
            <a:ext cx="77787" cy="42862"/>
          </a:xfrm>
          <a:custGeom>
            <a:avLst/>
            <a:gdLst>
              <a:gd name="T0" fmla="*/ 49 w 49"/>
              <a:gd name="T1" fmla="*/ 0 h 27"/>
              <a:gd name="T2" fmla="*/ 21 w 49"/>
              <a:gd name="T3" fmla="*/ 14 h 27"/>
              <a:gd name="T4" fmla="*/ 0 w 49"/>
              <a:gd name="T5" fmla="*/ 27 h 27"/>
            </a:gdLst>
            <a:ahLst/>
            <a:cxnLst>
              <a:cxn ang="0">
                <a:pos x="T0" y="T1"/>
              </a:cxn>
              <a:cxn ang="0">
                <a:pos x="T2" y="T3"/>
              </a:cxn>
              <a:cxn ang="0">
                <a:pos x="T4" y="T5"/>
              </a:cxn>
            </a:cxnLst>
            <a:rect l="0" t="0" r="r" b="b"/>
            <a:pathLst>
              <a:path w="49" h="27">
                <a:moveTo>
                  <a:pt x="49" y="0"/>
                </a:moveTo>
                <a:lnTo>
                  <a:pt x="21" y="14"/>
                </a:lnTo>
                <a:lnTo>
                  <a:pt x="0" y="27"/>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24" name="Line 40"/>
          <p:cNvSpPr>
            <a:spLocks noChangeShapeType="1"/>
          </p:cNvSpPr>
          <p:nvPr/>
        </p:nvSpPr>
        <p:spPr bwMode="auto">
          <a:xfrm flipH="1">
            <a:off x="6618288" y="5133975"/>
            <a:ext cx="55562"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25" name="Freeform 41"/>
          <p:cNvSpPr>
            <a:spLocks/>
          </p:cNvSpPr>
          <p:nvPr/>
        </p:nvSpPr>
        <p:spPr bwMode="auto">
          <a:xfrm>
            <a:off x="6530975" y="5264150"/>
            <a:ext cx="55563" cy="77788"/>
          </a:xfrm>
          <a:custGeom>
            <a:avLst/>
            <a:gdLst>
              <a:gd name="T0" fmla="*/ 35 w 35"/>
              <a:gd name="T1" fmla="*/ 0 h 49"/>
              <a:gd name="T2" fmla="*/ 14 w 35"/>
              <a:gd name="T3" fmla="*/ 28 h 49"/>
              <a:gd name="T4" fmla="*/ 0 w 35"/>
              <a:gd name="T5" fmla="*/ 49 h 49"/>
            </a:gdLst>
            <a:ahLst/>
            <a:cxnLst>
              <a:cxn ang="0">
                <a:pos x="T0" y="T1"/>
              </a:cxn>
              <a:cxn ang="0">
                <a:pos x="T2" y="T3"/>
              </a:cxn>
              <a:cxn ang="0">
                <a:pos x="T4" y="T5"/>
              </a:cxn>
            </a:cxnLst>
            <a:rect l="0" t="0" r="r" b="b"/>
            <a:pathLst>
              <a:path w="35" h="49">
                <a:moveTo>
                  <a:pt x="35" y="0"/>
                </a:moveTo>
                <a:lnTo>
                  <a:pt x="14" y="28"/>
                </a:lnTo>
                <a:lnTo>
                  <a:pt x="0" y="49"/>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26" name="Line 42"/>
          <p:cNvSpPr>
            <a:spLocks noChangeShapeType="1"/>
          </p:cNvSpPr>
          <p:nvPr/>
        </p:nvSpPr>
        <p:spPr bwMode="auto">
          <a:xfrm flipH="1">
            <a:off x="6454775" y="5395913"/>
            <a:ext cx="44450"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27" name="Freeform 43"/>
          <p:cNvSpPr>
            <a:spLocks/>
          </p:cNvSpPr>
          <p:nvPr/>
        </p:nvSpPr>
        <p:spPr bwMode="auto">
          <a:xfrm>
            <a:off x="6400800" y="5538788"/>
            <a:ext cx="20638" cy="76200"/>
          </a:xfrm>
          <a:custGeom>
            <a:avLst/>
            <a:gdLst>
              <a:gd name="T0" fmla="*/ 13 w 13"/>
              <a:gd name="T1" fmla="*/ 0 h 48"/>
              <a:gd name="T2" fmla="*/ 0 w 13"/>
              <a:gd name="T3" fmla="*/ 41 h 48"/>
              <a:gd name="T4" fmla="*/ 0 w 13"/>
              <a:gd name="T5" fmla="*/ 48 h 48"/>
            </a:gdLst>
            <a:ahLst/>
            <a:cxnLst>
              <a:cxn ang="0">
                <a:pos x="T0" y="T1"/>
              </a:cxn>
              <a:cxn ang="0">
                <a:pos x="T2" y="T3"/>
              </a:cxn>
              <a:cxn ang="0">
                <a:pos x="T4" y="T5"/>
              </a:cxn>
            </a:cxnLst>
            <a:rect l="0" t="0" r="r" b="b"/>
            <a:pathLst>
              <a:path w="13" h="48">
                <a:moveTo>
                  <a:pt x="13" y="0"/>
                </a:moveTo>
                <a:lnTo>
                  <a:pt x="0" y="41"/>
                </a:lnTo>
                <a:lnTo>
                  <a:pt x="0" y="48"/>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28" name="Line 44"/>
          <p:cNvSpPr>
            <a:spLocks noChangeShapeType="1"/>
          </p:cNvSpPr>
          <p:nvPr/>
        </p:nvSpPr>
        <p:spPr bwMode="auto">
          <a:xfrm>
            <a:off x="6400800" y="5691188"/>
            <a:ext cx="1588" cy="873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29" name="Freeform 45"/>
          <p:cNvSpPr>
            <a:spLocks/>
          </p:cNvSpPr>
          <p:nvPr/>
        </p:nvSpPr>
        <p:spPr bwMode="auto">
          <a:xfrm>
            <a:off x="7472363" y="5440363"/>
            <a:ext cx="11112" cy="87312"/>
          </a:xfrm>
          <a:custGeom>
            <a:avLst/>
            <a:gdLst>
              <a:gd name="T0" fmla="*/ 0 w 7"/>
              <a:gd name="T1" fmla="*/ 0 h 55"/>
              <a:gd name="T2" fmla="*/ 0 w 7"/>
              <a:gd name="T3" fmla="*/ 48 h 55"/>
              <a:gd name="T4" fmla="*/ 7 w 7"/>
              <a:gd name="T5" fmla="*/ 55 h 55"/>
            </a:gdLst>
            <a:ahLst/>
            <a:cxnLst>
              <a:cxn ang="0">
                <a:pos x="T0" y="T1"/>
              </a:cxn>
              <a:cxn ang="0">
                <a:pos x="T2" y="T3"/>
              </a:cxn>
              <a:cxn ang="0">
                <a:pos x="T4" y="T5"/>
              </a:cxn>
            </a:cxnLst>
            <a:rect l="0" t="0" r="r" b="b"/>
            <a:pathLst>
              <a:path w="7" h="55">
                <a:moveTo>
                  <a:pt x="0" y="0"/>
                </a:moveTo>
                <a:lnTo>
                  <a:pt x="0" y="48"/>
                </a:lnTo>
                <a:lnTo>
                  <a:pt x="7" y="55"/>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30" name="Line 46"/>
          <p:cNvSpPr>
            <a:spLocks noChangeShapeType="1"/>
          </p:cNvSpPr>
          <p:nvPr/>
        </p:nvSpPr>
        <p:spPr bwMode="auto">
          <a:xfrm>
            <a:off x="7537450" y="5559425"/>
            <a:ext cx="87313" cy="158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31" name="Freeform 47"/>
          <p:cNvSpPr>
            <a:spLocks/>
          </p:cNvSpPr>
          <p:nvPr/>
        </p:nvSpPr>
        <p:spPr bwMode="auto">
          <a:xfrm>
            <a:off x="7689850" y="5570538"/>
            <a:ext cx="87313" cy="1587"/>
          </a:xfrm>
          <a:custGeom>
            <a:avLst/>
            <a:gdLst>
              <a:gd name="T0" fmla="*/ 0 w 55"/>
              <a:gd name="T1" fmla="*/ 7 w 55"/>
              <a:gd name="T2" fmla="*/ 55 w 55"/>
            </a:gdLst>
            <a:ahLst/>
            <a:cxnLst>
              <a:cxn ang="0">
                <a:pos x="T0" y="0"/>
              </a:cxn>
              <a:cxn ang="0">
                <a:pos x="T1" y="0"/>
              </a:cxn>
              <a:cxn ang="0">
                <a:pos x="T2" y="0"/>
              </a:cxn>
            </a:cxnLst>
            <a:rect l="0" t="0" r="r" b="b"/>
            <a:pathLst>
              <a:path w="55">
                <a:moveTo>
                  <a:pt x="0" y="0"/>
                </a:moveTo>
                <a:lnTo>
                  <a:pt x="7" y="0"/>
                </a:lnTo>
                <a:lnTo>
                  <a:pt x="5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32" name="Freeform 48"/>
          <p:cNvSpPr>
            <a:spLocks/>
          </p:cNvSpPr>
          <p:nvPr/>
        </p:nvSpPr>
        <p:spPr bwMode="auto">
          <a:xfrm>
            <a:off x="7843838" y="5549900"/>
            <a:ext cx="76200" cy="9525"/>
          </a:xfrm>
          <a:custGeom>
            <a:avLst/>
            <a:gdLst>
              <a:gd name="T0" fmla="*/ 0 w 48"/>
              <a:gd name="T1" fmla="*/ 6 h 6"/>
              <a:gd name="T2" fmla="*/ 41 w 48"/>
              <a:gd name="T3" fmla="*/ 6 h 6"/>
              <a:gd name="T4" fmla="*/ 48 w 48"/>
              <a:gd name="T5" fmla="*/ 0 h 6"/>
            </a:gdLst>
            <a:ahLst/>
            <a:cxnLst>
              <a:cxn ang="0">
                <a:pos x="T0" y="T1"/>
              </a:cxn>
              <a:cxn ang="0">
                <a:pos x="T2" y="T3"/>
              </a:cxn>
              <a:cxn ang="0">
                <a:pos x="T4" y="T5"/>
              </a:cxn>
            </a:cxnLst>
            <a:rect l="0" t="0" r="r" b="b"/>
            <a:pathLst>
              <a:path w="48" h="6">
                <a:moveTo>
                  <a:pt x="0" y="6"/>
                </a:moveTo>
                <a:lnTo>
                  <a:pt x="41" y="6"/>
                </a:lnTo>
                <a:lnTo>
                  <a:pt x="48"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33" name="Freeform 49"/>
          <p:cNvSpPr>
            <a:spLocks/>
          </p:cNvSpPr>
          <p:nvPr/>
        </p:nvSpPr>
        <p:spPr bwMode="auto">
          <a:xfrm>
            <a:off x="7953375" y="5395913"/>
            <a:ext cx="1588" cy="87312"/>
          </a:xfrm>
          <a:custGeom>
            <a:avLst/>
            <a:gdLst>
              <a:gd name="T0" fmla="*/ 55 h 55"/>
              <a:gd name="T1" fmla="*/ 41 h 55"/>
              <a:gd name="T2" fmla="*/ 0 h 55"/>
            </a:gdLst>
            <a:ahLst/>
            <a:cxnLst>
              <a:cxn ang="0">
                <a:pos x="0" y="T0"/>
              </a:cxn>
              <a:cxn ang="0">
                <a:pos x="0" y="T1"/>
              </a:cxn>
              <a:cxn ang="0">
                <a:pos x="0" y="T2"/>
              </a:cxn>
            </a:cxnLst>
            <a:rect l="0" t="0" r="r" b="b"/>
            <a:pathLst>
              <a:path h="55">
                <a:moveTo>
                  <a:pt x="0" y="55"/>
                </a:moveTo>
                <a:lnTo>
                  <a:pt x="0" y="41"/>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34" name="Line 50"/>
          <p:cNvSpPr>
            <a:spLocks noChangeShapeType="1"/>
          </p:cNvSpPr>
          <p:nvPr/>
        </p:nvSpPr>
        <p:spPr bwMode="auto">
          <a:xfrm flipH="1" flipV="1">
            <a:off x="7897813" y="5254625"/>
            <a:ext cx="55562"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35" name="Freeform 51"/>
          <p:cNvSpPr>
            <a:spLocks/>
          </p:cNvSpPr>
          <p:nvPr/>
        </p:nvSpPr>
        <p:spPr bwMode="auto">
          <a:xfrm>
            <a:off x="7821613" y="5133975"/>
            <a:ext cx="44450" cy="65088"/>
          </a:xfrm>
          <a:custGeom>
            <a:avLst/>
            <a:gdLst>
              <a:gd name="T0" fmla="*/ 28 w 28"/>
              <a:gd name="T1" fmla="*/ 41 h 41"/>
              <a:gd name="T2" fmla="*/ 7 w 28"/>
              <a:gd name="T3" fmla="*/ 14 h 41"/>
              <a:gd name="T4" fmla="*/ 0 w 28"/>
              <a:gd name="T5" fmla="*/ 0 h 41"/>
            </a:gdLst>
            <a:ahLst/>
            <a:cxnLst>
              <a:cxn ang="0">
                <a:pos x="T0" y="T1"/>
              </a:cxn>
              <a:cxn ang="0">
                <a:pos x="T2" y="T3"/>
              </a:cxn>
              <a:cxn ang="0">
                <a:pos x="T4" y="T5"/>
              </a:cxn>
            </a:cxnLst>
            <a:rect l="0" t="0" r="r" b="b"/>
            <a:pathLst>
              <a:path w="28" h="41">
                <a:moveTo>
                  <a:pt x="28" y="41"/>
                </a:moveTo>
                <a:lnTo>
                  <a:pt x="7" y="14"/>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36" name="Freeform 52"/>
          <p:cNvSpPr>
            <a:spLocks/>
          </p:cNvSpPr>
          <p:nvPr/>
        </p:nvSpPr>
        <p:spPr bwMode="auto">
          <a:xfrm>
            <a:off x="7712075" y="5024438"/>
            <a:ext cx="65088" cy="53975"/>
          </a:xfrm>
          <a:custGeom>
            <a:avLst/>
            <a:gdLst>
              <a:gd name="T0" fmla="*/ 41 w 41"/>
              <a:gd name="T1" fmla="*/ 34 h 34"/>
              <a:gd name="T2" fmla="*/ 28 w 41"/>
              <a:gd name="T3" fmla="*/ 14 h 34"/>
              <a:gd name="T4" fmla="*/ 0 w 41"/>
              <a:gd name="T5" fmla="*/ 0 h 34"/>
            </a:gdLst>
            <a:ahLst/>
            <a:cxnLst>
              <a:cxn ang="0">
                <a:pos x="T0" y="T1"/>
              </a:cxn>
              <a:cxn ang="0">
                <a:pos x="T2" y="T3"/>
              </a:cxn>
              <a:cxn ang="0">
                <a:pos x="T4" y="T5"/>
              </a:cxn>
            </a:cxnLst>
            <a:rect l="0" t="0" r="r" b="b"/>
            <a:pathLst>
              <a:path w="41" h="34">
                <a:moveTo>
                  <a:pt x="41" y="34"/>
                </a:moveTo>
                <a:lnTo>
                  <a:pt x="28" y="14"/>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37" name="Freeform 53"/>
          <p:cNvSpPr>
            <a:spLocks/>
          </p:cNvSpPr>
          <p:nvPr/>
        </p:nvSpPr>
        <p:spPr bwMode="auto">
          <a:xfrm>
            <a:off x="7591425" y="5035550"/>
            <a:ext cx="66675" cy="65088"/>
          </a:xfrm>
          <a:custGeom>
            <a:avLst/>
            <a:gdLst>
              <a:gd name="T0" fmla="*/ 42 w 42"/>
              <a:gd name="T1" fmla="*/ 0 h 41"/>
              <a:gd name="T2" fmla="*/ 28 w 42"/>
              <a:gd name="T3" fmla="*/ 7 h 41"/>
              <a:gd name="T4" fmla="*/ 0 w 42"/>
              <a:gd name="T5" fmla="*/ 41 h 41"/>
            </a:gdLst>
            <a:ahLst/>
            <a:cxnLst>
              <a:cxn ang="0">
                <a:pos x="T0" y="T1"/>
              </a:cxn>
              <a:cxn ang="0">
                <a:pos x="T2" y="T3"/>
              </a:cxn>
              <a:cxn ang="0">
                <a:pos x="T4" y="T5"/>
              </a:cxn>
            </a:cxnLst>
            <a:rect l="0" t="0" r="r" b="b"/>
            <a:pathLst>
              <a:path w="42" h="41">
                <a:moveTo>
                  <a:pt x="42" y="0"/>
                </a:moveTo>
                <a:lnTo>
                  <a:pt x="28" y="7"/>
                </a:lnTo>
                <a:lnTo>
                  <a:pt x="0" y="41"/>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38" name="Line 54"/>
          <p:cNvSpPr>
            <a:spLocks noChangeShapeType="1"/>
          </p:cNvSpPr>
          <p:nvPr/>
        </p:nvSpPr>
        <p:spPr bwMode="auto">
          <a:xfrm flipH="1">
            <a:off x="7515225" y="5156200"/>
            <a:ext cx="44450"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39" name="Freeform 55"/>
          <p:cNvSpPr>
            <a:spLocks/>
          </p:cNvSpPr>
          <p:nvPr/>
        </p:nvSpPr>
        <p:spPr bwMode="auto">
          <a:xfrm>
            <a:off x="7472363" y="5286375"/>
            <a:ext cx="11112" cy="87313"/>
          </a:xfrm>
          <a:custGeom>
            <a:avLst/>
            <a:gdLst>
              <a:gd name="T0" fmla="*/ 7 w 7"/>
              <a:gd name="T1" fmla="*/ 0 h 55"/>
              <a:gd name="T2" fmla="*/ 0 w 7"/>
              <a:gd name="T3" fmla="*/ 21 h 55"/>
              <a:gd name="T4" fmla="*/ 0 w 7"/>
              <a:gd name="T5" fmla="*/ 55 h 55"/>
            </a:gdLst>
            <a:ahLst/>
            <a:cxnLst>
              <a:cxn ang="0">
                <a:pos x="T0" y="T1"/>
              </a:cxn>
              <a:cxn ang="0">
                <a:pos x="T2" y="T3"/>
              </a:cxn>
              <a:cxn ang="0">
                <a:pos x="T4" y="T5"/>
              </a:cxn>
            </a:cxnLst>
            <a:rect l="0" t="0" r="r" b="b"/>
            <a:pathLst>
              <a:path w="7" h="55">
                <a:moveTo>
                  <a:pt x="7" y="0"/>
                </a:moveTo>
                <a:lnTo>
                  <a:pt x="0" y="21"/>
                </a:lnTo>
                <a:lnTo>
                  <a:pt x="0" y="55"/>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40" name="Line 56"/>
          <p:cNvSpPr>
            <a:spLocks noChangeShapeType="1"/>
          </p:cNvSpPr>
          <p:nvPr/>
        </p:nvSpPr>
        <p:spPr bwMode="auto">
          <a:xfrm>
            <a:off x="7996238" y="5822950"/>
            <a:ext cx="1587" cy="87313"/>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41" name="Freeform 57"/>
          <p:cNvSpPr>
            <a:spLocks/>
          </p:cNvSpPr>
          <p:nvPr/>
        </p:nvSpPr>
        <p:spPr bwMode="auto">
          <a:xfrm>
            <a:off x="8007350" y="5975350"/>
            <a:ext cx="55563" cy="65088"/>
          </a:xfrm>
          <a:custGeom>
            <a:avLst/>
            <a:gdLst>
              <a:gd name="T0" fmla="*/ 0 w 35"/>
              <a:gd name="T1" fmla="*/ 0 h 41"/>
              <a:gd name="T2" fmla="*/ 7 w 35"/>
              <a:gd name="T3" fmla="*/ 21 h 41"/>
              <a:gd name="T4" fmla="*/ 28 w 35"/>
              <a:gd name="T5" fmla="*/ 41 h 41"/>
              <a:gd name="T6" fmla="*/ 35 w 35"/>
              <a:gd name="T7" fmla="*/ 41 h 41"/>
            </a:gdLst>
            <a:ahLst/>
            <a:cxnLst>
              <a:cxn ang="0">
                <a:pos x="T0" y="T1"/>
              </a:cxn>
              <a:cxn ang="0">
                <a:pos x="T2" y="T3"/>
              </a:cxn>
              <a:cxn ang="0">
                <a:pos x="T4" y="T5"/>
              </a:cxn>
              <a:cxn ang="0">
                <a:pos x="T6" y="T7"/>
              </a:cxn>
            </a:cxnLst>
            <a:rect l="0" t="0" r="r" b="b"/>
            <a:pathLst>
              <a:path w="35" h="41">
                <a:moveTo>
                  <a:pt x="0" y="0"/>
                </a:moveTo>
                <a:lnTo>
                  <a:pt x="7" y="21"/>
                </a:lnTo>
                <a:lnTo>
                  <a:pt x="28" y="41"/>
                </a:lnTo>
                <a:lnTo>
                  <a:pt x="35" y="41"/>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42" name="Freeform 58"/>
          <p:cNvSpPr>
            <a:spLocks/>
          </p:cNvSpPr>
          <p:nvPr/>
        </p:nvSpPr>
        <p:spPr bwMode="auto">
          <a:xfrm>
            <a:off x="8128000" y="6051550"/>
            <a:ext cx="87313" cy="11113"/>
          </a:xfrm>
          <a:custGeom>
            <a:avLst/>
            <a:gdLst>
              <a:gd name="T0" fmla="*/ 0 w 55"/>
              <a:gd name="T1" fmla="*/ 0 h 7"/>
              <a:gd name="T2" fmla="*/ 34 w 55"/>
              <a:gd name="T3" fmla="*/ 7 h 7"/>
              <a:gd name="T4" fmla="*/ 55 w 55"/>
              <a:gd name="T5" fmla="*/ 7 h 7"/>
            </a:gdLst>
            <a:ahLst/>
            <a:cxnLst>
              <a:cxn ang="0">
                <a:pos x="T0" y="T1"/>
              </a:cxn>
              <a:cxn ang="0">
                <a:pos x="T2" y="T3"/>
              </a:cxn>
              <a:cxn ang="0">
                <a:pos x="T4" y="T5"/>
              </a:cxn>
            </a:cxnLst>
            <a:rect l="0" t="0" r="r" b="b"/>
            <a:pathLst>
              <a:path w="55" h="7">
                <a:moveTo>
                  <a:pt x="0" y="0"/>
                </a:moveTo>
                <a:lnTo>
                  <a:pt x="34" y="7"/>
                </a:lnTo>
                <a:lnTo>
                  <a:pt x="55" y="7"/>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43" name="Line 59"/>
          <p:cNvSpPr>
            <a:spLocks noChangeShapeType="1"/>
          </p:cNvSpPr>
          <p:nvPr/>
        </p:nvSpPr>
        <p:spPr bwMode="auto">
          <a:xfrm>
            <a:off x="8280400" y="6062663"/>
            <a:ext cx="87313"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44" name="Freeform 60"/>
          <p:cNvSpPr>
            <a:spLocks/>
          </p:cNvSpPr>
          <p:nvPr/>
        </p:nvSpPr>
        <p:spPr bwMode="auto">
          <a:xfrm>
            <a:off x="8434388" y="6062663"/>
            <a:ext cx="87312" cy="11112"/>
          </a:xfrm>
          <a:custGeom>
            <a:avLst/>
            <a:gdLst>
              <a:gd name="T0" fmla="*/ 0 w 55"/>
              <a:gd name="T1" fmla="*/ 0 h 7"/>
              <a:gd name="T2" fmla="*/ 0 w 55"/>
              <a:gd name="T3" fmla="*/ 7 h 7"/>
              <a:gd name="T4" fmla="*/ 55 w 55"/>
              <a:gd name="T5" fmla="*/ 0 h 7"/>
            </a:gdLst>
            <a:ahLst/>
            <a:cxnLst>
              <a:cxn ang="0">
                <a:pos x="T0" y="T1"/>
              </a:cxn>
              <a:cxn ang="0">
                <a:pos x="T2" y="T3"/>
              </a:cxn>
              <a:cxn ang="0">
                <a:pos x="T4" y="T5"/>
              </a:cxn>
            </a:cxnLst>
            <a:rect l="0" t="0" r="r" b="b"/>
            <a:pathLst>
              <a:path w="55" h="7">
                <a:moveTo>
                  <a:pt x="0" y="0"/>
                </a:moveTo>
                <a:lnTo>
                  <a:pt x="0" y="7"/>
                </a:lnTo>
                <a:lnTo>
                  <a:pt x="55"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45" name="Line 61"/>
          <p:cNvSpPr>
            <a:spLocks noChangeShapeType="1"/>
          </p:cNvSpPr>
          <p:nvPr/>
        </p:nvSpPr>
        <p:spPr bwMode="auto">
          <a:xfrm>
            <a:off x="8586788" y="6062663"/>
            <a:ext cx="87312" cy="15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46" name="Line 62"/>
          <p:cNvSpPr>
            <a:spLocks noChangeShapeType="1"/>
          </p:cNvSpPr>
          <p:nvPr/>
        </p:nvSpPr>
        <p:spPr bwMode="auto">
          <a:xfrm flipV="1">
            <a:off x="8740775" y="6040438"/>
            <a:ext cx="87313" cy="111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47" name="Freeform 63"/>
          <p:cNvSpPr>
            <a:spLocks/>
          </p:cNvSpPr>
          <p:nvPr/>
        </p:nvSpPr>
        <p:spPr bwMode="auto">
          <a:xfrm>
            <a:off x="8870950" y="5921375"/>
            <a:ext cx="22225" cy="76200"/>
          </a:xfrm>
          <a:custGeom>
            <a:avLst/>
            <a:gdLst>
              <a:gd name="T0" fmla="*/ 0 w 14"/>
              <a:gd name="T1" fmla="*/ 48 h 48"/>
              <a:gd name="T2" fmla="*/ 7 w 14"/>
              <a:gd name="T3" fmla="*/ 34 h 48"/>
              <a:gd name="T4" fmla="*/ 14 w 14"/>
              <a:gd name="T5" fmla="*/ 0 h 48"/>
            </a:gdLst>
            <a:ahLst/>
            <a:cxnLst>
              <a:cxn ang="0">
                <a:pos x="T0" y="T1"/>
              </a:cxn>
              <a:cxn ang="0">
                <a:pos x="T2" y="T3"/>
              </a:cxn>
              <a:cxn ang="0">
                <a:pos x="T4" y="T5"/>
              </a:cxn>
            </a:cxnLst>
            <a:rect l="0" t="0" r="r" b="b"/>
            <a:pathLst>
              <a:path w="14" h="48">
                <a:moveTo>
                  <a:pt x="0" y="48"/>
                </a:moveTo>
                <a:lnTo>
                  <a:pt x="7" y="34"/>
                </a:lnTo>
                <a:lnTo>
                  <a:pt x="14"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48" name="Line 64"/>
          <p:cNvSpPr>
            <a:spLocks noChangeShapeType="1"/>
          </p:cNvSpPr>
          <p:nvPr/>
        </p:nvSpPr>
        <p:spPr bwMode="auto">
          <a:xfrm flipV="1">
            <a:off x="8915400" y="5767388"/>
            <a:ext cx="1588" cy="873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49" name="Freeform 65"/>
          <p:cNvSpPr>
            <a:spLocks/>
          </p:cNvSpPr>
          <p:nvPr/>
        </p:nvSpPr>
        <p:spPr bwMode="auto">
          <a:xfrm>
            <a:off x="8893175" y="5614988"/>
            <a:ext cx="22225" cy="87312"/>
          </a:xfrm>
          <a:custGeom>
            <a:avLst/>
            <a:gdLst>
              <a:gd name="T0" fmla="*/ 14 w 14"/>
              <a:gd name="T1" fmla="*/ 55 h 55"/>
              <a:gd name="T2" fmla="*/ 7 w 14"/>
              <a:gd name="T3" fmla="*/ 0 h 55"/>
              <a:gd name="T4" fmla="*/ 0 w 14"/>
              <a:gd name="T5" fmla="*/ 0 h 55"/>
            </a:gdLst>
            <a:ahLst/>
            <a:cxnLst>
              <a:cxn ang="0">
                <a:pos x="T0" y="T1"/>
              </a:cxn>
              <a:cxn ang="0">
                <a:pos x="T2" y="T3"/>
              </a:cxn>
              <a:cxn ang="0">
                <a:pos x="T4" y="T5"/>
              </a:cxn>
            </a:cxnLst>
            <a:rect l="0" t="0" r="r" b="b"/>
            <a:pathLst>
              <a:path w="14" h="55">
                <a:moveTo>
                  <a:pt x="14" y="55"/>
                </a:moveTo>
                <a:lnTo>
                  <a:pt x="7" y="0"/>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50" name="Line 66"/>
          <p:cNvSpPr>
            <a:spLocks noChangeShapeType="1"/>
          </p:cNvSpPr>
          <p:nvPr/>
        </p:nvSpPr>
        <p:spPr bwMode="auto">
          <a:xfrm flipH="1" flipV="1">
            <a:off x="8816975" y="5483225"/>
            <a:ext cx="42863"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51" name="Line 67"/>
          <p:cNvSpPr>
            <a:spLocks noChangeShapeType="1"/>
          </p:cNvSpPr>
          <p:nvPr/>
        </p:nvSpPr>
        <p:spPr bwMode="auto">
          <a:xfrm flipH="1" flipV="1">
            <a:off x="8740775" y="5353050"/>
            <a:ext cx="42863"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52" name="Freeform 68"/>
          <p:cNvSpPr>
            <a:spLocks/>
          </p:cNvSpPr>
          <p:nvPr/>
        </p:nvSpPr>
        <p:spPr bwMode="auto">
          <a:xfrm>
            <a:off x="8651875" y="5221288"/>
            <a:ext cx="44450" cy="76200"/>
          </a:xfrm>
          <a:custGeom>
            <a:avLst/>
            <a:gdLst>
              <a:gd name="T0" fmla="*/ 28 w 28"/>
              <a:gd name="T1" fmla="*/ 48 h 48"/>
              <a:gd name="T2" fmla="*/ 21 w 28"/>
              <a:gd name="T3" fmla="*/ 34 h 48"/>
              <a:gd name="T4" fmla="*/ 0 w 28"/>
              <a:gd name="T5" fmla="*/ 0 h 48"/>
            </a:gdLst>
            <a:ahLst/>
            <a:cxnLst>
              <a:cxn ang="0">
                <a:pos x="T0" y="T1"/>
              </a:cxn>
              <a:cxn ang="0">
                <a:pos x="T2" y="T3"/>
              </a:cxn>
              <a:cxn ang="0">
                <a:pos x="T4" y="T5"/>
              </a:cxn>
            </a:cxnLst>
            <a:rect l="0" t="0" r="r" b="b"/>
            <a:pathLst>
              <a:path w="28" h="48">
                <a:moveTo>
                  <a:pt x="28" y="48"/>
                </a:moveTo>
                <a:lnTo>
                  <a:pt x="21" y="34"/>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53" name="Line 69"/>
          <p:cNvSpPr>
            <a:spLocks noChangeShapeType="1"/>
          </p:cNvSpPr>
          <p:nvPr/>
        </p:nvSpPr>
        <p:spPr bwMode="auto">
          <a:xfrm flipH="1" flipV="1">
            <a:off x="8555038" y="5100638"/>
            <a:ext cx="53975" cy="65087"/>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54" name="Freeform 70"/>
          <p:cNvSpPr>
            <a:spLocks/>
          </p:cNvSpPr>
          <p:nvPr/>
        </p:nvSpPr>
        <p:spPr bwMode="auto">
          <a:xfrm>
            <a:off x="8434388" y="5013325"/>
            <a:ext cx="76200" cy="44450"/>
          </a:xfrm>
          <a:custGeom>
            <a:avLst/>
            <a:gdLst>
              <a:gd name="T0" fmla="*/ 48 w 48"/>
              <a:gd name="T1" fmla="*/ 28 h 28"/>
              <a:gd name="T2" fmla="*/ 20 w 48"/>
              <a:gd name="T3" fmla="*/ 7 h 28"/>
              <a:gd name="T4" fmla="*/ 0 w 48"/>
              <a:gd name="T5" fmla="*/ 0 h 28"/>
            </a:gdLst>
            <a:ahLst/>
            <a:cxnLst>
              <a:cxn ang="0">
                <a:pos x="T0" y="T1"/>
              </a:cxn>
              <a:cxn ang="0">
                <a:pos x="T2" y="T3"/>
              </a:cxn>
              <a:cxn ang="0">
                <a:pos x="T4" y="T5"/>
              </a:cxn>
            </a:cxnLst>
            <a:rect l="0" t="0" r="r" b="b"/>
            <a:pathLst>
              <a:path w="48" h="28">
                <a:moveTo>
                  <a:pt x="48" y="28"/>
                </a:moveTo>
                <a:lnTo>
                  <a:pt x="20" y="7"/>
                </a:lnTo>
                <a:lnTo>
                  <a:pt x="0" y="0"/>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55" name="Freeform 71"/>
          <p:cNvSpPr>
            <a:spLocks/>
          </p:cNvSpPr>
          <p:nvPr/>
        </p:nvSpPr>
        <p:spPr bwMode="auto">
          <a:xfrm>
            <a:off x="8302625" y="5024438"/>
            <a:ext cx="65088" cy="53975"/>
          </a:xfrm>
          <a:custGeom>
            <a:avLst/>
            <a:gdLst>
              <a:gd name="T0" fmla="*/ 41 w 41"/>
              <a:gd name="T1" fmla="*/ 0 h 34"/>
              <a:gd name="T2" fmla="*/ 35 w 41"/>
              <a:gd name="T3" fmla="*/ 0 h 34"/>
              <a:gd name="T4" fmla="*/ 0 w 41"/>
              <a:gd name="T5" fmla="*/ 34 h 34"/>
            </a:gdLst>
            <a:ahLst/>
            <a:cxnLst>
              <a:cxn ang="0">
                <a:pos x="T0" y="T1"/>
              </a:cxn>
              <a:cxn ang="0">
                <a:pos x="T2" y="T3"/>
              </a:cxn>
              <a:cxn ang="0">
                <a:pos x="T4" y="T5"/>
              </a:cxn>
            </a:cxnLst>
            <a:rect l="0" t="0" r="r" b="b"/>
            <a:pathLst>
              <a:path w="41" h="34">
                <a:moveTo>
                  <a:pt x="41" y="0"/>
                </a:moveTo>
                <a:lnTo>
                  <a:pt x="35" y="0"/>
                </a:lnTo>
                <a:lnTo>
                  <a:pt x="0" y="34"/>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56" name="Line 72"/>
          <p:cNvSpPr>
            <a:spLocks noChangeShapeType="1"/>
          </p:cNvSpPr>
          <p:nvPr/>
        </p:nvSpPr>
        <p:spPr bwMode="auto">
          <a:xfrm flipH="1">
            <a:off x="8215313" y="5133975"/>
            <a:ext cx="44450" cy="65088"/>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57" name="Freeform 73"/>
          <p:cNvSpPr>
            <a:spLocks/>
          </p:cNvSpPr>
          <p:nvPr/>
        </p:nvSpPr>
        <p:spPr bwMode="auto">
          <a:xfrm>
            <a:off x="8128000" y="5254625"/>
            <a:ext cx="42863" cy="76200"/>
          </a:xfrm>
          <a:custGeom>
            <a:avLst/>
            <a:gdLst>
              <a:gd name="T0" fmla="*/ 27 w 27"/>
              <a:gd name="T1" fmla="*/ 0 h 48"/>
              <a:gd name="T2" fmla="*/ 21 w 27"/>
              <a:gd name="T3" fmla="*/ 13 h 48"/>
              <a:gd name="T4" fmla="*/ 0 w 27"/>
              <a:gd name="T5" fmla="*/ 48 h 48"/>
            </a:gdLst>
            <a:ahLst/>
            <a:cxnLst>
              <a:cxn ang="0">
                <a:pos x="T0" y="T1"/>
              </a:cxn>
              <a:cxn ang="0">
                <a:pos x="T2" y="T3"/>
              </a:cxn>
              <a:cxn ang="0">
                <a:pos x="T4" y="T5"/>
              </a:cxn>
            </a:cxnLst>
            <a:rect l="0" t="0" r="r" b="b"/>
            <a:pathLst>
              <a:path w="27" h="48">
                <a:moveTo>
                  <a:pt x="27" y="0"/>
                </a:moveTo>
                <a:lnTo>
                  <a:pt x="21" y="13"/>
                </a:lnTo>
                <a:lnTo>
                  <a:pt x="0" y="48"/>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58" name="Line 74"/>
          <p:cNvSpPr>
            <a:spLocks noChangeShapeType="1"/>
          </p:cNvSpPr>
          <p:nvPr/>
        </p:nvSpPr>
        <p:spPr bwMode="auto">
          <a:xfrm flipH="1">
            <a:off x="8040688" y="5384800"/>
            <a:ext cx="53975" cy="76200"/>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59" name="Freeform 75"/>
          <p:cNvSpPr>
            <a:spLocks/>
          </p:cNvSpPr>
          <p:nvPr/>
        </p:nvSpPr>
        <p:spPr bwMode="auto">
          <a:xfrm>
            <a:off x="7996238" y="5516563"/>
            <a:ext cx="22225" cy="87312"/>
          </a:xfrm>
          <a:custGeom>
            <a:avLst/>
            <a:gdLst>
              <a:gd name="T0" fmla="*/ 14 w 14"/>
              <a:gd name="T1" fmla="*/ 0 h 55"/>
              <a:gd name="T2" fmla="*/ 0 w 14"/>
              <a:gd name="T3" fmla="*/ 41 h 55"/>
              <a:gd name="T4" fmla="*/ 0 w 14"/>
              <a:gd name="T5" fmla="*/ 55 h 55"/>
            </a:gdLst>
            <a:ahLst/>
            <a:cxnLst>
              <a:cxn ang="0">
                <a:pos x="T0" y="T1"/>
              </a:cxn>
              <a:cxn ang="0">
                <a:pos x="T2" y="T3"/>
              </a:cxn>
              <a:cxn ang="0">
                <a:pos x="T4" y="T5"/>
              </a:cxn>
            </a:cxnLst>
            <a:rect l="0" t="0" r="r" b="b"/>
            <a:pathLst>
              <a:path w="14" h="55">
                <a:moveTo>
                  <a:pt x="14" y="0"/>
                </a:moveTo>
                <a:lnTo>
                  <a:pt x="0" y="41"/>
                </a:lnTo>
                <a:lnTo>
                  <a:pt x="0" y="55"/>
                </a:lnTo>
              </a:path>
            </a:pathLst>
          </a:custGeom>
          <a:noFill/>
          <a:ln w="11113">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60" name="Line 76"/>
          <p:cNvSpPr>
            <a:spLocks noChangeShapeType="1"/>
          </p:cNvSpPr>
          <p:nvPr/>
        </p:nvSpPr>
        <p:spPr bwMode="auto">
          <a:xfrm>
            <a:off x="7996238" y="5668963"/>
            <a:ext cx="1587" cy="87312"/>
          </a:xfrm>
          <a:prstGeom prst="line">
            <a:avLst/>
          </a:prstGeom>
          <a:noFill/>
          <a:ln w="1111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98061" name="Freeform 77"/>
          <p:cNvSpPr>
            <a:spLocks/>
          </p:cNvSpPr>
          <p:nvPr/>
        </p:nvSpPr>
        <p:spPr bwMode="auto">
          <a:xfrm>
            <a:off x="7700963" y="5330825"/>
            <a:ext cx="22225" cy="22225"/>
          </a:xfrm>
          <a:custGeom>
            <a:avLst/>
            <a:gdLst>
              <a:gd name="T0" fmla="*/ 0 w 14"/>
              <a:gd name="T1" fmla="*/ 0 h 14"/>
              <a:gd name="T2" fmla="*/ 0 w 14"/>
              <a:gd name="T3" fmla="*/ 7 h 14"/>
              <a:gd name="T4" fmla="*/ 14 w 14"/>
              <a:gd name="T5" fmla="*/ 14 h 14"/>
              <a:gd name="T6" fmla="*/ 14 w 14"/>
              <a:gd name="T7" fmla="*/ 7 h 14"/>
              <a:gd name="T8" fmla="*/ 0 w 14"/>
              <a:gd name="T9" fmla="*/ 0 h 14"/>
            </a:gdLst>
            <a:ahLst/>
            <a:cxnLst>
              <a:cxn ang="0">
                <a:pos x="T0" y="T1"/>
              </a:cxn>
              <a:cxn ang="0">
                <a:pos x="T2" y="T3"/>
              </a:cxn>
              <a:cxn ang="0">
                <a:pos x="T4" y="T5"/>
              </a:cxn>
              <a:cxn ang="0">
                <a:pos x="T6" y="T7"/>
              </a:cxn>
              <a:cxn ang="0">
                <a:pos x="T8" y="T9"/>
              </a:cxn>
            </a:cxnLst>
            <a:rect l="0" t="0" r="r" b="b"/>
            <a:pathLst>
              <a:path w="14" h="14">
                <a:moveTo>
                  <a:pt x="0" y="0"/>
                </a:moveTo>
                <a:lnTo>
                  <a:pt x="0" y="7"/>
                </a:lnTo>
                <a:lnTo>
                  <a:pt x="14" y="14"/>
                </a:lnTo>
                <a:lnTo>
                  <a:pt x="14" y="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62" name="Freeform 78"/>
          <p:cNvSpPr>
            <a:spLocks/>
          </p:cNvSpPr>
          <p:nvPr/>
        </p:nvSpPr>
        <p:spPr bwMode="auto">
          <a:xfrm>
            <a:off x="7942263" y="4838700"/>
            <a:ext cx="31750" cy="22225"/>
          </a:xfrm>
          <a:custGeom>
            <a:avLst/>
            <a:gdLst>
              <a:gd name="T0" fmla="*/ 0 w 20"/>
              <a:gd name="T1" fmla="*/ 7 h 14"/>
              <a:gd name="T2" fmla="*/ 7 w 20"/>
              <a:gd name="T3" fmla="*/ 0 h 14"/>
              <a:gd name="T4" fmla="*/ 20 w 20"/>
              <a:gd name="T5" fmla="*/ 7 h 14"/>
              <a:gd name="T6" fmla="*/ 14 w 20"/>
              <a:gd name="T7" fmla="*/ 14 h 14"/>
              <a:gd name="T8" fmla="*/ 0 w 20"/>
              <a:gd name="T9" fmla="*/ 7 h 14"/>
            </a:gdLst>
            <a:ahLst/>
            <a:cxnLst>
              <a:cxn ang="0">
                <a:pos x="T0" y="T1"/>
              </a:cxn>
              <a:cxn ang="0">
                <a:pos x="T2" y="T3"/>
              </a:cxn>
              <a:cxn ang="0">
                <a:pos x="T4" y="T5"/>
              </a:cxn>
              <a:cxn ang="0">
                <a:pos x="T6" y="T7"/>
              </a:cxn>
              <a:cxn ang="0">
                <a:pos x="T8" y="T9"/>
              </a:cxn>
            </a:cxnLst>
            <a:rect l="0" t="0" r="r" b="b"/>
            <a:pathLst>
              <a:path w="20" h="14">
                <a:moveTo>
                  <a:pt x="0" y="7"/>
                </a:moveTo>
                <a:lnTo>
                  <a:pt x="7" y="0"/>
                </a:lnTo>
                <a:lnTo>
                  <a:pt x="20" y="7"/>
                </a:lnTo>
                <a:lnTo>
                  <a:pt x="14" y="14"/>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63" name="Freeform 79"/>
          <p:cNvSpPr>
            <a:spLocks/>
          </p:cNvSpPr>
          <p:nvPr/>
        </p:nvSpPr>
        <p:spPr bwMode="auto">
          <a:xfrm>
            <a:off x="7700963" y="4849813"/>
            <a:ext cx="263525" cy="492125"/>
          </a:xfrm>
          <a:custGeom>
            <a:avLst/>
            <a:gdLst>
              <a:gd name="T0" fmla="*/ 0 w 166"/>
              <a:gd name="T1" fmla="*/ 303 h 310"/>
              <a:gd name="T2" fmla="*/ 14 w 166"/>
              <a:gd name="T3" fmla="*/ 310 h 310"/>
              <a:gd name="T4" fmla="*/ 166 w 166"/>
              <a:gd name="T5" fmla="*/ 7 h 310"/>
              <a:gd name="T6" fmla="*/ 152 w 166"/>
              <a:gd name="T7" fmla="*/ 0 h 310"/>
              <a:gd name="T8" fmla="*/ 0 w 166"/>
              <a:gd name="T9" fmla="*/ 303 h 310"/>
            </a:gdLst>
            <a:ahLst/>
            <a:cxnLst>
              <a:cxn ang="0">
                <a:pos x="T0" y="T1"/>
              </a:cxn>
              <a:cxn ang="0">
                <a:pos x="T2" y="T3"/>
              </a:cxn>
              <a:cxn ang="0">
                <a:pos x="T4" y="T5"/>
              </a:cxn>
              <a:cxn ang="0">
                <a:pos x="T6" y="T7"/>
              </a:cxn>
              <a:cxn ang="0">
                <a:pos x="T8" y="T9"/>
              </a:cxn>
            </a:cxnLst>
            <a:rect l="0" t="0" r="r" b="b"/>
            <a:pathLst>
              <a:path w="166" h="310">
                <a:moveTo>
                  <a:pt x="0" y="303"/>
                </a:moveTo>
                <a:lnTo>
                  <a:pt x="14" y="310"/>
                </a:lnTo>
                <a:lnTo>
                  <a:pt x="166" y="7"/>
                </a:lnTo>
                <a:lnTo>
                  <a:pt x="152" y="0"/>
                </a:lnTo>
                <a:lnTo>
                  <a:pt x="0" y="3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64" name="Freeform 80"/>
          <p:cNvSpPr>
            <a:spLocks/>
          </p:cNvSpPr>
          <p:nvPr/>
        </p:nvSpPr>
        <p:spPr bwMode="auto">
          <a:xfrm>
            <a:off x="7942263" y="4816475"/>
            <a:ext cx="31750" cy="33338"/>
          </a:xfrm>
          <a:custGeom>
            <a:avLst/>
            <a:gdLst>
              <a:gd name="T0" fmla="*/ 0 w 20"/>
              <a:gd name="T1" fmla="*/ 21 h 21"/>
              <a:gd name="T2" fmla="*/ 14 w 20"/>
              <a:gd name="T3" fmla="*/ 21 h 21"/>
              <a:gd name="T4" fmla="*/ 20 w 20"/>
              <a:gd name="T5" fmla="*/ 7 h 21"/>
              <a:gd name="T6" fmla="*/ 14 w 20"/>
              <a:gd name="T7" fmla="*/ 0 h 21"/>
              <a:gd name="T8" fmla="*/ 0 w 20"/>
              <a:gd name="T9" fmla="*/ 21 h 21"/>
            </a:gdLst>
            <a:ahLst/>
            <a:cxnLst>
              <a:cxn ang="0">
                <a:pos x="T0" y="T1"/>
              </a:cxn>
              <a:cxn ang="0">
                <a:pos x="T2" y="T3"/>
              </a:cxn>
              <a:cxn ang="0">
                <a:pos x="T4" y="T5"/>
              </a:cxn>
              <a:cxn ang="0">
                <a:pos x="T6" y="T7"/>
              </a:cxn>
              <a:cxn ang="0">
                <a:pos x="T8" y="T9"/>
              </a:cxn>
            </a:cxnLst>
            <a:rect l="0" t="0" r="r" b="b"/>
            <a:pathLst>
              <a:path w="20" h="21">
                <a:moveTo>
                  <a:pt x="0" y="21"/>
                </a:moveTo>
                <a:lnTo>
                  <a:pt x="14" y="21"/>
                </a:lnTo>
                <a:lnTo>
                  <a:pt x="20" y="7"/>
                </a:lnTo>
                <a:lnTo>
                  <a:pt x="14" y="0"/>
                </a:lnTo>
                <a:lnTo>
                  <a:pt x="0" y="2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65" name="Freeform 81"/>
          <p:cNvSpPr>
            <a:spLocks/>
          </p:cNvSpPr>
          <p:nvPr/>
        </p:nvSpPr>
        <p:spPr bwMode="auto">
          <a:xfrm>
            <a:off x="7219950" y="4368800"/>
            <a:ext cx="33338" cy="42863"/>
          </a:xfrm>
          <a:custGeom>
            <a:avLst/>
            <a:gdLst>
              <a:gd name="T0" fmla="*/ 7 w 21"/>
              <a:gd name="T1" fmla="*/ 27 h 27"/>
              <a:gd name="T2" fmla="*/ 0 w 21"/>
              <a:gd name="T3" fmla="*/ 20 h 27"/>
              <a:gd name="T4" fmla="*/ 14 w 21"/>
              <a:gd name="T5" fmla="*/ 0 h 27"/>
              <a:gd name="T6" fmla="*/ 21 w 21"/>
              <a:gd name="T7" fmla="*/ 7 h 27"/>
              <a:gd name="T8" fmla="*/ 7 w 21"/>
              <a:gd name="T9" fmla="*/ 27 h 27"/>
            </a:gdLst>
            <a:ahLst/>
            <a:cxnLst>
              <a:cxn ang="0">
                <a:pos x="T0" y="T1"/>
              </a:cxn>
              <a:cxn ang="0">
                <a:pos x="T2" y="T3"/>
              </a:cxn>
              <a:cxn ang="0">
                <a:pos x="T4" y="T5"/>
              </a:cxn>
              <a:cxn ang="0">
                <a:pos x="T6" y="T7"/>
              </a:cxn>
              <a:cxn ang="0">
                <a:pos x="T8" y="T9"/>
              </a:cxn>
            </a:cxnLst>
            <a:rect l="0" t="0" r="r" b="b"/>
            <a:pathLst>
              <a:path w="21" h="27">
                <a:moveTo>
                  <a:pt x="7" y="27"/>
                </a:moveTo>
                <a:lnTo>
                  <a:pt x="0" y="20"/>
                </a:lnTo>
                <a:lnTo>
                  <a:pt x="14" y="0"/>
                </a:lnTo>
                <a:lnTo>
                  <a:pt x="21" y="7"/>
                </a:lnTo>
                <a:lnTo>
                  <a:pt x="7" y="2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66" name="Freeform 82"/>
          <p:cNvSpPr>
            <a:spLocks/>
          </p:cNvSpPr>
          <p:nvPr/>
        </p:nvSpPr>
        <p:spPr bwMode="auto">
          <a:xfrm>
            <a:off x="7231063" y="4379913"/>
            <a:ext cx="733425" cy="469900"/>
          </a:xfrm>
          <a:custGeom>
            <a:avLst/>
            <a:gdLst>
              <a:gd name="T0" fmla="*/ 448 w 462"/>
              <a:gd name="T1" fmla="*/ 296 h 296"/>
              <a:gd name="T2" fmla="*/ 462 w 462"/>
              <a:gd name="T3" fmla="*/ 275 h 296"/>
              <a:gd name="T4" fmla="*/ 14 w 462"/>
              <a:gd name="T5" fmla="*/ 0 h 296"/>
              <a:gd name="T6" fmla="*/ 0 w 462"/>
              <a:gd name="T7" fmla="*/ 20 h 296"/>
              <a:gd name="T8" fmla="*/ 448 w 462"/>
              <a:gd name="T9" fmla="*/ 296 h 296"/>
            </a:gdLst>
            <a:ahLst/>
            <a:cxnLst>
              <a:cxn ang="0">
                <a:pos x="T0" y="T1"/>
              </a:cxn>
              <a:cxn ang="0">
                <a:pos x="T2" y="T3"/>
              </a:cxn>
              <a:cxn ang="0">
                <a:pos x="T4" y="T5"/>
              </a:cxn>
              <a:cxn ang="0">
                <a:pos x="T6" y="T7"/>
              </a:cxn>
              <a:cxn ang="0">
                <a:pos x="T8" y="T9"/>
              </a:cxn>
            </a:cxnLst>
            <a:rect l="0" t="0" r="r" b="b"/>
            <a:pathLst>
              <a:path w="462" h="296">
                <a:moveTo>
                  <a:pt x="448" y="296"/>
                </a:moveTo>
                <a:lnTo>
                  <a:pt x="462" y="275"/>
                </a:lnTo>
                <a:lnTo>
                  <a:pt x="14" y="0"/>
                </a:lnTo>
                <a:lnTo>
                  <a:pt x="0" y="20"/>
                </a:lnTo>
                <a:lnTo>
                  <a:pt x="448" y="296"/>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67" name="Freeform 83"/>
          <p:cNvSpPr>
            <a:spLocks/>
          </p:cNvSpPr>
          <p:nvPr/>
        </p:nvSpPr>
        <p:spPr bwMode="auto">
          <a:xfrm>
            <a:off x="7931150" y="4838700"/>
            <a:ext cx="22225" cy="22225"/>
          </a:xfrm>
          <a:custGeom>
            <a:avLst/>
            <a:gdLst>
              <a:gd name="T0" fmla="*/ 14 w 14"/>
              <a:gd name="T1" fmla="*/ 0 h 14"/>
              <a:gd name="T2" fmla="*/ 7 w 14"/>
              <a:gd name="T3" fmla="*/ 0 h 14"/>
              <a:gd name="T4" fmla="*/ 0 w 14"/>
              <a:gd name="T5" fmla="*/ 7 h 14"/>
              <a:gd name="T6" fmla="*/ 0 w 14"/>
              <a:gd name="T7" fmla="*/ 14 h 14"/>
              <a:gd name="T8" fmla="*/ 14 w 14"/>
              <a:gd name="T9" fmla="*/ 0 h 14"/>
            </a:gdLst>
            <a:ahLst/>
            <a:cxnLst>
              <a:cxn ang="0">
                <a:pos x="T0" y="T1"/>
              </a:cxn>
              <a:cxn ang="0">
                <a:pos x="T2" y="T3"/>
              </a:cxn>
              <a:cxn ang="0">
                <a:pos x="T4" y="T5"/>
              </a:cxn>
              <a:cxn ang="0">
                <a:pos x="T6" y="T7"/>
              </a:cxn>
              <a:cxn ang="0">
                <a:pos x="T8" y="T9"/>
              </a:cxn>
            </a:cxnLst>
            <a:rect l="0" t="0" r="r" b="b"/>
            <a:pathLst>
              <a:path w="14" h="14">
                <a:moveTo>
                  <a:pt x="14" y="0"/>
                </a:moveTo>
                <a:lnTo>
                  <a:pt x="7" y="0"/>
                </a:lnTo>
                <a:lnTo>
                  <a:pt x="0" y="7"/>
                </a:lnTo>
                <a:lnTo>
                  <a:pt x="0" y="1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68" name="Freeform 84"/>
          <p:cNvSpPr>
            <a:spLocks/>
          </p:cNvSpPr>
          <p:nvPr/>
        </p:nvSpPr>
        <p:spPr bwMode="auto">
          <a:xfrm>
            <a:off x="8412163" y="5319713"/>
            <a:ext cx="33337" cy="33337"/>
          </a:xfrm>
          <a:custGeom>
            <a:avLst/>
            <a:gdLst>
              <a:gd name="T0" fmla="*/ 14 w 21"/>
              <a:gd name="T1" fmla="*/ 0 h 21"/>
              <a:gd name="T2" fmla="*/ 21 w 21"/>
              <a:gd name="T3" fmla="*/ 7 h 21"/>
              <a:gd name="T4" fmla="*/ 7 w 21"/>
              <a:gd name="T5" fmla="*/ 21 h 21"/>
              <a:gd name="T6" fmla="*/ 0 w 21"/>
              <a:gd name="T7" fmla="*/ 14 h 21"/>
              <a:gd name="T8" fmla="*/ 14 w 21"/>
              <a:gd name="T9" fmla="*/ 0 h 21"/>
            </a:gdLst>
            <a:ahLst/>
            <a:cxnLst>
              <a:cxn ang="0">
                <a:pos x="T0" y="T1"/>
              </a:cxn>
              <a:cxn ang="0">
                <a:pos x="T2" y="T3"/>
              </a:cxn>
              <a:cxn ang="0">
                <a:pos x="T4" y="T5"/>
              </a:cxn>
              <a:cxn ang="0">
                <a:pos x="T6" y="T7"/>
              </a:cxn>
              <a:cxn ang="0">
                <a:pos x="T8" y="T9"/>
              </a:cxn>
            </a:cxnLst>
            <a:rect l="0" t="0" r="r" b="b"/>
            <a:pathLst>
              <a:path w="21" h="21">
                <a:moveTo>
                  <a:pt x="14" y="0"/>
                </a:moveTo>
                <a:lnTo>
                  <a:pt x="21" y="7"/>
                </a:lnTo>
                <a:lnTo>
                  <a:pt x="7" y="21"/>
                </a:lnTo>
                <a:lnTo>
                  <a:pt x="0" y="1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69" name="Freeform 85"/>
          <p:cNvSpPr>
            <a:spLocks/>
          </p:cNvSpPr>
          <p:nvPr/>
        </p:nvSpPr>
        <p:spPr bwMode="auto">
          <a:xfrm>
            <a:off x="7931150" y="4838700"/>
            <a:ext cx="503238" cy="503238"/>
          </a:xfrm>
          <a:custGeom>
            <a:avLst/>
            <a:gdLst>
              <a:gd name="T0" fmla="*/ 14 w 317"/>
              <a:gd name="T1" fmla="*/ 0 h 317"/>
              <a:gd name="T2" fmla="*/ 0 w 317"/>
              <a:gd name="T3" fmla="*/ 14 h 317"/>
              <a:gd name="T4" fmla="*/ 303 w 317"/>
              <a:gd name="T5" fmla="*/ 317 h 317"/>
              <a:gd name="T6" fmla="*/ 317 w 317"/>
              <a:gd name="T7" fmla="*/ 303 h 317"/>
              <a:gd name="T8" fmla="*/ 14 w 317"/>
              <a:gd name="T9" fmla="*/ 0 h 317"/>
            </a:gdLst>
            <a:ahLst/>
            <a:cxnLst>
              <a:cxn ang="0">
                <a:pos x="T0" y="T1"/>
              </a:cxn>
              <a:cxn ang="0">
                <a:pos x="T2" y="T3"/>
              </a:cxn>
              <a:cxn ang="0">
                <a:pos x="T4" y="T5"/>
              </a:cxn>
              <a:cxn ang="0">
                <a:pos x="T6" y="T7"/>
              </a:cxn>
              <a:cxn ang="0">
                <a:pos x="T8" y="T9"/>
              </a:cxn>
            </a:cxnLst>
            <a:rect l="0" t="0" r="r" b="b"/>
            <a:pathLst>
              <a:path w="317" h="317">
                <a:moveTo>
                  <a:pt x="14" y="0"/>
                </a:moveTo>
                <a:lnTo>
                  <a:pt x="0" y="14"/>
                </a:lnTo>
                <a:lnTo>
                  <a:pt x="303" y="317"/>
                </a:lnTo>
                <a:lnTo>
                  <a:pt x="317" y="303"/>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70" name="Freeform 86"/>
          <p:cNvSpPr>
            <a:spLocks/>
          </p:cNvSpPr>
          <p:nvPr/>
        </p:nvSpPr>
        <p:spPr bwMode="auto">
          <a:xfrm>
            <a:off x="8170863" y="5811838"/>
            <a:ext cx="22225" cy="22225"/>
          </a:xfrm>
          <a:custGeom>
            <a:avLst/>
            <a:gdLst>
              <a:gd name="T0" fmla="*/ 0 w 14"/>
              <a:gd name="T1" fmla="*/ 0 h 14"/>
              <a:gd name="T2" fmla="*/ 0 w 14"/>
              <a:gd name="T3" fmla="*/ 7 h 14"/>
              <a:gd name="T4" fmla="*/ 14 w 14"/>
              <a:gd name="T5" fmla="*/ 14 h 14"/>
              <a:gd name="T6" fmla="*/ 14 w 14"/>
              <a:gd name="T7" fmla="*/ 7 h 14"/>
              <a:gd name="T8" fmla="*/ 0 w 14"/>
              <a:gd name="T9" fmla="*/ 0 h 14"/>
            </a:gdLst>
            <a:ahLst/>
            <a:cxnLst>
              <a:cxn ang="0">
                <a:pos x="T0" y="T1"/>
              </a:cxn>
              <a:cxn ang="0">
                <a:pos x="T2" y="T3"/>
              </a:cxn>
              <a:cxn ang="0">
                <a:pos x="T4" y="T5"/>
              </a:cxn>
              <a:cxn ang="0">
                <a:pos x="T6" y="T7"/>
              </a:cxn>
              <a:cxn ang="0">
                <a:pos x="T8" y="T9"/>
              </a:cxn>
            </a:cxnLst>
            <a:rect l="0" t="0" r="r" b="b"/>
            <a:pathLst>
              <a:path w="14" h="14">
                <a:moveTo>
                  <a:pt x="0" y="0"/>
                </a:moveTo>
                <a:lnTo>
                  <a:pt x="0" y="7"/>
                </a:lnTo>
                <a:lnTo>
                  <a:pt x="14" y="14"/>
                </a:lnTo>
                <a:lnTo>
                  <a:pt x="14" y="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71" name="Freeform 87"/>
          <p:cNvSpPr>
            <a:spLocks/>
          </p:cNvSpPr>
          <p:nvPr/>
        </p:nvSpPr>
        <p:spPr bwMode="auto">
          <a:xfrm>
            <a:off x="8412163" y="5373688"/>
            <a:ext cx="33337" cy="22225"/>
          </a:xfrm>
          <a:custGeom>
            <a:avLst/>
            <a:gdLst>
              <a:gd name="T0" fmla="*/ 0 w 21"/>
              <a:gd name="T1" fmla="*/ 7 h 14"/>
              <a:gd name="T2" fmla="*/ 7 w 21"/>
              <a:gd name="T3" fmla="*/ 0 h 14"/>
              <a:gd name="T4" fmla="*/ 21 w 21"/>
              <a:gd name="T5" fmla="*/ 7 h 14"/>
              <a:gd name="T6" fmla="*/ 14 w 21"/>
              <a:gd name="T7" fmla="*/ 14 h 14"/>
              <a:gd name="T8" fmla="*/ 0 w 21"/>
              <a:gd name="T9" fmla="*/ 7 h 14"/>
            </a:gdLst>
            <a:ahLst/>
            <a:cxnLst>
              <a:cxn ang="0">
                <a:pos x="T0" y="T1"/>
              </a:cxn>
              <a:cxn ang="0">
                <a:pos x="T2" y="T3"/>
              </a:cxn>
              <a:cxn ang="0">
                <a:pos x="T4" y="T5"/>
              </a:cxn>
              <a:cxn ang="0">
                <a:pos x="T6" y="T7"/>
              </a:cxn>
              <a:cxn ang="0">
                <a:pos x="T8" y="T9"/>
              </a:cxn>
            </a:cxnLst>
            <a:rect l="0" t="0" r="r" b="b"/>
            <a:pathLst>
              <a:path w="21" h="14">
                <a:moveTo>
                  <a:pt x="0" y="7"/>
                </a:moveTo>
                <a:lnTo>
                  <a:pt x="7" y="0"/>
                </a:lnTo>
                <a:lnTo>
                  <a:pt x="21" y="7"/>
                </a:lnTo>
                <a:lnTo>
                  <a:pt x="14" y="14"/>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72" name="Freeform 88"/>
          <p:cNvSpPr>
            <a:spLocks/>
          </p:cNvSpPr>
          <p:nvPr/>
        </p:nvSpPr>
        <p:spPr bwMode="auto">
          <a:xfrm>
            <a:off x="8170863" y="5384800"/>
            <a:ext cx="263525" cy="438150"/>
          </a:xfrm>
          <a:custGeom>
            <a:avLst/>
            <a:gdLst>
              <a:gd name="T0" fmla="*/ 0 w 166"/>
              <a:gd name="T1" fmla="*/ 269 h 276"/>
              <a:gd name="T2" fmla="*/ 14 w 166"/>
              <a:gd name="T3" fmla="*/ 276 h 276"/>
              <a:gd name="T4" fmla="*/ 166 w 166"/>
              <a:gd name="T5" fmla="*/ 7 h 276"/>
              <a:gd name="T6" fmla="*/ 152 w 166"/>
              <a:gd name="T7" fmla="*/ 0 h 276"/>
              <a:gd name="T8" fmla="*/ 0 w 166"/>
              <a:gd name="T9" fmla="*/ 269 h 276"/>
            </a:gdLst>
            <a:ahLst/>
            <a:cxnLst>
              <a:cxn ang="0">
                <a:pos x="T0" y="T1"/>
              </a:cxn>
              <a:cxn ang="0">
                <a:pos x="T2" y="T3"/>
              </a:cxn>
              <a:cxn ang="0">
                <a:pos x="T4" y="T5"/>
              </a:cxn>
              <a:cxn ang="0">
                <a:pos x="T6" y="T7"/>
              </a:cxn>
              <a:cxn ang="0">
                <a:pos x="T8" y="T9"/>
              </a:cxn>
            </a:cxnLst>
            <a:rect l="0" t="0" r="r" b="b"/>
            <a:pathLst>
              <a:path w="166" h="276">
                <a:moveTo>
                  <a:pt x="0" y="269"/>
                </a:moveTo>
                <a:lnTo>
                  <a:pt x="14" y="276"/>
                </a:lnTo>
                <a:lnTo>
                  <a:pt x="166" y="7"/>
                </a:lnTo>
                <a:lnTo>
                  <a:pt x="152" y="0"/>
                </a:lnTo>
                <a:lnTo>
                  <a:pt x="0" y="26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73" name="Freeform 89"/>
          <p:cNvSpPr>
            <a:spLocks/>
          </p:cNvSpPr>
          <p:nvPr/>
        </p:nvSpPr>
        <p:spPr bwMode="auto">
          <a:xfrm>
            <a:off x="8412163" y="5319713"/>
            <a:ext cx="22225" cy="22225"/>
          </a:xfrm>
          <a:custGeom>
            <a:avLst/>
            <a:gdLst>
              <a:gd name="T0" fmla="*/ 14 w 14"/>
              <a:gd name="T1" fmla="*/ 7 h 14"/>
              <a:gd name="T2" fmla="*/ 14 w 14"/>
              <a:gd name="T3" fmla="*/ 0 h 14"/>
              <a:gd name="T4" fmla="*/ 0 w 14"/>
              <a:gd name="T5" fmla="*/ 7 h 14"/>
              <a:gd name="T6" fmla="*/ 0 w 14"/>
              <a:gd name="T7" fmla="*/ 14 h 14"/>
              <a:gd name="T8" fmla="*/ 14 w 14"/>
              <a:gd name="T9" fmla="*/ 7 h 14"/>
            </a:gdLst>
            <a:ahLst/>
            <a:cxnLst>
              <a:cxn ang="0">
                <a:pos x="T0" y="T1"/>
              </a:cxn>
              <a:cxn ang="0">
                <a:pos x="T2" y="T3"/>
              </a:cxn>
              <a:cxn ang="0">
                <a:pos x="T4" y="T5"/>
              </a:cxn>
              <a:cxn ang="0">
                <a:pos x="T6" y="T7"/>
              </a:cxn>
              <a:cxn ang="0">
                <a:pos x="T8" y="T9"/>
              </a:cxn>
            </a:cxnLst>
            <a:rect l="0" t="0" r="r" b="b"/>
            <a:pathLst>
              <a:path w="14" h="14">
                <a:moveTo>
                  <a:pt x="14" y="7"/>
                </a:moveTo>
                <a:lnTo>
                  <a:pt x="14" y="0"/>
                </a:lnTo>
                <a:lnTo>
                  <a:pt x="0" y="7"/>
                </a:lnTo>
                <a:lnTo>
                  <a:pt x="0" y="14"/>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74" name="Freeform 90"/>
          <p:cNvSpPr>
            <a:spLocks/>
          </p:cNvSpPr>
          <p:nvPr/>
        </p:nvSpPr>
        <p:spPr bwMode="auto">
          <a:xfrm>
            <a:off x="8707438" y="5811838"/>
            <a:ext cx="33337" cy="22225"/>
          </a:xfrm>
          <a:custGeom>
            <a:avLst/>
            <a:gdLst>
              <a:gd name="T0" fmla="*/ 14 w 21"/>
              <a:gd name="T1" fmla="*/ 0 h 14"/>
              <a:gd name="T2" fmla="*/ 21 w 21"/>
              <a:gd name="T3" fmla="*/ 7 h 14"/>
              <a:gd name="T4" fmla="*/ 7 w 21"/>
              <a:gd name="T5" fmla="*/ 14 h 14"/>
              <a:gd name="T6" fmla="*/ 0 w 21"/>
              <a:gd name="T7" fmla="*/ 7 h 14"/>
              <a:gd name="T8" fmla="*/ 14 w 21"/>
              <a:gd name="T9" fmla="*/ 0 h 14"/>
            </a:gdLst>
            <a:ahLst/>
            <a:cxnLst>
              <a:cxn ang="0">
                <a:pos x="T0" y="T1"/>
              </a:cxn>
              <a:cxn ang="0">
                <a:pos x="T2" y="T3"/>
              </a:cxn>
              <a:cxn ang="0">
                <a:pos x="T4" y="T5"/>
              </a:cxn>
              <a:cxn ang="0">
                <a:pos x="T6" y="T7"/>
              </a:cxn>
              <a:cxn ang="0">
                <a:pos x="T8" y="T9"/>
              </a:cxn>
            </a:cxnLst>
            <a:rect l="0" t="0" r="r" b="b"/>
            <a:pathLst>
              <a:path w="21" h="14">
                <a:moveTo>
                  <a:pt x="14" y="0"/>
                </a:moveTo>
                <a:lnTo>
                  <a:pt x="21" y="7"/>
                </a:lnTo>
                <a:lnTo>
                  <a:pt x="7" y="14"/>
                </a:lnTo>
                <a:lnTo>
                  <a:pt x="0"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75" name="Freeform 91"/>
          <p:cNvSpPr>
            <a:spLocks/>
          </p:cNvSpPr>
          <p:nvPr/>
        </p:nvSpPr>
        <p:spPr bwMode="auto">
          <a:xfrm>
            <a:off x="8412163" y="5330825"/>
            <a:ext cx="317500" cy="492125"/>
          </a:xfrm>
          <a:custGeom>
            <a:avLst/>
            <a:gdLst>
              <a:gd name="T0" fmla="*/ 14 w 200"/>
              <a:gd name="T1" fmla="*/ 0 h 310"/>
              <a:gd name="T2" fmla="*/ 0 w 200"/>
              <a:gd name="T3" fmla="*/ 7 h 310"/>
              <a:gd name="T4" fmla="*/ 186 w 200"/>
              <a:gd name="T5" fmla="*/ 310 h 310"/>
              <a:gd name="T6" fmla="*/ 200 w 200"/>
              <a:gd name="T7" fmla="*/ 303 h 310"/>
              <a:gd name="T8" fmla="*/ 14 w 200"/>
              <a:gd name="T9" fmla="*/ 0 h 310"/>
            </a:gdLst>
            <a:ahLst/>
            <a:cxnLst>
              <a:cxn ang="0">
                <a:pos x="T0" y="T1"/>
              </a:cxn>
              <a:cxn ang="0">
                <a:pos x="T2" y="T3"/>
              </a:cxn>
              <a:cxn ang="0">
                <a:pos x="T4" y="T5"/>
              </a:cxn>
              <a:cxn ang="0">
                <a:pos x="T6" y="T7"/>
              </a:cxn>
              <a:cxn ang="0">
                <a:pos x="T8" y="T9"/>
              </a:cxn>
            </a:cxnLst>
            <a:rect l="0" t="0" r="r" b="b"/>
            <a:pathLst>
              <a:path w="200" h="310">
                <a:moveTo>
                  <a:pt x="14" y="0"/>
                </a:moveTo>
                <a:lnTo>
                  <a:pt x="0" y="7"/>
                </a:lnTo>
                <a:lnTo>
                  <a:pt x="186" y="310"/>
                </a:lnTo>
                <a:lnTo>
                  <a:pt x="200" y="303"/>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76" name="Rectangle 92"/>
          <p:cNvSpPr>
            <a:spLocks noChangeArrowheads="1"/>
          </p:cNvSpPr>
          <p:nvPr/>
        </p:nvSpPr>
        <p:spPr bwMode="auto">
          <a:xfrm>
            <a:off x="8062913" y="5691188"/>
            <a:ext cx="228600"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077" name="Rectangle 93"/>
          <p:cNvSpPr>
            <a:spLocks noChangeArrowheads="1"/>
          </p:cNvSpPr>
          <p:nvPr/>
        </p:nvSpPr>
        <p:spPr bwMode="auto">
          <a:xfrm>
            <a:off x="8062913" y="5691188"/>
            <a:ext cx="228600" cy="241300"/>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78" name="Rectangle 94"/>
          <p:cNvSpPr>
            <a:spLocks noChangeArrowheads="1"/>
          </p:cNvSpPr>
          <p:nvPr/>
        </p:nvSpPr>
        <p:spPr bwMode="auto">
          <a:xfrm>
            <a:off x="8543925" y="5691188"/>
            <a:ext cx="239713"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079" name="Rectangle 95"/>
          <p:cNvSpPr>
            <a:spLocks noChangeArrowheads="1"/>
          </p:cNvSpPr>
          <p:nvPr/>
        </p:nvSpPr>
        <p:spPr bwMode="auto">
          <a:xfrm>
            <a:off x="8543925" y="5691188"/>
            <a:ext cx="239713" cy="241300"/>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80" name="Oval 96"/>
          <p:cNvSpPr>
            <a:spLocks noChangeArrowheads="1"/>
          </p:cNvSpPr>
          <p:nvPr/>
        </p:nvSpPr>
        <p:spPr bwMode="auto">
          <a:xfrm>
            <a:off x="8248650" y="5145088"/>
            <a:ext cx="360363" cy="3603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81" name="Oval 97"/>
          <p:cNvSpPr>
            <a:spLocks noChangeArrowheads="1"/>
          </p:cNvSpPr>
          <p:nvPr/>
        </p:nvSpPr>
        <p:spPr bwMode="auto">
          <a:xfrm>
            <a:off x="8248650" y="5145088"/>
            <a:ext cx="360363" cy="36036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82" name="Rectangle 98"/>
          <p:cNvSpPr>
            <a:spLocks noChangeArrowheads="1"/>
          </p:cNvSpPr>
          <p:nvPr/>
        </p:nvSpPr>
        <p:spPr bwMode="auto">
          <a:xfrm>
            <a:off x="8335963" y="5243513"/>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88</a:t>
            </a:r>
            <a:endParaRPr lang="en-US" sz="2400">
              <a:latin typeface="Tahoma" pitchFamily="34" charset="0"/>
            </a:endParaRPr>
          </a:p>
        </p:txBody>
      </p:sp>
      <p:sp>
        <p:nvSpPr>
          <p:cNvPr id="298083" name="Freeform 99"/>
          <p:cNvSpPr>
            <a:spLocks/>
          </p:cNvSpPr>
          <p:nvPr/>
        </p:nvSpPr>
        <p:spPr bwMode="auto">
          <a:xfrm>
            <a:off x="4333875" y="4357688"/>
            <a:ext cx="33338" cy="22225"/>
          </a:xfrm>
          <a:custGeom>
            <a:avLst/>
            <a:gdLst>
              <a:gd name="T0" fmla="*/ 14 w 21"/>
              <a:gd name="T1" fmla="*/ 14 h 14"/>
              <a:gd name="T2" fmla="*/ 21 w 21"/>
              <a:gd name="T3" fmla="*/ 7 h 14"/>
              <a:gd name="T4" fmla="*/ 7 w 21"/>
              <a:gd name="T5" fmla="*/ 0 h 14"/>
              <a:gd name="T6" fmla="*/ 0 w 21"/>
              <a:gd name="T7" fmla="*/ 7 h 14"/>
              <a:gd name="T8" fmla="*/ 14 w 21"/>
              <a:gd name="T9" fmla="*/ 14 h 14"/>
            </a:gdLst>
            <a:ahLst/>
            <a:cxnLst>
              <a:cxn ang="0">
                <a:pos x="T0" y="T1"/>
              </a:cxn>
              <a:cxn ang="0">
                <a:pos x="T2" y="T3"/>
              </a:cxn>
              <a:cxn ang="0">
                <a:pos x="T4" y="T5"/>
              </a:cxn>
              <a:cxn ang="0">
                <a:pos x="T6" y="T7"/>
              </a:cxn>
              <a:cxn ang="0">
                <a:pos x="T8" y="T9"/>
              </a:cxn>
            </a:cxnLst>
            <a:rect l="0" t="0" r="r" b="b"/>
            <a:pathLst>
              <a:path w="21" h="14">
                <a:moveTo>
                  <a:pt x="14" y="14"/>
                </a:moveTo>
                <a:lnTo>
                  <a:pt x="21" y="7"/>
                </a:lnTo>
                <a:lnTo>
                  <a:pt x="7" y="0"/>
                </a:lnTo>
                <a:lnTo>
                  <a:pt x="0" y="7"/>
                </a:lnTo>
                <a:lnTo>
                  <a:pt x="14" y="1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84" name="Freeform 100"/>
          <p:cNvSpPr>
            <a:spLocks/>
          </p:cNvSpPr>
          <p:nvPr/>
        </p:nvSpPr>
        <p:spPr bwMode="auto">
          <a:xfrm>
            <a:off x="4159250" y="4849813"/>
            <a:ext cx="22225" cy="22225"/>
          </a:xfrm>
          <a:custGeom>
            <a:avLst/>
            <a:gdLst>
              <a:gd name="T0" fmla="*/ 14 w 14"/>
              <a:gd name="T1" fmla="*/ 7 h 14"/>
              <a:gd name="T2" fmla="*/ 14 w 14"/>
              <a:gd name="T3" fmla="*/ 14 h 14"/>
              <a:gd name="T4" fmla="*/ 0 w 14"/>
              <a:gd name="T5" fmla="*/ 7 h 14"/>
              <a:gd name="T6" fmla="*/ 0 w 14"/>
              <a:gd name="T7" fmla="*/ 0 h 14"/>
              <a:gd name="T8" fmla="*/ 14 w 14"/>
              <a:gd name="T9" fmla="*/ 7 h 14"/>
            </a:gdLst>
            <a:ahLst/>
            <a:cxnLst>
              <a:cxn ang="0">
                <a:pos x="T0" y="T1"/>
              </a:cxn>
              <a:cxn ang="0">
                <a:pos x="T2" y="T3"/>
              </a:cxn>
              <a:cxn ang="0">
                <a:pos x="T4" y="T5"/>
              </a:cxn>
              <a:cxn ang="0">
                <a:pos x="T6" y="T7"/>
              </a:cxn>
              <a:cxn ang="0">
                <a:pos x="T8" y="T9"/>
              </a:cxn>
            </a:cxnLst>
            <a:rect l="0" t="0" r="r" b="b"/>
            <a:pathLst>
              <a:path w="14" h="14">
                <a:moveTo>
                  <a:pt x="14" y="7"/>
                </a:moveTo>
                <a:lnTo>
                  <a:pt x="14" y="14"/>
                </a:lnTo>
                <a:lnTo>
                  <a:pt x="0" y="7"/>
                </a:lnTo>
                <a:lnTo>
                  <a:pt x="0" y="0"/>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85" name="Freeform 101"/>
          <p:cNvSpPr>
            <a:spLocks/>
          </p:cNvSpPr>
          <p:nvPr/>
        </p:nvSpPr>
        <p:spPr bwMode="auto">
          <a:xfrm>
            <a:off x="4159250" y="4368800"/>
            <a:ext cx="196850" cy="492125"/>
          </a:xfrm>
          <a:custGeom>
            <a:avLst/>
            <a:gdLst>
              <a:gd name="T0" fmla="*/ 124 w 124"/>
              <a:gd name="T1" fmla="*/ 7 h 310"/>
              <a:gd name="T2" fmla="*/ 110 w 124"/>
              <a:gd name="T3" fmla="*/ 0 h 310"/>
              <a:gd name="T4" fmla="*/ 0 w 124"/>
              <a:gd name="T5" fmla="*/ 303 h 310"/>
              <a:gd name="T6" fmla="*/ 14 w 124"/>
              <a:gd name="T7" fmla="*/ 310 h 310"/>
              <a:gd name="T8" fmla="*/ 124 w 124"/>
              <a:gd name="T9" fmla="*/ 7 h 310"/>
            </a:gdLst>
            <a:ahLst/>
            <a:cxnLst>
              <a:cxn ang="0">
                <a:pos x="T0" y="T1"/>
              </a:cxn>
              <a:cxn ang="0">
                <a:pos x="T2" y="T3"/>
              </a:cxn>
              <a:cxn ang="0">
                <a:pos x="T4" y="T5"/>
              </a:cxn>
              <a:cxn ang="0">
                <a:pos x="T6" y="T7"/>
              </a:cxn>
              <a:cxn ang="0">
                <a:pos x="T8" y="T9"/>
              </a:cxn>
            </a:cxnLst>
            <a:rect l="0" t="0" r="r" b="b"/>
            <a:pathLst>
              <a:path w="124" h="310">
                <a:moveTo>
                  <a:pt x="124" y="7"/>
                </a:moveTo>
                <a:lnTo>
                  <a:pt x="110" y="0"/>
                </a:lnTo>
                <a:lnTo>
                  <a:pt x="0" y="303"/>
                </a:lnTo>
                <a:lnTo>
                  <a:pt x="14" y="310"/>
                </a:lnTo>
                <a:lnTo>
                  <a:pt x="12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86" name="Freeform 102"/>
          <p:cNvSpPr>
            <a:spLocks/>
          </p:cNvSpPr>
          <p:nvPr/>
        </p:nvSpPr>
        <p:spPr bwMode="auto">
          <a:xfrm>
            <a:off x="4398963" y="4357688"/>
            <a:ext cx="22225" cy="22225"/>
          </a:xfrm>
          <a:custGeom>
            <a:avLst/>
            <a:gdLst>
              <a:gd name="T0" fmla="*/ 14 w 14"/>
              <a:gd name="T1" fmla="*/ 0 h 14"/>
              <a:gd name="T2" fmla="*/ 7 w 14"/>
              <a:gd name="T3" fmla="*/ 0 h 14"/>
              <a:gd name="T4" fmla="*/ 0 w 14"/>
              <a:gd name="T5" fmla="*/ 7 h 14"/>
              <a:gd name="T6" fmla="*/ 0 w 14"/>
              <a:gd name="T7" fmla="*/ 14 h 14"/>
              <a:gd name="T8" fmla="*/ 14 w 14"/>
              <a:gd name="T9" fmla="*/ 0 h 14"/>
            </a:gdLst>
            <a:ahLst/>
            <a:cxnLst>
              <a:cxn ang="0">
                <a:pos x="T0" y="T1"/>
              </a:cxn>
              <a:cxn ang="0">
                <a:pos x="T2" y="T3"/>
              </a:cxn>
              <a:cxn ang="0">
                <a:pos x="T4" y="T5"/>
              </a:cxn>
              <a:cxn ang="0">
                <a:pos x="T6" y="T7"/>
              </a:cxn>
              <a:cxn ang="0">
                <a:pos x="T8" y="T9"/>
              </a:cxn>
            </a:cxnLst>
            <a:rect l="0" t="0" r="r" b="b"/>
            <a:pathLst>
              <a:path w="14" h="14">
                <a:moveTo>
                  <a:pt x="14" y="0"/>
                </a:moveTo>
                <a:lnTo>
                  <a:pt x="7" y="0"/>
                </a:lnTo>
                <a:lnTo>
                  <a:pt x="0" y="7"/>
                </a:lnTo>
                <a:lnTo>
                  <a:pt x="0" y="1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87" name="Freeform 103"/>
          <p:cNvSpPr>
            <a:spLocks/>
          </p:cNvSpPr>
          <p:nvPr/>
        </p:nvSpPr>
        <p:spPr bwMode="auto">
          <a:xfrm>
            <a:off x="4879975" y="4838700"/>
            <a:ext cx="33338" cy="33338"/>
          </a:xfrm>
          <a:custGeom>
            <a:avLst/>
            <a:gdLst>
              <a:gd name="T0" fmla="*/ 14 w 21"/>
              <a:gd name="T1" fmla="*/ 0 h 21"/>
              <a:gd name="T2" fmla="*/ 21 w 21"/>
              <a:gd name="T3" fmla="*/ 7 h 21"/>
              <a:gd name="T4" fmla="*/ 7 w 21"/>
              <a:gd name="T5" fmla="*/ 21 h 21"/>
              <a:gd name="T6" fmla="*/ 0 w 21"/>
              <a:gd name="T7" fmla="*/ 14 h 21"/>
              <a:gd name="T8" fmla="*/ 14 w 21"/>
              <a:gd name="T9" fmla="*/ 0 h 21"/>
            </a:gdLst>
            <a:ahLst/>
            <a:cxnLst>
              <a:cxn ang="0">
                <a:pos x="T0" y="T1"/>
              </a:cxn>
              <a:cxn ang="0">
                <a:pos x="T2" y="T3"/>
              </a:cxn>
              <a:cxn ang="0">
                <a:pos x="T4" y="T5"/>
              </a:cxn>
              <a:cxn ang="0">
                <a:pos x="T6" y="T7"/>
              </a:cxn>
              <a:cxn ang="0">
                <a:pos x="T8" y="T9"/>
              </a:cxn>
            </a:cxnLst>
            <a:rect l="0" t="0" r="r" b="b"/>
            <a:pathLst>
              <a:path w="21" h="21">
                <a:moveTo>
                  <a:pt x="14" y="0"/>
                </a:moveTo>
                <a:lnTo>
                  <a:pt x="21" y="7"/>
                </a:lnTo>
                <a:lnTo>
                  <a:pt x="7" y="21"/>
                </a:lnTo>
                <a:lnTo>
                  <a:pt x="0" y="14"/>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88" name="Freeform 104"/>
          <p:cNvSpPr>
            <a:spLocks/>
          </p:cNvSpPr>
          <p:nvPr/>
        </p:nvSpPr>
        <p:spPr bwMode="auto">
          <a:xfrm>
            <a:off x="4398963" y="4357688"/>
            <a:ext cx="503237" cy="503237"/>
          </a:xfrm>
          <a:custGeom>
            <a:avLst/>
            <a:gdLst>
              <a:gd name="T0" fmla="*/ 14 w 317"/>
              <a:gd name="T1" fmla="*/ 0 h 317"/>
              <a:gd name="T2" fmla="*/ 0 w 317"/>
              <a:gd name="T3" fmla="*/ 14 h 317"/>
              <a:gd name="T4" fmla="*/ 303 w 317"/>
              <a:gd name="T5" fmla="*/ 317 h 317"/>
              <a:gd name="T6" fmla="*/ 317 w 317"/>
              <a:gd name="T7" fmla="*/ 303 h 317"/>
              <a:gd name="T8" fmla="*/ 14 w 317"/>
              <a:gd name="T9" fmla="*/ 0 h 317"/>
            </a:gdLst>
            <a:ahLst/>
            <a:cxnLst>
              <a:cxn ang="0">
                <a:pos x="T0" y="T1"/>
              </a:cxn>
              <a:cxn ang="0">
                <a:pos x="T2" y="T3"/>
              </a:cxn>
              <a:cxn ang="0">
                <a:pos x="T4" y="T5"/>
              </a:cxn>
              <a:cxn ang="0">
                <a:pos x="T6" y="T7"/>
              </a:cxn>
              <a:cxn ang="0">
                <a:pos x="T8" y="T9"/>
              </a:cxn>
            </a:cxnLst>
            <a:rect l="0" t="0" r="r" b="b"/>
            <a:pathLst>
              <a:path w="317" h="317">
                <a:moveTo>
                  <a:pt x="14" y="0"/>
                </a:moveTo>
                <a:lnTo>
                  <a:pt x="0" y="14"/>
                </a:lnTo>
                <a:lnTo>
                  <a:pt x="303" y="317"/>
                </a:lnTo>
                <a:lnTo>
                  <a:pt x="317" y="303"/>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89" name="Freeform 105"/>
          <p:cNvSpPr>
            <a:spLocks/>
          </p:cNvSpPr>
          <p:nvPr/>
        </p:nvSpPr>
        <p:spPr bwMode="auto">
          <a:xfrm>
            <a:off x="5349875" y="3887788"/>
            <a:ext cx="22225" cy="20637"/>
          </a:xfrm>
          <a:custGeom>
            <a:avLst/>
            <a:gdLst>
              <a:gd name="T0" fmla="*/ 14 w 14"/>
              <a:gd name="T1" fmla="*/ 0 h 13"/>
              <a:gd name="T2" fmla="*/ 0 w 14"/>
              <a:gd name="T3" fmla="*/ 0 h 13"/>
              <a:gd name="T4" fmla="*/ 0 w 14"/>
              <a:gd name="T5" fmla="*/ 13 h 13"/>
              <a:gd name="T6" fmla="*/ 7 w 14"/>
              <a:gd name="T7" fmla="*/ 13 h 13"/>
              <a:gd name="T8" fmla="*/ 14 w 14"/>
              <a:gd name="T9" fmla="*/ 0 h 13"/>
            </a:gdLst>
            <a:ahLst/>
            <a:cxnLst>
              <a:cxn ang="0">
                <a:pos x="T0" y="T1"/>
              </a:cxn>
              <a:cxn ang="0">
                <a:pos x="T2" y="T3"/>
              </a:cxn>
              <a:cxn ang="0">
                <a:pos x="T4" y="T5"/>
              </a:cxn>
              <a:cxn ang="0">
                <a:pos x="T6" y="T7"/>
              </a:cxn>
              <a:cxn ang="0">
                <a:pos x="T8" y="T9"/>
              </a:cxn>
            </a:cxnLst>
            <a:rect l="0" t="0" r="r" b="b"/>
            <a:pathLst>
              <a:path w="14" h="13">
                <a:moveTo>
                  <a:pt x="14" y="0"/>
                </a:moveTo>
                <a:lnTo>
                  <a:pt x="0" y="0"/>
                </a:lnTo>
                <a:lnTo>
                  <a:pt x="0" y="13"/>
                </a:lnTo>
                <a:lnTo>
                  <a:pt x="7" y="13"/>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90" name="Freeform 106"/>
          <p:cNvSpPr>
            <a:spLocks/>
          </p:cNvSpPr>
          <p:nvPr/>
        </p:nvSpPr>
        <p:spPr bwMode="auto">
          <a:xfrm>
            <a:off x="7242175" y="4357688"/>
            <a:ext cx="22225" cy="31750"/>
          </a:xfrm>
          <a:custGeom>
            <a:avLst/>
            <a:gdLst>
              <a:gd name="T0" fmla="*/ 7 w 14"/>
              <a:gd name="T1" fmla="*/ 0 h 20"/>
              <a:gd name="T2" fmla="*/ 14 w 14"/>
              <a:gd name="T3" fmla="*/ 0 h 20"/>
              <a:gd name="T4" fmla="*/ 7 w 14"/>
              <a:gd name="T5" fmla="*/ 20 h 20"/>
              <a:gd name="T6" fmla="*/ 0 w 14"/>
              <a:gd name="T7" fmla="*/ 14 h 20"/>
              <a:gd name="T8" fmla="*/ 7 w 14"/>
              <a:gd name="T9" fmla="*/ 0 h 20"/>
            </a:gdLst>
            <a:ahLst/>
            <a:cxnLst>
              <a:cxn ang="0">
                <a:pos x="T0" y="T1"/>
              </a:cxn>
              <a:cxn ang="0">
                <a:pos x="T2" y="T3"/>
              </a:cxn>
              <a:cxn ang="0">
                <a:pos x="T4" y="T5"/>
              </a:cxn>
              <a:cxn ang="0">
                <a:pos x="T6" y="T7"/>
              </a:cxn>
              <a:cxn ang="0">
                <a:pos x="T8" y="T9"/>
              </a:cxn>
            </a:cxnLst>
            <a:rect l="0" t="0" r="r" b="b"/>
            <a:pathLst>
              <a:path w="14" h="20">
                <a:moveTo>
                  <a:pt x="7" y="0"/>
                </a:moveTo>
                <a:lnTo>
                  <a:pt x="14" y="0"/>
                </a:lnTo>
                <a:lnTo>
                  <a:pt x="7" y="20"/>
                </a:lnTo>
                <a:lnTo>
                  <a:pt x="0" y="14"/>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91" name="Freeform 107"/>
          <p:cNvSpPr>
            <a:spLocks/>
          </p:cNvSpPr>
          <p:nvPr/>
        </p:nvSpPr>
        <p:spPr bwMode="auto">
          <a:xfrm>
            <a:off x="5360988" y="3887788"/>
            <a:ext cx="1892300" cy="492125"/>
          </a:xfrm>
          <a:custGeom>
            <a:avLst/>
            <a:gdLst>
              <a:gd name="T0" fmla="*/ 7 w 1192"/>
              <a:gd name="T1" fmla="*/ 0 h 310"/>
              <a:gd name="T2" fmla="*/ 0 w 1192"/>
              <a:gd name="T3" fmla="*/ 13 h 310"/>
              <a:gd name="T4" fmla="*/ 1185 w 1192"/>
              <a:gd name="T5" fmla="*/ 310 h 310"/>
              <a:gd name="T6" fmla="*/ 1192 w 1192"/>
              <a:gd name="T7" fmla="*/ 296 h 310"/>
              <a:gd name="T8" fmla="*/ 7 w 1192"/>
              <a:gd name="T9" fmla="*/ 0 h 310"/>
            </a:gdLst>
            <a:ahLst/>
            <a:cxnLst>
              <a:cxn ang="0">
                <a:pos x="T0" y="T1"/>
              </a:cxn>
              <a:cxn ang="0">
                <a:pos x="T2" y="T3"/>
              </a:cxn>
              <a:cxn ang="0">
                <a:pos x="T4" y="T5"/>
              </a:cxn>
              <a:cxn ang="0">
                <a:pos x="T6" y="T7"/>
              </a:cxn>
              <a:cxn ang="0">
                <a:pos x="T8" y="T9"/>
              </a:cxn>
            </a:cxnLst>
            <a:rect l="0" t="0" r="r" b="b"/>
            <a:pathLst>
              <a:path w="1192" h="310">
                <a:moveTo>
                  <a:pt x="7" y="0"/>
                </a:moveTo>
                <a:lnTo>
                  <a:pt x="0" y="13"/>
                </a:lnTo>
                <a:lnTo>
                  <a:pt x="1185" y="310"/>
                </a:lnTo>
                <a:lnTo>
                  <a:pt x="1192" y="296"/>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92" name="Freeform 108"/>
          <p:cNvSpPr>
            <a:spLocks/>
          </p:cNvSpPr>
          <p:nvPr/>
        </p:nvSpPr>
        <p:spPr bwMode="auto">
          <a:xfrm>
            <a:off x="4398963" y="4357688"/>
            <a:ext cx="22225" cy="31750"/>
          </a:xfrm>
          <a:custGeom>
            <a:avLst/>
            <a:gdLst>
              <a:gd name="T0" fmla="*/ 7 w 14"/>
              <a:gd name="T1" fmla="*/ 0 h 20"/>
              <a:gd name="T2" fmla="*/ 0 w 14"/>
              <a:gd name="T3" fmla="*/ 7 h 20"/>
              <a:gd name="T4" fmla="*/ 7 w 14"/>
              <a:gd name="T5" fmla="*/ 20 h 20"/>
              <a:gd name="T6" fmla="*/ 14 w 14"/>
              <a:gd name="T7" fmla="*/ 14 h 20"/>
              <a:gd name="T8" fmla="*/ 7 w 14"/>
              <a:gd name="T9" fmla="*/ 0 h 20"/>
            </a:gdLst>
            <a:ahLst/>
            <a:cxnLst>
              <a:cxn ang="0">
                <a:pos x="T0" y="T1"/>
              </a:cxn>
              <a:cxn ang="0">
                <a:pos x="T2" y="T3"/>
              </a:cxn>
              <a:cxn ang="0">
                <a:pos x="T4" y="T5"/>
              </a:cxn>
              <a:cxn ang="0">
                <a:pos x="T6" y="T7"/>
              </a:cxn>
              <a:cxn ang="0">
                <a:pos x="T8" y="T9"/>
              </a:cxn>
            </a:cxnLst>
            <a:rect l="0" t="0" r="r" b="b"/>
            <a:pathLst>
              <a:path w="14" h="20">
                <a:moveTo>
                  <a:pt x="7" y="0"/>
                </a:moveTo>
                <a:lnTo>
                  <a:pt x="0" y="7"/>
                </a:lnTo>
                <a:lnTo>
                  <a:pt x="7" y="20"/>
                </a:lnTo>
                <a:lnTo>
                  <a:pt x="14" y="14"/>
                </a:lnTo>
                <a:lnTo>
                  <a:pt x="7"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93" name="Freeform 109"/>
          <p:cNvSpPr>
            <a:spLocks/>
          </p:cNvSpPr>
          <p:nvPr/>
        </p:nvSpPr>
        <p:spPr bwMode="auto">
          <a:xfrm>
            <a:off x="5360988" y="3887788"/>
            <a:ext cx="22225" cy="20637"/>
          </a:xfrm>
          <a:custGeom>
            <a:avLst/>
            <a:gdLst>
              <a:gd name="T0" fmla="*/ 0 w 14"/>
              <a:gd name="T1" fmla="*/ 0 h 13"/>
              <a:gd name="T2" fmla="*/ 7 w 14"/>
              <a:gd name="T3" fmla="*/ 0 h 13"/>
              <a:gd name="T4" fmla="*/ 14 w 14"/>
              <a:gd name="T5" fmla="*/ 13 h 13"/>
              <a:gd name="T6" fmla="*/ 7 w 14"/>
              <a:gd name="T7" fmla="*/ 13 h 13"/>
              <a:gd name="T8" fmla="*/ 0 w 14"/>
              <a:gd name="T9" fmla="*/ 0 h 13"/>
            </a:gdLst>
            <a:ahLst/>
            <a:cxnLst>
              <a:cxn ang="0">
                <a:pos x="T0" y="T1"/>
              </a:cxn>
              <a:cxn ang="0">
                <a:pos x="T2" y="T3"/>
              </a:cxn>
              <a:cxn ang="0">
                <a:pos x="T4" y="T5"/>
              </a:cxn>
              <a:cxn ang="0">
                <a:pos x="T6" y="T7"/>
              </a:cxn>
              <a:cxn ang="0">
                <a:pos x="T8" y="T9"/>
              </a:cxn>
            </a:cxnLst>
            <a:rect l="0" t="0" r="r" b="b"/>
            <a:pathLst>
              <a:path w="14" h="13">
                <a:moveTo>
                  <a:pt x="0" y="0"/>
                </a:moveTo>
                <a:lnTo>
                  <a:pt x="7" y="0"/>
                </a:lnTo>
                <a:lnTo>
                  <a:pt x="14" y="13"/>
                </a:lnTo>
                <a:lnTo>
                  <a:pt x="7" y="13"/>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94" name="Freeform 110"/>
          <p:cNvSpPr>
            <a:spLocks/>
          </p:cNvSpPr>
          <p:nvPr/>
        </p:nvSpPr>
        <p:spPr bwMode="auto">
          <a:xfrm>
            <a:off x="4410075" y="3887788"/>
            <a:ext cx="962025" cy="492125"/>
          </a:xfrm>
          <a:custGeom>
            <a:avLst/>
            <a:gdLst>
              <a:gd name="T0" fmla="*/ 0 w 606"/>
              <a:gd name="T1" fmla="*/ 296 h 310"/>
              <a:gd name="T2" fmla="*/ 7 w 606"/>
              <a:gd name="T3" fmla="*/ 310 h 310"/>
              <a:gd name="T4" fmla="*/ 606 w 606"/>
              <a:gd name="T5" fmla="*/ 13 h 310"/>
              <a:gd name="T6" fmla="*/ 599 w 606"/>
              <a:gd name="T7" fmla="*/ 0 h 310"/>
              <a:gd name="T8" fmla="*/ 0 w 606"/>
              <a:gd name="T9" fmla="*/ 296 h 310"/>
            </a:gdLst>
            <a:ahLst/>
            <a:cxnLst>
              <a:cxn ang="0">
                <a:pos x="T0" y="T1"/>
              </a:cxn>
              <a:cxn ang="0">
                <a:pos x="T2" y="T3"/>
              </a:cxn>
              <a:cxn ang="0">
                <a:pos x="T4" y="T5"/>
              </a:cxn>
              <a:cxn ang="0">
                <a:pos x="T6" y="T7"/>
              </a:cxn>
              <a:cxn ang="0">
                <a:pos x="T8" y="T9"/>
              </a:cxn>
            </a:cxnLst>
            <a:rect l="0" t="0" r="r" b="b"/>
            <a:pathLst>
              <a:path w="606" h="310">
                <a:moveTo>
                  <a:pt x="0" y="296"/>
                </a:moveTo>
                <a:lnTo>
                  <a:pt x="7" y="310"/>
                </a:lnTo>
                <a:lnTo>
                  <a:pt x="606" y="13"/>
                </a:lnTo>
                <a:lnTo>
                  <a:pt x="599" y="0"/>
                </a:lnTo>
                <a:lnTo>
                  <a:pt x="0" y="2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95" name="Oval 111"/>
          <p:cNvSpPr>
            <a:spLocks noChangeArrowheads="1"/>
          </p:cNvSpPr>
          <p:nvPr/>
        </p:nvSpPr>
        <p:spPr bwMode="auto">
          <a:xfrm>
            <a:off x="5186363" y="3711575"/>
            <a:ext cx="360362" cy="3619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96" name="Oval 112"/>
          <p:cNvSpPr>
            <a:spLocks noChangeArrowheads="1"/>
          </p:cNvSpPr>
          <p:nvPr/>
        </p:nvSpPr>
        <p:spPr bwMode="auto">
          <a:xfrm>
            <a:off x="5186363" y="3713163"/>
            <a:ext cx="360362" cy="36036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097" name="Rectangle 113"/>
          <p:cNvSpPr>
            <a:spLocks noChangeArrowheads="1"/>
          </p:cNvSpPr>
          <p:nvPr/>
        </p:nvSpPr>
        <p:spPr bwMode="auto">
          <a:xfrm>
            <a:off x="5273675" y="3811588"/>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44</a:t>
            </a:r>
            <a:endParaRPr lang="en-US" sz="2400">
              <a:latin typeface="Tahoma" pitchFamily="34" charset="0"/>
            </a:endParaRPr>
          </a:p>
        </p:txBody>
      </p:sp>
      <p:sp>
        <p:nvSpPr>
          <p:cNvPr id="298098" name="Oval 114"/>
          <p:cNvSpPr>
            <a:spLocks noChangeArrowheads="1"/>
          </p:cNvSpPr>
          <p:nvPr/>
        </p:nvSpPr>
        <p:spPr bwMode="auto">
          <a:xfrm>
            <a:off x="4235450" y="4192588"/>
            <a:ext cx="360363" cy="3619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099" name="Oval 115"/>
          <p:cNvSpPr>
            <a:spLocks noChangeArrowheads="1"/>
          </p:cNvSpPr>
          <p:nvPr/>
        </p:nvSpPr>
        <p:spPr bwMode="auto">
          <a:xfrm>
            <a:off x="4235450" y="4194175"/>
            <a:ext cx="360363" cy="360363"/>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00" name="Rectangle 116"/>
          <p:cNvSpPr>
            <a:spLocks noChangeArrowheads="1"/>
          </p:cNvSpPr>
          <p:nvPr/>
        </p:nvSpPr>
        <p:spPr bwMode="auto">
          <a:xfrm>
            <a:off x="4311650" y="4292600"/>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17</a:t>
            </a:r>
            <a:endParaRPr lang="en-US" sz="2400">
              <a:latin typeface="Tahoma" pitchFamily="34" charset="0"/>
            </a:endParaRPr>
          </a:p>
        </p:txBody>
      </p:sp>
      <p:sp>
        <p:nvSpPr>
          <p:cNvPr id="298101" name="Freeform 117"/>
          <p:cNvSpPr>
            <a:spLocks/>
          </p:cNvSpPr>
          <p:nvPr/>
        </p:nvSpPr>
        <p:spPr bwMode="auto">
          <a:xfrm>
            <a:off x="7242175" y="4368800"/>
            <a:ext cx="22225" cy="42863"/>
          </a:xfrm>
          <a:custGeom>
            <a:avLst/>
            <a:gdLst>
              <a:gd name="T0" fmla="*/ 7 w 14"/>
              <a:gd name="T1" fmla="*/ 27 h 27"/>
              <a:gd name="T2" fmla="*/ 14 w 14"/>
              <a:gd name="T3" fmla="*/ 20 h 27"/>
              <a:gd name="T4" fmla="*/ 7 w 14"/>
              <a:gd name="T5" fmla="*/ 0 h 27"/>
              <a:gd name="T6" fmla="*/ 0 w 14"/>
              <a:gd name="T7" fmla="*/ 7 h 27"/>
              <a:gd name="T8" fmla="*/ 7 w 14"/>
              <a:gd name="T9" fmla="*/ 27 h 27"/>
            </a:gdLst>
            <a:ahLst/>
            <a:cxnLst>
              <a:cxn ang="0">
                <a:pos x="T0" y="T1"/>
              </a:cxn>
              <a:cxn ang="0">
                <a:pos x="T2" y="T3"/>
              </a:cxn>
              <a:cxn ang="0">
                <a:pos x="T4" y="T5"/>
              </a:cxn>
              <a:cxn ang="0">
                <a:pos x="T6" y="T7"/>
              </a:cxn>
              <a:cxn ang="0">
                <a:pos x="T8" y="T9"/>
              </a:cxn>
            </a:cxnLst>
            <a:rect l="0" t="0" r="r" b="b"/>
            <a:pathLst>
              <a:path w="14" h="27">
                <a:moveTo>
                  <a:pt x="7" y="27"/>
                </a:moveTo>
                <a:lnTo>
                  <a:pt x="14" y="20"/>
                </a:lnTo>
                <a:lnTo>
                  <a:pt x="7" y="0"/>
                </a:lnTo>
                <a:lnTo>
                  <a:pt x="0" y="7"/>
                </a:lnTo>
                <a:lnTo>
                  <a:pt x="7" y="27"/>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02" name="Freeform 118"/>
          <p:cNvSpPr>
            <a:spLocks/>
          </p:cNvSpPr>
          <p:nvPr/>
        </p:nvSpPr>
        <p:spPr bwMode="auto">
          <a:xfrm>
            <a:off x="6302375" y="4838700"/>
            <a:ext cx="31750" cy="33338"/>
          </a:xfrm>
          <a:custGeom>
            <a:avLst/>
            <a:gdLst>
              <a:gd name="T0" fmla="*/ 20 w 20"/>
              <a:gd name="T1" fmla="*/ 21 h 21"/>
              <a:gd name="T2" fmla="*/ 13 w 20"/>
              <a:gd name="T3" fmla="*/ 21 h 21"/>
              <a:gd name="T4" fmla="*/ 0 w 20"/>
              <a:gd name="T5" fmla="*/ 7 h 21"/>
              <a:gd name="T6" fmla="*/ 13 w 20"/>
              <a:gd name="T7" fmla="*/ 0 h 21"/>
              <a:gd name="T8" fmla="*/ 20 w 20"/>
              <a:gd name="T9" fmla="*/ 21 h 21"/>
            </a:gdLst>
            <a:ahLst/>
            <a:cxnLst>
              <a:cxn ang="0">
                <a:pos x="T0" y="T1"/>
              </a:cxn>
              <a:cxn ang="0">
                <a:pos x="T2" y="T3"/>
              </a:cxn>
              <a:cxn ang="0">
                <a:pos x="T4" y="T5"/>
              </a:cxn>
              <a:cxn ang="0">
                <a:pos x="T6" y="T7"/>
              </a:cxn>
              <a:cxn ang="0">
                <a:pos x="T8" y="T9"/>
              </a:cxn>
            </a:cxnLst>
            <a:rect l="0" t="0" r="r" b="b"/>
            <a:pathLst>
              <a:path w="20" h="21">
                <a:moveTo>
                  <a:pt x="20" y="21"/>
                </a:moveTo>
                <a:lnTo>
                  <a:pt x="13" y="21"/>
                </a:lnTo>
                <a:lnTo>
                  <a:pt x="0" y="7"/>
                </a:lnTo>
                <a:lnTo>
                  <a:pt x="13" y="0"/>
                </a:lnTo>
                <a:lnTo>
                  <a:pt x="20" y="21"/>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03" name="Freeform 119"/>
          <p:cNvSpPr>
            <a:spLocks/>
          </p:cNvSpPr>
          <p:nvPr/>
        </p:nvSpPr>
        <p:spPr bwMode="auto">
          <a:xfrm>
            <a:off x="6323013" y="4379913"/>
            <a:ext cx="930275" cy="492125"/>
          </a:xfrm>
          <a:custGeom>
            <a:avLst/>
            <a:gdLst>
              <a:gd name="T0" fmla="*/ 586 w 586"/>
              <a:gd name="T1" fmla="*/ 20 h 310"/>
              <a:gd name="T2" fmla="*/ 579 w 586"/>
              <a:gd name="T3" fmla="*/ 0 h 310"/>
              <a:gd name="T4" fmla="*/ 0 w 586"/>
              <a:gd name="T5" fmla="*/ 289 h 310"/>
              <a:gd name="T6" fmla="*/ 7 w 586"/>
              <a:gd name="T7" fmla="*/ 310 h 310"/>
              <a:gd name="T8" fmla="*/ 586 w 586"/>
              <a:gd name="T9" fmla="*/ 20 h 310"/>
            </a:gdLst>
            <a:ahLst/>
            <a:cxnLst>
              <a:cxn ang="0">
                <a:pos x="T0" y="T1"/>
              </a:cxn>
              <a:cxn ang="0">
                <a:pos x="T2" y="T3"/>
              </a:cxn>
              <a:cxn ang="0">
                <a:pos x="T4" y="T5"/>
              </a:cxn>
              <a:cxn ang="0">
                <a:pos x="T6" y="T7"/>
              </a:cxn>
              <a:cxn ang="0">
                <a:pos x="T8" y="T9"/>
              </a:cxn>
            </a:cxnLst>
            <a:rect l="0" t="0" r="r" b="b"/>
            <a:pathLst>
              <a:path w="586" h="310">
                <a:moveTo>
                  <a:pt x="586" y="20"/>
                </a:moveTo>
                <a:lnTo>
                  <a:pt x="579" y="0"/>
                </a:lnTo>
                <a:lnTo>
                  <a:pt x="0" y="289"/>
                </a:lnTo>
                <a:lnTo>
                  <a:pt x="7" y="310"/>
                </a:lnTo>
                <a:lnTo>
                  <a:pt x="586" y="20"/>
                </a:lnTo>
                <a:close/>
              </a:path>
            </a:pathLst>
          </a:cu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04" name="Oval 120"/>
          <p:cNvSpPr>
            <a:spLocks noChangeArrowheads="1"/>
          </p:cNvSpPr>
          <p:nvPr/>
        </p:nvSpPr>
        <p:spPr bwMode="auto">
          <a:xfrm>
            <a:off x="7745413" y="4675188"/>
            <a:ext cx="382587" cy="3603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05" name="Oval 121"/>
          <p:cNvSpPr>
            <a:spLocks noChangeArrowheads="1"/>
          </p:cNvSpPr>
          <p:nvPr/>
        </p:nvSpPr>
        <p:spPr bwMode="auto">
          <a:xfrm>
            <a:off x="7745413" y="4675188"/>
            <a:ext cx="382587" cy="360362"/>
          </a:xfrm>
          <a:prstGeom prst="ellipse">
            <a:avLst/>
          </a:prstGeom>
          <a:noFill/>
          <a:ln w="222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06" name="Rectangle 122"/>
          <p:cNvSpPr>
            <a:spLocks noChangeArrowheads="1"/>
          </p:cNvSpPr>
          <p:nvPr/>
        </p:nvSpPr>
        <p:spPr bwMode="auto">
          <a:xfrm>
            <a:off x="7843838" y="4751388"/>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FF0000"/>
                </a:solidFill>
                <a:latin typeface="Times" pitchFamily="18" charset="0"/>
              </a:rPr>
              <a:t>78</a:t>
            </a:r>
            <a:endParaRPr lang="en-US" sz="2400">
              <a:latin typeface="Tahoma" pitchFamily="34" charset="0"/>
            </a:endParaRPr>
          </a:p>
        </p:txBody>
      </p:sp>
      <p:sp>
        <p:nvSpPr>
          <p:cNvPr id="298107" name="Freeform 123"/>
          <p:cNvSpPr>
            <a:spLocks/>
          </p:cNvSpPr>
          <p:nvPr/>
        </p:nvSpPr>
        <p:spPr bwMode="auto">
          <a:xfrm>
            <a:off x="4640263" y="5330825"/>
            <a:ext cx="22225" cy="22225"/>
          </a:xfrm>
          <a:custGeom>
            <a:avLst/>
            <a:gdLst>
              <a:gd name="T0" fmla="*/ 0 w 14"/>
              <a:gd name="T1" fmla="*/ 0 h 14"/>
              <a:gd name="T2" fmla="*/ 0 w 14"/>
              <a:gd name="T3" fmla="*/ 7 h 14"/>
              <a:gd name="T4" fmla="*/ 14 w 14"/>
              <a:gd name="T5" fmla="*/ 14 h 14"/>
              <a:gd name="T6" fmla="*/ 14 w 14"/>
              <a:gd name="T7" fmla="*/ 7 h 14"/>
              <a:gd name="T8" fmla="*/ 0 w 14"/>
              <a:gd name="T9" fmla="*/ 0 h 14"/>
            </a:gdLst>
            <a:ahLst/>
            <a:cxnLst>
              <a:cxn ang="0">
                <a:pos x="T0" y="T1"/>
              </a:cxn>
              <a:cxn ang="0">
                <a:pos x="T2" y="T3"/>
              </a:cxn>
              <a:cxn ang="0">
                <a:pos x="T4" y="T5"/>
              </a:cxn>
              <a:cxn ang="0">
                <a:pos x="T6" y="T7"/>
              </a:cxn>
              <a:cxn ang="0">
                <a:pos x="T8" y="T9"/>
              </a:cxn>
            </a:cxnLst>
            <a:rect l="0" t="0" r="r" b="b"/>
            <a:pathLst>
              <a:path w="14" h="14">
                <a:moveTo>
                  <a:pt x="0" y="0"/>
                </a:moveTo>
                <a:lnTo>
                  <a:pt x="0" y="7"/>
                </a:lnTo>
                <a:lnTo>
                  <a:pt x="14" y="14"/>
                </a:lnTo>
                <a:lnTo>
                  <a:pt x="14" y="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08" name="Freeform 124"/>
          <p:cNvSpPr>
            <a:spLocks/>
          </p:cNvSpPr>
          <p:nvPr/>
        </p:nvSpPr>
        <p:spPr bwMode="auto">
          <a:xfrm>
            <a:off x="4879975" y="4838700"/>
            <a:ext cx="33338" cy="22225"/>
          </a:xfrm>
          <a:custGeom>
            <a:avLst/>
            <a:gdLst>
              <a:gd name="T0" fmla="*/ 0 w 21"/>
              <a:gd name="T1" fmla="*/ 7 h 14"/>
              <a:gd name="T2" fmla="*/ 7 w 21"/>
              <a:gd name="T3" fmla="*/ 0 h 14"/>
              <a:gd name="T4" fmla="*/ 21 w 21"/>
              <a:gd name="T5" fmla="*/ 7 h 14"/>
              <a:gd name="T6" fmla="*/ 14 w 21"/>
              <a:gd name="T7" fmla="*/ 14 h 14"/>
              <a:gd name="T8" fmla="*/ 0 w 21"/>
              <a:gd name="T9" fmla="*/ 7 h 14"/>
            </a:gdLst>
            <a:ahLst/>
            <a:cxnLst>
              <a:cxn ang="0">
                <a:pos x="T0" y="T1"/>
              </a:cxn>
              <a:cxn ang="0">
                <a:pos x="T2" y="T3"/>
              </a:cxn>
              <a:cxn ang="0">
                <a:pos x="T4" y="T5"/>
              </a:cxn>
              <a:cxn ang="0">
                <a:pos x="T6" y="T7"/>
              </a:cxn>
              <a:cxn ang="0">
                <a:pos x="T8" y="T9"/>
              </a:cxn>
            </a:cxnLst>
            <a:rect l="0" t="0" r="r" b="b"/>
            <a:pathLst>
              <a:path w="21" h="14">
                <a:moveTo>
                  <a:pt x="0" y="7"/>
                </a:moveTo>
                <a:lnTo>
                  <a:pt x="7" y="0"/>
                </a:lnTo>
                <a:lnTo>
                  <a:pt x="21" y="7"/>
                </a:lnTo>
                <a:lnTo>
                  <a:pt x="14" y="14"/>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09" name="Freeform 125"/>
          <p:cNvSpPr>
            <a:spLocks/>
          </p:cNvSpPr>
          <p:nvPr/>
        </p:nvSpPr>
        <p:spPr bwMode="auto">
          <a:xfrm>
            <a:off x="4640263" y="4849813"/>
            <a:ext cx="261937" cy="492125"/>
          </a:xfrm>
          <a:custGeom>
            <a:avLst/>
            <a:gdLst>
              <a:gd name="T0" fmla="*/ 0 w 165"/>
              <a:gd name="T1" fmla="*/ 303 h 310"/>
              <a:gd name="T2" fmla="*/ 14 w 165"/>
              <a:gd name="T3" fmla="*/ 310 h 310"/>
              <a:gd name="T4" fmla="*/ 165 w 165"/>
              <a:gd name="T5" fmla="*/ 7 h 310"/>
              <a:gd name="T6" fmla="*/ 151 w 165"/>
              <a:gd name="T7" fmla="*/ 0 h 310"/>
              <a:gd name="T8" fmla="*/ 0 w 165"/>
              <a:gd name="T9" fmla="*/ 303 h 310"/>
            </a:gdLst>
            <a:ahLst/>
            <a:cxnLst>
              <a:cxn ang="0">
                <a:pos x="T0" y="T1"/>
              </a:cxn>
              <a:cxn ang="0">
                <a:pos x="T2" y="T3"/>
              </a:cxn>
              <a:cxn ang="0">
                <a:pos x="T4" y="T5"/>
              </a:cxn>
              <a:cxn ang="0">
                <a:pos x="T6" y="T7"/>
              </a:cxn>
              <a:cxn ang="0">
                <a:pos x="T8" y="T9"/>
              </a:cxn>
            </a:cxnLst>
            <a:rect l="0" t="0" r="r" b="b"/>
            <a:pathLst>
              <a:path w="165" h="310">
                <a:moveTo>
                  <a:pt x="0" y="303"/>
                </a:moveTo>
                <a:lnTo>
                  <a:pt x="14" y="310"/>
                </a:lnTo>
                <a:lnTo>
                  <a:pt x="165" y="7"/>
                </a:lnTo>
                <a:lnTo>
                  <a:pt x="151" y="0"/>
                </a:lnTo>
                <a:lnTo>
                  <a:pt x="0" y="3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10" name="Freeform 126"/>
          <p:cNvSpPr>
            <a:spLocks/>
          </p:cNvSpPr>
          <p:nvPr/>
        </p:nvSpPr>
        <p:spPr bwMode="auto">
          <a:xfrm>
            <a:off x="4879975" y="4838700"/>
            <a:ext cx="22225" cy="22225"/>
          </a:xfrm>
          <a:custGeom>
            <a:avLst/>
            <a:gdLst>
              <a:gd name="T0" fmla="*/ 14 w 14"/>
              <a:gd name="T1" fmla="*/ 7 h 14"/>
              <a:gd name="T2" fmla="*/ 14 w 14"/>
              <a:gd name="T3" fmla="*/ 0 h 14"/>
              <a:gd name="T4" fmla="*/ 0 w 14"/>
              <a:gd name="T5" fmla="*/ 7 h 14"/>
              <a:gd name="T6" fmla="*/ 0 w 14"/>
              <a:gd name="T7" fmla="*/ 14 h 14"/>
              <a:gd name="T8" fmla="*/ 14 w 14"/>
              <a:gd name="T9" fmla="*/ 7 h 14"/>
            </a:gdLst>
            <a:ahLst/>
            <a:cxnLst>
              <a:cxn ang="0">
                <a:pos x="T0" y="T1"/>
              </a:cxn>
              <a:cxn ang="0">
                <a:pos x="T2" y="T3"/>
              </a:cxn>
              <a:cxn ang="0">
                <a:pos x="T4" y="T5"/>
              </a:cxn>
              <a:cxn ang="0">
                <a:pos x="T6" y="T7"/>
              </a:cxn>
              <a:cxn ang="0">
                <a:pos x="T8" y="T9"/>
              </a:cxn>
            </a:cxnLst>
            <a:rect l="0" t="0" r="r" b="b"/>
            <a:pathLst>
              <a:path w="14" h="14">
                <a:moveTo>
                  <a:pt x="14" y="7"/>
                </a:moveTo>
                <a:lnTo>
                  <a:pt x="14" y="0"/>
                </a:lnTo>
                <a:lnTo>
                  <a:pt x="0" y="7"/>
                </a:lnTo>
                <a:lnTo>
                  <a:pt x="0" y="14"/>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11" name="Freeform 127"/>
          <p:cNvSpPr>
            <a:spLocks/>
          </p:cNvSpPr>
          <p:nvPr/>
        </p:nvSpPr>
        <p:spPr bwMode="auto">
          <a:xfrm>
            <a:off x="5121275" y="5330825"/>
            <a:ext cx="33338" cy="22225"/>
          </a:xfrm>
          <a:custGeom>
            <a:avLst/>
            <a:gdLst>
              <a:gd name="T0" fmla="*/ 14 w 21"/>
              <a:gd name="T1" fmla="*/ 0 h 14"/>
              <a:gd name="T2" fmla="*/ 21 w 21"/>
              <a:gd name="T3" fmla="*/ 7 h 14"/>
              <a:gd name="T4" fmla="*/ 7 w 21"/>
              <a:gd name="T5" fmla="*/ 14 h 14"/>
              <a:gd name="T6" fmla="*/ 0 w 21"/>
              <a:gd name="T7" fmla="*/ 7 h 14"/>
              <a:gd name="T8" fmla="*/ 14 w 21"/>
              <a:gd name="T9" fmla="*/ 0 h 14"/>
            </a:gdLst>
            <a:ahLst/>
            <a:cxnLst>
              <a:cxn ang="0">
                <a:pos x="T0" y="T1"/>
              </a:cxn>
              <a:cxn ang="0">
                <a:pos x="T2" y="T3"/>
              </a:cxn>
              <a:cxn ang="0">
                <a:pos x="T4" y="T5"/>
              </a:cxn>
              <a:cxn ang="0">
                <a:pos x="T6" y="T7"/>
              </a:cxn>
              <a:cxn ang="0">
                <a:pos x="T8" y="T9"/>
              </a:cxn>
            </a:cxnLst>
            <a:rect l="0" t="0" r="r" b="b"/>
            <a:pathLst>
              <a:path w="21" h="14">
                <a:moveTo>
                  <a:pt x="14" y="0"/>
                </a:moveTo>
                <a:lnTo>
                  <a:pt x="21" y="7"/>
                </a:lnTo>
                <a:lnTo>
                  <a:pt x="7" y="14"/>
                </a:lnTo>
                <a:lnTo>
                  <a:pt x="0"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12" name="Freeform 128"/>
          <p:cNvSpPr>
            <a:spLocks/>
          </p:cNvSpPr>
          <p:nvPr/>
        </p:nvSpPr>
        <p:spPr bwMode="auto">
          <a:xfrm>
            <a:off x="4879975" y="4849813"/>
            <a:ext cx="263525" cy="492125"/>
          </a:xfrm>
          <a:custGeom>
            <a:avLst/>
            <a:gdLst>
              <a:gd name="T0" fmla="*/ 14 w 166"/>
              <a:gd name="T1" fmla="*/ 0 h 310"/>
              <a:gd name="T2" fmla="*/ 0 w 166"/>
              <a:gd name="T3" fmla="*/ 7 h 310"/>
              <a:gd name="T4" fmla="*/ 152 w 166"/>
              <a:gd name="T5" fmla="*/ 310 h 310"/>
              <a:gd name="T6" fmla="*/ 166 w 166"/>
              <a:gd name="T7" fmla="*/ 303 h 310"/>
              <a:gd name="T8" fmla="*/ 14 w 166"/>
              <a:gd name="T9" fmla="*/ 0 h 310"/>
            </a:gdLst>
            <a:ahLst/>
            <a:cxnLst>
              <a:cxn ang="0">
                <a:pos x="T0" y="T1"/>
              </a:cxn>
              <a:cxn ang="0">
                <a:pos x="T2" y="T3"/>
              </a:cxn>
              <a:cxn ang="0">
                <a:pos x="T4" y="T5"/>
              </a:cxn>
              <a:cxn ang="0">
                <a:pos x="T6" y="T7"/>
              </a:cxn>
              <a:cxn ang="0">
                <a:pos x="T8" y="T9"/>
              </a:cxn>
            </a:cxnLst>
            <a:rect l="0" t="0" r="r" b="b"/>
            <a:pathLst>
              <a:path w="166" h="310">
                <a:moveTo>
                  <a:pt x="14" y="0"/>
                </a:moveTo>
                <a:lnTo>
                  <a:pt x="0" y="7"/>
                </a:lnTo>
                <a:lnTo>
                  <a:pt x="152" y="310"/>
                </a:lnTo>
                <a:lnTo>
                  <a:pt x="166" y="303"/>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13" name="Rectangle 129"/>
          <p:cNvSpPr>
            <a:spLocks noChangeArrowheads="1"/>
          </p:cNvSpPr>
          <p:nvPr/>
        </p:nvSpPr>
        <p:spPr bwMode="auto">
          <a:xfrm>
            <a:off x="4530725" y="5210175"/>
            <a:ext cx="239713"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114" name="Rectangle 130"/>
          <p:cNvSpPr>
            <a:spLocks noChangeArrowheads="1"/>
          </p:cNvSpPr>
          <p:nvPr/>
        </p:nvSpPr>
        <p:spPr bwMode="auto">
          <a:xfrm>
            <a:off x="4530725" y="5210175"/>
            <a:ext cx="239713" cy="239713"/>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15" name="Rectangle 131"/>
          <p:cNvSpPr>
            <a:spLocks noChangeArrowheads="1"/>
          </p:cNvSpPr>
          <p:nvPr/>
        </p:nvSpPr>
        <p:spPr bwMode="auto">
          <a:xfrm>
            <a:off x="5011738" y="5210175"/>
            <a:ext cx="241300"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116" name="Rectangle 132"/>
          <p:cNvSpPr>
            <a:spLocks noChangeArrowheads="1"/>
          </p:cNvSpPr>
          <p:nvPr/>
        </p:nvSpPr>
        <p:spPr bwMode="auto">
          <a:xfrm>
            <a:off x="5011738" y="5210175"/>
            <a:ext cx="239712" cy="239713"/>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17" name="Oval 133"/>
          <p:cNvSpPr>
            <a:spLocks noChangeArrowheads="1"/>
          </p:cNvSpPr>
          <p:nvPr/>
        </p:nvSpPr>
        <p:spPr bwMode="auto">
          <a:xfrm>
            <a:off x="4705350" y="4675188"/>
            <a:ext cx="360363" cy="3603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18" name="Oval 134"/>
          <p:cNvSpPr>
            <a:spLocks noChangeArrowheads="1"/>
          </p:cNvSpPr>
          <p:nvPr/>
        </p:nvSpPr>
        <p:spPr bwMode="auto">
          <a:xfrm>
            <a:off x="4705350" y="4675188"/>
            <a:ext cx="360363" cy="36036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19" name="Rectangle 135"/>
          <p:cNvSpPr>
            <a:spLocks noChangeArrowheads="1"/>
          </p:cNvSpPr>
          <p:nvPr/>
        </p:nvSpPr>
        <p:spPr bwMode="auto">
          <a:xfrm>
            <a:off x="4792663" y="4773613"/>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32</a:t>
            </a:r>
            <a:endParaRPr lang="en-US" sz="2400">
              <a:latin typeface="Tahoma" pitchFamily="34" charset="0"/>
            </a:endParaRPr>
          </a:p>
        </p:txBody>
      </p:sp>
      <p:sp>
        <p:nvSpPr>
          <p:cNvPr id="298120" name="Freeform 136"/>
          <p:cNvSpPr>
            <a:spLocks/>
          </p:cNvSpPr>
          <p:nvPr/>
        </p:nvSpPr>
        <p:spPr bwMode="auto">
          <a:xfrm>
            <a:off x="5832475" y="5319713"/>
            <a:ext cx="20638" cy="33337"/>
          </a:xfrm>
          <a:custGeom>
            <a:avLst/>
            <a:gdLst>
              <a:gd name="T0" fmla="*/ 0 w 13"/>
              <a:gd name="T1" fmla="*/ 0 h 21"/>
              <a:gd name="T2" fmla="*/ 0 w 13"/>
              <a:gd name="T3" fmla="*/ 7 h 21"/>
              <a:gd name="T4" fmla="*/ 6 w 13"/>
              <a:gd name="T5" fmla="*/ 21 h 21"/>
              <a:gd name="T6" fmla="*/ 13 w 13"/>
              <a:gd name="T7" fmla="*/ 14 h 21"/>
              <a:gd name="T8" fmla="*/ 0 w 13"/>
              <a:gd name="T9" fmla="*/ 0 h 21"/>
            </a:gdLst>
            <a:ahLst/>
            <a:cxnLst>
              <a:cxn ang="0">
                <a:pos x="T0" y="T1"/>
              </a:cxn>
              <a:cxn ang="0">
                <a:pos x="T2" y="T3"/>
              </a:cxn>
              <a:cxn ang="0">
                <a:pos x="T4" y="T5"/>
              </a:cxn>
              <a:cxn ang="0">
                <a:pos x="T6" y="T7"/>
              </a:cxn>
              <a:cxn ang="0">
                <a:pos x="T8" y="T9"/>
              </a:cxn>
            </a:cxnLst>
            <a:rect l="0" t="0" r="r" b="b"/>
            <a:pathLst>
              <a:path w="13" h="21">
                <a:moveTo>
                  <a:pt x="0" y="0"/>
                </a:moveTo>
                <a:lnTo>
                  <a:pt x="0" y="7"/>
                </a:lnTo>
                <a:lnTo>
                  <a:pt x="6" y="21"/>
                </a:lnTo>
                <a:lnTo>
                  <a:pt x="13" y="1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21" name="Freeform 137"/>
          <p:cNvSpPr>
            <a:spLocks/>
          </p:cNvSpPr>
          <p:nvPr/>
        </p:nvSpPr>
        <p:spPr bwMode="auto">
          <a:xfrm>
            <a:off x="6313488" y="4838700"/>
            <a:ext cx="31750" cy="22225"/>
          </a:xfrm>
          <a:custGeom>
            <a:avLst/>
            <a:gdLst>
              <a:gd name="T0" fmla="*/ 0 w 20"/>
              <a:gd name="T1" fmla="*/ 0 h 14"/>
              <a:gd name="T2" fmla="*/ 6 w 20"/>
              <a:gd name="T3" fmla="*/ 0 h 14"/>
              <a:gd name="T4" fmla="*/ 20 w 20"/>
              <a:gd name="T5" fmla="*/ 7 h 14"/>
              <a:gd name="T6" fmla="*/ 13 w 20"/>
              <a:gd name="T7" fmla="*/ 14 h 14"/>
              <a:gd name="T8" fmla="*/ 0 w 20"/>
              <a:gd name="T9" fmla="*/ 0 h 14"/>
            </a:gdLst>
            <a:ahLst/>
            <a:cxnLst>
              <a:cxn ang="0">
                <a:pos x="T0" y="T1"/>
              </a:cxn>
              <a:cxn ang="0">
                <a:pos x="T2" y="T3"/>
              </a:cxn>
              <a:cxn ang="0">
                <a:pos x="T4" y="T5"/>
              </a:cxn>
              <a:cxn ang="0">
                <a:pos x="T6" y="T7"/>
              </a:cxn>
              <a:cxn ang="0">
                <a:pos x="T8" y="T9"/>
              </a:cxn>
            </a:cxnLst>
            <a:rect l="0" t="0" r="r" b="b"/>
            <a:pathLst>
              <a:path w="20" h="14">
                <a:moveTo>
                  <a:pt x="0" y="0"/>
                </a:moveTo>
                <a:lnTo>
                  <a:pt x="6" y="0"/>
                </a:lnTo>
                <a:lnTo>
                  <a:pt x="20" y="7"/>
                </a:lnTo>
                <a:lnTo>
                  <a:pt x="13" y="14"/>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22" name="Freeform 138"/>
          <p:cNvSpPr>
            <a:spLocks/>
          </p:cNvSpPr>
          <p:nvPr/>
        </p:nvSpPr>
        <p:spPr bwMode="auto">
          <a:xfrm>
            <a:off x="5832475" y="4838700"/>
            <a:ext cx="501650" cy="503238"/>
          </a:xfrm>
          <a:custGeom>
            <a:avLst/>
            <a:gdLst>
              <a:gd name="T0" fmla="*/ 0 w 316"/>
              <a:gd name="T1" fmla="*/ 303 h 317"/>
              <a:gd name="T2" fmla="*/ 13 w 316"/>
              <a:gd name="T3" fmla="*/ 317 h 317"/>
              <a:gd name="T4" fmla="*/ 316 w 316"/>
              <a:gd name="T5" fmla="*/ 14 h 317"/>
              <a:gd name="T6" fmla="*/ 303 w 316"/>
              <a:gd name="T7" fmla="*/ 0 h 317"/>
              <a:gd name="T8" fmla="*/ 0 w 316"/>
              <a:gd name="T9" fmla="*/ 303 h 317"/>
            </a:gdLst>
            <a:ahLst/>
            <a:cxnLst>
              <a:cxn ang="0">
                <a:pos x="T0" y="T1"/>
              </a:cxn>
              <a:cxn ang="0">
                <a:pos x="T2" y="T3"/>
              </a:cxn>
              <a:cxn ang="0">
                <a:pos x="T4" y="T5"/>
              </a:cxn>
              <a:cxn ang="0">
                <a:pos x="T6" y="T7"/>
              </a:cxn>
              <a:cxn ang="0">
                <a:pos x="T8" y="T9"/>
              </a:cxn>
            </a:cxnLst>
            <a:rect l="0" t="0" r="r" b="b"/>
            <a:pathLst>
              <a:path w="316" h="317">
                <a:moveTo>
                  <a:pt x="0" y="303"/>
                </a:moveTo>
                <a:lnTo>
                  <a:pt x="13" y="317"/>
                </a:lnTo>
                <a:lnTo>
                  <a:pt x="316" y="14"/>
                </a:lnTo>
                <a:lnTo>
                  <a:pt x="303" y="0"/>
                </a:lnTo>
                <a:lnTo>
                  <a:pt x="0" y="3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23" name="Freeform 139"/>
          <p:cNvSpPr>
            <a:spLocks/>
          </p:cNvSpPr>
          <p:nvPr/>
        </p:nvSpPr>
        <p:spPr bwMode="auto">
          <a:xfrm>
            <a:off x="6313488" y="4838700"/>
            <a:ext cx="20637" cy="22225"/>
          </a:xfrm>
          <a:custGeom>
            <a:avLst/>
            <a:gdLst>
              <a:gd name="T0" fmla="*/ 13 w 13"/>
              <a:gd name="T1" fmla="*/ 0 h 14"/>
              <a:gd name="T2" fmla="*/ 6 w 13"/>
              <a:gd name="T3" fmla="*/ 0 h 14"/>
              <a:gd name="T4" fmla="*/ 0 w 13"/>
              <a:gd name="T5" fmla="*/ 7 h 14"/>
              <a:gd name="T6" fmla="*/ 0 w 13"/>
              <a:gd name="T7" fmla="*/ 14 h 14"/>
              <a:gd name="T8" fmla="*/ 13 w 13"/>
              <a:gd name="T9" fmla="*/ 0 h 14"/>
            </a:gdLst>
            <a:ahLst/>
            <a:cxnLst>
              <a:cxn ang="0">
                <a:pos x="T0" y="T1"/>
              </a:cxn>
              <a:cxn ang="0">
                <a:pos x="T2" y="T3"/>
              </a:cxn>
              <a:cxn ang="0">
                <a:pos x="T4" y="T5"/>
              </a:cxn>
              <a:cxn ang="0">
                <a:pos x="T6" y="T7"/>
              </a:cxn>
              <a:cxn ang="0">
                <a:pos x="T8" y="T9"/>
              </a:cxn>
            </a:cxnLst>
            <a:rect l="0" t="0" r="r" b="b"/>
            <a:pathLst>
              <a:path w="13" h="14">
                <a:moveTo>
                  <a:pt x="13" y="0"/>
                </a:moveTo>
                <a:lnTo>
                  <a:pt x="6" y="0"/>
                </a:lnTo>
                <a:lnTo>
                  <a:pt x="0" y="7"/>
                </a:lnTo>
                <a:lnTo>
                  <a:pt x="0" y="14"/>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24" name="Freeform 140"/>
          <p:cNvSpPr>
            <a:spLocks/>
          </p:cNvSpPr>
          <p:nvPr/>
        </p:nvSpPr>
        <p:spPr bwMode="auto">
          <a:xfrm>
            <a:off x="6794500" y="5319713"/>
            <a:ext cx="31750" cy="33337"/>
          </a:xfrm>
          <a:custGeom>
            <a:avLst/>
            <a:gdLst>
              <a:gd name="T0" fmla="*/ 13 w 20"/>
              <a:gd name="T1" fmla="*/ 0 h 21"/>
              <a:gd name="T2" fmla="*/ 20 w 20"/>
              <a:gd name="T3" fmla="*/ 7 h 21"/>
              <a:gd name="T4" fmla="*/ 7 w 20"/>
              <a:gd name="T5" fmla="*/ 21 h 21"/>
              <a:gd name="T6" fmla="*/ 0 w 20"/>
              <a:gd name="T7" fmla="*/ 14 h 21"/>
              <a:gd name="T8" fmla="*/ 13 w 20"/>
              <a:gd name="T9" fmla="*/ 0 h 21"/>
            </a:gdLst>
            <a:ahLst/>
            <a:cxnLst>
              <a:cxn ang="0">
                <a:pos x="T0" y="T1"/>
              </a:cxn>
              <a:cxn ang="0">
                <a:pos x="T2" y="T3"/>
              </a:cxn>
              <a:cxn ang="0">
                <a:pos x="T4" y="T5"/>
              </a:cxn>
              <a:cxn ang="0">
                <a:pos x="T6" y="T7"/>
              </a:cxn>
              <a:cxn ang="0">
                <a:pos x="T8" y="T9"/>
              </a:cxn>
            </a:cxnLst>
            <a:rect l="0" t="0" r="r" b="b"/>
            <a:pathLst>
              <a:path w="20" h="21">
                <a:moveTo>
                  <a:pt x="13" y="0"/>
                </a:moveTo>
                <a:lnTo>
                  <a:pt x="20" y="7"/>
                </a:lnTo>
                <a:lnTo>
                  <a:pt x="7" y="21"/>
                </a:lnTo>
                <a:lnTo>
                  <a:pt x="0" y="14"/>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25" name="Freeform 141"/>
          <p:cNvSpPr>
            <a:spLocks/>
          </p:cNvSpPr>
          <p:nvPr/>
        </p:nvSpPr>
        <p:spPr bwMode="auto">
          <a:xfrm>
            <a:off x="6313488" y="4838700"/>
            <a:ext cx="501650" cy="503238"/>
          </a:xfrm>
          <a:custGeom>
            <a:avLst/>
            <a:gdLst>
              <a:gd name="T0" fmla="*/ 13 w 316"/>
              <a:gd name="T1" fmla="*/ 0 h 317"/>
              <a:gd name="T2" fmla="*/ 0 w 316"/>
              <a:gd name="T3" fmla="*/ 14 h 317"/>
              <a:gd name="T4" fmla="*/ 303 w 316"/>
              <a:gd name="T5" fmla="*/ 317 h 317"/>
              <a:gd name="T6" fmla="*/ 316 w 316"/>
              <a:gd name="T7" fmla="*/ 303 h 317"/>
              <a:gd name="T8" fmla="*/ 13 w 316"/>
              <a:gd name="T9" fmla="*/ 0 h 317"/>
            </a:gdLst>
            <a:ahLst/>
            <a:cxnLst>
              <a:cxn ang="0">
                <a:pos x="T0" y="T1"/>
              </a:cxn>
              <a:cxn ang="0">
                <a:pos x="T2" y="T3"/>
              </a:cxn>
              <a:cxn ang="0">
                <a:pos x="T4" y="T5"/>
              </a:cxn>
              <a:cxn ang="0">
                <a:pos x="T6" y="T7"/>
              </a:cxn>
              <a:cxn ang="0">
                <a:pos x="T8" y="T9"/>
              </a:cxn>
            </a:cxnLst>
            <a:rect l="0" t="0" r="r" b="b"/>
            <a:pathLst>
              <a:path w="316" h="317">
                <a:moveTo>
                  <a:pt x="13" y="0"/>
                </a:moveTo>
                <a:lnTo>
                  <a:pt x="0" y="14"/>
                </a:lnTo>
                <a:lnTo>
                  <a:pt x="303" y="317"/>
                </a:lnTo>
                <a:lnTo>
                  <a:pt x="316" y="303"/>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26" name="Oval 142"/>
          <p:cNvSpPr>
            <a:spLocks noChangeArrowheads="1"/>
          </p:cNvSpPr>
          <p:nvPr/>
        </p:nvSpPr>
        <p:spPr bwMode="auto">
          <a:xfrm>
            <a:off x="6148388" y="4675188"/>
            <a:ext cx="361950" cy="3603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27" name="Oval 143"/>
          <p:cNvSpPr>
            <a:spLocks noChangeArrowheads="1"/>
          </p:cNvSpPr>
          <p:nvPr/>
        </p:nvSpPr>
        <p:spPr bwMode="auto">
          <a:xfrm>
            <a:off x="6148388" y="4675188"/>
            <a:ext cx="360362" cy="360362"/>
          </a:xfrm>
          <a:prstGeom prst="ellipse">
            <a:avLst/>
          </a:prstGeom>
          <a:noFill/>
          <a:ln w="222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28" name="Rectangle 144"/>
          <p:cNvSpPr>
            <a:spLocks noChangeArrowheads="1"/>
          </p:cNvSpPr>
          <p:nvPr/>
        </p:nvSpPr>
        <p:spPr bwMode="auto">
          <a:xfrm>
            <a:off x="6224588" y="4773613"/>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FF0000"/>
                </a:solidFill>
                <a:latin typeface="Times" pitchFamily="18" charset="0"/>
              </a:rPr>
              <a:t>50</a:t>
            </a:r>
            <a:endParaRPr lang="en-US" sz="2400">
              <a:latin typeface="Tahoma" pitchFamily="34" charset="0"/>
            </a:endParaRPr>
          </a:p>
        </p:txBody>
      </p:sp>
      <p:sp>
        <p:nvSpPr>
          <p:cNvPr id="298129" name="Freeform 145"/>
          <p:cNvSpPr>
            <a:spLocks/>
          </p:cNvSpPr>
          <p:nvPr/>
        </p:nvSpPr>
        <p:spPr bwMode="auto">
          <a:xfrm>
            <a:off x="5602288" y="5811838"/>
            <a:ext cx="22225" cy="22225"/>
          </a:xfrm>
          <a:custGeom>
            <a:avLst/>
            <a:gdLst>
              <a:gd name="T0" fmla="*/ 0 w 14"/>
              <a:gd name="T1" fmla="*/ 0 h 14"/>
              <a:gd name="T2" fmla="*/ 0 w 14"/>
              <a:gd name="T3" fmla="*/ 7 h 14"/>
              <a:gd name="T4" fmla="*/ 14 w 14"/>
              <a:gd name="T5" fmla="*/ 14 h 14"/>
              <a:gd name="T6" fmla="*/ 14 w 14"/>
              <a:gd name="T7" fmla="*/ 7 h 14"/>
              <a:gd name="T8" fmla="*/ 0 w 14"/>
              <a:gd name="T9" fmla="*/ 0 h 14"/>
            </a:gdLst>
            <a:ahLst/>
            <a:cxnLst>
              <a:cxn ang="0">
                <a:pos x="T0" y="T1"/>
              </a:cxn>
              <a:cxn ang="0">
                <a:pos x="T2" y="T3"/>
              </a:cxn>
              <a:cxn ang="0">
                <a:pos x="T4" y="T5"/>
              </a:cxn>
              <a:cxn ang="0">
                <a:pos x="T6" y="T7"/>
              </a:cxn>
              <a:cxn ang="0">
                <a:pos x="T8" y="T9"/>
              </a:cxn>
            </a:cxnLst>
            <a:rect l="0" t="0" r="r" b="b"/>
            <a:pathLst>
              <a:path w="14" h="14">
                <a:moveTo>
                  <a:pt x="0" y="0"/>
                </a:moveTo>
                <a:lnTo>
                  <a:pt x="0" y="7"/>
                </a:lnTo>
                <a:lnTo>
                  <a:pt x="14" y="14"/>
                </a:lnTo>
                <a:lnTo>
                  <a:pt x="14" y="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30" name="Freeform 146"/>
          <p:cNvSpPr>
            <a:spLocks/>
          </p:cNvSpPr>
          <p:nvPr/>
        </p:nvSpPr>
        <p:spPr bwMode="auto">
          <a:xfrm>
            <a:off x="5842000" y="5319713"/>
            <a:ext cx="33338" cy="22225"/>
          </a:xfrm>
          <a:custGeom>
            <a:avLst/>
            <a:gdLst>
              <a:gd name="T0" fmla="*/ 0 w 21"/>
              <a:gd name="T1" fmla="*/ 7 h 14"/>
              <a:gd name="T2" fmla="*/ 7 w 21"/>
              <a:gd name="T3" fmla="*/ 0 h 14"/>
              <a:gd name="T4" fmla="*/ 21 w 21"/>
              <a:gd name="T5" fmla="*/ 7 h 14"/>
              <a:gd name="T6" fmla="*/ 14 w 21"/>
              <a:gd name="T7" fmla="*/ 14 h 14"/>
              <a:gd name="T8" fmla="*/ 0 w 21"/>
              <a:gd name="T9" fmla="*/ 7 h 14"/>
            </a:gdLst>
            <a:ahLst/>
            <a:cxnLst>
              <a:cxn ang="0">
                <a:pos x="T0" y="T1"/>
              </a:cxn>
              <a:cxn ang="0">
                <a:pos x="T2" y="T3"/>
              </a:cxn>
              <a:cxn ang="0">
                <a:pos x="T4" y="T5"/>
              </a:cxn>
              <a:cxn ang="0">
                <a:pos x="T6" y="T7"/>
              </a:cxn>
              <a:cxn ang="0">
                <a:pos x="T8" y="T9"/>
              </a:cxn>
            </a:cxnLst>
            <a:rect l="0" t="0" r="r" b="b"/>
            <a:pathLst>
              <a:path w="21" h="14">
                <a:moveTo>
                  <a:pt x="0" y="7"/>
                </a:moveTo>
                <a:lnTo>
                  <a:pt x="7" y="0"/>
                </a:lnTo>
                <a:lnTo>
                  <a:pt x="21" y="7"/>
                </a:lnTo>
                <a:lnTo>
                  <a:pt x="14" y="14"/>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31" name="Freeform 147"/>
          <p:cNvSpPr>
            <a:spLocks/>
          </p:cNvSpPr>
          <p:nvPr/>
        </p:nvSpPr>
        <p:spPr bwMode="auto">
          <a:xfrm>
            <a:off x="5602288" y="5330825"/>
            <a:ext cx="261937" cy="492125"/>
          </a:xfrm>
          <a:custGeom>
            <a:avLst/>
            <a:gdLst>
              <a:gd name="T0" fmla="*/ 0 w 165"/>
              <a:gd name="T1" fmla="*/ 303 h 310"/>
              <a:gd name="T2" fmla="*/ 14 w 165"/>
              <a:gd name="T3" fmla="*/ 310 h 310"/>
              <a:gd name="T4" fmla="*/ 165 w 165"/>
              <a:gd name="T5" fmla="*/ 7 h 310"/>
              <a:gd name="T6" fmla="*/ 151 w 165"/>
              <a:gd name="T7" fmla="*/ 0 h 310"/>
              <a:gd name="T8" fmla="*/ 0 w 165"/>
              <a:gd name="T9" fmla="*/ 303 h 310"/>
            </a:gdLst>
            <a:ahLst/>
            <a:cxnLst>
              <a:cxn ang="0">
                <a:pos x="T0" y="T1"/>
              </a:cxn>
              <a:cxn ang="0">
                <a:pos x="T2" y="T3"/>
              </a:cxn>
              <a:cxn ang="0">
                <a:pos x="T4" y="T5"/>
              </a:cxn>
              <a:cxn ang="0">
                <a:pos x="T6" y="T7"/>
              </a:cxn>
              <a:cxn ang="0">
                <a:pos x="T8" y="T9"/>
              </a:cxn>
            </a:cxnLst>
            <a:rect l="0" t="0" r="r" b="b"/>
            <a:pathLst>
              <a:path w="165" h="310">
                <a:moveTo>
                  <a:pt x="0" y="303"/>
                </a:moveTo>
                <a:lnTo>
                  <a:pt x="14" y="310"/>
                </a:lnTo>
                <a:lnTo>
                  <a:pt x="165" y="7"/>
                </a:lnTo>
                <a:lnTo>
                  <a:pt x="151" y="0"/>
                </a:lnTo>
                <a:lnTo>
                  <a:pt x="0" y="3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32" name="Freeform 148"/>
          <p:cNvSpPr>
            <a:spLocks/>
          </p:cNvSpPr>
          <p:nvPr/>
        </p:nvSpPr>
        <p:spPr bwMode="auto">
          <a:xfrm>
            <a:off x="5842000" y="5319713"/>
            <a:ext cx="22225" cy="22225"/>
          </a:xfrm>
          <a:custGeom>
            <a:avLst/>
            <a:gdLst>
              <a:gd name="T0" fmla="*/ 14 w 14"/>
              <a:gd name="T1" fmla="*/ 7 h 14"/>
              <a:gd name="T2" fmla="*/ 14 w 14"/>
              <a:gd name="T3" fmla="*/ 0 h 14"/>
              <a:gd name="T4" fmla="*/ 0 w 14"/>
              <a:gd name="T5" fmla="*/ 7 h 14"/>
              <a:gd name="T6" fmla="*/ 0 w 14"/>
              <a:gd name="T7" fmla="*/ 14 h 14"/>
              <a:gd name="T8" fmla="*/ 14 w 14"/>
              <a:gd name="T9" fmla="*/ 7 h 14"/>
            </a:gdLst>
            <a:ahLst/>
            <a:cxnLst>
              <a:cxn ang="0">
                <a:pos x="T0" y="T1"/>
              </a:cxn>
              <a:cxn ang="0">
                <a:pos x="T2" y="T3"/>
              </a:cxn>
              <a:cxn ang="0">
                <a:pos x="T4" y="T5"/>
              </a:cxn>
              <a:cxn ang="0">
                <a:pos x="T6" y="T7"/>
              </a:cxn>
              <a:cxn ang="0">
                <a:pos x="T8" y="T9"/>
              </a:cxn>
            </a:cxnLst>
            <a:rect l="0" t="0" r="r" b="b"/>
            <a:pathLst>
              <a:path w="14" h="14">
                <a:moveTo>
                  <a:pt x="14" y="7"/>
                </a:moveTo>
                <a:lnTo>
                  <a:pt x="14" y="0"/>
                </a:lnTo>
                <a:lnTo>
                  <a:pt x="0" y="7"/>
                </a:lnTo>
                <a:lnTo>
                  <a:pt x="0" y="14"/>
                </a:lnTo>
                <a:lnTo>
                  <a:pt x="14"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33" name="Freeform 149"/>
          <p:cNvSpPr>
            <a:spLocks/>
          </p:cNvSpPr>
          <p:nvPr/>
        </p:nvSpPr>
        <p:spPr bwMode="auto">
          <a:xfrm>
            <a:off x="6083300" y="5811838"/>
            <a:ext cx="33338" cy="22225"/>
          </a:xfrm>
          <a:custGeom>
            <a:avLst/>
            <a:gdLst>
              <a:gd name="T0" fmla="*/ 14 w 21"/>
              <a:gd name="T1" fmla="*/ 0 h 14"/>
              <a:gd name="T2" fmla="*/ 21 w 21"/>
              <a:gd name="T3" fmla="*/ 7 h 14"/>
              <a:gd name="T4" fmla="*/ 7 w 21"/>
              <a:gd name="T5" fmla="*/ 14 h 14"/>
              <a:gd name="T6" fmla="*/ 0 w 21"/>
              <a:gd name="T7" fmla="*/ 7 h 14"/>
              <a:gd name="T8" fmla="*/ 14 w 21"/>
              <a:gd name="T9" fmla="*/ 0 h 14"/>
            </a:gdLst>
            <a:ahLst/>
            <a:cxnLst>
              <a:cxn ang="0">
                <a:pos x="T0" y="T1"/>
              </a:cxn>
              <a:cxn ang="0">
                <a:pos x="T2" y="T3"/>
              </a:cxn>
              <a:cxn ang="0">
                <a:pos x="T4" y="T5"/>
              </a:cxn>
              <a:cxn ang="0">
                <a:pos x="T6" y="T7"/>
              </a:cxn>
              <a:cxn ang="0">
                <a:pos x="T8" y="T9"/>
              </a:cxn>
            </a:cxnLst>
            <a:rect l="0" t="0" r="r" b="b"/>
            <a:pathLst>
              <a:path w="21" h="14">
                <a:moveTo>
                  <a:pt x="14" y="0"/>
                </a:moveTo>
                <a:lnTo>
                  <a:pt x="21" y="7"/>
                </a:lnTo>
                <a:lnTo>
                  <a:pt x="7" y="14"/>
                </a:lnTo>
                <a:lnTo>
                  <a:pt x="0"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34" name="Freeform 150"/>
          <p:cNvSpPr>
            <a:spLocks/>
          </p:cNvSpPr>
          <p:nvPr/>
        </p:nvSpPr>
        <p:spPr bwMode="auto">
          <a:xfrm>
            <a:off x="5842000" y="5330825"/>
            <a:ext cx="263525" cy="492125"/>
          </a:xfrm>
          <a:custGeom>
            <a:avLst/>
            <a:gdLst>
              <a:gd name="T0" fmla="*/ 14 w 166"/>
              <a:gd name="T1" fmla="*/ 0 h 310"/>
              <a:gd name="T2" fmla="*/ 0 w 166"/>
              <a:gd name="T3" fmla="*/ 7 h 310"/>
              <a:gd name="T4" fmla="*/ 152 w 166"/>
              <a:gd name="T5" fmla="*/ 310 h 310"/>
              <a:gd name="T6" fmla="*/ 166 w 166"/>
              <a:gd name="T7" fmla="*/ 303 h 310"/>
              <a:gd name="T8" fmla="*/ 14 w 166"/>
              <a:gd name="T9" fmla="*/ 0 h 310"/>
            </a:gdLst>
            <a:ahLst/>
            <a:cxnLst>
              <a:cxn ang="0">
                <a:pos x="T0" y="T1"/>
              </a:cxn>
              <a:cxn ang="0">
                <a:pos x="T2" y="T3"/>
              </a:cxn>
              <a:cxn ang="0">
                <a:pos x="T4" y="T5"/>
              </a:cxn>
              <a:cxn ang="0">
                <a:pos x="T6" y="T7"/>
              </a:cxn>
              <a:cxn ang="0">
                <a:pos x="T8" y="T9"/>
              </a:cxn>
            </a:cxnLst>
            <a:rect l="0" t="0" r="r" b="b"/>
            <a:pathLst>
              <a:path w="166" h="310">
                <a:moveTo>
                  <a:pt x="14" y="0"/>
                </a:moveTo>
                <a:lnTo>
                  <a:pt x="0" y="7"/>
                </a:lnTo>
                <a:lnTo>
                  <a:pt x="152" y="310"/>
                </a:lnTo>
                <a:lnTo>
                  <a:pt x="166" y="303"/>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35" name="Rectangle 151"/>
          <p:cNvSpPr>
            <a:spLocks noChangeArrowheads="1"/>
          </p:cNvSpPr>
          <p:nvPr/>
        </p:nvSpPr>
        <p:spPr bwMode="auto">
          <a:xfrm>
            <a:off x="5492750" y="5691188"/>
            <a:ext cx="241300"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136" name="Rectangle 152"/>
          <p:cNvSpPr>
            <a:spLocks noChangeArrowheads="1"/>
          </p:cNvSpPr>
          <p:nvPr/>
        </p:nvSpPr>
        <p:spPr bwMode="auto">
          <a:xfrm>
            <a:off x="5492750" y="5691188"/>
            <a:ext cx="239713" cy="241300"/>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37" name="Rectangle 153"/>
          <p:cNvSpPr>
            <a:spLocks noChangeArrowheads="1"/>
          </p:cNvSpPr>
          <p:nvPr/>
        </p:nvSpPr>
        <p:spPr bwMode="auto">
          <a:xfrm>
            <a:off x="5973763" y="5691188"/>
            <a:ext cx="241300"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138" name="Rectangle 154"/>
          <p:cNvSpPr>
            <a:spLocks noChangeArrowheads="1"/>
          </p:cNvSpPr>
          <p:nvPr/>
        </p:nvSpPr>
        <p:spPr bwMode="auto">
          <a:xfrm>
            <a:off x="5973763" y="5691188"/>
            <a:ext cx="239712" cy="241300"/>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39" name="Oval 155"/>
          <p:cNvSpPr>
            <a:spLocks noChangeArrowheads="1"/>
          </p:cNvSpPr>
          <p:nvPr/>
        </p:nvSpPr>
        <p:spPr bwMode="auto">
          <a:xfrm>
            <a:off x="5678488" y="5156200"/>
            <a:ext cx="350837" cy="3492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40" name="Oval 156"/>
          <p:cNvSpPr>
            <a:spLocks noChangeArrowheads="1"/>
          </p:cNvSpPr>
          <p:nvPr/>
        </p:nvSpPr>
        <p:spPr bwMode="auto">
          <a:xfrm>
            <a:off x="5678488" y="5156200"/>
            <a:ext cx="349250" cy="349250"/>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41" name="Rectangle 157"/>
          <p:cNvSpPr>
            <a:spLocks noChangeArrowheads="1"/>
          </p:cNvSpPr>
          <p:nvPr/>
        </p:nvSpPr>
        <p:spPr bwMode="auto">
          <a:xfrm>
            <a:off x="5754688" y="5254625"/>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48</a:t>
            </a:r>
            <a:endParaRPr lang="en-US" sz="2400">
              <a:latin typeface="Tahoma" pitchFamily="34" charset="0"/>
            </a:endParaRPr>
          </a:p>
        </p:txBody>
      </p:sp>
      <p:sp>
        <p:nvSpPr>
          <p:cNvPr id="298142" name="Rectangle 158"/>
          <p:cNvSpPr>
            <a:spLocks noChangeArrowheads="1"/>
          </p:cNvSpPr>
          <p:nvPr/>
        </p:nvSpPr>
        <p:spPr bwMode="auto">
          <a:xfrm>
            <a:off x="4049713" y="4729163"/>
            <a:ext cx="239712"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143" name="Rectangle 159"/>
          <p:cNvSpPr>
            <a:spLocks noChangeArrowheads="1"/>
          </p:cNvSpPr>
          <p:nvPr/>
        </p:nvSpPr>
        <p:spPr bwMode="auto">
          <a:xfrm>
            <a:off x="4049713" y="4729163"/>
            <a:ext cx="239712" cy="239712"/>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44" name="Rectangle 160"/>
          <p:cNvSpPr>
            <a:spLocks noChangeArrowheads="1"/>
          </p:cNvSpPr>
          <p:nvPr/>
        </p:nvSpPr>
        <p:spPr bwMode="auto">
          <a:xfrm>
            <a:off x="7581900" y="5221288"/>
            <a:ext cx="239713" cy="23971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145" name="Rectangle 161"/>
          <p:cNvSpPr>
            <a:spLocks noChangeArrowheads="1"/>
          </p:cNvSpPr>
          <p:nvPr/>
        </p:nvSpPr>
        <p:spPr bwMode="auto">
          <a:xfrm>
            <a:off x="7581900" y="5221288"/>
            <a:ext cx="239713" cy="239712"/>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46" name="Oval 162"/>
          <p:cNvSpPr>
            <a:spLocks noChangeArrowheads="1"/>
          </p:cNvSpPr>
          <p:nvPr/>
        </p:nvSpPr>
        <p:spPr bwMode="auto">
          <a:xfrm>
            <a:off x="7078663" y="4192588"/>
            <a:ext cx="360362" cy="36195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47" name="Oval 163"/>
          <p:cNvSpPr>
            <a:spLocks noChangeArrowheads="1"/>
          </p:cNvSpPr>
          <p:nvPr/>
        </p:nvSpPr>
        <p:spPr bwMode="auto">
          <a:xfrm>
            <a:off x="7078663" y="4194175"/>
            <a:ext cx="360362" cy="360363"/>
          </a:xfrm>
          <a:prstGeom prst="ellipse">
            <a:avLst/>
          </a:prstGeom>
          <a:noFill/>
          <a:ln w="2222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48" name="Rectangle 164"/>
          <p:cNvSpPr>
            <a:spLocks noChangeArrowheads="1"/>
          </p:cNvSpPr>
          <p:nvPr/>
        </p:nvSpPr>
        <p:spPr bwMode="auto">
          <a:xfrm>
            <a:off x="7165975" y="4292600"/>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FF0000"/>
                </a:solidFill>
                <a:latin typeface="Times" pitchFamily="18" charset="0"/>
              </a:rPr>
              <a:t>62</a:t>
            </a:r>
            <a:endParaRPr lang="en-US" sz="2400">
              <a:latin typeface="Tahoma" pitchFamily="34" charset="0"/>
            </a:endParaRPr>
          </a:p>
        </p:txBody>
      </p:sp>
      <p:sp>
        <p:nvSpPr>
          <p:cNvPr id="298149" name="Rectangle 165"/>
          <p:cNvSpPr>
            <a:spLocks noChangeArrowheads="1"/>
          </p:cNvSpPr>
          <p:nvPr/>
        </p:nvSpPr>
        <p:spPr bwMode="auto">
          <a:xfrm>
            <a:off x="4170363" y="4095750"/>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2</a:t>
            </a:r>
            <a:endParaRPr lang="en-US" sz="2400">
              <a:latin typeface="Tahoma" pitchFamily="34" charset="0"/>
            </a:endParaRPr>
          </a:p>
        </p:txBody>
      </p:sp>
      <p:sp>
        <p:nvSpPr>
          <p:cNvPr id="298150" name="Rectangle 166"/>
          <p:cNvSpPr>
            <a:spLocks noChangeArrowheads="1"/>
          </p:cNvSpPr>
          <p:nvPr/>
        </p:nvSpPr>
        <p:spPr bwMode="auto">
          <a:xfrm>
            <a:off x="5602288" y="3646488"/>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4</a:t>
            </a:r>
            <a:endParaRPr lang="en-US" sz="2400">
              <a:latin typeface="Tahoma" pitchFamily="34" charset="0"/>
            </a:endParaRPr>
          </a:p>
        </p:txBody>
      </p:sp>
      <p:sp>
        <p:nvSpPr>
          <p:cNvPr id="298151" name="Rectangle 167"/>
          <p:cNvSpPr>
            <a:spLocks noChangeArrowheads="1"/>
          </p:cNvSpPr>
          <p:nvPr/>
        </p:nvSpPr>
        <p:spPr bwMode="auto">
          <a:xfrm>
            <a:off x="5065713" y="4576763"/>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1</a:t>
            </a:r>
            <a:endParaRPr lang="en-US" sz="2400">
              <a:latin typeface="Tahoma" pitchFamily="34" charset="0"/>
            </a:endParaRPr>
          </a:p>
        </p:txBody>
      </p:sp>
      <p:sp>
        <p:nvSpPr>
          <p:cNvPr id="298152" name="Rectangle 168"/>
          <p:cNvSpPr>
            <a:spLocks noChangeArrowheads="1"/>
          </p:cNvSpPr>
          <p:nvPr/>
        </p:nvSpPr>
        <p:spPr bwMode="auto">
          <a:xfrm>
            <a:off x="5602288" y="4937125"/>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1</a:t>
            </a:r>
            <a:endParaRPr lang="en-US" sz="2400">
              <a:latin typeface="Tahoma" pitchFamily="34" charset="0"/>
            </a:endParaRPr>
          </a:p>
        </p:txBody>
      </p:sp>
      <p:sp>
        <p:nvSpPr>
          <p:cNvPr id="298153" name="Rectangle 169"/>
          <p:cNvSpPr>
            <a:spLocks noChangeArrowheads="1"/>
          </p:cNvSpPr>
          <p:nvPr/>
        </p:nvSpPr>
        <p:spPr bwMode="auto">
          <a:xfrm>
            <a:off x="6049963" y="4565650"/>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FF0000"/>
                </a:solidFill>
                <a:latin typeface="Times" pitchFamily="18" charset="0"/>
              </a:rPr>
              <a:t>2</a:t>
            </a:r>
            <a:endParaRPr lang="en-US" sz="2400">
              <a:latin typeface="Tahoma" pitchFamily="34" charset="0"/>
            </a:endParaRPr>
          </a:p>
        </p:txBody>
      </p:sp>
      <p:sp>
        <p:nvSpPr>
          <p:cNvPr id="298154" name="Rectangle 170"/>
          <p:cNvSpPr>
            <a:spLocks noChangeArrowheads="1"/>
          </p:cNvSpPr>
          <p:nvPr/>
        </p:nvSpPr>
        <p:spPr bwMode="auto">
          <a:xfrm>
            <a:off x="8139113" y="4619625"/>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FF0000"/>
                </a:solidFill>
                <a:latin typeface="Times" pitchFamily="18" charset="0"/>
              </a:rPr>
              <a:t>2</a:t>
            </a:r>
            <a:endParaRPr lang="en-US" sz="2400">
              <a:latin typeface="Tahoma" pitchFamily="34" charset="0"/>
            </a:endParaRPr>
          </a:p>
        </p:txBody>
      </p:sp>
      <p:sp>
        <p:nvSpPr>
          <p:cNvPr id="298155" name="Rectangle 171"/>
          <p:cNvSpPr>
            <a:spLocks noChangeArrowheads="1"/>
          </p:cNvSpPr>
          <p:nvPr/>
        </p:nvSpPr>
        <p:spPr bwMode="auto">
          <a:xfrm>
            <a:off x="6969125" y="4040188"/>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FF0000"/>
                </a:solidFill>
                <a:latin typeface="Times" pitchFamily="18" charset="0"/>
              </a:rPr>
              <a:t>3</a:t>
            </a:r>
            <a:endParaRPr lang="en-US" sz="2400">
              <a:latin typeface="Tahoma" pitchFamily="34" charset="0"/>
            </a:endParaRPr>
          </a:p>
        </p:txBody>
      </p:sp>
      <p:sp>
        <p:nvSpPr>
          <p:cNvPr id="298156" name="Rectangle 172"/>
          <p:cNvSpPr>
            <a:spLocks noChangeArrowheads="1"/>
          </p:cNvSpPr>
          <p:nvPr/>
        </p:nvSpPr>
        <p:spPr bwMode="auto">
          <a:xfrm>
            <a:off x="8674100" y="4992688"/>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1</a:t>
            </a:r>
            <a:endParaRPr lang="en-US" sz="2400">
              <a:latin typeface="Tahoma" pitchFamily="34" charset="0"/>
            </a:endParaRPr>
          </a:p>
        </p:txBody>
      </p:sp>
      <p:sp>
        <p:nvSpPr>
          <p:cNvPr id="298157" name="Freeform 173"/>
          <p:cNvSpPr>
            <a:spLocks/>
          </p:cNvSpPr>
          <p:nvPr/>
        </p:nvSpPr>
        <p:spPr bwMode="auto">
          <a:xfrm>
            <a:off x="6553200" y="5800725"/>
            <a:ext cx="22225" cy="22225"/>
          </a:xfrm>
          <a:custGeom>
            <a:avLst/>
            <a:gdLst>
              <a:gd name="T0" fmla="*/ 0 w 14"/>
              <a:gd name="T1" fmla="*/ 0 h 14"/>
              <a:gd name="T2" fmla="*/ 0 w 14"/>
              <a:gd name="T3" fmla="*/ 7 h 14"/>
              <a:gd name="T4" fmla="*/ 14 w 14"/>
              <a:gd name="T5" fmla="*/ 14 h 14"/>
              <a:gd name="T6" fmla="*/ 14 w 14"/>
              <a:gd name="T7" fmla="*/ 7 h 14"/>
              <a:gd name="T8" fmla="*/ 0 w 14"/>
              <a:gd name="T9" fmla="*/ 0 h 14"/>
            </a:gdLst>
            <a:ahLst/>
            <a:cxnLst>
              <a:cxn ang="0">
                <a:pos x="T0" y="T1"/>
              </a:cxn>
              <a:cxn ang="0">
                <a:pos x="T2" y="T3"/>
              </a:cxn>
              <a:cxn ang="0">
                <a:pos x="T4" y="T5"/>
              </a:cxn>
              <a:cxn ang="0">
                <a:pos x="T6" y="T7"/>
              </a:cxn>
              <a:cxn ang="0">
                <a:pos x="T8" y="T9"/>
              </a:cxn>
            </a:cxnLst>
            <a:rect l="0" t="0" r="r" b="b"/>
            <a:pathLst>
              <a:path w="14" h="14">
                <a:moveTo>
                  <a:pt x="0" y="0"/>
                </a:moveTo>
                <a:lnTo>
                  <a:pt x="0" y="7"/>
                </a:lnTo>
                <a:lnTo>
                  <a:pt x="14" y="14"/>
                </a:lnTo>
                <a:lnTo>
                  <a:pt x="14" y="7"/>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58" name="Freeform 174"/>
          <p:cNvSpPr>
            <a:spLocks/>
          </p:cNvSpPr>
          <p:nvPr/>
        </p:nvSpPr>
        <p:spPr bwMode="auto">
          <a:xfrm>
            <a:off x="6794500" y="5308600"/>
            <a:ext cx="31750" cy="22225"/>
          </a:xfrm>
          <a:custGeom>
            <a:avLst/>
            <a:gdLst>
              <a:gd name="T0" fmla="*/ 0 w 20"/>
              <a:gd name="T1" fmla="*/ 7 h 14"/>
              <a:gd name="T2" fmla="*/ 7 w 20"/>
              <a:gd name="T3" fmla="*/ 0 h 14"/>
              <a:gd name="T4" fmla="*/ 20 w 20"/>
              <a:gd name="T5" fmla="*/ 7 h 14"/>
              <a:gd name="T6" fmla="*/ 13 w 20"/>
              <a:gd name="T7" fmla="*/ 14 h 14"/>
              <a:gd name="T8" fmla="*/ 0 w 20"/>
              <a:gd name="T9" fmla="*/ 7 h 14"/>
            </a:gdLst>
            <a:ahLst/>
            <a:cxnLst>
              <a:cxn ang="0">
                <a:pos x="T0" y="T1"/>
              </a:cxn>
              <a:cxn ang="0">
                <a:pos x="T2" y="T3"/>
              </a:cxn>
              <a:cxn ang="0">
                <a:pos x="T4" y="T5"/>
              </a:cxn>
              <a:cxn ang="0">
                <a:pos x="T6" y="T7"/>
              </a:cxn>
              <a:cxn ang="0">
                <a:pos x="T8" y="T9"/>
              </a:cxn>
            </a:cxnLst>
            <a:rect l="0" t="0" r="r" b="b"/>
            <a:pathLst>
              <a:path w="20" h="14">
                <a:moveTo>
                  <a:pt x="0" y="7"/>
                </a:moveTo>
                <a:lnTo>
                  <a:pt x="7" y="0"/>
                </a:lnTo>
                <a:lnTo>
                  <a:pt x="20" y="7"/>
                </a:lnTo>
                <a:lnTo>
                  <a:pt x="13" y="14"/>
                </a:lnTo>
                <a:lnTo>
                  <a:pt x="0"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59" name="Freeform 175"/>
          <p:cNvSpPr>
            <a:spLocks/>
          </p:cNvSpPr>
          <p:nvPr/>
        </p:nvSpPr>
        <p:spPr bwMode="auto">
          <a:xfrm>
            <a:off x="6553200" y="5319713"/>
            <a:ext cx="261938" cy="492125"/>
          </a:xfrm>
          <a:custGeom>
            <a:avLst/>
            <a:gdLst>
              <a:gd name="T0" fmla="*/ 0 w 165"/>
              <a:gd name="T1" fmla="*/ 303 h 310"/>
              <a:gd name="T2" fmla="*/ 14 w 165"/>
              <a:gd name="T3" fmla="*/ 310 h 310"/>
              <a:gd name="T4" fmla="*/ 165 w 165"/>
              <a:gd name="T5" fmla="*/ 7 h 310"/>
              <a:gd name="T6" fmla="*/ 152 w 165"/>
              <a:gd name="T7" fmla="*/ 0 h 310"/>
              <a:gd name="T8" fmla="*/ 0 w 165"/>
              <a:gd name="T9" fmla="*/ 303 h 310"/>
            </a:gdLst>
            <a:ahLst/>
            <a:cxnLst>
              <a:cxn ang="0">
                <a:pos x="T0" y="T1"/>
              </a:cxn>
              <a:cxn ang="0">
                <a:pos x="T2" y="T3"/>
              </a:cxn>
              <a:cxn ang="0">
                <a:pos x="T4" y="T5"/>
              </a:cxn>
              <a:cxn ang="0">
                <a:pos x="T6" y="T7"/>
              </a:cxn>
              <a:cxn ang="0">
                <a:pos x="T8" y="T9"/>
              </a:cxn>
            </a:cxnLst>
            <a:rect l="0" t="0" r="r" b="b"/>
            <a:pathLst>
              <a:path w="165" h="310">
                <a:moveTo>
                  <a:pt x="0" y="303"/>
                </a:moveTo>
                <a:lnTo>
                  <a:pt x="14" y="310"/>
                </a:lnTo>
                <a:lnTo>
                  <a:pt x="165" y="7"/>
                </a:lnTo>
                <a:lnTo>
                  <a:pt x="152" y="0"/>
                </a:lnTo>
                <a:lnTo>
                  <a:pt x="0" y="30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60" name="Freeform 176"/>
          <p:cNvSpPr>
            <a:spLocks/>
          </p:cNvSpPr>
          <p:nvPr/>
        </p:nvSpPr>
        <p:spPr bwMode="auto">
          <a:xfrm>
            <a:off x="6794500" y="5308600"/>
            <a:ext cx="20638" cy="22225"/>
          </a:xfrm>
          <a:custGeom>
            <a:avLst/>
            <a:gdLst>
              <a:gd name="T0" fmla="*/ 13 w 13"/>
              <a:gd name="T1" fmla="*/ 7 h 14"/>
              <a:gd name="T2" fmla="*/ 13 w 13"/>
              <a:gd name="T3" fmla="*/ 0 h 14"/>
              <a:gd name="T4" fmla="*/ 0 w 13"/>
              <a:gd name="T5" fmla="*/ 7 h 14"/>
              <a:gd name="T6" fmla="*/ 0 w 13"/>
              <a:gd name="T7" fmla="*/ 14 h 14"/>
              <a:gd name="T8" fmla="*/ 13 w 13"/>
              <a:gd name="T9" fmla="*/ 7 h 14"/>
            </a:gdLst>
            <a:ahLst/>
            <a:cxnLst>
              <a:cxn ang="0">
                <a:pos x="T0" y="T1"/>
              </a:cxn>
              <a:cxn ang="0">
                <a:pos x="T2" y="T3"/>
              </a:cxn>
              <a:cxn ang="0">
                <a:pos x="T4" y="T5"/>
              </a:cxn>
              <a:cxn ang="0">
                <a:pos x="T6" y="T7"/>
              </a:cxn>
              <a:cxn ang="0">
                <a:pos x="T8" y="T9"/>
              </a:cxn>
            </a:cxnLst>
            <a:rect l="0" t="0" r="r" b="b"/>
            <a:pathLst>
              <a:path w="13" h="14">
                <a:moveTo>
                  <a:pt x="13" y="7"/>
                </a:moveTo>
                <a:lnTo>
                  <a:pt x="13" y="0"/>
                </a:lnTo>
                <a:lnTo>
                  <a:pt x="0" y="7"/>
                </a:lnTo>
                <a:lnTo>
                  <a:pt x="0" y="14"/>
                </a:lnTo>
                <a:lnTo>
                  <a:pt x="13"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61" name="Freeform 177"/>
          <p:cNvSpPr>
            <a:spLocks/>
          </p:cNvSpPr>
          <p:nvPr/>
        </p:nvSpPr>
        <p:spPr bwMode="auto">
          <a:xfrm>
            <a:off x="7023100" y="5800725"/>
            <a:ext cx="33338" cy="22225"/>
          </a:xfrm>
          <a:custGeom>
            <a:avLst/>
            <a:gdLst>
              <a:gd name="T0" fmla="*/ 14 w 21"/>
              <a:gd name="T1" fmla="*/ 0 h 14"/>
              <a:gd name="T2" fmla="*/ 21 w 21"/>
              <a:gd name="T3" fmla="*/ 7 h 14"/>
              <a:gd name="T4" fmla="*/ 7 w 21"/>
              <a:gd name="T5" fmla="*/ 14 h 14"/>
              <a:gd name="T6" fmla="*/ 0 w 21"/>
              <a:gd name="T7" fmla="*/ 7 h 14"/>
              <a:gd name="T8" fmla="*/ 14 w 21"/>
              <a:gd name="T9" fmla="*/ 0 h 14"/>
            </a:gdLst>
            <a:ahLst/>
            <a:cxnLst>
              <a:cxn ang="0">
                <a:pos x="T0" y="T1"/>
              </a:cxn>
              <a:cxn ang="0">
                <a:pos x="T2" y="T3"/>
              </a:cxn>
              <a:cxn ang="0">
                <a:pos x="T4" y="T5"/>
              </a:cxn>
              <a:cxn ang="0">
                <a:pos x="T6" y="T7"/>
              </a:cxn>
              <a:cxn ang="0">
                <a:pos x="T8" y="T9"/>
              </a:cxn>
            </a:cxnLst>
            <a:rect l="0" t="0" r="r" b="b"/>
            <a:pathLst>
              <a:path w="21" h="14">
                <a:moveTo>
                  <a:pt x="14" y="0"/>
                </a:moveTo>
                <a:lnTo>
                  <a:pt x="21" y="7"/>
                </a:lnTo>
                <a:lnTo>
                  <a:pt x="7" y="14"/>
                </a:lnTo>
                <a:lnTo>
                  <a:pt x="0" y="7"/>
                </a:lnTo>
                <a:lnTo>
                  <a:pt x="1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62" name="Freeform 178"/>
          <p:cNvSpPr>
            <a:spLocks/>
          </p:cNvSpPr>
          <p:nvPr/>
        </p:nvSpPr>
        <p:spPr bwMode="auto">
          <a:xfrm>
            <a:off x="6794500" y="5319713"/>
            <a:ext cx="250825" cy="492125"/>
          </a:xfrm>
          <a:custGeom>
            <a:avLst/>
            <a:gdLst>
              <a:gd name="T0" fmla="*/ 13 w 158"/>
              <a:gd name="T1" fmla="*/ 0 h 310"/>
              <a:gd name="T2" fmla="*/ 0 w 158"/>
              <a:gd name="T3" fmla="*/ 7 h 310"/>
              <a:gd name="T4" fmla="*/ 144 w 158"/>
              <a:gd name="T5" fmla="*/ 310 h 310"/>
              <a:gd name="T6" fmla="*/ 158 w 158"/>
              <a:gd name="T7" fmla="*/ 303 h 310"/>
              <a:gd name="T8" fmla="*/ 13 w 158"/>
              <a:gd name="T9" fmla="*/ 0 h 310"/>
            </a:gdLst>
            <a:ahLst/>
            <a:cxnLst>
              <a:cxn ang="0">
                <a:pos x="T0" y="T1"/>
              </a:cxn>
              <a:cxn ang="0">
                <a:pos x="T2" y="T3"/>
              </a:cxn>
              <a:cxn ang="0">
                <a:pos x="T4" y="T5"/>
              </a:cxn>
              <a:cxn ang="0">
                <a:pos x="T6" y="T7"/>
              </a:cxn>
              <a:cxn ang="0">
                <a:pos x="T8" y="T9"/>
              </a:cxn>
            </a:cxnLst>
            <a:rect l="0" t="0" r="r" b="b"/>
            <a:pathLst>
              <a:path w="158" h="310">
                <a:moveTo>
                  <a:pt x="13" y="0"/>
                </a:moveTo>
                <a:lnTo>
                  <a:pt x="0" y="7"/>
                </a:lnTo>
                <a:lnTo>
                  <a:pt x="144" y="310"/>
                </a:lnTo>
                <a:lnTo>
                  <a:pt x="158" y="303"/>
                </a:lnTo>
                <a:lnTo>
                  <a:pt x="13"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63" name="Rectangle 179"/>
          <p:cNvSpPr>
            <a:spLocks noChangeArrowheads="1"/>
          </p:cNvSpPr>
          <p:nvPr/>
        </p:nvSpPr>
        <p:spPr bwMode="auto">
          <a:xfrm>
            <a:off x="6443663" y="5680075"/>
            <a:ext cx="241300"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164" name="Rectangle 180"/>
          <p:cNvSpPr>
            <a:spLocks noChangeArrowheads="1"/>
          </p:cNvSpPr>
          <p:nvPr/>
        </p:nvSpPr>
        <p:spPr bwMode="auto">
          <a:xfrm>
            <a:off x="6443663" y="5680075"/>
            <a:ext cx="241300" cy="241300"/>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65" name="Rectangle 181"/>
          <p:cNvSpPr>
            <a:spLocks noChangeArrowheads="1"/>
          </p:cNvSpPr>
          <p:nvPr/>
        </p:nvSpPr>
        <p:spPr bwMode="auto">
          <a:xfrm>
            <a:off x="6924675" y="5680075"/>
            <a:ext cx="241300" cy="2413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98166" name="Rectangle 182"/>
          <p:cNvSpPr>
            <a:spLocks noChangeArrowheads="1"/>
          </p:cNvSpPr>
          <p:nvPr/>
        </p:nvSpPr>
        <p:spPr bwMode="auto">
          <a:xfrm>
            <a:off x="6924675" y="5680075"/>
            <a:ext cx="241300" cy="241300"/>
          </a:xfrm>
          <a:prstGeom prst="rect">
            <a:avLst/>
          </a:prstGeom>
          <a:noFill/>
          <a:ln w="22225">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67" name="Oval 183"/>
          <p:cNvSpPr>
            <a:spLocks noChangeArrowheads="1"/>
          </p:cNvSpPr>
          <p:nvPr/>
        </p:nvSpPr>
        <p:spPr bwMode="auto">
          <a:xfrm>
            <a:off x="6618288" y="5145088"/>
            <a:ext cx="361950" cy="360362"/>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298168" name="Oval 184"/>
          <p:cNvSpPr>
            <a:spLocks noChangeArrowheads="1"/>
          </p:cNvSpPr>
          <p:nvPr/>
        </p:nvSpPr>
        <p:spPr bwMode="auto">
          <a:xfrm>
            <a:off x="6619875" y="5145088"/>
            <a:ext cx="360363" cy="360362"/>
          </a:xfrm>
          <a:prstGeom prst="ellipse">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298169" name="Rectangle 185"/>
          <p:cNvSpPr>
            <a:spLocks noChangeArrowheads="1"/>
          </p:cNvSpPr>
          <p:nvPr/>
        </p:nvSpPr>
        <p:spPr bwMode="auto">
          <a:xfrm>
            <a:off x="6707188" y="5243513"/>
            <a:ext cx="295275"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54</a:t>
            </a:r>
            <a:endParaRPr lang="en-US" sz="2400">
              <a:latin typeface="Tahoma" pitchFamily="34" charset="0"/>
            </a:endParaRPr>
          </a:p>
        </p:txBody>
      </p:sp>
      <p:sp>
        <p:nvSpPr>
          <p:cNvPr id="298170" name="Rectangle 186"/>
          <p:cNvSpPr>
            <a:spLocks noChangeArrowheads="1"/>
          </p:cNvSpPr>
          <p:nvPr/>
        </p:nvSpPr>
        <p:spPr bwMode="auto">
          <a:xfrm>
            <a:off x="6969125" y="4981575"/>
            <a:ext cx="196850" cy="250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500">
                <a:solidFill>
                  <a:srgbClr val="000000"/>
                </a:solidFill>
                <a:latin typeface="Times" pitchFamily="18" charset="0"/>
              </a:rPr>
              <a:t>1</a:t>
            </a:r>
            <a:endParaRPr lang="en-US" sz="2400">
              <a:latin typeface="Tahoma" pitchFamily="34" charset="0"/>
            </a:endParaRPr>
          </a:p>
        </p:txBody>
      </p:sp>
      <p:sp>
        <p:nvSpPr>
          <p:cNvPr id="298171" name="Rectangle 187"/>
          <p:cNvSpPr>
            <a:spLocks noChangeArrowheads="1"/>
          </p:cNvSpPr>
          <p:nvPr/>
        </p:nvSpPr>
        <p:spPr bwMode="auto">
          <a:xfrm>
            <a:off x="5810250" y="6161088"/>
            <a:ext cx="2508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900" i="1">
                <a:solidFill>
                  <a:srgbClr val="000000"/>
                </a:solidFill>
                <a:latin typeface="Times" pitchFamily="18" charset="0"/>
              </a:rPr>
              <a:t>T</a:t>
            </a:r>
            <a:endParaRPr lang="en-US" sz="2400">
              <a:latin typeface="Tahoma" pitchFamily="34" charset="0"/>
            </a:endParaRPr>
          </a:p>
        </p:txBody>
      </p:sp>
      <p:sp>
        <p:nvSpPr>
          <p:cNvPr id="298172" name="Rectangle 188"/>
          <p:cNvSpPr>
            <a:spLocks noChangeArrowheads="1"/>
          </p:cNvSpPr>
          <p:nvPr/>
        </p:nvSpPr>
        <p:spPr bwMode="auto">
          <a:xfrm>
            <a:off x="5940425" y="6249988"/>
            <a:ext cx="2190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a:solidFill>
                  <a:srgbClr val="000000"/>
                </a:solidFill>
                <a:latin typeface="Times" pitchFamily="18" charset="0"/>
              </a:rPr>
              <a:t>0</a:t>
            </a:r>
            <a:endParaRPr lang="en-US" sz="2400">
              <a:latin typeface="Tahoma" pitchFamily="34" charset="0"/>
            </a:endParaRPr>
          </a:p>
        </p:txBody>
      </p:sp>
      <p:grpSp>
        <p:nvGrpSpPr>
          <p:cNvPr id="298173" name="Group 189"/>
          <p:cNvGrpSpPr>
            <a:grpSpLocks/>
          </p:cNvGrpSpPr>
          <p:nvPr/>
        </p:nvGrpSpPr>
        <p:grpSpPr bwMode="auto">
          <a:xfrm>
            <a:off x="6761163" y="6161088"/>
            <a:ext cx="361950" cy="361950"/>
            <a:chOff x="4259" y="3881"/>
            <a:chExt cx="228" cy="228"/>
          </a:xfrm>
        </p:grpSpPr>
        <p:sp>
          <p:nvSpPr>
            <p:cNvPr id="298174" name="Rectangle 190"/>
            <p:cNvSpPr>
              <a:spLocks noChangeArrowheads="1"/>
            </p:cNvSpPr>
            <p:nvPr/>
          </p:nvSpPr>
          <p:spPr bwMode="auto">
            <a:xfrm>
              <a:off x="4259" y="3881"/>
              <a:ext cx="158" cy="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900" i="1">
                  <a:solidFill>
                    <a:srgbClr val="000000"/>
                  </a:solidFill>
                  <a:latin typeface="Times" pitchFamily="18" charset="0"/>
                </a:rPr>
                <a:t>T</a:t>
              </a:r>
              <a:endParaRPr lang="en-US" sz="2400">
                <a:latin typeface="Tahoma" pitchFamily="34" charset="0"/>
              </a:endParaRPr>
            </a:p>
          </p:txBody>
        </p:sp>
        <p:sp>
          <p:nvSpPr>
            <p:cNvPr id="298175" name="Rectangle 191"/>
            <p:cNvSpPr>
              <a:spLocks noChangeArrowheads="1"/>
            </p:cNvSpPr>
            <p:nvPr/>
          </p:nvSpPr>
          <p:spPr bwMode="auto">
            <a:xfrm>
              <a:off x="4349" y="3937"/>
              <a:ext cx="138" cy="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a:solidFill>
                    <a:srgbClr val="000000"/>
                  </a:solidFill>
                  <a:latin typeface="Times" pitchFamily="18" charset="0"/>
                </a:rPr>
                <a:t>1</a:t>
              </a:r>
              <a:endParaRPr lang="en-US" sz="2400">
                <a:latin typeface="Tahoma" pitchFamily="34" charset="0"/>
              </a:endParaRPr>
            </a:p>
          </p:txBody>
        </p:sp>
      </p:grpSp>
      <p:sp>
        <p:nvSpPr>
          <p:cNvPr id="298176" name="Rectangle 192"/>
          <p:cNvSpPr>
            <a:spLocks noChangeArrowheads="1"/>
          </p:cNvSpPr>
          <p:nvPr/>
        </p:nvSpPr>
        <p:spPr bwMode="auto">
          <a:xfrm>
            <a:off x="7613650" y="5626100"/>
            <a:ext cx="2508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900" i="1">
                <a:solidFill>
                  <a:srgbClr val="000000"/>
                </a:solidFill>
                <a:latin typeface="Times" pitchFamily="18" charset="0"/>
              </a:rPr>
              <a:t>T</a:t>
            </a:r>
            <a:endParaRPr lang="en-US" sz="2400">
              <a:latin typeface="Tahoma" pitchFamily="34" charset="0"/>
            </a:endParaRPr>
          </a:p>
        </p:txBody>
      </p:sp>
      <p:sp>
        <p:nvSpPr>
          <p:cNvPr id="298177" name="Rectangle 193"/>
          <p:cNvSpPr>
            <a:spLocks noChangeArrowheads="1"/>
          </p:cNvSpPr>
          <p:nvPr/>
        </p:nvSpPr>
        <p:spPr bwMode="auto">
          <a:xfrm>
            <a:off x="7756525" y="5713413"/>
            <a:ext cx="2190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a:solidFill>
                  <a:srgbClr val="000000"/>
                </a:solidFill>
                <a:latin typeface="Times" pitchFamily="18" charset="0"/>
              </a:rPr>
              <a:t>2</a:t>
            </a:r>
            <a:endParaRPr lang="en-US" sz="2400">
              <a:latin typeface="Tahoma" pitchFamily="34" charset="0"/>
            </a:endParaRPr>
          </a:p>
        </p:txBody>
      </p:sp>
      <p:sp>
        <p:nvSpPr>
          <p:cNvPr id="298178" name="Rectangle 194"/>
          <p:cNvSpPr>
            <a:spLocks noChangeArrowheads="1"/>
          </p:cNvSpPr>
          <p:nvPr/>
        </p:nvSpPr>
        <p:spPr bwMode="auto">
          <a:xfrm>
            <a:off x="8313738" y="6161088"/>
            <a:ext cx="2508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900" i="1">
                <a:solidFill>
                  <a:srgbClr val="000000"/>
                </a:solidFill>
                <a:latin typeface="Times" pitchFamily="18" charset="0"/>
              </a:rPr>
              <a:t>T</a:t>
            </a:r>
            <a:endParaRPr lang="en-US" sz="2400">
              <a:latin typeface="Tahoma" pitchFamily="34" charset="0"/>
            </a:endParaRPr>
          </a:p>
        </p:txBody>
      </p:sp>
      <p:sp>
        <p:nvSpPr>
          <p:cNvPr id="298179" name="Rectangle 195"/>
          <p:cNvSpPr>
            <a:spLocks noChangeArrowheads="1"/>
          </p:cNvSpPr>
          <p:nvPr/>
        </p:nvSpPr>
        <p:spPr bwMode="auto">
          <a:xfrm>
            <a:off x="8445500" y="6249988"/>
            <a:ext cx="2190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a:solidFill>
                  <a:srgbClr val="000000"/>
                </a:solidFill>
                <a:latin typeface="Times" pitchFamily="18" charset="0"/>
              </a:rPr>
              <a:t>3</a:t>
            </a:r>
            <a:endParaRPr lang="en-US" sz="2400">
              <a:latin typeface="Tahoma" pitchFamily="34" charset="0"/>
            </a:endParaRPr>
          </a:p>
        </p:txBody>
      </p:sp>
      <p:sp>
        <p:nvSpPr>
          <p:cNvPr id="298180" name="Rectangle 196"/>
          <p:cNvSpPr>
            <a:spLocks noChangeArrowheads="1"/>
          </p:cNvSpPr>
          <p:nvPr/>
        </p:nvSpPr>
        <p:spPr bwMode="auto">
          <a:xfrm>
            <a:off x="7439025" y="3975100"/>
            <a:ext cx="230188"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900" i="1">
                <a:solidFill>
                  <a:srgbClr val="FF0000"/>
                </a:solidFill>
                <a:latin typeface="Times" pitchFamily="18" charset="0"/>
              </a:rPr>
              <a:t>x</a:t>
            </a:r>
            <a:endParaRPr lang="en-US" sz="2400">
              <a:latin typeface="Tahoma" pitchFamily="34" charset="0"/>
            </a:endParaRPr>
          </a:p>
        </p:txBody>
      </p:sp>
      <p:sp>
        <p:nvSpPr>
          <p:cNvPr id="298181" name="Rectangle 197"/>
          <p:cNvSpPr>
            <a:spLocks noChangeArrowheads="1"/>
          </p:cNvSpPr>
          <p:nvPr/>
        </p:nvSpPr>
        <p:spPr bwMode="auto">
          <a:xfrm>
            <a:off x="6465888" y="4400550"/>
            <a:ext cx="2301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900" i="1">
                <a:solidFill>
                  <a:srgbClr val="FF0000"/>
                </a:solidFill>
                <a:latin typeface="Times" pitchFamily="18" charset="0"/>
              </a:rPr>
              <a:t>y</a:t>
            </a:r>
            <a:endParaRPr lang="en-US" sz="2400">
              <a:latin typeface="Tahoma" pitchFamily="34" charset="0"/>
            </a:endParaRPr>
          </a:p>
        </p:txBody>
      </p:sp>
      <p:sp>
        <p:nvSpPr>
          <p:cNvPr id="298182" name="Rectangle 198"/>
          <p:cNvSpPr>
            <a:spLocks noChangeArrowheads="1"/>
          </p:cNvSpPr>
          <p:nvPr/>
        </p:nvSpPr>
        <p:spPr bwMode="auto">
          <a:xfrm>
            <a:off x="7843838" y="4346575"/>
            <a:ext cx="21907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900" i="1">
                <a:solidFill>
                  <a:srgbClr val="FF0000"/>
                </a:solidFill>
                <a:latin typeface="Times" pitchFamily="18" charset="0"/>
              </a:rPr>
              <a:t>z</a:t>
            </a:r>
            <a:endParaRPr lang="en-US" sz="2400">
              <a:latin typeface="Tahoma" pitchFamily="34" charset="0"/>
            </a:endParaRPr>
          </a:p>
        </p:txBody>
      </p:sp>
      <p:sp>
        <p:nvSpPr>
          <p:cNvPr id="298183" name="Text Box 199"/>
          <p:cNvSpPr txBox="1">
            <a:spLocks noChangeArrowheads="1"/>
          </p:cNvSpPr>
          <p:nvPr/>
        </p:nvSpPr>
        <p:spPr bwMode="auto">
          <a:xfrm>
            <a:off x="762000" y="31242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24A63E"/>
                </a:solidFill>
                <a:latin typeface="Times New Roman" pitchFamily="18" charset="0"/>
              </a:rPr>
              <a:t>unbalanced...</a:t>
            </a:r>
          </a:p>
        </p:txBody>
      </p:sp>
      <p:sp>
        <p:nvSpPr>
          <p:cNvPr id="298184" name="Text Box 200"/>
          <p:cNvSpPr txBox="1">
            <a:spLocks noChangeArrowheads="1"/>
          </p:cNvSpPr>
          <p:nvPr/>
        </p:nvSpPr>
        <p:spPr bwMode="auto">
          <a:xfrm>
            <a:off x="2514600" y="5105400"/>
            <a:ext cx="2209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sz="2400">
                <a:solidFill>
                  <a:srgbClr val="24A63E"/>
                </a:solidFill>
                <a:latin typeface="Times New Roman" pitchFamily="18" charset="0"/>
              </a:rPr>
              <a:t>...balanced</a:t>
            </a:r>
          </a:p>
        </p:txBody>
      </p:sp>
      <p:pic>
        <p:nvPicPr>
          <p:cNvPr id="298185" name="Picture 20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91200" y="3865563"/>
            <a:ext cx="2819400" cy="1312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298186" name="Group 202"/>
          <p:cNvGrpSpPr>
            <a:grpSpLocks/>
          </p:cNvGrpSpPr>
          <p:nvPr/>
        </p:nvGrpSpPr>
        <p:grpSpPr bwMode="auto">
          <a:xfrm>
            <a:off x="3714750" y="3705225"/>
            <a:ext cx="246063" cy="333375"/>
            <a:chOff x="4295" y="3881"/>
            <a:chExt cx="155" cy="210"/>
          </a:xfrm>
        </p:grpSpPr>
        <p:sp>
          <p:nvSpPr>
            <p:cNvPr id="298187" name="Rectangle 203"/>
            <p:cNvSpPr>
              <a:spLocks noChangeArrowheads="1"/>
            </p:cNvSpPr>
            <p:nvPr/>
          </p:nvSpPr>
          <p:spPr bwMode="auto">
            <a:xfrm>
              <a:off x="4295" y="3881"/>
              <a:ext cx="85" cy="1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900" i="1">
                  <a:solidFill>
                    <a:srgbClr val="000000"/>
                  </a:solidFill>
                  <a:latin typeface="Times" pitchFamily="18" charset="0"/>
                </a:rPr>
                <a:t>T</a:t>
              </a:r>
              <a:endParaRPr lang="en-US" sz="2400">
                <a:latin typeface="Tahoma" pitchFamily="34" charset="0"/>
              </a:endParaRPr>
            </a:p>
          </p:txBody>
        </p:sp>
        <p:sp>
          <p:nvSpPr>
            <p:cNvPr id="298188" name="Rectangle 204"/>
            <p:cNvSpPr>
              <a:spLocks noChangeArrowheads="1"/>
            </p:cNvSpPr>
            <p:nvPr/>
          </p:nvSpPr>
          <p:spPr bwMode="auto">
            <a:xfrm>
              <a:off x="4386" y="3937"/>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sz="1600">
                  <a:solidFill>
                    <a:srgbClr val="000000"/>
                  </a:solidFill>
                  <a:latin typeface="Times" pitchFamily="18" charset="0"/>
                </a:rPr>
                <a:t>1</a:t>
              </a:r>
              <a:endParaRPr lang="en-US" sz="2400">
                <a:latin typeface="Tahoma" pitchFamily="34" charset="0"/>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Data Structures and Algorithms</a:t>
            </a:r>
          </a:p>
        </p:txBody>
      </p:sp>
      <p:sp>
        <p:nvSpPr>
          <p:cNvPr id="7" name="Slide Number Placeholder 6"/>
          <p:cNvSpPr>
            <a:spLocks noGrp="1"/>
          </p:cNvSpPr>
          <p:nvPr>
            <p:ph type="sldNum" sz="quarter" idx="12"/>
          </p:nvPr>
        </p:nvSpPr>
        <p:spPr/>
        <p:txBody>
          <a:bodyPr/>
          <a:lstStyle/>
          <a:p>
            <a:fld id="{81BB6316-AF01-41B4-B4C1-E33D203AC9B9}" type="slidenum">
              <a:rPr lang="en-US"/>
              <a:pPr/>
              <a:t>30</a:t>
            </a:fld>
            <a:endParaRPr lang="en-US"/>
          </a:p>
        </p:txBody>
      </p:sp>
      <p:sp>
        <p:nvSpPr>
          <p:cNvPr id="299010" name="Rectangle 2"/>
          <p:cNvSpPr>
            <a:spLocks noGrp="1" noChangeArrowheads="1"/>
          </p:cNvSpPr>
          <p:nvPr>
            <p:ph type="title"/>
          </p:nvPr>
        </p:nvSpPr>
        <p:spPr>
          <a:xfrm>
            <a:off x="1141413" y="274638"/>
            <a:ext cx="6797675" cy="1143000"/>
          </a:xfrm>
        </p:spPr>
        <p:txBody>
          <a:bodyPr/>
          <a:lstStyle/>
          <a:p>
            <a:r>
              <a:rPr lang="en-US" altLang="en-US"/>
              <a:t>Restructuring (as Single Rotations)</a:t>
            </a:r>
          </a:p>
        </p:txBody>
      </p:sp>
      <p:sp>
        <p:nvSpPr>
          <p:cNvPr id="299011" name="Rectangle 3"/>
          <p:cNvSpPr>
            <a:spLocks noGrp="1" noChangeArrowheads="1"/>
          </p:cNvSpPr>
          <p:nvPr>
            <p:ph type="body" sz="half" idx="1"/>
          </p:nvPr>
        </p:nvSpPr>
        <p:spPr>
          <a:xfrm>
            <a:off x="685800" y="1447800"/>
            <a:ext cx="8382000" cy="914400"/>
          </a:xfrm>
        </p:spPr>
        <p:txBody>
          <a:bodyPr/>
          <a:lstStyle/>
          <a:p>
            <a:pPr>
              <a:buClr>
                <a:schemeClr val="tx1"/>
              </a:buClr>
            </a:pPr>
            <a:r>
              <a:rPr lang="en-US" altLang="en-US" sz="2000"/>
              <a:t>Single Rotations:</a:t>
            </a:r>
            <a:endParaRPr lang="en-US" altLang="en-US" sz="2400"/>
          </a:p>
        </p:txBody>
      </p:sp>
      <p:pic>
        <p:nvPicPr>
          <p:cNvPr id="299012"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1022350" y="1768475"/>
            <a:ext cx="6777038" cy="2430463"/>
          </a:xfrm>
          <a:noFill/>
          <a:ln/>
        </p:spPr>
      </p:pic>
      <p:pic>
        <p:nvPicPr>
          <p:cNvPr id="299013"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495800"/>
            <a:ext cx="6413500" cy="209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p:txBody>
          <a:bodyPr/>
          <a:lstStyle/>
          <a:p>
            <a:r>
              <a:rPr lang="en-US"/>
              <a:t>Data Structures and Algorithms</a:t>
            </a:r>
          </a:p>
        </p:txBody>
      </p:sp>
      <p:sp>
        <p:nvSpPr>
          <p:cNvPr id="7" name="Slide Number Placeholder 6"/>
          <p:cNvSpPr>
            <a:spLocks noGrp="1"/>
          </p:cNvSpPr>
          <p:nvPr>
            <p:ph type="sldNum" sz="quarter" idx="12"/>
          </p:nvPr>
        </p:nvSpPr>
        <p:spPr/>
        <p:txBody>
          <a:bodyPr/>
          <a:lstStyle/>
          <a:p>
            <a:fld id="{2095201F-B315-40AD-9A5F-649DDAE1322E}" type="slidenum">
              <a:rPr lang="en-US"/>
              <a:pPr/>
              <a:t>31</a:t>
            </a:fld>
            <a:endParaRPr lang="en-US"/>
          </a:p>
        </p:txBody>
      </p:sp>
      <p:sp>
        <p:nvSpPr>
          <p:cNvPr id="300034" name="Rectangle 2"/>
          <p:cNvSpPr>
            <a:spLocks noGrp="1" noChangeArrowheads="1"/>
          </p:cNvSpPr>
          <p:nvPr>
            <p:ph type="title"/>
          </p:nvPr>
        </p:nvSpPr>
        <p:spPr/>
        <p:txBody>
          <a:bodyPr/>
          <a:lstStyle/>
          <a:p>
            <a:r>
              <a:rPr lang="en-US" altLang="en-US"/>
              <a:t>Restructuring (as Double Rotations)</a:t>
            </a:r>
          </a:p>
        </p:txBody>
      </p:sp>
      <p:sp>
        <p:nvSpPr>
          <p:cNvPr id="300035" name="Rectangle 3"/>
          <p:cNvSpPr>
            <a:spLocks noGrp="1" noChangeArrowheads="1"/>
          </p:cNvSpPr>
          <p:nvPr>
            <p:ph type="body" sz="half" idx="1"/>
          </p:nvPr>
        </p:nvSpPr>
        <p:spPr>
          <a:xfrm>
            <a:off x="685800" y="1524000"/>
            <a:ext cx="3810000" cy="609600"/>
          </a:xfrm>
        </p:spPr>
        <p:txBody>
          <a:bodyPr/>
          <a:lstStyle/>
          <a:p>
            <a:r>
              <a:rPr lang="en-US" altLang="en-US" sz="2000"/>
              <a:t>double rotations:</a:t>
            </a:r>
            <a:endParaRPr lang="en-US" altLang="en-US" sz="2400"/>
          </a:p>
        </p:txBody>
      </p:sp>
      <p:pic>
        <p:nvPicPr>
          <p:cNvPr id="300036"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860425" y="1851025"/>
            <a:ext cx="6858000" cy="2430463"/>
          </a:xfrm>
          <a:noFill/>
          <a:ln/>
        </p:spPr>
      </p:pic>
      <p:pic>
        <p:nvPicPr>
          <p:cNvPr id="30003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4191000"/>
            <a:ext cx="6438900" cy="219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 name="Footer Placeholder 5"/>
          <p:cNvSpPr>
            <a:spLocks noGrp="1"/>
          </p:cNvSpPr>
          <p:nvPr>
            <p:ph type="ftr" sz="quarter" idx="11"/>
          </p:nvPr>
        </p:nvSpPr>
        <p:spPr/>
        <p:txBody>
          <a:bodyPr/>
          <a:lstStyle/>
          <a:p>
            <a:r>
              <a:rPr lang="en-US"/>
              <a:t>Data Structures and Algorithms</a:t>
            </a:r>
          </a:p>
        </p:txBody>
      </p:sp>
      <p:sp>
        <p:nvSpPr>
          <p:cNvPr id="79" name="Slide Number Placeholder 6"/>
          <p:cNvSpPr>
            <a:spLocks noGrp="1"/>
          </p:cNvSpPr>
          <p:nvPr>
            <p:ph type="sldNum" sz="quarter" idx="12"/>
          </p:nvPr>
        </p:nvSpPr>
        <p:spPr/>
        <p:txBody>
          <a:bodyPr/>
          <a:lstStyle/>
          <a:p>
            <a:fld id="{C6BD954B-DBB5-4061-AC4C-B2148D238764}" type="slidenum">
              <a:rPr lang="en-US"/>
              <a:pPr/>
              <a:t>32</a:t>
            </a:fld>
            <a:endParaRPr lang="en-US"/>
          </a:p>
        </p:txBody>
      </p:sp>
      <p:sp>
        <p:nvSpPr>
          <p:cNvPr id="301058" name="Rectangle 2"/>
          <p:cNvSpPr>
            <a:spLocks noGrp="1" noChangeArrowheads="1"/>
          </p:cNvSpPr>
          <p:nvPr>
            <p:ph type="title"/>
          </p:nvPr>
        </p:nvSpPr>
        <p:spPr>
          <a:xfrm>
            <a:off x="1447800" y="381000"/>
            <a:ext cx="6934200" cy="1143000"/>
          </a:xfrm>
        </p:spPr>
        <p:txBody>
          <a:bodyPr/>
          <a:lstStyle/>
          <a:p>
            <a:r>
              <a:rPr lang="en-US" altLang="en-US"/>
              <a:t>Removal in an AVL Tree</a:t>
            </a:r>
          </a:p>
        </p:txBody>
      </p:sp>
      <p:sp>
        <p:nvSpPr>
          <p:cNvPr id="301059" name="Rectangle 3"/>
          <p:cNvSpPr>
            <a:spLocks noGrp="1" noChangeArrowheads="1"/>
          </p:cNvSpPr>
          <p:nvPr>
            <p:ph type="body" sz="half" idx="1"/>
          </p:nvPr>
        </p:nvSpPr>
        <p:spPr>
          <a:xfrm>
            <a:off x="838200" y="1676400"/>
            <a:ext cx="7924800" cy="1219200"/>
          </a:xfrm>
        </p:spPr>
        <p:txBody>
          <a:bodyPr/>
          <a:lstStyle/>
          <a:p>
            <a:pPr>
              <a:lnSpc>
                <a:spcPct val="90000"/>
              </a:lnSpc>
            </a:pPr>
            <a:r>
              <a:rPr lang="en-US" altLang="en-US" sz="2000"/>
              <a:t>Removal begins as in a binary search tree, which means the node removed will become an empty external node. Its parent, w, may cause an imbalance.</a:t>
            </a:r>
          </a:p>
          <a:p>
            <a:pPr>
              <a:lnSpc>
                <a:spcPct val="90000"/>
              </a:lnSpc>
            </a:pPr>
            <a:r>
              <a:rPr lang="en-US" altLang="en-US" sz="2000"/>
              <a:t>Example: </a:t>
            </a:r>
          </a:p>
        </p:txBody>
      </p:sp>
      <p:grpSp>
        <p:nvGrpSpPr>
          <p:cNvPr id="301060" name="Group 4"/>
          <p:cNvGrpSpPr>
            <a:grpSpLocks/>
          </p:cNvGrpSpPr>
          <p:nvPr/>
        </p:nvGrpSpPr>
        <p:grpSpPr bwMode="auto">
          <a:xfrm>
            <a:off x="2147888" y="2927350"/>
            <a:ext cx="2743200" cy="2755900"/>
            <a:chOff x="2112" y="1824"/>
            <a:chExt cx="1728" cy="1736"/>
          </a:xfrm>
        </p:grpSpPr>
        <p:sp>
          <p:nvSpPr>
            <p:cNvPr id="301061" name="Oval 5"/>
            <p:cNvSpPr>
              <a:spLocks noChangeArrowheads="1"/>
            </p:cNvSpPr>
            <p:nvPr/>
          </p:nvSpPr>
          <p:spPr bwMode="auto">
            <a:xfrm>
              <a:off x="2686" y="1824"/>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44</a:t>
              </a:r>
            </a:p>
          </p:txBody>
        </p:sp>
        <p:sp>
          <p:nvSpPr>
            <p:cNvPr id="301062" name="Oval 6"/>
            <p:cNvSpPr>
              <a:spLocks noChangeArrowheads="1"/>
            </p:cNvSpPr>
            <p:nvPr/>
          </p:nvSpPr>
          <p:spPr bwMode="auto">
            <a:xfrm>
              <a:off x="2164" y="2208"/>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17</a:t>
              </a:r>
            </a:p>
          </p:txBody>
        </p:sp>
        <p:sp>
          <p:nvSpPr>
            <p:cNvPr id="301063" name="Oval 7"/>
            <p:cNvSpPr>
              <a:spLocks noChangeArrowheads="1"/>
            </p:cNvSpPr>
            <p:nvPr/>
          </p:nvSpPr>
          <p:spPr bwMode="auto">
            <a:xfrm>
              <a:off x="3416" y="2640"/>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78</a:t>
              </a:r>
            </a:p>
          </p:txBody>
        </p:sp>
        <p:sp>
          <p:nvSpPr>
            <p:cNvPr id="301064" name="Oval 8"/>
            <p:cNvSpPr>
              <a:spLocks noChangeArrowheads="1"/>
            </p:cNvSpPr>
            <p:nvPr/>
          </p:nvSpPr>
          <p:spPr bwMode="auto">
            <a:xfrm>
              <a:off x="2296" y="2640"/>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32</a:t>
              </a:r>
            </a:p>
          </p:txBody>
        </p:sp>
        <p:sp>
          <p:nvSpPr>
            <p:cNvPr id="301065" name="Oval 9"/>
            <p:cNvSpPr>
              <a:spLocks noChangeArrowheads="1"/>
            </p:cNvSpPr>
            <p:nvPr/>
          </p:nvSpPr>
          <p:spPr bwMode="auto">
            <a:xfrm>
              <a:off x="2908" y="2640"/>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50</a:t>
              </a:r>
            </a:p>
          </p:txBody>
        </p:sp>
        <p:sp>
          <p:nvSpPr>
            <p:cNvPr id="301066" name="Oval 10"/>
            <p:cNvSpPr>
              <a:spLocks noChangeArrowheads="1"/>
            </p:cNvSpPr>
            <p:nvPr/>
          </p:nvSpPr>
          <p:spPr bwMode="auto">
            <a:xfrm>
              <a:off x="3544" y="3064"/>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88</a:t>
              </a:r>
            </a:p>
          </p:txBody>
        </p:sp>
        <p:sp>
          <p:nvSpPr>
            <p:cNvPr id="301067" name="Oval 11"/>
            <p:cNvSpPr>
              <a:spLocks noChangeArrowheads="1"/>
            </p:cNvSpPr>
            <p:nvPr/>
          </p:nvSpPr>
          <p:spPr bwMode="auto">
            <a:xfrm>
              <a:off x="2686" y="3072"/>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48</a:t>
              </a:r>
            </a:p>
          </p:txBody>
        </p:sp>
        <p:sp>
          <p:nvSpPr>
            <p:cNvPr id="301068" name="Oval 12"/>
            <p:cNvSpPr>
              <a:spLocks noChangeArrowheads="1"/>
            </p:cNvSpPr>
            <p:nvPr/>
          </p:nvSpPr>
          <p:spPr bwMode="auto">
            <a:xfrm>
              <a:off x="3166" y="2208"/>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62</a:t>
              </a:r>
            </a:p>
          </p:txBody>
        </p:sp>
        <p:sp>
          <p:nvSpPr>
            <p:cNvPr id="301069" name="Rectangle 13"/>
            <p:cNvSpPr>
              <a:spLocks noChangeArrowheads="1"/>
            </p:cNvSpPr>
            <p:nvPr/>
          </p:nvSpPr>
          <p:spPr bwMode="auto">
            <a:xfrm>
              <a:off x="2112" y="2600"/>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070" name="Rectangle 14"/>
            <p:cNvSpPr>
              <a:spLocks noChangeArrowheads="1"/>
            </p:cNvSpPr>
            <p:nvPr/>
          </p:nvSpPr>
          <p:spPr bwMode="auto">
            <a:xfrm>
              <a:off x="2304" y="3032"/>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071" name="Rectangle 15"/>
            <p:cNvSpPr>
              <a:spLocks noChangeArrowheads="1"/>
            </p:cNvSpPr>
            <p:nvPr/>
          </p:nvSpPr>
          <p:spPr bwMode="auto">
            <a:xfrm>
              <a:off x="2496" y="3032"/>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072" name="Rectangle 16"/>
            <p:cNvSpPr>
              <a:spLocks noChangeArrowheads="1"/>
            </p:cNvSpPr>
            <p:nvPr/>
          </p:nvSpPr>
          <p:spPr bwMode="auto">
            <a:xfrm>
              <a:off x="2688" y="3464"/>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073" name="Rectangle 17"/>
            <p:cNvSpPr>
              <a:spLocks noChangeArrowheads="1"/>
            </p:cNvSpPr>
            <p:nvPr/>
          </p:nvSpPr>
          <p:spPr bwMode="auto">
            <a:xfrm>
              <a:off x="2880" y="3464"/>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074" name="Rectangle 18"/>
            <p:cNvSpPr>
              <a:spLocks noChangeArrowheads="1"/>
            </p:cNvSpPr>
            <p:nvPr/>
          </p:nvSpPr>
          <p:spPr bwMode="auto">
            <a:xfrm>
              <a:off x="3360" y="3072"/>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075" name="Rectangle 19"/>
            <p:cNvSpPr>
              <a:spLocks noChangeArrowheads="1"/>
            </p:cNvSpPr>
            <p:nvPr/>
          </p:nvSpPr>
          <p:spPr bwMode="auto">
            <a:xfrm>
              <a:off x="3552" y="3456"/>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076" name="Rectangle 20"/>
            <p:cNvSpPr>
              <a:spLocks noChangeArrowheads="1"/>
            </p:cNvSpPr>
            <p:nvPr/>
          </p:nvSpPr>
          <p:spPr bwMode="auto">
            <a:xfrm>
              <a:off x="3744" y="3456"/>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301077" name="AutoShape 21"/>
            <p:cNvCxnSpPr>
              <a:cxnSpLocks noChangeShapeType="1"/>
              <a:stCxn id="301061" idx="4"/>
              <a:endCxn id="301062" idx="0"/>
            </p:cNvCxnSpPr>
            <p:nvPr/>
          </p:nvCxnSpPr>
          <p:spPr bwMode="auto">
            <a:xfrm flipH="1">
              <a:off x="2305" y="2078"/>
              <a:ext cx="522"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78" name="AutoShape 22"/>
            <p:cNvCxnSpPr>
              <a:cxnSpLocks noChangeShapeType="1"/>
              <a:stCxn id="301062" idx="4"/>
              <a:endCxn id="301069" idx="0"/>
            </p:cNvCxnSpPr>
            <p:nvPr/>
          </p:nvCxnSpPr>
          <p:spPr bwMode="auto">
            <a:xfrm flipH="1">
              <a:off x="2160" y="2462"/>
              <a:ext cx="14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79" name="AutoShape 23"/>
            <p:cNvCxnSpPr>
              <a:cxnSpLocks noChangeShapeType="1"/>
              <a:stCxn id="301062" idx="4"/>
              <a:endCxn id="301064" idx="0"/>
            </p:cNvCxnSpPr>
            <p:nvPr/>
          </p:nvCxnSpPr>
          <p:spPr bwMode="auto">
            <a:xfrm>
              <a:off x="2305" y="2462"/>
              <a:ext cx="13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0" name="AutoShape 24"/>
            <p:cNvCxnSpPr>
              <a:cxnSpLocks noChangeShapeType="1"/>
              <a:stCxn id="301061" idx="4"/>
              <a:endCxn id="301068" idx="0"/>
            </p:cNvCxnSpPr>
            <p:nvPr/>
          </p:nvCxnSpPr>
          <p:spPr bwMode="auto">
            <a:xfrm>
              <a:off x="2827" y="2078"/>
              <a:ext cx="480" cy="13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1" name="AutoShape 25"/>
            <p:cNvCxnSpPr>
              <a:cxnSpLocks noChangeShapeType="1"/>
              <a:stCxn id="301063" idx="0"/>
              <a:endCxn id="301068" idx="4"/>
            </p:cNvCxnSpPr>
            <p:nvPr/>
          </p:nvCxnSpPr>
          <p:spPr bwMode="auto">
            <a:xfrm flipH="1" flipV="1">
              <a:off x="3307" y="2462"/>
              <a:ext cx="250"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2" name="AutoShape 26"/>
            <p:cNvCxnSpPr>
              <a:cxnSpLocks noChangeShapeType="1"/>
              <a:stCxn id="301063" idx="4"/>
              <a:endCxn id="301066" idx="0"/>
            </p:cNvCxnSpPr>
            <p:nvPr/>
          </p:nvCxnSpPr>
          <p:spPr bwMode="auto">
            <a:xfrm>
              <a:off x="3557" y="2894"/>
              <a:ext cx="128" cy="170"/>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3" name="AutoShape 27"/>
            <p:cNvCxnSpPr>
              <a:cxnSpLocks noChangeShapeType="1"/>
              <a:stCxn id="301065" idx="4"/>
              <a:endCxn id="301067" idx="0"/>
            </p:cNvCxnSpPr>
            <p:nvPr/>
          </p:nvCxnSpPr>
          <p:spPr bwMode="auto">
            <a:xfrm flipH="1">
              <a:off x="2827" y="2894"/>
              <a:ext cx="222"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4" name="AutoShape 28"/>
            <p:cNvCxnSpPr>
              <a:cxnSpLocks noChangeShapeType="1"/>
              <a:stCxn id="301064" idx="4"/>
              <a:endCxn id="301070" idx="0"/>
            </p:cNvCxnSpPr>
            <p:nvPr/>
          </p:nvCxnSpPr>
          <p:spPr bwMode="auto">
            <a:xfrm flipH="1">
              <a:off x="2352" y="2894"/>
              <a:ext cx="8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5" name="AutoShape 29"/>
            <p:cNvCxnSpPr>
              <a:cxnSpLocks noChangeShapeType="1"/>
              <a:stCxn id="301064" idx="4"/>
              <a:endCxn id="301071" idx="0"/>
            </p:cNvCxnSpPr>
            <p:nvPr/>
          </p:nvCxnSpPr>
          <p:spPr bwMode="auto">
            <a:xfrm>
              <a:off x="2437" y="2894"/>
              <a:ext cx="107"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6" name="AutoShape 30"/>
            <p:cNvCxnSpPr>
              <a:cxnSpLocks noChangeShapeType="1"/>
              <a:stCxn id="301067" idx="4"/>
              <a:endCxn id="301072" idx="0"/>
            </p:cNvCxnSpPr>
            <p:nvPr/>
          </p:nvCxnSpPr>
          <p:spPr bwMode="auto">
            <a:xfrm flipH="1">
              <a:off x="2736" y="3326"/>
              <a:ext cx="9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7" name="AutoShape 31"/>
            <p:cNvCxnSpPr>
              <a:cxnSpLocks noChangeShapeType="1"/>
              <a:stCxn id="301067" idx="4"/>
              <a:endCxn id="301073" idx="0"/>
            </p:cNvCxnSpPr>
            <p:nvPr/>
          </p:nvCxnSpPr>
          <p:spPr bwMode="auto">
            <a:xfrm>
              <a:off x="2827" y="3326"/>
              <a:ext cx="10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8" name="AutoShape 32"/>
            <p:cNvCxnSpPr>
              <a:cxnSpLocks noChangeShapeType="1"/>
              <a:stCxn id="301065" idx="4"/>
              <a:endCxn id="301093" idx="0"/>
            </p:cNvCxnSpPr>
            <p:nvPr/>
          </p:nvCxnSpPr>
          <p:spPr bwMode="auto">
            <a:xfrm>
              <a:off x="3049" y="2894"/>
              <a:ext cx="124"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89" name="AutoShape 33"/>
            <p:cNvCxnSpPr>
              <a:cxnSpLocks noChangeShapeType="1"/>
              <a:stCxn id="301063" idx="4"/>
              <a:endCxn id="301074" idx="0"/>
            </p:cNvCxnSpPr>
            <p:nvPr/>
          </p:nvCxnSpPr>
          <p:spPr bwMode="auto">
            <a:xfrm flipH="1">
              <a:off x="3408" y="2894"/>
              <a:ext cx="149"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90" name="AutoShape 34"/>
            <p:cNvCxnSpPr>
              <a:cxnSpLocks noChangeShapeType="1"/>
              <a:stCxn id="301065" idx="0"/>
              <a:endCxn id="301068" idx="4"/>
            </p:cNvCxnSpPr>
            <p:nvPr/>
          </p:nvCxnSpPr>
          <p:spPr bwMode="auto">
            <a:xfrm flipV="1">
              <a:off x="3049" y="2462"/>
              <a:ext cx="258" cy="17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91" name="AutoShape 35"/>
            <p:cNvCxnSpPr>
              <a:cxnSpLocks noChangeShapeType="1"/>
              <a:stCxn id="301066" idx="4"/>
              <a:endCxn id="301075" idx="0"/>
            </p:cNvCxnSpPr>
            <p:nvPr/>
          </p:nvCxnSpPr>
          <p:spPr bwMode="auto">
            <a:xfrm flipH="1">
              <a:off x="3600" y="3318"/>
              <a:ext cx="85"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92" name="AutoShape 36"/>
            <p:cNvCxnSpPr>
              <a:cxnSpLocks noChangeShapeType="1"/>
              <a:stCxn id="301066" idx="4"/>
              <a:endCxn id="301076" idx="0"/>
            </p:cNvCxnSpPr>
            <p:nvPr/>
          </p:nvCxnSpPr>
          <p:spPr bwMode="auto">
            <a:xfrm>
              <a:off x="3685" y="3318"/>
              <a:ext cx="107"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1093" name="Oval 37"/>
            <p:cNvSpPr>
              <a:spLocks noChangeArrowheads="1"/>
            </p:cNvSpPr>
            <p:nvPr/>
          </p:nvSpPr>
          <p:spPr bwMode="auto">
            <a:xfrm>
              <a:off x="3032" y="3072"/>
              <a:ext cx="282" cy="254"/>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54</a:t>
              </a:r>
            </a:p>
          </p:txBody>
        </p:sp>
        <p:sp>
          <p:nvSpPr>
            <p:cNvPr id="301094" name="Rectangle 38"/>
            <p:cNvSpPr>
              <a:spLocks noChangeArrowheads="1"/>
            </p:cNvSpPr>
            <p:nvPr/>
          </p:nvSpPr>
          <p:spPr bwMode="auto">
            <a:xfrm>
              <a:off x="3034" y="3464"/>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095" name="Rectangle 39"/>
            <p:cNvSpPr>
              <a:spLocks noChangeArrowheads="1"/>
            </p:cNvSpPr>
            <p:nvPr/>
          </p:nvSpPr>
          <p:spPr bwMode="auto">
            <a:xfrm>
              <a:off x="3226" y="3464"/>
              <a:ext cx="96" cy="96"/>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301096" name="AutoShape 40"/>
            <p:cNvCxnSpPr>
              <a:cxnSpLocks noChangeShapeType="1"/>
              <a:stCxn id="301093" idx="4"/>
              <a:endCxn id="301094" idx="0"/>
            </p:cNvCxnSpPr>
            <p:nvPr/>
          </p:nvCxnSpPr>
          <p:spPr bwMode="auto">
            <a:xfrm flipH="1">
              <a:off x="3082" y="3326"/>
              <a:ext cx="9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097" name="AutoShape 41"/>
            <p:cNvCxnSpPr>
              <a:cxnSpLocks noChangeShapeType="1"/>
              <a:stCxn id="301093" idx="4"/>
              <a:endCxn id="301095" idx="0"/>
            </p:cNvCxnSpPr>
            <p:nvPr/>
          </p:nvCxnSpPr>
          <p:spPr bwMode="auto">
            <a:xfrm>
              <a:off x="3173" y="3326"/>
              <a:ext cx="101" cy="138"/>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01098" name="Oval 42"/>
          <p:cNvSpPr>
            <a:spLocks noChangeArrowheads="1"/>
          </p:cNvSpPr>
          <p:nvPr/>
        </p:nvSpPr>
        <p:spPr bwMode="auto">
          <a:xfrm>
            <a:off x="6107113" y="292735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44</a:t>
            </a:r>
          </a:p>
        </p:txBody>
      </p:sp>
      <p:sp>
        <p:nvSpPr>
          <p:cNvPr id="301099" name="Oval 43"/>
          <p:cNvSpPr>
            <a:spLocks noChangeArrowheads="1"/>
          </p:cNvSpPr>
          <p:nvPr/>
        </p:nvSpPr>
        <p:spPr bwMode="auto">
          <a:xfrm>
            <a:off x="5573713" y="353695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17</a:t>
            </a:r>
          </a:p>
        </p:txBody>
      </p:sp>
      <p:sp>
        <p:nvSpPr>
          <p:cNvPr id="301100" name="Oval 44"/>
          <p:cNvSpPr>
            <a:spLocks noChangeArrowheads="1"/>
          </p:cNvSpPr>
          <p:nvPr/>
        </p:nvSpPr>
        <p:spPr bwMode="auto">
          <a:xfrm>
            <a:off x="7113588" y="422275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78</a:t>
            </a:r>
          </a:p>
        </p:txBody>
      </p:sp>
      <p:sp>
        <p:nvSpPr>
          <p:cNvPr id="301101" name="Oval 45"/>
          <p:cNvSpPr>
            <a:spLocks noChangeArrowheads="1"/>
          </p:cNvSpPr>
          <p:nvPr/>
        </p:nvSpPr>
        <p:spPr bwMode="auto">
          <a:xfrm>
            <a:off x="6307138" y="422275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50</a:t>
            </a:r>
          </a:p>
        </p:txBody>
      </p:sp>
      <p:sp>
        <p:nvSpPr>
          <p:cNvPr id="301102" name="Oval 46"/>
          <p:cNvSpPr>
            <a:spLocks noChangeArrowheads="1"/>
          </p:cNvSpPr>
          <p:nvPr/>
        </p:nvSpPr>
        <p:spPr bwMode="auto">
          <a:xfrm>
            <a:off x="7316788" y="489585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88</a:t>
            </a:r>
          </a:p>
        </p:txBody>
      </p:sp>
      <p:sp>
        <p:nvSpPr>
          <p:cNvPr id="301103" name="Oval 47"/>
          <p:cNvSpPr>
            <a:spLocks noChangeArrowheads="1"/>
          </p:cNvSpPr>
          <p:nvPr/>
        </p:nvSpPr>
        <p:spPr bwMode="auto">
          <a:xfrm>
            <a:off x="5954713" y="490855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48</a:t>
            </a:r>
          </a:p>
        </p:txBody>
      </p:sp>
      <p:sp>
        <p:nvSpPr>
          <p:cNvPr id="301104" name="Oval 48"/>
          <p:cNvSpPr>
            <a:spLocks noChangeArrowheads="1"/>
          </p:cNvSpPr>
          <p:nvPr/>
        </p:nvSpPr>
        <p:spPr bwMode="auto">
          <a:xfrm>
            <a:off x="6716713" y="353695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62</a:t>
            </a:r>
          </a:p>
        </p:txBody>
      </p:sp>
      <p:sp>
        <p:nvSpPr>
          <p:cNvPr id="301105" name="Rectangle 49"/>
          <p:cNvSpPr>
            <a:spLocks noChangeArrowheads="1"/>
          </p:cNvSpPr>
          <p:nvPr/>
        </p:nvSpPr>
        <p:spPr bwMode="auto">
          <a:xfrm>
            <a:off x="5567363" y="41592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106" name="Rectangle 50"/>
          <p:cNvSpPr>
            <a:spLocks noChangeArrowheads="1"/>
          </p:cNvSpPr>
          <p:nvPr/>
        </p:nvSpPr>
        <p:spPr bwMode="auto">
          <a:xfrm>
            <a:off x="5872163" y="41592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107" name="Rectangle 51"/>
          <p:cNvSpPr>
            <a:spLocks noChangeArrowheads="1"/>
          </p:cNvSpPr>
          <p:nvPr/>
        </p:nvSpPr>
        <p:spPr bwMode="auto">
          <a:xfrm>
            <a:off x="5957888" y="55308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108" name="Rectangle 52"/>
          <p:cNvSpPr>
            <a:spLocks noChangeArrowheads="1"/>
          </p:cNvSpPr>
          <p:nvPr/>
        </p:nvSpPr>
        <p:spPr bwMode="auto">
          <a:xfrm>
            <a:off x="6262688" y="55308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109" name="Rectangle 53"/>
          <p:cNvSpPr>
            <a:spLocks noChangeArrowheads="1"/>
          </p:cNvSpPr>
          <p:nvPr/>
        </p:nvSpPr>
        <p:spPr bwMode="auto">
          <a:xfrm>
            <a:off x="7024688" y="49085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110" name="Rectangle 54"/>
          <p:cNvSpPr>
            <a:spLocks noChangeArrowheads="1"/>
          </p:cNvSpPr>
          <p:nvPr/>
        </p:nvSpPr>
        <p:spPr bwMode="auto">
          <a:xfrm>
            <a:off x="7329488" y="55181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111" name="Rectangle 55"/>
          <p:cNvSpPr>
            <a:spLocks noChangeArrowheads="1"/>
          </p:cNvSpPr>
          <p:nvPr/>
        </p:nvSpPr>
        <p:spPr bwMode="auto">
          <a:xfrm>
            <a:off x="7634288" y="55181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301112" name="AutoShape 56"/>
          <p:cNvCxnSpPr>
            <a:cxnSpLocks noChangeShapeType="1"/>
            <a:stCxn id="301098" idx="4"/>
            <a:endCxn id="301099" idx="0"/>
          </p:cNvCxnSpPr>
          <p:nvPr/>
        </p:nvCxnSpPr>
        <p:spPr bwMode="auto">
          <a:xfrm flipH="1">
            <a:off x="5797550" y="3330575"/>
            <a:ext cx="533400" cy="2063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13" name="AutoShape 57"/>
          <p:cNvCxnSpPr>
            <a:cxnSpLocks noChangeShapeType="1"/>
            <a:stCxn id="301099" idx="4"/>
            <a:endCxn id="301105" idx="0"/>
          </p:cNvCxnSpPr>
          <p:nvPr/>
        </p:nvCxnSpPr>
        <p:spPr bwMode="auto">
          <a:xfrm flipH="1">
            <a:off x="5643563" y="3940175"/>
            <a:ext cx="153987"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14" name="AutoShape 58"/>
          <p:cNvCxnSpPr>
            <a:cxnSpLocks noChangeShapeType="1"/>
            <a:stCxn id="301099" idx="4"/>
            <a:endCxn id="301106" idx="0"/>
          </p:cNvCxnSpPr>
          <p:nvPr/>
        </p:nvCxnSpPr>
        <p:spPr bwMode="auto">
          <a:xfrm>
            <a:off x="5797550" y="3940175"/>
            <a:ext cx="150813"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15" name="AutoShape 59"/>
          <p:cNvCxnSpPr>
            <a:cxnSpLocks noChangeShapeType="1"/>
            <a:stCxn id="301098" idx="4"/>
            <a:endCxn id="301104" idx="0"/>
          </p:cNvCxnSpPr>
          <p:nvPr/>
        </p:nvCxnSpPr>
        <p:spPr bwMode="auto">
          <a:xfrm>
            <a:off x="6330950" y="3330575"/>
            <a:ext cx="609600" cy="2063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16" name="AutoShape 60"/>
          <p:cNvCxnSpPr>
            <a:cxnSpLocks noChangeShapeType="1"/>
            <a:stCxn id="301100" idx="0"/>
            <a:endCxn id="301104" idx="4"/>
          </p:cNvCxnSpPr>
          <p:nvPr/>
        </p:nvCxnSpPr>
        <p:spPr bwMode="auto">
          <a:xfrm flipH="1" flipV="1">
            <a:off x="6940550" y="3940175"/>
            <a:ext cx="396875"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17" name="AutoShape 61"/>
          <p:cNvCxnSpPr>
            <a:cxnSpLocks noChangeShapeType="1"/>
            <a:stCxn id="301100" idx="4"/>
            <a:endCxn id="301102" idx="0"/>
          </p:cNvCxnSpPr>
          <p:nvPr/>
        </p:nvCxnSpPr>
        <p:spPr bwMode="auto">
          <a:xfrm>
            <a:off x="7337425" y="4625975"/>
            <a:ext cx="203200" cy="2698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18" name="AutoShape 62"/>
          <p:cNvCxnSpPr>
            <a:cxnSpLocks noChangeShapeType="1"/>
            <a:stCxn id="301101" idx="4"/>
            <a:endCxn id="301103" idx="0"/>
          </p:cNvCxnSpPr>
          <p:nvPr/>
        </p:nvCxnSpPr>
        <p:spPr bwMode="auto">
          <a:xfrm flipH="1">
            <a:off x="6178550" y="4625975"/>
            <a:ext cx="352425"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19" name="AutoShape 63"/>
          <p:cNvCxnSpPr>
            <a:cxnSpLocks noChangeShapeType="1"/>
            <a:stCxn id="301103" idx="4"/>
            <a:endCxn id="301107" idx="0"/>
          </p:cNvCxnSpPr>
          <p:nvPr/>
        </p:nvCxnSpPr>
        <p:spPr bwMode="auto">
          <a:xfrm flipH="1">
            <a:off x="6034088" y="5311775"/>
            <a:ext cx="144462"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20" name="AutoShape 64"/>
          <p:cNvCxnSpPr>
            <a:cxnSpLocks noChangeShapeType="1"/>
            <a:stCxn id="301103" idx="4"/>
            <a:endCxn id="301108" idx="0"/>
          </p:cNvCxnSpPr>
          <p:nvPr/>
        </p:nvCxnSpPr>
        <p:spPr bwMode="auto">
          <a:xfrm>
            <a:off x="6178550" y="5311775"/>
            <a:ext cx="160338"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21" name="AutoShape 65"/>
          <p:cNvCxnSpPr>
            <a:cxnSpLocks noChangeShapeType="1"/>
            <a:stCxn id="301101" idx="4"/>
            <a:endCxn id="301126" idx="0"/>
          </p:cNvCxnSpPr>
          <p:nvPr/>
        </p:nvCxnSpPr>
        <p:spPr bwMode="auto">
          <a:xfrm>
            <a:off x="6530975" y="4625975"/>
            <a:ext cx="196850"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22" name="AutoShape 66"/>
          <p:cNvCxnSpPr>
            <a:cxnSpLocks noChangeShapeType="1"/>
            <a:stCxn id="301100" idx="4"/>
            <a:endCxn id="301109" idx="0"/>
          </p:cNvCxnSpPr>
          <p:nvPr/>
        </p:nvCxnSpPr>
        <p:spPr bwMode="auto">
          <a:xfrm flipH="1">
            <a:off x="7100888" y="4625975"/>
            <a:ext cx="236537"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23" name="AutoShape 67"/>
          <p:cNvCxnSpPr>
            <a:cxnSpLocks noChangeShapeType="1"/>
            <a:stCxn id="301101" idx="0"/>
            <a:endCxn id="301104" idx="4"/>
          </p:cNvCxnSpPr>
          <p:nvPr/>
        </p:nvCxnSpPr>
        <p:spPr bwMode="auto">
          <a:xfrm flipV="1">
            <a:off x="6530975" y="3940175"/>
            <a:ext cx="409575"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24" name="AutoShape 68"/>
          <p:cNvCxnSpPr>
            <a:cxnSpLocks noChangeShapeType="1"/>
            <a:stCxn id="301102" idx="4"/>
            <a:endCxn id="301110" idx="0"/>
          </p:cNvCxnSpPr>
          <p:nvPr/>
        </p:nvCxnSpPr>
        <p:spPr bwMode="auto">
          <a:xfrm flipH="1">
            <a:off x="7405688" y="5299075"/>
            <a:ext cx="134937"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25" name="AutoShape 69"/>
          <p:cNvCxnSpPr>
            <a:cxnSpLocks noChangeShapeType="1"/>
            <a:stCxn id="301102" idx="4"/>
            <a:endCxn id="301111" idx="0"/>
          </p:cNvCxnSpPr>
          <p:nvPr/>
        </p:nvCxnSpPr>
        <p:spPr bwMode="auto">
          <a:xfrm>
            <a:off x="7540625" y="5299075"/>
            <a:ext cx="169863"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1126" name="Oval 70"/>
          <p:cNvSpPr>
            <a:spLocks noChangeArrowheads="1"/>
          </p:cNvSpPr>
          <p:nvPr/>
        </p:nvSpPr>
        <p:spPr bwMode="auto">
          <a:xfrm>
            <a:off x="6503988" y="490855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54</a:t>
            </a:r>
          </a:p>
        </p:txBody>
      </p:sp>
      <p:sp>
        <p:nvSpPr>
          <p:cNvPr id="301127" name="Rectangle 71"/>
          <p:cNvSpPr>
            <a:spLocks noChangeArrowheads="1"/>
          </p:cNvSpPr>
          <p:nvPr/>
        </p:nvSpPr>
        <p:spPr bwMode="auto">
          <a:xfrm>
            <a:off x="6507163" y="55308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1128" name="Rectangle 72"/>
          <p:cNvSpPr>
            <a:spLocks noChangeArrowheads="1"/>
          </p:cNvSpPr>
          <p:nvPr/>
        </p:nvSpPr>
        <p:spPr bwMode="auto">
          <a:xfrm>
            <a:off x="6811963" y="553085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301129" name="AutoShape 73"/>
          <p:cNvCxnSpPr>
            <a:cxnSpLocks noChangeShapeType="1"/>
            <a:stCxn id="301126" idx="4"/>
            <a:endCxn id="301127" idx="0"/>
          </p:cNvCxnSpPr>
          <p:nvPr/>
        </p:nvCxnSpPr>
        <p:spPr bwMode="auto">
          <a:xfrm flipH="1">
            <a:off x="6583363" y="5311775"/>
            <a:ext cx="144462"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130" name="AutoShape 74"/>
          <p:cNvCxnSpPr>
            <a:cxnSpLocks noChangeShapeType="1"/>
            <a:stCxn id="301126" idx="4"/>
            <a:endCxn id="301128" idx="0"/>
          </p:cNvCxnSpPr>
          <p:nvPr/>
        </p:nvCxnSpPr>
        <p:spPr bwMode="auto">
          <a:xfrm>
            <a:off x="6727825" y="5311775"/>
            <a:ext cx="160338"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1131" name="Text Box 75"/>
          <p:cNvSpPr txBox="1">
            <a:spLocks noChangeArrowheads="1"/>
          </p:cNvSpPr>
          <p:nvPr/>
        </p:nvSpPr>
        <p:spPr bwMode="auto">
          <a:xfrm>
            <a:off x="2752725" y="5911850"/>
            <a:ext cx="1887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itchFamily="18" charset="0"/>
              </a:rPr>
              <a:t>before deletion of 32</a:t>
            </a:r>
          </a:p>
        </p:txBody>
      </p:sp>
      <p:sp>
        <p:nvSpPr>
          <p:cNvPr id="301132" name="Text Box 76"/>
          <p:cNvSpPr txBox="1">
            <a:spLocks noChangeArrowheads="1"/>
          </p:cNvSpPr>
          <p:nvPr/>
        </p:nvSpPr>
        <p:spPr bwMode="auto">
          <a:xfrm>
            <a:off x="6045200" y="5911850"/>
            <a:ext cx="126682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600">
                <a:latin typeface="Times New Roman" pitchFamily="18" charset="0"/>
              </a:rPr>
              <a:t>after deletion</a:t>
            </a:r>
          </a:p>
        </p:txBody>
      </p:sp>
      <p:sp>
        <p:nvSpPr>
          <p:cNvPr id="301133" name="Line 77"/>
          <p:cNvSpPr>
            <a:spLocks noChangeShapeType="1"/>
          </p:cNvSpPr>
          <p:nvPr/>
        </p:nvSpPr>
        <p:spPr bwMode="auto">
          <a:xfrm>
            <a:off x="4572000" y="3352800"/>
            <a:ext cx="7620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Footer Placeholder 5"/>
          <p:cNvSpPr>
            <a:spLocks noGrp="1"/>
          </p:cNvSpPr>
          <p:nvPr>
            <p:ph type="ftr" sz="quarter" idx="11"/>
          </p:nvPr>
        </p:nvSpPr>
        <p:spPr/>
        <p:txBody>
          <a:bodyPr/>
          <a:lstStyle/>
          <a:p>
            <a:r>
              <a:rPr lang="en-US"/>
              <a:t>Data Structures and Algorithms</a:t>
            </a:r>
          </a:p>
        </p:txBody>
      </p:sp>
      <p:sp>
        <p:nvSpPr>
          <p:cNvPr id="88" name="Slide Number Placeholder 6"/>
          <p:cNvSpPr>
            <a:spLocks noGrp="1"/>
          </p:cNvSpPr>
          <p:nvPr>
            <p:ph type="sldNum" sz="quarter" idx="12"/>
          </p:nvPr>
        </p:nvSpPr>
        <p:spPr/>
        <p:txBody>
          <a:bodyPr/>
          <a:lstStyle/>
          <a:p>
            <a:fld id="{C15232C7-4216-4DA1-A51A-B5A0FECDE59C}" type="slidenum">
              <a:rPr lang="en-US"/>
              <a:pPr/>
              <a:t>33</a:t>
            </a:fld>
            <a:endParaRPr lang="en-US"/>
          </a:p>
        </p:txBody>
      </p:sp>
      <p:sp>
        <p:nvSpPr>
          <p:cNvPr id="302082" name="AutoShape 2"/>
          <p:cNvSpPr>
            <a:spLocks noChangeArrowheads="1"/>
          </p:cNvSpPr>
          <p:nvPr/>
        </p:nvSpPr>
        <p:spPr bwMode="auto">
          <a:xfrm>
            <a:off x="7391400" y="4800600"/>
            <a:ext cx="914400" cy="990600"/>
          </a:xfrm>
          <a:prstGeom prst="triangle">
            <a:avLst>
              <a:gd name="adj" fmla="val 50000"/>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083" name="AutoShape 3"/>
          <p:cNvSpPr>
            <a:spLocks noChangeArrowheads="1"/>
          </p:cNvSpPr>
          <p:nvPr/>
        </p:nvSpPr>
        <p:spPr bwMode="auto">
          <a:xfrm>
            <a:off x="7162800" y="4800600"/>
            <a:ext cx="457200" cy="381000"/>
          </a:xfrm>
          <a:prstGeom prst="triangle">
            <a:avLst>
              <a:gd name="adj" fmla="val 50000"/>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084" name="AutoShape 4"/>
          <p:cNvSpPr>
            <a:spLocks noChangeArrowheads="1"/>
          </p:cNvSpPr>
          <p:nvPr/>
        </p:nvSpPr>
        <p:spPr bwMode="auto">
          <a:xfrm>
            <a:off x="6172200" y="4876800"/>
            <a:ext cx="1295400" cy="1447800"/>
          </a:xfrm>
          <a:prstGeom prst="triangle">
            <a:avLst>
              <a:gd name="adj" fmla="val 50000"/>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085" name="AutoShape 5"/>
          <p:cNvSpPr>
            <a:spLocks noChangeArrowheads="1"/>
          </p:cNvSpPr>
          <p:nvPr/>
        </p:nvSpPr>
        <p:spPr bwMode="auto">
          <a:xfrm>
            <a:off x="5410200" y="4800600"/>
            <a:ext cx="914400" cy="990600"/>
          </a:xfrm>
          <a:prstGeom prst="triangle">
            <a:avLst>
              <a:gd name="adj" fmla="val 50000"/>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086" name="AutoShape 6"/>
          <p:cNvSpPr>
            <a:spLocks noChangeArrowheads="1"/>
          </p:cNvSpPr>
          <p:nvPr/>
        </p:nvSpPr>
        <p:spPr bwMode="auto">
          <a:xfrm>
            <a:off x="3276600" y="5562600"/>
            <a:ext cx="914400" cy="990600"/>
          </a:xfrm>
          <a:prstGeom prst="triangle">
            <a:avLst>
              <a:gd name="adj" fmla="val 50000"/>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087" name="AutoShape 7"/>
          <p:cNvSpPr>
            <a:spLocks noChangeArrowheads="1"/>
          </p:cNvSpPr>
          <p:nvPr/>
        </p:nvSpPr>
        <p:spPr bwMode="auto">
          <a:xfrm>
            <a:off x="3048000" y="5562600"/>
            <a:ext cx="457200" cy="381000"/>
          </a:xfrm>
          <a:prstGeom prst="triangle">
            <a:avLst>
              <a:gd name="adj" fmla="val 50000"/>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088" name="AutoShape 8"/>
          <p:cNvSpPr>
            <a:spLocks noChangeArrowheads="1"/>
          </p:cNvSpPr>
          <p:nvPr/>
        </p:nvSpPr>
        <p:spPr bwMode="auto">
          <a:xfrm>
            <a:off x="1905000" y="5105400"/>
            <a:ext cx="1295400" cy="1447800"/>
          </a:xfrm>
          <a:prstGeom prst="triangle">
            <a:avLst>
              <a:gd name="adj" fmla="val 50000"/>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089" name="AutoShape 9"/>
          <p:cNvSpPr>
            <a:spLocks noChangeArrowheads="1"/>
          </p:cNvSpPr>
          <p:nvPr/>
        </p:nvSpPr>
        <p:spPr bwMode="auto">
          <a:xfrm>
            <a:off x="1447800" y="4343400"/>
            <a:ext cx="914400" cy="990600"/>
          </a:xfrm>
          <a:prstGeom prst="triangle">
            <a:avLst>
              <a:gd name="adj" fmla="val 50000"/>
            </a:avLst>
          </a:prstGeom>
          <a:noFill/>
          <a:ln w="19050">
            <a:solidFill>
              <a:schemeClr val="tx1"/>
            </a:solidFill>
            <a:prstDash val="dash"/>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2090" name="Rectangle 10"/>
          <p:cNvSpPr>
            <a:spLocks noGrp="1" noChangeArrowheads="1"/>
          </p:cNvSpPr>
          <p:nvPr>
            <p:ph type="title"/>
          </p:nvPr>
        </p:nvSpPr>
        <p:spPr>
          <a:xfrm>
            <a:off x="1066800" y="381000"/>
            <a:ext cx="7315200" cy="1143000"/>
          </a:xfrm>
        </p:spPr>
        <p:txBody>
          <a:bodyPr/>
          <a:lstStyle/>
          <a:p>
            <a:r>
              <a:rPr lang="en-US" altLang="en-US"/>
              <a:t>Rebalancing after a Removal</a:t>
            </a:r>
          </a:p>
        </p:txBody>
      </p:sp>
      <p:sp>
        <p:nvSpPr>
          <p:cNvPr id="302091" name="Rectangle 11"/>
          <p:cNvSpPr>
            <a:spLocks noGrp="1" noChangeArrowheads="1"/>
          </p:cNvSpPr>
          <p:nvPr>
            <p:ph type="body" sz="half" idx="1"/>
          </p:nvPr>
        </p:nvSpPr>
        <p:spPr>
          <a:xfrm>
            <a:off x="838200" y="1676400"/>
            <a:ext cx="7696200" cy="2438400"/>
          </a:xfrm>
        </p:spPr>
        <p:txBody>
          <a:bodyPr/>
          <a:lstStyle/>
          <a:p>
            <a:pPr>
              <a:lnSpc>
                <a:spcPct val="90000"/>
              </a:lnSpc>
            </a:pPr>
            <a:r>
              <a:rPr lang="en-US" altLang="en-US" sz="1800"/>
              <a:t>Let </a:t>
            </a:r>
            <a:r>
              <a:rPr lang="en-US" altLang="en-US" sz="1800" i="1">
                <a:solidFill>
                  <a:srgbClr val="FF3045"/>
                </a:solidFill>
              </a:rPr>
              <a:t>z</a:t>
            </a:r>
            <a:r>
              <a:rPr lang="en-US" altLang="en-US" sz="1800"/>
              <a:t> be the </a:t>
            </a:r>
            <a:r>
              <a:rPr lang="en-US" altLang="en-US" sz="1800">
                <a:solidFill>
                  <a:srgbClr val="FF3045"/>
                </a:solidFill>
              </a:rPr>
              <a:t>first unbalanced</a:t>
            </a:r>
            <a:r>
              <a:rPr lang="en-US" altLang="en-US" sz="1800"/>
              <a:t> node encountered while travelling up the tree from w. Also, let y be the child of z with the larger height, and let x be the child of y with the larger height.</a:t>
            </a:r>
          </a:p>
          <a:p>
            <a:pPr>
              <a:lnSpc>
                <a:spcPct val="90000"/>
              </a:lnSpc>
            </a:pPr>
            <a:r>
              <a:rPr lang="en-US" altLang="en-US" sz="1800"/>
              <a:t>We perform </a:t>
            </a:r>
            <a:r>
              <a:rPr lang="en-US" altLang="en-US" sz="1800">
                <a:solidFill>
                  <a:srgbClr val="24A63E"/>
                </a:solidFill>
              </a:rPr>
              <a:t>restructure</a:t>
            </a:r>
            <a:r>
              <a:rPr lang="en-US" altLang="en-US" sz="1800"/>
              <a:t>(x) to restore balance at z.</a:t>
            </a:r>
          </a:p>
          <a:p>
            <a:pPr>
              <a:lnSpc>
                <a:spcPct val="90000"/>
              </a:lnSpc>
            </a:pPr>
            <a:r>
              <a:rPr lang="en-US" altLang="en-US" sz="1800"/>
              <a:t>As this restructuring may upset the balance of another node higher in the tree, we must continue checking for balance until the root of T is reached</a:t>
            </a:r>
          </a:p>
        </p:txBody>
      </p:sp>
      <p:sp>
        <p:nvSpPr>
          <p:cNvPr id="302092" name="Oval 12"/>
          <p:cNvSpPr>
            <a:spLocks noChangeArrowheads="1"/>
          </p:cNvSpPr>
          <p:nvPr/>
        </p:nvSpPr>
        <p:spPr bwMode="auto">
          <a:xfrm>
            <a:off x="2246313" y="38100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44</a:t>
            </a:r>
          </a:p>
        </p:txBody>
      </p:sp>
      <p:sp>
        <p:nvSpPr>
          <p:cNvPr id="302093" name="Oval 13"/>
          <p:cNvSpPr>
            <a:spLocks noChangeArrowheads="1"/>
          </p:cNvSpPr>
          <p:nvPr/>
        </p:nvSpPr>
        <p:spPr bwMode="auto">
          <a:xfrm>
            <a:off x="1712913" y="44196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17</a:t>
            </a:r>
          </a:p>
        </p:txBody>
      </p:sp>
      <p:sp>
        <p:nvSpPr>
          <p:cNvPr id="302094" name="Oval 14"/>
          <p:cNvSpPr>
            <a:spLocks noChangeArrowheads="1"/>
          </p:cNvSpPr>
          <p:nvPr/>
        </p:nvSpPr>
        <p:spPr bwMode="auto">
          <a:xfrm>
            <a:off x="3252788" y="51054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78</a:t>
            </a:r>
          </a:p>
        </p:txBody>
      </p:sp>
      <p:sp>
        <p:nvSpPr>
          <p:cNvPr id="302095" name="Oval 15"/>
          <p:cNvSpPr>
            <a:spLocks noChangeArrowheads="1"/>
          </p:cNvSpPr>
          <p:nvPr/>
        </p:nvSpPr>
        <p:spPr bwMode="auto">
          <a:xfrm>
            <a:off x="2446338" y="51054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50</a:t>
            </a:r>
          </a:p>
        </p:txBody>
      </p:sp>
      <p:sp>
        <p:nvSpPr>
          <p:cNvPr id="302096" name="Oval 16"/>
          <p:cNvSpPr>
            <a:spLocks noChangeArrowheads="1"/>
          </p:cNvSpPr>
          <p:nvPr/>
        </p:nvSpPr>
        <p:spPr bwMode="auto">
          <a:xfrm>
            <a:off x="3455988" y="57785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88</a:t>
            </a:r>
          </a:p>
        </p:txBody>
      </p:sp>
      <p:sp>
        <p:nvSpPr>
          <p:cNvPr id="302097" name="Oval 17"/>
          <p:cNvSpPr>
            <a:spLocks noChangeArrowheads="1"/>
          </p:cNvSpPr>
          <p:nvPr/>
        </p:nvSpPr>
        <p:spPr bwMode="auto">
          <a:xfrm>
            <a:off x="2093913" y="57912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48</a:t>
            </a:r>
          </a:p>
        </p:txBody>
      </p:sp>
      <p:sp>
        <p:nvSpPr>
          <p:cNvPr id="302098" name="Oval 18"/>
          <p:cNvSpPr>
            <a:spLocks noChangeArrowheads="1"/>
          </p:cNvSpPr>
          <p:nvPr/>
        </p:nvSpPr>
        <p:spPr bwMode="auto">
          <a:xfrm>
            <a:off x="2855913" y="44196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62</a:t>
            </a:r>
          </a:p>
        </p:txBody>
      </p:sp>
      <p:sp>
        <p:nvSpPr>
          <p:cNvPr id="302099" name="Rectangle 19"/>
          <p:cNvSpPr>
            <a:spLocks noChangeArrowheads="1"/>
          </p:cNvSpPr>
          <p:nvPr/>
        </p:nvSpPr>
        <p:spPr bwMode="auto">
          <a:xfrm>
            <a:off x="1706563" y="50419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00" name="Rectangle 20"/>
          <p:cNvSpPr>
            <a:spLocks noChangeArrowheads="1"/>
          </p:cNvSpPr>
          <p:nvPr/>
        </p:nvSpPr>
        <p:spPr bwMode="auto">
          <a:xfrm>
            <a:off x="2011363" y="50419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01" name="Rectangle 21"/>
          <p:cNvSpPr>
            <a:spLocks noChangeArrowheads="1"/>
          </p:cNvSpPr>
          <p:nvPr/>
        </p:nvSpPr>
        <p:spPr bwMode="auto">
          <a:xfrm>
            <a:off x="2097088" y="64135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02" name="Rectangle 22"/>
          <p:cNvSpPr>
            <a:spLocks noChangeArrowheads="1"/>
          </p:cNvSpPr>
          <p:nvPr/>
        </p:nvSpPr>
        <p:spPr bwMode="auto">
          <a:xfrm>
            <a:off x="2401888" y="64135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03" name="Rectangle 23"/>
          <p:cNvSpPr>
            <a:spLocks noChangeArrowheads="1"/>
          </p:cNvSpPr>
          <p:nvPr/>
        </p:nvSpPr>
        <p:spPr bwMode="auto">
          <a:xfrm>
            <a:off x="3163888" y="57912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04" name="Rectangle 24"/>
          <p:cNvSpPr>
            <a:spLocks noChangeArrowheads="1"/>
          </p:cNvSpPr>
          <p:nvPr/>
        </p:nvSpPr>
        <p:spPr bwMode="auto">
          <a:xfrm>
            <a:off x="3468688" y="64008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05" name="Rectangle 25"/>
          <p:cNvSpPr>
            <a:spLocks noChangeArrowheads="1"/>
          </p:cNvSpPr>
          <p:nvPr/>
        </p:nvSpPr>
        <p:spPr bwMode="auto">
          <a:xfrm>
            <a:off x="3773488" y="64008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302106" name="AutoShape 26"/>
          <p:cNvCxnSpPr>
            <a:cxnSpLocks noChangeShapeType="1"/>
            <a:stCxn id="302092" idx="4"/>
            <a:endCxn id="302093" idx="0"/>
          </p:cNvCxnSpPr>
          <p:nvPr/>
        </p:nvCxnSpPr>
        <p:spPr bwMode="auto">
          <a:xfrm flipH="1">
            <a:off x="1936750" y="4213225"/>
            <a:ext cx="533400" cy="2063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07" name="AutoShape 27"/>
          <p:cNvCxnSpPr>
            <a:cxnSpLocks noChangeShapeType="1"/>
            <a:stCxn id="302093" idx="4"/>
            <a:endCxn id="302099" idx="0"/>
          </p:cNvCxnSpPr>
          <p:nvPr/>
        </p:nvCxnSpPr>
        <p:spPr bwMode="auto">
          <a:xfrm flipH="1">
            <a:off x="1782763" y="4822825"/>
            <a:ext cx="153987"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08" name="AutoShape 28"/>
          <p:cNvCxnSpPr>
            <a:cxnSpLocks noChangeShapeType="1"/>
            <a:stCxn id="302093" idx="4"/>
            <a:endCxn id="302100" idx="0"/>
          </p:cNvCxnSpPr>
          <p:nvPr/>
        </p:nvCxnSpPr>
        <p:spPr bwMode="auto">
          <a:xfrm>
            <a:off x="1936750" y="4822825"/>
            <a:ext cx="150813"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09" name="AutoShape 29"/>
          <p:cNvCxnSpPr>
            <a:cxnSpLocks noChangeShapeType="1"/>
            <a:stCxn id="302092" idx="4"/>
            <a:endCxn id="302098" idx="0"/>
          </p:cNvCxnSpPr>
          <p:nvPr/>
        </p:nvCxnSpPr>
        <p:spPr bwMode="auto">
          <a:xfrm>
            <a:off x="2470150" y="4213225"/>
            <a:ext cx="609600" cy="2063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0" name="AutoShape 30"/>
          <p:cNvCxnSpPr>
            <a:cxnSpLocks noChangeShapeType="1"/>
            <a:stCxn id="302094" idx="0"/>
            <a:endCxn id="302098" idx="4"/>
          </p:cNvCxnSpPr>
          <p:nvPr/>
        </p:nvCxnSpPr>
        <p:spPr bwMode="auto">
          <a:xfrm flipH="1" flipV="1">
            <a:off x="3079750" y="4822825"/>
            <a:ext cx="396875"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1" name="AutoShape 31"/>
          <p:cNvCxnSpPr>
            <a:cxnSpLocks noChangeShapeType="1"/>
            <a:stCxn id="302094" idx="4"/>
            <a:endCxn id="302096" idx="0"/>
          </p:cNvCxnSpPr>
          <p:nvPr/>
        </p:nvCxnSpPr>
        <p:spPr bwMode="auto">
          <a:xfrm>
            <a:off x="3476625" y="5508625"/>
            <a:ext cx="203200" cy="2698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2" name="AutoShape 32"/>
          <p:cNvCxnSpPr>
            <a:cxnSpLocks noChangeShapeType="1"/>
            <a:stCxn id="302095" idx="4"/>
            <a:endCxn id="302097" idx="0"/>
          </p:cNvCxnSpPr>
          <p:nvPr/>
        </p:nvCxnSpPr>
        <p:spPr bwMode="auto">
          <a:xfrm flipH="1">
            <a:off x="2317750" y="5508625"/>
            <a:ext cx="352425"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3" name="AutoShape 33"/>
          <p:cNvCxnSpPr>
            <a:cxnSpLocks noChangeShapeType="1"/>
            <a:stCxn id="302097" idx="4"/>
            <a:endCxn id="302101" idx="0"/>
          </p:cNvCxnSpPr>
          <p:nvPr/>
        </p:nvCxnSpPr>
        <p:spPr bwMode="auto">
          <a:xfrm flipH="1">
            <a:off x="2173288" y="6194425"/>
            <a:ext cx="144462"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4" name="AutoShape 34"/>
          <p:cNvCxnSpPr>
            <a:cxnSpLocks noChangeShapeType="1"/>
            <a:stCxn id="302097" idx="4"/>
            <a:endCxn id="302102" idx="0"/>
          </p:cNvCxnSpPr>
          <p:nvPr/>
        </p:nvCxnSpPr>
        <p:spPr bwMode="auto">
          <a:xfrm>
            <a:off x="2317750" y="6194425"/>
            <a:ext cx="160338"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5" name="AutoShape 35"/>
          <p:cNvCxnSpPr>
            <a:cxnSpLocks noChangeShapeType="1"/>
            <a:stCxn id="302095" idx="4"/>
            <a:endCxn id="302120" idx="0"/>
          </p:cNvCxnSpPr>
          <p:nvPr/>
        </p:nvCxnSpPr>
        <p:spPr bwMode="auto">
          <a:xfrm>
            <a:off x="2670175" y="5508625"/>
            <a:ext cx="196850"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6" name="AutoShape 36"/>
          <p:cNvCxnSpPr>
            <a:cxnSpLocks noChangeShapeType="1"/>
            <a:stCxn id="302094" idx="4"/>
            <a:endCxn id="302103" idx="0"/>
          </p:cNvCxnSpPr>
          <p:nvPr/>
        </p:nvCxnSpPr>
        <p:spPr bwMode="auto">
          <a:xfrm flipH="1">
            <a:off x="3240088" y="5508625"/>
            <a:ext cx="236537"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7" name="AutoShape 37"/>
          <p:cNvCxnSpPr>
            <a:cxnSpLocks noChangeShapeType="1"/>
            <a:stCxn id="302095" idx="0"/>
            <a:endCxn id="302098" idx="4"/>
          </p:cNvCxnSpPr>
          <p:nvPr/>
        </p:nvCxnSpPr>
        <p:spPr bwMode="auto">
          <a:xfrm flipV="1">
            <a:off x="2670175" y="4822825"/>
            <a:ext cx="409575"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8" name="AutoShape 38"/>
          <p:cNvCxnSpPr>
            <a:cxnSpLocks noChangeShapeType="1"/>
            <a:stCxn id="302096" idx="4"/>
            <a:endCxn id="302104" idx="0"/>
          </p:cNvCxnSpPr>
          <p:nvPr/>
        </p:nvCxnSpPr>
        <p:spPr bwMode="auto">
          <a:xfrm flipH="1">
            <a:off x="3544888" y="6181725"/>
            <a:ext cx="134937"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19" name="AutoShape 39"/>
          <p:cNvCxnSpPr>
            <a:cxnSpLocks noChangeShapeType="1"/>
            <a:stCxn id="302096" idx="4"/>
            <a:endCxn id="302105" idx="0"/>
          </p:cNvCxnSpPr>
          <p:nvPr/>
        </p:nvCxnSpPr>
        <p:spPr bwMode="auto">
          <a:xfrm>
            <a:off x="3679825" y="6181725"/>
            <a:ext cx="169863"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2120" name="Oval 40"/>
          <p:cNvSpPr>
            <a:spLocks noChangeArrowheads="1"/>
          </p:cNvSpPr>
          <p:nvPr/>
        </p:nvSpPr>
        <p:spPr bwMode="auto">
          <a:xfrm>
            <a:off x="2643188" y="57912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54</a:t>
            </a:r>
          </a:p>
        </p:txBody>
      </p:sp>
      <p:sp>
        <p:nvSpPr>
          <p:cNvPr id="302121" name="Rectangle 41"/>
          <p:cNvSpPr>
            <a:spLocks noChangeArrowheads="1"/>
          </p:cNvSpPr>
          <p:nvPr/>
        </p:nvSpPr>
        <p:spPr bwMode="auto">
          <a:xfrm>
            <a:off x="2646363" y="64135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22" name="Rectangle 42"/>
          <p:cNvSpPr>
            <a:spLocks noChangeArrowheads="1"/>
          </p:cNvSpPr>
          <p:nvPr/>
        </p:nvSpPr>
        <p:spPr bwMode="auto">
          <a:xfrm>
            <a:off x="2951163" y="64135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302123" name="AutoShape 43"/>
          <p:cNvCxnSpPr>
            <a:cxnSpLocks noChangeShapeType="1"/>
            <a:stCxn id="302120" idx="4"/>
            <a:endCxn id="302121" idx="0"/>
          </p:cNvCxnSpPr>
          <p:nvPr/>
        </p:nvCxnSpPr>
        <p:spPr bwMode="auto">
          <a:xfrm flipH="1">
            <a:off x="2722563" y="6194425"/>
            <a:ext cx="144462"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24" name="AutoShape 44"/>
          <p:cNvCxnSpPr>
            <a:cxnSpLocks noChangeShapeType="1"/>
            <a:stCxn id="302120" idx="4"/>
            <a:endCxn id="302122" idx="0"/>
          </p:cNvCxnSpPr>
          <p:nvPr/>
        </p:nvCxnSpPr>
        <p:spPr bwMode="auto">
          <a:xfrm>
            <a:off x="2867025" y="6194425"/>
            <a:ext cx="160338"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2125" name="Text Box 45"/>
          <p:cNvSpPr txBox="1">
            <a:spLocks noChangeArrowheads="1"/>
          </p:cNvSpPr>
          <p:nvPr/>
        </p:nvSpPr>
        <p:spPr bwMode="auto">
          <a:xfrm>
            <a:off x="1219200" y="4451350"/>
            <a:ext cx="3127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solidFill>
                  <a:schemeClr val="accent2"/>
                </a:solidFill>
                <a:latin typeface="Times New Roman" pitchFamily="18" charset="0"/>
              </a:rPr>
              <a:t>w</a:t>
            </a:r>
          </a:p>
        </p:txBody>
      </p:sp>
      <p:sp>
        <p:nvSpPr>
          <p:cNvPr id="302126" name="Text Box 46"/>
          <p:cNvSpPr txBox="1">
            <a:spLocks noChangeArrowheads="1"/>
          </p:cNvSpPr>
          <p:nvPr/>
        </p:nvSpPr>
        <p:spPr bwMode="auto">
          <a:xfrm>
            <a:off x="4068763" y="5118100"/>
            <a:ext cx="452437"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solidFill>
                  <a:schemeClr val="accent2"/>
                </a:solidFill>
                <a:latin typeface="Times New Roman" pitchFamily="18" charset="0"/>
              </a:rPr>
              <a:t>c=x</a:t>
            </a:r>
          </a:p>
        </p:txBody>
      </p:sp>
      <p:sp>
        <p:nvSpPr>
          <p:cNvPr id="302127" name="Text Box 47"/>
          <p:cNvSpPr txBox="1">
            <a:spLocks noChangeArrowheads="1"/>
          </p:cNvSpPr>
          <p:nvPr/>
        </p:nvSpPr>
        <p:spPr bwMode="auto">
          <a:xfrm>
            <a:off x="3652838" y="4460875"/>
            <a:ext cx="46196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solidFill>
                  <a:schemeClr val="accent2"/>
                </a:solidFill>
                <a:latin typeface="Times New Roman" pitchFamily="18" charset="0"/>
              </a:rPr>
              <a:t>b=y</a:t>
            </a:r>
          </a:p>
        </p:txBody>
      </p:sp>
      <p:sp>
        <p:nvSpPr>
          <p:cNvPr id="302128" name="Text Box 48"/>
          <p:cNvSpPr txBox="1">
            <a:spLocks noChangeArrowheads="1"/>
          </p:cNvSpPr>
          <p:nvPr/>
        </p:nvSpPr>
        <p:spPr bwMode="auto">
          <a:xfrm>
            <a:off x="1535113" y="3832225"/>
            <a:ext cx="442912"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400">
                <a:solidFill>
                  <a:schemeClr val="accent2"/>
                </a:solidFill>
                <a:latin typeface="Times New Roman" pitchFamily="18" charset="0"/>
              </a:rPr>
              <a:t>a=z</a:t>
            </a:r>
          </a:p>
        </p:txBody>
      </p:sp>
      <p:sp>
        <p:nvSpPr>
          <p:cNvPr id="302129" name="Line 49"/>
          <p:cNvSpPr>
            <a:spLocks noChangeShapeType="1"/>
          </p:cNvSpPr>
          <p:nvPr/>
        </p:nvSpPr>
        <p:spPr bwMode="auto">
          <a:xfrm>
            <a:off x="1944688" y="3994150"/>
            <a:ext cx="3048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02130" name="Line 50"/>
          <p:cNvSpPr>
            <a:spLocks noChangeShapeType="1"/>
          </p:cNvSpPr>
          <p:nvPr/>
        </p:nvSpPr>
        <p:spPr bwMode="auto">
          <a:xfrm flipV="1">
            <a:off x="1476375" y="4613275"/>
            <a:ext cx="2286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02131" name="Line 51"/>
          <p:cNvSpPr>
            <a:spLocks noChangeShapeType="1"/>
          </p:cNvSpPr>
          <p:nvPr/>
        </p:nvSpPr>
        <p:spPr bwMode="auto">
          <a:xfrm flipH="1">
            <a:off x="3316288" y="4622800"/>
            <a:ext cx="3810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02132" name="Line 52"/>
          <p:cNvSpPr>
            <a:spLocks noChangeShapeType="1"/>
          </p:cNvSpPr>
          <p:nvPr/>
        </p:nvSpPr>
        <p:spPr bwMode="auto">
          <a:xfrm flipH="1">
            <a:off x="3725863" y="5280025"/>
            <a:ext cx="381000" cy="0"/>
          </a:xfrm>
          <a:prstGeom prst="line">
            <a:avLst/>
          </a:prstGeom>
          <a:noFill/>
          <a:ln w="9525">
            <a:solidFill>
              <a:schemeClr val="tx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302133" name="Oval 53"/>
          <p:cNvSpPr>
            <a:spLocks noChangeArrowheads="1"/>
          </p:cNvSpPr>
          <p:nvPr/>
        </p:nvSpPr>
        <p:spPr bwMode="auto">
          <a:xfrm>
            <a:off x="6178550" y="42545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44</a:t>
            </a:r>
          </a:p>
        </p:txBody>
      </p:sp>
      <p:sp>
        <p:nvSpPr>
          <p:cNvPr id="302134" name="Oval 54"/>
          <p:cNvSpPr>
            <a:spLocks noChangeArrowheads="1"/>
          </p:cNvSpPr>
          <p:nvPr/>
        </p:nvSpPr>
        <p:spPr bwMode="auto">
          <a:xfrm>
            <a:off x="5721350" y="49403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17</a:t>
            </a:r>
          </a:p>
        </p:txBody>
      </p:sp>
      <p:sp>
        <p:nvSpPr>
          <p:cNvPr id="302135" name="Oval 55"/>
          <p:cNvSpPr>
            <a:spLocks noChangeArrowheads="1"/>
          </p:cNvSpPr>
          <p:nvPr/>
        </p:nvSpPr>
        <p:spPr bwMode="auto">
          <a:xfrm>
            <a:off x="7397750" y="42672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78</a:t>
            </a:r>
          </a:p>
        </p:txBody>
      </p:sp>
      <p:sp>
        <p:nvSpPr>
          <p:cNvPr id="302136" name="Oval 56"/>
          <p:cNvSpPr>
            <a:spLocks noChangeArrowheads="1"/>
          </p:cNvSpPr>
          <p:nvPr/>
        </p:nvSpPr>
        <p:spPr bwMode="auto">
          <a:xfrm>
            <a:off x="6669088" y="49403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50</a:t>
            </a:r>
          </a:p>
        </p:txBody>
      </p:sp>
      <p:sp>
        <p:nvSpPr>
          <p:cNvPr id="302137" name="Oval 57"/>
          <p:cNvSpPr>
            <a:spLocks noChangeArrowheads="1"/>
          </p:cNvSpPr>
          <p:nvPr/>
        </p:nvSpPr>
        <p:spPr bwMode="auto">
          <a:xfrm>
            <a:off x="7600950" y="49403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88</a:t>
            </a:r>
          </a:p>
        </p:txBody>
      </p:sp>
      <p:sp>
        <p:nvSpPr>
          <p:cNvPr id="302138" name="Oval 58"/>
          <p:cNvSpPr>
            <a:spLocks noChangeArrowheads="1"/>
          </p:cNvSpPr>
          <p:nvPr/>
        </p:nvSpPr>
        <p:spPr bwMode="auto">
          <a:xfrm>
            <a:off x="6316663" y="56261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48</a:t>
            </a:r>
          </a:p>
        </p:txBody>
      </p:sp>
      <p:sp>
        <p:nvSpPr>
          <p:cNvPr id="302139" name="Oval 59"/>
          <p:cNvSpPr>
            <a:spLocks noChangeArrowheads="1"/>
          </p:cNvSpPr>
          <p:nvPr/>
        </p:nvSpPr>
        <p:spPr bwMode="auto">
          <a:xfrm>
            <a:off x="6772275" y="36576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62</a:t>
            </a:r>
          </a:p>
        </p:txBody>
      </p:sp>
      <p:sp>
        <p:nvSpPr>
          <p:cNvPr id="302140" name="Rectangle 60"/>
          <p:cNvSpPr>
            <a:spLocks noChangeArrowheads="1"/>
          </p:cNvSpPr>
          <p:nvPr/>
        </p:nvSpPr>
        <p:spPr bwMode="auto">
          <a:xfrm>
            <a:off x="5715000" y="55626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41" name="Rectangle 61"/>
          <p:cNvSpPr>
            <a:spLocks noChangeArrowheads="1"/>
          </p:cNvSpPr>
          <p:nvPr/>
        </p:nvSpPr>
        <p:spPr bwMode="auto">
          <a:xfrm>
            <a:off x="6019800" y="55626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42" name="Rectangle 62"/>
          <p:cNvSpPr>
            <a:spLocks noChangeArrowheads="1"/>
          </p:cNvSpPr>
          <p:nvPr/>
        </p:nvSpPr>
        <p:spPr bwMode="auto">
          <a:xfrm>
            <a:off x="6319838" y="62484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43" name="Rectangle 63"/>
          <p:cNvSpPr>
            <a:spLocks noChangeArrowheads="1"/>
          </p:cNvSpPr>
          <p:nvPr/>
        </p:nvSpPr>
        <p:spPr bwMode="auto">
          <a:xfrm>
            <a:off x="6624638" y="62484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44" name="Rectangle 64"/>
          <p:cNvSpPr>
            <a:spLocks noChangeArrowheads="1"/>
          </p:cNvSpPr>
          <p:nvPr/>
        </p:nvSpPr>
        <p:spPr bwMode="auto">
          <a:xfrm>
            <a:off x="7308850" y="49530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45" name="Rectangle 65"/>
          <p:cNvSpPr>
            <a:spLocks noChangeArrowheads="1"/>
          </p:cNvSpPr>
          <p:nvPr/>
        </p:nvSpPr>
        <p:spPr bwMode="auto">
          <a:xfrm>
            <a:off x="7613650" y="55626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46" name="Rectangle 66"/>
          <p:cNvSpPr>
            <a:spLocks noChangeArrowheads="1"/>
          </p:cNvSpPr>
          <p:nvPr/>
        </p:nvSpPr>
        <p:spPr bwMode="auto">
          <a:xfrm>
            <a:off x="7918450" y="55626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302147" name="AutoShape 67"/>
          <p:cNvCxnSpPr>
            <a:cxnSpLocks noChangeShapeType="1"/>
            <a:stCxn id="302133" idx="4"/>
            <a:endCxn id="302134" idx="0"/>
          </p:cNvCxnSpPr>
          <p:nvPr/>
        </p:nvCxnSpPr>
        <p:spPr bwMode="auto">
          <a:xfrm flipH="1">
            <a:off x="5945188" y="4657725"/>
            <a:ext cx="457200"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48" name="AutoShape 68"/>
          <p:cNvCxnSpPr>
            <a:cxnSpLocks noChangeShapeType="1"/>
            <a:stCxn id="302134" idx="4"/>
            <a:endCxn id="302140" idx="0"/>
          </p:cNvCxnSpPr>
          <p:nvPr/>
        </p:nvCxnSpPr>
        <p:spPr bwMode="auto">
          <a:xfrm flipH="1">
            <a:off x="5791200" y="5343525"/>
            <a:ext cx="153988"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49" name="AutoShape 69"/>
          <p:cNvCxnSpPr>
            <a:cxnSpLocks noChangeShapeType="1"/>
            <a:stCxn id="302134" idx="4"/>
            <a:endCxn id="302141" idx="0"/>
          </p:cNvCxnSpPr>
          <p:nvPr/>
        </p:nvCxnSpPr>
        <p:spPr bwMode="auto">
          <a:xfrm>
            <a:off x="5945188" y="5343525"/>
            <a:ext cx="150812"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0" name="AutoShape 70"/>
          <p:cNvCxnSpPr>
            <a:cxnSpLocks noChangeShapeType="1"/>
            <a:stCxn id="302133" idx="0"/>
            <a:endCxn id="302139" idx="4"/>
          </p:cNvCxnSpPr>
          <p:nvPr/>
        </p:nvCxnSpPr>
        <p:spPr bwMode="auto">
          <a:xfrm flipV="1">
            <a:off x="6402388" y="4060825"/>
            <a:ext cx="593725" cy="1936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1" name="AutoShape 71"/>
          <p:cNvCxnSpPr>
            <a:cxnSpLocks noChangeShapeType="1"/>
            <a:stCxn id="302135" idx="0"/>
            <a:endCxn id="302139" idx="4"/>
          </p:cNvCxnSpPr>
          <p:nvPr/>
        </p:nvCxnSpPr>
        <p:spPr bwMode="auto">
          <a:xfrm flipH="1" flipV="1">
            <a:off x="6996113" y="4060825"/>
            <a:ext cx="625475" cy="2063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2" name="AutoShape 72"/>
          <p:cNvCxnSpPr>
            <a:cxnSpLocks noChangeShapeType="1"/>
            <a:stCxn id="302135" idx="4"/>
            <a:endCxn id="302137" idx="0"/>
          </p:cNvCxnSpPr>
          <p:nvPr/>
        </p:nvCxnSpPr>
        <p:spPr bwMode="auto">
          <a:xfrm>
            <a:off x="7621588" y="4670425"/>
            <a:ext cx="203200" cy="2698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3" name="AutoShape 73"/>
          <p:cNvCxnSpPr>
            <a:cxnSpLocks noChangeShapeType="1"/>
            <a:stCxn id="302136" idx="4"/>
            <a:endCxn id="302138" idx="0"/>
          </p:cNvCxnSpPr>
          <p:nvPr/>
        </p:nvCxnSpPr>
        <p:spPr bwMode="auto">
          <a:xfrm flipH="1">
            <a:off x="6540500" y="5343525"/>
            <a:ext cx="352425"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4" name="AutoShape 74"/>
          <p:cNvCxnSpPr>
            <a:cxnSpLocks noChangeShapeType="1"/>
            <a:stCxn id="302138" idx="4"/>
            <a:endCxn id="302142" idx="0"/>
          </p:cNvCxnSpPr>
          <p:nvPr/>
        </p:nvCxnSpPr>
        <p:spPr bwMode="auto">
          <a:xfrm flipH="1">
            <a:off x="6396038" y="6029325"/>
            <a:ext cx="144462"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5" name="AutoShape 75"/>
          <p:cNvCxnSpPr>
            <a:cxnSpLocks noChangeShapeType="1"/>
            <a:stCxn id="302138" idx="4"/>
            <a:endCxn id="302143" idx="0"/>
          </p:cNvCxnSpPr>
          <p:nvPr/>
        </p:nvCxnSpPr>
        <p:spPr bwMode="auto">
          <a:xfrm>
            <a:off x="6540500" y="6029325"/>
            <a:ext cx="160338"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6" name="AutoShape 76"/>
          <p:cNvCxnSpPr>
            <a:cxnSpLocks noChangeShapeType="1"/>
            <a:stCxn id="302136" idx="4"/>
            <a:endCxn id="302161" idx="0"/>
          </p:cNvCxnSpPr>
          <p:nvPr/>
        </p:nvCxnSpPr>
        <p:spPr bwMode="auto">
          <a:xfrm>
            <a:off x="6892925" y="5343525"/>
            <a:ext cx="196850"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7" name="AutoShape 77"/>
          <p:cNvCxnSpPr>
            <a:cxnSpLocks noChangeShapeType="1"/>
            <a:stCxn id="302135" idx="4"/>
            <a:endCxn id="302144" idx="0"/>
          </p:cNvCxnSpPr>
          <p:nvPr/>
        </p:nvCxnSpPr>
        <p:spPr bwMode="auto">
          <a:xfrm flipH="1">
            <a:off x="7385050" y="4670425"/>
            <a:ext cx="236538"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8" name="AutoShape 78"/>
          <p:cNvCxnSpPr>
            <a:cxnSpLocks noChangeShapeType="1"/>
            <a:stCxn id="302136" idx="0"/>
            <a:endCxn id="302133" idx="4"/>
          </p:cNvCxnSpPr>
          <p:nvPr/>
        </p:nvCxnSpPr>
        <p:spPr bwMode="auto">
          <a:xfrm flipH="1" flipV="1">
            <a:off x="6402388" y="4657725"/>
            <a:ext cx="490537" cy="2825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59" name="AutoShape 79"/>
          <p:cNvCxnSpPr>
            <a:cxnSpLocks noChangeShapeType="1"/>
            <a:stCxn id="302137" idx="4"/>
            <a:endCxn id="302145" idx="0"/>
          </p:cNvCxnSpPr>
          <p:nvPr/>
        </p:nvCxnSpPr>
        <p:spPr bwMode="auto">
          <a:xfrm flipH="1">
            <a:off x="7689850" y="5343525"/>
            <a:ext cx="134938"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60" name="AutoShape 80"/>
          <p:cNvCxnSpPr>
            <a:cxnSpLocks noChangeShapeType="1"/>
            <a:stCxn id="302137" idx="4"/>
            <a:endCxn id="302146" idx="0"/>
          </p:cNvCxnSpPr>
          <p:nvPr/>
        </p:nvCxnSpPr>
        <p:spPr bwMode="auto">
          <a:xfrm>
            <a:off x="7824788" y="5343525"/>
            <a:ext cx="169862"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2161" name="Oval 81"/>
          <p:cNvSpPr>
            <a:spLocks noChangeArrowheads="1"/>
          </p:cNvSpPr>
          <p:nvPr/>
        </p:nvSpPr>
        <p:spPr bwMode="auto">
          <a:xfrm>
            <a:off x="6865938" y="5626100"/>
            <a:ext cx="447675" cy="403225"/>
          </a:xfrm>
          <a:prstGeom prst="ellipse">
            <a:avLst/>
          </a:prstGeom>
          <a:solidFill>
            <a:schemeClr val="accent1"/>
          </a:solidFill>
          <a:ln w="9525">
            <a:solidFill>
              <a:srgbClr val="FF0000"/>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en-US" altLang="en-US" sz="1400">
                <a:latin typeface="Times New Roman" pitchFamily="18" charset="0"/>
              </a:rPr>
              <a:t>54</a:t>
            </a:r>
          </a:p>
        </p:txBody>
      </p:sp>
      <p:sp>
        <p:nvSpPr>
          <p:cNvPr id="302162" name="Rectangle 82"/>
          <p:cNvSpPr>
            <a:spLocks noChangeArrowheads="1"/>
          </p:cNvSpPr>
          <p:nvPr/>
        </p:nvSpPr>
        <p:spPr bwMode="auto">
          <a:xfrm>
            <a:off x="6869113" y="62484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302163" name="Rectangle 83"/>
          <p:cNvSpPr>
            <a:spLocks noChangeArrowheads="1"/>
          </p:cNvSpPr>
          <p:nvPr/>
        </p:nvSpPr>
        <p:spPr bwMode="auto">
          <a:xfrm>
            <a:off x="7173913" y="6248400"/>
            <a:ext cx="152400" cy="152400"/>
          </a:xfrm>
          <a:prstGeom prst="rect">
            <a:avLst/>
          </a:prstGeom>
          <a:solidFill>
            <a:schemeClr val="accent1"/>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cxnSp>
        <p:nvCxnSpPr>
          <p:cNvPr id="302164" name="AutoShape 84"/>
          <p:cNvCxnSpPr>
            <a:cxnSpLocks noChangeShapeType="1"/>
            <a:stCxn id="302161" idx="4"/>
            <a:endCxn id="302162" idx="0"/>
          </p:cNvCxnSpPr>
          <p:nvPr/>
        </p:nvCxnSpPr>
        <p:spPr bwMode="auto">
          <a:xfrm flipH="1">
            <a:off x="6945313" y="6029325"/>
            <a:ext cx="144462"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165" name="AutoShape 85"/>
          <p:cNvCxnSpPr>
            <a:cxnSpLocks noChangeShapeType="1"/>
            <a:stCxn id="302161" idx="4"/>
            <a:endCxn id="302163" idx="0"/>
          </p:cNvCxnSpPr>
          <p:nvPr/>
        </p:nvCxnSpPr>
        <p:spPr bwMode="auto">
          <a:xfrm>
            <a:off x="7089775" y="6029325"/>
            <a:ext cx="160338" cy="219075"/>
          </a:xfrm>
          <a:prstGeom prst="straightConnector1">
            <a:avLst/>
          </a:prstGeom>
          <a:noFill/>
          <a:ln w="9525">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02166" name="Line 86"/>
          <p:cNvSpPr>
            <a:spLocks noChangeShapeType="1"/>
          </p:cNvSpPr>
          <p:nvPr/>
        </p:nvSpPr>
        <p:spPr bwMode="auto">
          <a:xfrm>
            <a:off x="4572000" y="4876800"/>
            <a:ext cx="762000" cy="0"/>
          </a:xfrm>
          <a:prstGeom prst="line">
            <a:avLst/>
          </a:prstGeom>
          <a:noFill/>
          <a:ln w="571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Data Structures and Algorithms</a:t>
            </a:r>
          </a:p>
        </p:txBody>
      </p:sp>
      <p:sp>
        <p:nvSpPr>
          <p:cNvPr id="5" name="Slide Number Placeholder 5"/>
          <p:cNvSpPr>
            <a:spLocks noGrp="1"/>
          </p:cNvSpPr>
          <p:nvPr>
            <p:ph type="sldNum" sz="quarter" idx="12"/>
          </p:nvPr>
        </p:nvSpPr>
        <p:spPr/>
        <p:txBody>
          <a:bodyPr/>
          <a:lstStyle/>
          <a:p>
            <a:fld id="{4B6CD40E-82E3-40C4-AF3A-2636C06AE0D4}" type="slidenum">
              <a:rPr lang="en-US"/>
              <a:pPr/>
              <a:t>34</a:t>
            </a:fld>
            <a:endParaRPr lang="en-US"/>
          </a:p>
        </p:txBody>
      </p:sp>
      <p:sp>
        <p:nvSpPr>
          <p:cNvPr id="303106" name="Rectangle 2"/>
          <p:cNvSpPr>
            <a:spLocks noGrp="1" noChangeArrowheads="1"/>
          </p:cNvSpPr>
          <p:nvPr>
            <p:ph type="title"/>
          </p:nvPr>
        </p:nvSpPr>
        <p:spPr>
          <a:xfrm>
            <a:off x="1143000" y="381000"/>
            <a:ext cx="7086600" cy="1143000"/>
          </a:xfrm>
        </p:spPr>
        <p:txBody>
          <a:bodyPr/>
          <a:lstStyle/>
          <a:p>
            <a:r>
              <a:rPr lang="en-US" altLang="en-US"/>
              <a:t>Running Times for AVL Trees</a:t>
            </a:r>
          </a:p>
        </p:txBody>
      </p:sp>
      <p:sp>
        <p:nvSpPr>
          <p:cNvPr id="303107" name="Rectangle 3"/>
          <p:cNvSpPr>
            <a:spLocks noGrp="1" noChangeArrowheads="1"/>
          </p:cNvSpPr>
          <p:nvPr>
            <p:ph type="body" idx="1"/>
          </p:nvPr>
        </p:nvSpPr>
        <p:spPr>
          <a:xfrm>
            <a:off x="609600" y="1447800"/>
            <a:ext cx="8229600" cy="3810000"/>
          </a:xfrm>
        </p:spPr>
        <p:txBody>
          <a:bodyPr/>
          <a:lstStyle/>
          <a:p>
            <a:r>
              <a:rPr lang="en-US" altLang="en-US" sz="2000"/>
              <a:t>a single restructure is O(1)</a:t>
            </a:r>
          </a:p>
          <a:p>
            <a:pPr lvl="1"/>
            <a:r>
              <a:rPr lang="en-US" altLang="en-US" sz="2000"/>
              <a:t>using a linked-structure binary tree</a:t>
            </a:r>
          </a:p>
          <a:p>
            <a:r>
              <a:rPr lang="en-US" altLang="en-US" sz="2000"/>
              <a:t>find is O(log n)</a:t>
            </a:r>
          </a:p>
          <a:p>
            <a:pPr lvl="1"/>
            <a:r>
              <a:rPr lang="en-US" altLang="en-US" sz="2000"/>
              <a:t>height of tree is O(log n), no restructures needed</a:t>
            </a:r>
            <a:endParaRPr lang="en-US" altLang="en-US" sz="2200"/>
          </a:p>
          <a:p>
            <a:r>
              <a:rPr lang="en-US" altLang="en-US" sz="2000"/>
              <a:t>insert is O(log n)</a:t>
            </a:r>
          </a:p>
          <a:p>
            <a:pPr lvl="1"/>
            <a:r>
              <a:rPr lang="en-US" altLang="en-US" sz="2000"/>
              <a:t>initial find is O(log n)</a:t>
            </a:r>
          </a:p>
          <a:p>
            <a:pPr lvl="1"/>
            <a:r>
              <a:rPr lang="en-US" altLang="en-US" sz="2000"/>
              <a:t>Restructuring up the tree, maintaining heights is O(log n)</a:t>
            </a:r>
          </a:p>
          <a:p>
            <a:r>
              <a:rPr lang="en-US" altLang="en-US" sz="2000"/>
              <a:t>remove is O(log n)</a:t>
            </a:r>
          </a:p>
          <a:p>
            <a:pPr lvl="1"/>
            <a:r>
              <a:rPr lang="en-US" altLang="en-US" sz="2000"/>
              <a:t>initial find is O(log n)</a:t>
            </a:r>
          </a:p>
          <a:p>
            <a:pPr lvl="1"/>
            <a:r>
              <a:rPr lang="en-US" altLang="en-US" sz="2000"/>
              <a:t>Restructuring up the tree, maintaining heights is O(log n)</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r>
              <a:rPr lang="en-US"/>
              <a:t>Data Structures and Algorithms</a:t>
            </a:r>
          </a:p>
        </p:txBody>
      </p:sp>
      <p:sp>
        <p:nvSpPr>
          <p:cNvPr id="5" name="Slide Number Placeholder 5"/>
          <p:cNvSpPr>
            <a:spLocks noGrp="1"/>
          </p:cNvSpPr>
          <p:nvPr>
            <p:ph type="sldNum" sz="quarter" idx="12"/>
          </p:nvPr>
        </p:nvSpPr>
        <p:spPr/>
        <p:txBody>
          <a:bodyPr/>
          <a:lstStyle/>
          <a:p>
            <a:fld id="{8AC3DCE7-FDBF-4BC1-B9C7-A070638710CE}" type="slidenum">
              <a:rPr lang="en-US"/>
              <a:pPr/>
              <a:t>35</a:t>
            </a:fld>
            <a:endParaRPr lang="en-US"/>
          </a:p>
        </p:txBody>
      </p:sp>
      <p:sp>
        <p:nvSpPr>
          <p:cNvPr id="76802" name="Rectangle 2"/>
          <p:cNvSpPr>
            <a:spLocks noGrp="1" noChangeArrowheads="1"/>
          </p:cNvSpPr>
          <p:nvPr>
            <p:ph type="body" idx="1"/>
          </p:nvPr>
        </p:nvSpPr>
        <p:spPr>
          <a:xfrm>
            <a:off x="4800600" y="2895600"/>
            <a:ext cx="3581400" cy="609600"/>
          </a:xfrm>
        </p:spPr>
        <p:txBody>
          <a:bodyPr/>
          <a:lstStyle/>
          <a:p>
            <a:pPr>
              <a:buFontTx/>
              <a:buNone/>
            </a:pPr>
            <a:r>
              <a:rPr lang="en-US" sz="3200"/>
              <a:t>Questions ?</a:t>
            </a:r>
            <a:endParaRPr lang="en-US"/>
          </a:p>
        </p:txBody>
      </p:sp>
      <p:sp>
        <p:nvSpPr>
          <p:cNvPr id="76803" name="Rectangle 3"/>
          <p:cNvSpPr>
            <a:spLocks noChangeArrowheads="1"/>
          </p:cNvSpPr>
          <p:nvPr/>
        </p:nvSpPr>
        <p:spPr bwMode="auto">
          <a:xfrm>
            <a:off x="381000" y="1371600"/>
            <a:ext cx="8382000"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342900" indent="-342900">
              <a:spcBef>
                <a:spcPct val="20000"/>
              </a:spcBef>
            </a:pPr>
            <a:r>
              <a:rPr lang="en-US" sz="2000">
                <a:solidFill>
                  <a:srgbClr val="652907"/>
                </a:solidFill>
                <a:latin typeface="Times New Roman" pitchFamily="18" charset="0"/>
              </a:rPr>
              <a:t>This presentation &amp; the practice problems will be available in the course page.</a:t>
            </a:r>
            <a:endParaRPr lang="en-US" sz="1200">
              <a:solidFill>
                <a:srgbClr val="652907"/>
              </a:solidFill>
              <a:latin typeface="Times New Roman" pitchFamily="18" charset="0"/>
            </a:endParaRPr>
          </a:p>
          <a:p>
            <a:pPr marL="342900" indent="-342900">
              <a:spcBef>
                <a:spcPct val="20000"/>
              </a:spcBef>
            </a:pPr>
            <a:r>
              <a:rPr lang="en-US" sz="1400">
                <a:solidFill>
                  <a:srgbClr val="000050"/>
                </a:solidFill>
                <a:latin typeface="Times New Roman" pitchFamily="18" charset="0"/>
                <a:hlinkClick r:id="rId2"/>
              </a:rPr>
              <a:t>http://discovery.bits-pilani.ac.in/discipline/csis/vimal/course%2007-08%20First/DSA_Offcampus/DSA.htm</a:t>
            </a:r>
            <a:r>
              <a:rPr lang="en-US" sz="1400">
                <a:solidFill>
                  <a:srgbClr val="000050"/>
                </a:solidFill>
                <a:latin typeface="Times New Roman" pitchFamily="18" charset="0"/>
              </a:rPr>
              <a:t>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Garamond"/>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858</TotalTime>
  <Words>2395</Words>
  <Application>Microsoft Office PowerPoint</Application>
  <PresentationFormat>On-screen Show (4:3)</PresentationFormat>
  <Paragraphs>609</Paragraphs>
  <Slides>35</Slides>
  <Notes>1</Notes>
  <HiddenSlides>0</HiddenSlides>
  <MMClips>0</MMClips>
  <ScaleCrop>false</ScaleCrop>
  <HeadingPairs>
    <vt:vector size="4" baseType="variant">
      <vt:variant>
        <vt:lpstr>Theme</vt:lpstr>
      </vt:variant>
      <vt:variant>
        <vt:i4>1</vt:i4>
      </vt:variant>
      <vt:variant>
        <vt:lpstr>Slide Titles</vt:lpstr>
      </vt:variant>
      <vt:variant>
        <vt:i4>35</vt:i4>
      </vt:variant>
    </vt:vector>
  </HeadingPairs>
  <TitlesOfParts>
    <vt:vector size="36" baseType="lpstr">
      <vt:lpstr>Default Design</vt:lpstr>
      <vt:lpstr>Topics today</vt:lpstr>
      <vt:lpstr>Bucket sort</vt:lpstr>
      <vt:lpstr>Bucket-Sort</vt:lpstr>
      <vt:lpstr>Example</vt:lpstr>
      <vt:lpstr>Properties and Extensions</vt:lpstr>
      <vt:lpstr>Lexicographic Order (Dictionary)</vt:lpstr>
      <vt:lpstr>Lexicographic-Sort</vt:lpstr>
      <vt:lpstr>Lexicographic sort</vt:lpstr>
      <vt:lpstr>Radix-Sort </vt:lpstr>
      <vt:lpstr>Radix-Sort for Binary Numbers</vt:lpstr>
      <vt:lpstr>Comparison of sorting algos</vt:lpstr>
      <vt:lpstr>PowerPoint Presentation</vt:lpstr>
      <vt:lpstr>Example</vt:lpstr>
      <vt:lpstr>Ordered Dictionaries &amp; BST (Text book Reference 3.1)</vt:lpstr>
      <vt:lpstr>Ordered Dictionaries</vt:lpstr>
      <vt:lpstr>Binary Search</vt:lpstr>
      <vt:lpstr>Lookup Table</vt:lpstr>
      <vt:lpstr>Binary Search Tree</vt:lpstr>
      <vt:lpstr>Search</vt:lpstr>
      <vt:lpstr>Insertion</vt:lpstr>
      <vt:lpstr>Deletion</vt:lpstr>
      <vt:lpstr>Deletion (cont.)</vt:lpstr>
      <vt:lpstr>Performance</vt:lpstr>
      <vt:lpstr>AVL Trees (Text book Reference 3.2)</vt:lpstr>
      <vt:lpstr>AVL Tree Definition</vt:lpstr>
      <vt:lpstr>Height of an AVL Tree</vt:lpstr>
      <vt:lpstr>Insertion in an AVL Tree</vt:lpstr>
      <vt:lpstr>Trinode Restructuring</vt:lpstr>
      <vt:lpstr>Insertion Example, continued</vt:lpstr>
      <vt:lpstr>Restructuring (as Single Rotations)</vt:lpstr>
      <vt:lpstr>Restructuring (as Double Rotations)</vt:lpstr>
      <vt:lpstr>Removal in an AVL Tree</vt:lpstr>
      <vt:lpstr>Rebalancing after a Removal</vt:lpstr>
      <vt:lpstr>Running Times for AVL Trees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user1</dc:creator>
  <cp:lastModifiedBy>manimaran</cp:lastModifiedBy>
  <cp:revision>165</cp:revision>
  <cp:lastPrinted>1601-01-01T00:00:00Z</cp:lastPrinted>
  <dcterms:created xsi:type="dcterms:W3CDTF">1601-01-01T00:00:00Z</dcterms:created>
  <dcterms:modified xsi:type="dcterms:W3CDTF">2014-03-12T07:08:20Z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