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xls" ContentType="application/vnd.ms-excel"/>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7" r:id="rId1"/>
    <p:sldMasterId id="2147483722" r:id="rId2"/>
    <p:sldMasterId id="2147483734" r:id="rId3"/>
    <p:sldMasterId id="2147483746" r:id="rId4"/>
  </p:sldMasterIdLst>
  <p:notesMasterIdLst>
    <p:notesMasterId r:id="rId50"/>
  </p:notesMasterIdLst>
  <p:handoutMasterIdLst>
    <p:handoutMasterId r:id="rId51"/>
  </p:handoutMasterIdLst>
  <p:sldIdLst>
    <p:sldId id="401" r:id="rId5"/>
    <p:sldId id="437" r:id="rId6"/>
    <p:sldId id="438" r:id="rId7"/>
    <p:sldId id="439" r:id="rId8"/>
    <p:sldId id="402" r:id="rId9"/>
    <p:sldId id="403" r:id="rId10"/>
    <p:sldId id="394" r:id="rId11"/>
    <p:sldId id="440" r:id="rId12"/>
    <p:sldId id="441" r:id="rId13"/>
    <p:sldId id="442" r:id="rId14"/>
    <p:sldId id="443" r:id="rId15"/>
    <p:sldId id="444" r:id="rId16"/>
    <p:sldId id="445" r:id="rId17"/>
    <p:sldId id="446" r:id="rId18"/>
    <p:sldId id="447" r:id="rId19"/>
    <p:sldId id="448" r:id="rId20"/>
    <p:sldId id="449" r:id="rId21"/>
    <p:sldId id="450" r:id="rId22"/>
    <p:sldId id="451" r:id="rId23"/>
    <p:sldId id="452" r:id="rId24"/>
    <p:sldId id="455" r:id="rId25"/>
    <p:sldId id="453" r:id="rId26"/>
    <p:sldId id="454" r:id="rId27"/>
    <p:sldId id="460" r:id="rId28"/>
    <p:sldId id="456" r:id="rId29"/>
    <p:sldId id="457" r:id="rId30"/>
    <p:sldId id="458" r:id="rId31"/>
    <p:sldId id="459" r:id="rId32"/>
    <p:sldId id="461" r:id="rId33"/>
    <p:sldId id="462" r:id="rId34"/>
    <p:sldId id="463" r:id="rId35"/>
    <p:sldId id="464" r:id="rId36"/>
    <p:sldId id="468" r:id="rId37"/>
    <p:sldId id="466" r:id="rId38"/>
    <p:sldId id="467" r:id="rId39"/>
    <p:sldId id="465" r:id="rId40"/>
    <p:sldId id="431" r:id="rId41"/>
    <p:sldId id="426" r:id="rId42"/>
    <p:sldId id="427" r:id="rId43"/>
    <p:sldId id="428" r:id="rId44"/>
    <p:sldId id="429" r:id="rId45"/>
    <p:sldId id="430" r:id="rId46"/>
    <p:sldId id="432" r:id="rId47"/>
    <p:sldId id="434" r:id="rId48"/>
    <p:sldId id="436" r:id="rId49"/>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34" charset="0"/>
        <a:ea typeface="ＭＳ Ｐゴシック" pitchFamily="-107" charset="-128"/>
        <a:cs typeface="+mn-cs"/>
      </a:defRPr>
    </a:lvl1pPr>
    <a:lvl2pPr marL="457200" algn="l" rtl="0" fontAlgn="base">
      <a:spcBef>
        <a:spcPct val="0"/>
      </a:spcBef>
      <a:spcAft>
        <a:spcPct val="0"/>
      </a:spcAft>
      <a:defRPr sz="2400" kern="1200">
        <a:solidFill>
          <a:schemeClr val="tx1"/>
        </a:solidFill>
        <a:latin typeface="Tahoma" pitchFamily="34" charset="0"/>
        <a:ea typeface="ＭＳ Ｐゴシック" pitchFamily="-107" charset="-128"/>
        <a:cs typeface="+mn-cs"/>
      </a:defRPr>
    </a:lvl2pPr>
    <a:lvl3pPr marL="914400" algn="l" rtl="0" fontAlgn="base">
      <a:spcBef>
        <a:spcPct val="0"/>
      </a:spcBef>
      <a:spcAft>
        <a:spcPct val="0"/>
      </a:spcAft>
      <a:defRPr sz="2400" kern="1200">
        <a:solidFill>
          <a:schemeClr val="tx1"/>
        </a:solidFill>
        <a:latin typeface="Tahoma" pitchFamily="34" charset="0"/>
        <a:ea typeface="ＭＳ Ｐゴシック" pitchFamily="-107" charset="-128"/>
        <a:cs typeface="+mn-cs"/>
      </a:defRPr>
    </a:lvl3pPr>
    <a:lvl4pPr marL="1371600" algn="l" rtl="0" fontAlgn="base">
      <a:spcBef>
        <a:spcPct val="0"/>
      </a:spcBef>
      <a:spcAft>
        <a:spcPct val="0"/>
      </a:spcAft>
      <a:defRPr sz="2400" kern="1200">
        <a:solidFill>
          <a:schemeClr val="tx1"/>
        </a:solidFill>
        <a:latin typeface="Tahoma" pitchFamily="34" charset="0"/>
        <a:ea typeface="ＭＳ Ｐゴシック" pitchFamily="-107" charset="-128"/>
        <a:cs typeface="+mn-cs"/>
      </a:defRPr>
    </a:lvl4pPr>
    <a:lvl5pPr marL="1828800" algn="l" rtl="0" fontAlgn="base">
      <a:spcBef>
        <a:spcPct val="0"/>
      </a:spcBef>
      <a:spcAft>
        <a:spcPct val="0"/>
      </a:spcAft>
      <a:defRPr sz="2400" kern="1200">
        <a:solidFill>
          <a:schemeClr val="tx1"/>
        </a:solidFill>
        <a:latin typeface="Tahoma" pitchFamily="34" charset="0"/>
        <a:ea typeface="ＭＳ Ｐゴシック" pitchFamily="-107" charset="-128"/>
        <a:cs typeface="+mn-cs"/>
      </a:defRPr>
    </a:lvl5pPr>
    <a:lvl6pPr marL="2286000" algn="l" defTabSz="914400" rtl="0" eaLnBrk="1" latinLnBrk="0" hangingPunct="1">
      <a:defRPr sz="2400" kern="1200">
        <a:solidFill>
          <a:schemeClr val="tx1"/>
        </a:solidFill>
        <a:latin typeface="Tahoma" pitchFamily="34" charset="0"/>
        <a:ea typeface="ＭＳ Ｐゴシック" pitchFamily="-107" charset="-128"/>
        <a:cs typeface="+mn-cs"/>
      </a:defRPr>
    </a:lvl6pPr>
    <a:lvl7pPr marL="2743200" algn="l" defTabSz="914400" rtl="0" eaLnBrk="1" latinLnBrk="0" hangingPunct="1">
      <a:defRPr sz="2400" kern="1200">
        <a:solidFill>
          <a:schemeClr val="tx1"/>
        </a:solidFill>
        <a:latin typeface="Tahoma" pitchFamily="34" charset="0"/>
        <a:ea typeface="ＭＳ Ｐゴシック" pitchFamily="-107" charset="-128"/>
        <a:cs typeface="+mn-cs"/>
      </a:defRPr>
    </a:lvl7pPr>
    <a:lvl8pPr marL="3200400" algn="l" defTabSz="914400" rtl="0" eaLnBrk="1" latinLnBrk="0" hangingPunct="1">
      <a:defRPr sz="2400" kern="1200">
        <a:solidFill>
          <a:schemeClr val="tx1"/>
        </a:solidFill>
        <a:latin typeface="Tahoma" pitchFamily="34" charset="0"/>
        <a:ea typeface="ＭＳ Ｐゴシック" pitchFamily="-107" charset="-128"/>
        <a:cs typeface="+mn-cs"/>
      </a:defRPr>
    </a:lvl8pPr>
    <a:lvl9pPr marL="3657600" algn="l" defTabSz="914400" rtl="0" eaLnBrk="1" latinLnBrk="0" hangingPunct="1">
      <a:defRPr sz="2400" kern="1200">
        <a:solidFill>
          <a:schemeClr val="tx1"/>
        </a:solidFill>
        <a:latin typeface="Tahoma" pitchFamily="34" charset="0"/>
        <a:ea typeface="ＭＳ Ｐゴシック" pitchFamily="-107"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6461"/>
    <a:srgbClr val="E54B47"/>
    <a:srgbClr val="E02520"/>
    <a:srgbClr val="FFFF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074" y="-10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slideMaster" Target="slideMasters/slideMaster3.xml"/></Relationships>
</file>

<file path=ppt/_rels/viewProps.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slide" Target="slides/slide38.xml"/><Relationship Id="rId1" Type="http://schemas.openxmlformats.org/officeDocument/2006/relationships/slide" Target="slides/slide7.xml"/><Relationship Id="rId6" Type="http://schemas.openxmlformats.org/officeDocument/2006/relationships/slide" Target="slides/slide42.xml"/><Relationship Id="rId5" Type="http://schemas.openxmlformats.org/officeDocument/2006/relationships/slide" Target="slides/slide41.xml"/><Relationship Id="rId4"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cs typeface="+mn-cs"/>
              </a:defRPr>
            </a:lvl1pPr>
          </a:lstStyle>
          <a:p>
            <a:pPr>
              <a:defRPr/>
            </a:pPr>
            <a:endParaRPr lang="en-US"/>
          </a:p>
        </p:txBody>
      </p:sp>
      <p:sp>
        <p:nvSpPr>
          <p:cNvPr id="1310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cs typeface="+mn-cs"/>
              </a:defRPr>
            </a:lvl1pPr>
          </a:lstStyle>
          <a:p>
            <a:pPr>
              <a:defRPr/>
            </a:pPr>
            <a:endParaRPr lang="en-US"/>
          </a:p>
        </p:txBody>
      </p:sp>
      <p:sp>
        <p:nvSpPr>
          <p:cNvPr id="1310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cs typeface="+mn-cs"/>
              </a:defRPr>
            </a:lvl1pPr>
          </a:lstStyle>
          <a:p>
            <a:pPr>
              <a:defRPr/>
            </a:pPr>
            <a:endParaRPr lang="en-US"/>
          </a:p>
        </p:txBody>
      </p:sp>
      <p:sp>
        <p:nvSpPr>
          <p:cNvPr id="1310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Arial" pitchFamily="34" charset="0"/>
                <a:ea typeface="ＭＳ Ｐゴシック" charset="-128"/>
              </a:defRPr>
            </a:lvl1pPr>
          </a:lstStyle>
          <a:p>
            <a:pPr>
              <a:defRPr/>
            </a:pPr>
            <a:fld id="{B8841233-4399-40BE-92C1-B2728100D4D4}" type="slidenum">
              <a:rPr lang="en-US"/>
              <a:pPr>
                <a:defRPr/>
              </a:pPr>
              <a:t>‹#›</a:t>
            </a:fld>
            <a:endParaRPr lang="en-US"/>
          </a:p>
        </p:txBody>
      </p:sp>
    </p:spTree>
    <p:extLst>
      <p:ext uri="{BB962C8B-B14F-4D97-AF65-F5344CB8AC3E}">
        <p14:creationId xmlns:p14="http://schemas.microsoft.com/office/powerpoint/2010/main" val="538903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11571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charset="0"/>
                <a:ea typeface="+mn-ea"/>
                <a:cs typeface="+mn-cs"/>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1571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571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11571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ea typeface="ＭＳ Ｐゴシック" charset="-128"/>
              </a:defRPr>
            </a:lvl1pPr>
          </a:lstStyle>
          <a:p>
            <a:pPr>
              <a:defRPr/>
            </a:pPr>
            <a:fld id="{E0D25DF0-4F04-4B09-9B24-806E530C0051}" type="slidenum">
              <a:rPr lang="en-US"/>
              <a:pPr>
                <a:defRPr/>
              </a:pPr>
              <a:t>‹#›</a:t>
            </a:fld>
            <a:endParaRPr lang="en-US"/>
          </a:p>
        </p:txBody>
      </p:sp>
    </p:spTree>
    <p:extLst>
      <p:ext uri="{BB962C8B-B14F-4D97-AF65-F5344CB8AC3E}">
        <p14:creationId xmlns:p14="http://schemas.microsoft.com/office/powerpoint/2010/main" val="22866067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kumimoji="1"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4F29CEE-B742-4A01-BED4-D8BD4CD0F465}" type="slidenum">
              <a:rPr lang="en-US">
                <a:ea typeface="ＭＳ Ｐゴシック" pitchFamily="-107" charset="-128"/>
              </a:rPr>
              <a:pPr/>
              <a:t>1</a:t>
            </a:fld>
            <a:endParaRPr lang="en-US">
              <a:ea typeface="ＭＳ Ｐゴシック" pitchFamily="-107" charset="-128"/>
            </a:endParaRPr>
          </a:p>
        </p:txBody>
      </p:sp>
      <p:sp>
        <p:nvSpPr>
          <p:cNvPr id="29699" name="Rectangle 2"/>
          <p:cNvSpPr>
            <a:spLocks noGrp="1" noRot="1" noChangeAspect="1" noChangeArrowheads="1" noTextEdit="1"/>
          </p:cNvSpPr>
          <p:nvPr>
            <p:ph type="sldImg"/>
          </p:nvPr>
        </p:nvSpPr>
        <p:spPr>
          <a:xfrm>
            <a:off x="1144588" y="687388"/>
            <a:ext cx="4570412" cy="3427412"/>
          </a:xfrm>
          <a:ln/>
        </p:spPr>
      </p:sp>
      <p:sp>
        <p:nvSpPr>
          <p:cNvPr id="29700" name="Rectangle 3"/>
          <p:cNvSpPr>
            <a:spLocks noGrp="1" noChangeArrowheads="1"/>
          </p:cNvSpPr>
          <p:nvPr>
            <p:ph type="body" idx="1"/>
          </p:nvPr>
        </p:nvSpPr>
        <p:spPr>
          <a:xfrm>
            <a:off x="914400" y="4343400"/>
            <a:ext cx="5029200" cy="4113213"/>
          </a:xfrm>
          <a:noFill/>
          <a:ln/>
        </p:spPr>
        <p:txBody>
          <a:bodyPr/>
          <a:lstStyle/>
          <a:p>
            <a:endParaRPr lang="en-US" smtClean="0">
              <a:ea typeface="ＭＳ Ｐゴシック" pitchFamily="-107"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r>
              <a:rPr lang="en-US" smtClean="0">
                <a:ea typeface="ＭＳ Ｐゴシック" pitchFamily="-107" charset="-128"/>
              </a:rPr>
              <a:t>MFC: old C++-based library fro GUI programming. </a:t>
            </a:r>
          </a:p>
          <a:p>
            <a:r>
              <a:rPr lang="en-US" smtClean="0">
                <a:ea typeface="ＭＳ Ｐゴシック" pitchFamily="-107" charset="-128"/>
              </a:rPr>
              <a:t>Windows Forms:.Net GUI api. Replaces MFC. (Not the most recent, though.) Like Java</a:t>
            </a:r>
            <a:r>
              <a:rPr lang="en-US" altLang="en-US" smtClean="0">
                <a:ea typeface="ＭＳ Ｐゴシック" pitchFamily="-107" charset="-128"/>
              </a:rPr>
              <a:t>’</a:t>
            </a:r>
            <a:r>
              <a:rPr lang="en-US" smtClean="0">
                <a:ea typeface="ＭＳ Ｐゴシック" pitchFamily="-107" charset="-128"/>
              </a:rPr>
              <a:t>s AWT. </a:t>
            </a:r>
          </a:p>
          <a:p>
            <a:r>
              <a:rPr lang="en-US" smtClean="0">
                <a:ea typeface="ＭＳ Ｐゴシック" pitchFamily="-107" charset="-128"/>
              </a:rPr>
              <a:t>Obsolete, but still used. </a:t>
            </a:r>
          </a:p>
          <a:p>
            <a:endParaRPr lang="en-US" smtClean="0">
              <a:ea typeface="ＭＳ Ｐゴシック" pitchFamily="-107" charset="-128"/>
            </a:endParaRPr>
          </a:p>
          <a:p>
            <a:r>
              <a:rPr lang="en-US" smtClean="0">
                <a:ea typeface="ＭＳ Ｐゴシック" pitchFamily="-107" charset="-128"/>
              </a:rPr>
              <a:t>WPF previously known as Avalon. Released as part of .Net 3.0. Uses DirectX. </a:t>
            </a:r>
          </a:p>
          <a:p>
            <a:r>
              <a:rPr lang="en-US" smtClean="0">
                <a:ea typeface="ＭＳ Ｐゴシック" pitchFamily="-107" charset="-128"/>
              </a:rPr>
              <a:t>Uses XML-oriented object model, XAML, to define a user interface and link various UI elements. </a:t>
            </a:r>
          </a:p>
          <a:p>
            <a:r>
              <a:rPr lang="en-US" smtClean="0">
                <a:ea typeface="ＭＳ Ｐゴシック" pitchFamily="-107" charset="-128"/>
              </a:rPr>
              <a:t>Runtime libraries are included with all recent versions of windows. </a:t>
            </a:r>
          </a:p>
          <a:p>
            <a:r>
              <a:rPr lang="en-US" smtClean="0">
                <a:ea typeface="ＭＳ Ｐゴシック" pitchFamily="-107" charset="-128"/>
              </a:rPr>
              <a:t>Sliverlight is mostly a subset of WPF for embedded Web controls. </a:t>
            </a:r>
          </a:p>
        </p:txBody>
      </p:sp>
      <p:sp>
        <p:nvSpPr>
          <p:cNvPr id="30724" name="Slide Number Placeholder 3"/>
          <p:cNvSpPr>
            <a:spLocks noGrp="1"/>
          </p:cNvSpPr>
          <p:nvPr>
            <p:ph type="sldNum" sz="quarter" idx="5"/>
          </p:nvPr>
        </p:nvSpPr>
        <p:spPr>
          <a:noFill/>
        </p:spPr>
        <p:txBody>
          <a:bodyPr/>
          <a:lstStyle/>
          <a:p>
            <a:fld id="{CD7570FE-AAAB-4DD0-B491-79C9F32C0F04}" type="slidenum">
              <a:rPr lang="en-US">
                <a:ea typeface="ＭＳ Ｐゴシック" pitchFamily="-107" charset="-128"/>
              </a:rPr>
              <a:pPr/>
              <a:t>45</a:t>
            </a:fld>
            <a:endParaRPr lang="en-US">
              <a:ea typeface="ＭＳ Ｐゴシック" pitchFamily="-107"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p:spPr>
            <p:txBody>
              <a:bodyPr wrap="none" anchor="ctr"/>
              <a:lstStyle/>
              <a:p>
                <a:pPr>
                  <a:defRPr/>
                </a:pPr>
                <a:endParaRPr lang="en-US">
                  <a:ea typeface="ＭＳ Ｐゴシック" charset="-128"/>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defRPr/>
                </a:pPr>
                <a:endParaRPr lang="en-US">
                  <a:ea typeface="ＭＳ Ｐゴシック" charset="-128"/>
                </a:endParaRP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p:spPr>
            <p:txBody>
              <a:bodyPr wrap="none" anchor="ctr"/>
              <a:lstStyle/>
              <a:p>
                <a:pPr>
                  <a:defRPr/>
                </a:pPr>
                <a:endParaRPr lang="en-US">
                  <a:ea typeface="ＭＳ Ｐゴシック" charset="-128"/>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defRPr/>
                </a:pPr>
                <a:endParaRPr lang="en-US">
                  <a:ea typeface="ＭＳ Ｐゴシック" charset="-128"/>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defRPr/>
              </a:pPr>
              <a:endParaRPr lang="en-US">
                <a:ea typeface="ＭＳ Ｐゴシック" charset="-128"/>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p:spPr>
          <p:txBody>
            <a:bodyPr wrap="none" anchor="ctr"/>
            <a:lstStyle/>
            <a:p>
              <a:pPr>
                <a:defRPr/>
              </a:pPr>
              <a:endParaRPr lang="en-US">
                <a:ea typeface="ＭＳ Ｐゴシック" charset="-128"/>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defRPr/>
              </a:pPr>
              <a:endParaRPr lang="en-US">
                <a:ea typeface="ＭＳ Ｐゴシック" charset="-128"/>
              </a:endParaRPr>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5" name="Rectangle 15"/>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400">
                <a:solidFill>
                  <a:schemeClr val="bg2"/>
                </a:solidFill>
                <a:latin typeface="Tahoma" charset="0"/>
                <a:ea typeface="+mn-ea"/>
                <a:cs typeface="+mn-cs"/>
              </a:defRPr>
            </a:lvl1pPr>
          </a:lstStyle>
          <a:p>
            <a:pPr>
              <a:defRPr/>
            </a:pPr>
            <a:endParaRPr lang="en-US"/>
          </a:p>
        </p:txBody>
      </p:sp>
      <p:sp>
        <p:nvSpPr>
          <p:cNvPr id="16" name="Rectangle 16"/>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F833CBF2-956D-4E39-A540-BC0A7BCF839B}" type="slidenum">
              <a:rPr lang="en-US"/>
              <a:pPr>
                <a:defRPr/>
              </a:pPr>
              <a:t>‹#›</a:t>
            </a:fld>
            <a:endParaRPr lang="en-US"/>
          </a:p>
        </p:txBody>
      </p:sp>
    </p:spTree>
  </p:cSld>
  <p:clrMapOvr>
    <a:masterClrMapping/>
  </p:clrMapOvr>
  <p:transition>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3"/>
          <p:cNvSpPr>
            <a:spLocks noGrp="1" noChangeArrowheads="1"/>
          </p:cNvSpPr>
          <p:nvPr>
            <p:ph type="sldNum" sz="quarter" idx="11"/>
          </p:nvPr>
        </p:nvSpPr>
        <p:spPr>
          <a:ln/>
        </p:spPr>
        <p:txBody>
          <a:bodyPr/>
          <a:lstStyle>
            <a:lvl1pPr>
              <a:defRPr/>
            </a:lvl1pPr>
          </a:lstStyle>
          <a:p>
            <a:pPr>
              <a:defRPr/>
            </a:pPr>
            <a:r>
              <a:rPr lang="en-US"/>
              <a:t>1.</a:t>
            </a:r>
            <a:fld id="{50F84170-E2CC-4E36-9A4A-D21A558F7FE9}" type="slidenum">
              <a:rPr lang="en-US"/>
              <a:pPr>
                <a:defRPr/>
              </a:pPr>
              <a:t>‹#›</a:t>
            </a:fld>
            <a:endParaRPr lang="en-US"/>
          </a:p>
        </p:txBody>
      </p:sp>
    </p:spTree>
  </p:cSld>
  <p:clrMapOvr>
    <a:masterClrMapping/>
  </p:clrMapOvr>
  <p:transition>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3"/>
          <p:cNvSpPr>
            <a:spLocks noGrp="1" noChangeArrowheads="1"/>
          </p:cNvSpPr>
          <p:nvPr>
            <p:ph type="sldNum" sz="quarter" idx="11"/>
          </p:nvPr>
        </p:nvSpPr>
        <p:spPr>
          <a:ln/>
        </p:spPr>
        <p:txBody>
          <a:bodyPr/>
          <a:lstStyle>
            <a:lvl1pPr>
              <a:defRPr/>
            </a:lvl1pPr>
          </a:lstStyle>
          <a:p>
            <a:pPr>
              <a:defRPr/>
            </a:pPr>
            <a:r>
              <a:rPr lang="en-US"/>
              <a:t>1.</a:t>
            </a:r>
            <a:fld id="{CBAADF6A-16BD-4578-8F5D-3F4F59281A60}" type="slidenum">
              <a:rPr lang="en-US"/>
              <a:pPr>
                <a:defRPr/>
              </a:pPr>
              <a:t>‹#›</a:t>
            </a:fld>
            <a:endParaRPr lang="en-US"/>
          </a:p>
        </p:txBody>
      </p:sp>
    </p:spTree>
  </p:cSld>
  <p:clrMapOvr>
    <a:masterClrMapping/>
  </p:clrMapOvr>
  <p:transition>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95400" y="1828800"/>
            <a:ext cx="37719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19700" y="1828800"/>
            <a:ext cx="37719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3"/>
          <p:cNvSpPr>
            <a:spLocks noGrp="1" noChangeArrowheads="1"/>
          </p:cNvSpPr>
          <p:nvPr>
            <p:ph type="sldNum" sz="quarter" idx="11"/>
          </p:nvPr>
        </p:nvSpPr>
        <p:spPr>
          <a:ln/>
        </p:spPr>
        <p:txBody>
          <a:bodyPr/>
          <a:lstStyle>
            <a:lvl1pPr>
              <a:defRPr/>
            </a:lvl1pPr>
          </a:lstStyle>
          <a:p>
            <a:pPr>
              <a:defRPr/>
            </a:pPr>
            <a:r>
              <a:rPr lang="en-US"/>
              <a:t>1.</a:t>
            </a:r>
            <a:fld id="{439A79E9-6A78-48D5-AF91-B85B5052F592}" type="slidenum">
              <a:rPr lang="en-US"/>
              <a:pPr>
                <a:defRPr/>
              </a:pPr>
              <a:t>‹#›</a:t>
            </a:fld>
            <a:endParaRPr lang="en-US"/>
          </a:p>
        </p:txBody>
      </p:sp>
    </p:spTree>
  </p:cSld>
  <p:clrMapOvr>
    <a:masterClrMapping/>
  </p:clrMapOvr>
  <p:transition>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3"/>
          <p:cNvSpPr>
            <a:spLocks noGrp="1" noChangeArrowheads="1"/>
          </p:cNvSpPr>
          <p:nvPr>
            <p:ph type="sldNum" sz="quarter" idx="11"/>
          </p:nvPr>
        </p:nvSpPr>
        <p:spPr>
          <a:ln/>
        </p:spPr>
        <p:txBody>
          <a:bodyPr/>
          <a:lstStyle>
            <a:lvl1pPr>
              <a:defRPr/>
            </a:lvl1pPr>
          </a:lstStyle>
          <a:p>
            <a:pPr>
              <a:defRPr/>
            </a:pPr>
            <a:r>
              <a:rPr lang="en-US"/>
              <a:t>1.</a:t>
            </a:r>
            <a:fld id="{6E5365C8-A075-44DA-BA0D-C611CD4A0BEA}" type="slidenum">
              <a:rPr lang="en-US"/>
              <a:pPr>
                <a:defRPr/>
              </a:pPr>
              <a:t>‹#›</a:t>
            </a:fld>
            <a:endParaRPr lang="en-US"/>
          </a:p>
        </p:txBody>
      </p:sp>
    </p:spTree>
  </p:cSld>
  <p:clrMapOvr>
    <a:masterClrMapping/>
  </p:clrMapOvr>
  <p:transition>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3"/>
          <p:cNvSpPr>
            <a:spLocks noGrp="1" noChangeArrowheads="1"/>
          </p:cNvSpPr>
          <p:nvPr>
            <p:ph type="sldNum" sz="quarter" idx="11"/>
          </p:nvPr>
        </p:nvSpPr>
        <p:spPr>
          <a:ln/>
        </p:spPr>
        <p:txBody>
          <a:bodyPr/>
          <a:lstStyle>
            <a:lvl1pPr>
              <a:defRPr/>
            </a:lvl1pPr>
          </a:lstStyle>
          <a:p>
            <a:pPr>
              <a:defRPr/>
            </a:pPr>
            <a:r>
              <a:rPr lang="en-US"/>
              <a:t>1.</a:t>
            </a:r>
            <a:fld id="{FAF5FF47-7CAA-4B7C-827C-D1DC53BAE68D}" type="slidenum">
              <a:rPr lang="en-US"/>
              <a:pPr>
                <a:defRPr/>
              </a:pPr>
              <a:t>‹#›</a:t>
            </a:fld>
            <a:endParaRPr lang="en-US"/>
          </a:p>
        </p:txBody>
      </p:sp>
    </p:spTree>
  </p:cSld>
  <p:clrMapOvr>
    <a:masterClrMapping/>
  </p:clrMapOvr>
  <p:transition>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3"/>
          <p:cNvSpPr>
            <a:spLocks noGrp="1" noChangeArrowheads="1"/>
          </p:cNvSpPr>
          <p:nvPr>
            <p:ph type="sldNum" sz="quarter" idx="11"/>
          </p:nvPr>
        </p:nvSpPr>
        <p:spPr>
          <a:ln/>
        </p:spPr>
        <p:txBody>
          <a:bodyPr/>
          <a:lstStyle>
            <a:lvl1pPr>
              <a:defRPr/>
            </a:lvl1pPr>
          </a:lstStyle>
          <a:p>
            <a:pPr>
              <a:defRPr/>
            </a:pPr>
            <a:r>
              <a:rPr lang="en-US"/>
              <a:t>1.</a:t>
            </a:r>
            <a:fld id="{FBD195A5-8CA0-47C5-9892-6F0CDE8C0123}" type="slidenum">
              <a:rPr lang="en-US"/>
              <a:pPr>
                <a:defRPr/>
              </a:pPr>
              <a:t>‹#›</a:t>
            </a:fld>
            <a:endParaRPr lang="en-US"/>
          </a:p>
        </p:txBody>
      </p:sp>
    </p:spTree>
  </p:cSld>
  <p:clrMapOvr>
    <a:masterClrMapping/>
  </p:clrMapOvr>
  <p:transition>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3"/>
          <p:cNvSpPr>
            <a:spLocks noGrp="1" noChangeArrowheads="1"/>
          </p:cNvSpPr>
          <p:nvPr>
            <p:ph type="sldNum" sz="quarter" idx="11"/>
          </p:nvPr>
        </p:nvSpPr>
        <p:spPr>
          <a:ln/>
        </p:spPr>
        <p:txBody>
          <a:bodyPr/>
          <a:lstStyle>
            <a:lvl1pPr>
              <a:defRPr/>
            </a:lvl1pPr>
          </a:lstStyle>
          <a:p>
            <a:pPr>
              <a:defRPr/>
            </a:pPr>
            <a:r>
              <a:rPr lang="en-US"/>
              <a:t>1.</a:t>
            </a:r>
            <a:fld id="{AD11FD99-7777-4091-9D5D-B4C2CE30FA18}" type="slidenum">
              <a:rPr lang="en-US"/>
              <a:pPr>
                <a:defRPr/>
              </a:pPr>
              <a:t>‹#›</a:t>
            </a:fld>
            <a:endParaRPr lang="en-US"/>
          </a:p>
        </p:txBody>
      </p:sp>
    </p:spTree>
  </p:cSld>
  <p:clrMapOvr>
    <a:masterClrMapping/>
  </p:clrMapOvr>
  <p:transition>
    <p:cu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3"/>
          <p:cNvSpPr>
            <a:spLocks noGrp="1" noChangeArrowheads="1"/>
          </p:cNvSpPr>
          <p:nvPr>
            <p:ph type="sldNum" sz="quarter" idx="11"/>
          </p:nvPr>
        </p:nvSpPr>
        <p:spPr>
          <a:ln/>
        </p:spPr>
        <p:txBody>
          <a:bodyPr/>
          <a:lstStyle>
            <a:lvl1pPr>
              <a:defRPr/>
            </a:lvl1pPr>
          </a:lstStyle>
          <a:p>
            <a:pPr>
              <a:defRPr/>
            </a:pPr>
            <a:r>
              <a:rPr lang="en-US"/>
              <a:t>1.</a:t>
            </a:r>
            <a:fld id="{3C26FF12-EA55-43D6-A249-6860B9784507}" type="slidenum">
              <a:rPr lang="en-US"/>
              <a:pPr>
                <a:defRPr/>
              </a:pPr>
              <a:t>‹#›</a:t>
            </a:fld>
            <a:endParaRPr lang="en-US"/>
          </a:p>
        </p:txBody>
      </p:sp>
    </p:spTree>
  </p:cSld>
  <p:clrMapOvr>
    <a:masterClrMapping/>
  </p:clrMapOvr>
  <p:transition>
    <p:cu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3"/>
          <p:cNvSpPr>
            <a:spLocks noGrp="1" noChangeArrowheads="1"/>
          </p:cNvSpPr>
          <p:nvPr>
            <p:ph type="sldNum" sz="quarter" idx="11"/>
          </p:nvPr>
        </p:nvSpPr>
        <p:spPr>
          <a:ln/>
        </p:spPr>
        <p:txBody>
          <a:bodyPr/>
          <a:lstStyle>
            <a:lvl1pPr>
              <a:defRPr/>
            </a:lvl1pPr>
          </a:lstStyle>
          <a:p>
            <a:pPr>
              <a:defRPr/>
            </a:pPr>
            <a:r>
              <a:rPr lang="en-US"/>
              <a:t>1.</a:t>
            </a:r>
            <a:fld id="{E47D07BE-126E-45C2-B376-6626FC05AD9A}" type="slidenum">
              <a:rPr lang="en-US"/>
              <a:pPr>
                <a:defRPr/>
              </a:pPr>
              <a:t>‹#›</a:t>
            </a:fld>
            <a:endParaRPr lang="en-US"/>
          </a:p>
        </p:txBody>
      </p:sp>
    </p:spTree>
  </p:cSld>
  <p:clrMapOvr>
    <a:masterClrMapping/>
  </p:clrMapOvr>
  <p:transition>
    <p:cu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67550" y="617538"/>
            <a:ext cx="1924050" cy="60880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95400" y="617538"/>
            <a:ext cx="5619750" cy="60880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3"/>
          <p:cNvSpPr>
            <a:spLocks noGrp="1" noChangeArrowheads="1"/>
          </p:cNvSpPr>
          <p:nvPr>
            <p:ph type="sldNum" sz="quarter" idx="11"/>
          </p:nvPr>
        </p:nvSpPr>
        <p:spPr>
          <a:ln/>
        </p:spPr>
        <p:txBody>
          <a:bodyPr/>
          <a:lstStyle>
            <a:lvl1pPr>
              <a:defRPr/>
            </a:lvl1pPr>
          </a:lstStyle>
          <a:p>
            <a:pPr>
              <a:defRPr/>
            </a:pPr>
            <a:r>
              <a:rPr lang="en-US"/>
              <a:t>1.</a:t>
            </a:r>
            <a:fld id="{E8667067-1E63-4512-B1F4-D3E74B2DE95E}" type="slidenum">
              <a:rPr lang="en-US"/>
              <a:pPr>
                <a:defRPr/>
              </a:pPr>
              <a:t>‹#›</a:t>
            </a:fld>
            <a:endParaRPr lang="en-US"/>
          </a:p>
        </p:txBody>
      </p:sp>
    </p:spTree>
  </p:cSld>
  <p:clrMapOvr>
    <a:masterClrMapping/>
  </p:clrMapOvr>
  <p:transition>
    <p:cu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295400" y="617538"/>
            <a:ext cx="7648575"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295400" y="1828800"/>
            <a:ext cx="37719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219700" y="1828800"/>
            <a:ext cx="3771900" cy="4876800"/>
          </a:xfrm>
        </p:spPr>
        <p:txBody>
          <a:bodyPr/>
          <a:lstStyle/>
          <a:p>
            <a:pPr lvl="0"/>
            <a:endParaRPr lang="en-US" noProof="0" smtClean="0"/>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3"/>
          <p:cNvSpPr>
            <a:spLocks noGrp="1" noChangeArrowheads="1"/>
          </p:cNvSpPr>
          <p:nvPr>
            <p:ph type="sldNum" sz="quarter" idx="11"/>
          </p:nvPr>
        </p:nvSpPr>
        <p:spPr>
          <a:ln/>
        </p:spPr>
        <p:txBody>
          <a:bodyPr/>
          <a:lstStyle>
            <a:lvl1pPr>
              <a:defRPr/>
            </a:lvl1pPr>
          </a:lstStyle>
          <a:p>
            <a:pPr>
              <a:defRPr/>
            </a:pPr>
            <a:r>
              <a:rPr lang="en-US"/>
              <a:t>1.</a:t>
            </a:r>
            <a:fld id="{7D3CE998-D19A-4491-8869-C47A1AAA589D}" type="slidenum">
              <a:rPr lang="en-US"/>
              <a:pPr>
                <a:defRPr/>
              </a:pPr>
              <a:t>‹#›</a:t>
            </a:fld>
            <a:endParaRPr lang="en-US"/>
          </a:p>
        </p:txBody>
      </p:sp>
    </p:spTree>
  </p:cSld>
  <p:clrMapOvr>
    <a:masterClrMapping/>
  </p:clrMapOvr>
  <p:transition>
    <p:cu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70332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61132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1101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532121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234542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792565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061360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471967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1232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267060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74766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89914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1311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773216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29002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616674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36932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143522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9304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434847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54128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408487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522653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439979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61745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075043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296390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122351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887948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024006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030812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025861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76445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E96461"/>
            </a:gs>
            <a:gs pos="50000">
              <a:srgbClr val="FFF200"/>
            </a:gs>
            <a:gs pos="100000">
              <a:srgbClr val="E96461"/>
            </a:gs>
          </a:gsLst>
          <a:lin ang="5400000" scaled="1"/>
        </a:gra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gray">
          <a:xfrm>
            <a:off x="762000" y="990600"/>
            <a:ext cx="31750" cy="1052513"/>
          </a:xfrm>
          <a:prstGeom prst="rect">
            <a:avLst/>
          </a:prstGeom>
          <a:solidFill>
            <a:schemeClr val="bg2"/>
          </a:solidFill>
          <a:ln w="9525">
            <a:noFill/>
            <a:miter lim="800000"/>
            <a:headEnd/>
            <a:tailEnd/>
          </a:ln>
        </p:spPr>
        <p:txBody>
          <a:bodyPr wrap="none" anchor="ctr"/>
          <a:lstStyle/>
          <a:p>
            <a:pPr algn="ctr">
              <a:defRPr/>
            </a:pPr>
            <a:endParaRPr kumimoji="1" lang="en-US">
              <a:ea typeface="ＭＳ Ｐゴシック" charset="-128"/>
            </a:endParaRPr>
          </a:p>
        </p:txBody>
      </p:sp>
      <p:sp>
        <p:nvSpPr>
          <p:cNvPr id="1027"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defRPr/>
            </a:pPr>
            <a:endParaRPr kumimoji="1" lang="en-US">
              <a:ea typeface="ＭＳ Ｐゴシック" charset="-128"/>
            </a:endParaRPr>
          </a:p>
        </p:txBody>
      </p:sp>
      <p:sp>
        <p:nvSpPr>
          <p:cNvPr id="11268" name="Rectangle 9"/>
          <p:cNvSpPr>
            <a:spLocks noGrp="1" noChangeArrowheads="1"/>
          </p:cNvSpPr>
          <p:nvPr>
            <p:ph type="title"/>
          </p:nvPr>
        </p:nvSpPr>
        <p:spPr bwMode="auto">
          <a:xfrm>
            <a:off x="1295400" y="617538"/>
            <a:ext cx="7648575"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1269" name="Rectangle 10"/>
          <p:cNvSpPr>
            <a:spLocks noGrp="1" noChangeArrowheads="1"/>
          </p:cNvSpPr>
          <p:nvPr>
            <p:ph type="body" idx="1"/>
          </p:nvPr>
        </p:nvSpPr>
        <p:spPr bwMode="auto">
          <a:xfrm>
            <a:off x="1295400" y="1828800"/>
            <a:ext cx="76962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4523" name="Rectangle 11"/>
          <p:cNvSpPr>
            <a:spLocks noGrp="1" noChangeArrowheads="1"/>
          </p:cNvSpPr>
          <p:nvPr>
            <p:ph type="dt" sz="half" idx="2"/>
          </p:nvPr>
        </p:nvSpPr>
        <p:spPr bwMode="auto">
          <a:xfrm>
            <a:off x="8001000" y="0"/>
            <a:ext cx="11430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atin typeface="Tahoma" charset="0"/>
                <a:ea typeface="+mn-ea"/>
                <a:cs typeface="+mn-cs"/>
              </a:defRPr>
            </a:lvl1pPr>
          </a:lstStyle>
          <a:p>
            <a:pPr>
              <a:defRPr/>
            </a:pPr>
            <a:endParaRPr lang="en-US"/>
          </a:p>
        </p:txBody>
      </p:sp>
      <p:sp>
        <p:nvSpPr>
          <p:cNvPr id="64525" name="Rectangle 13"/>
          <p:cNvSpPr>
            <a:spLocks noGrp="1" noChangeArrowheads="1"/>
          </p:cNvSpPr>
          <p:nvPr>
            <p:ph type="sldNum" sz="quarter" idx="4"/>
          </p:nvPr>
        </p:nvSpPr>
        <p:spPr bwMode="auto">
          <a:xfrm>
            <a:off x="0" y="0"/>
            <a:ext cx="6858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smtClean="0">
                <a:ea typeface="ＭＳ Ｐゴシック" charset="-128"/>
              </a:defRPr>
            </a:lvl1pPr>
          </a:lstStyle>
          <a:p>
            <a:pPr>
              <a:defRPr/>
            </a:pPr>
            <a:r>
              <a:rPr lang="en-US"/>
              <a:t>1.</a:t>
            </a:r>
            <a:fld id="{D70C80F1-20DC-49F7-B712-72AF329352A7}" type="slidenum">
              <a:rPr lang="en-US"/>
              <a:pPr>
                <a:defRPr/>
              </a:pPr>
              <a:t>‹#›</a:t>
            </a:fld>
            <a:endParaRPr lang="en-US"/>
          </a:p>
        </p:txBody>
      </p:sp>
      <p:pic>
        <p:nvPicPr>
          <p:cNvPr id="11272" name="Picture 16" descr="seal-big"/>
          <p:cNvPicPr>
            <a:picLocks noChangeAspect="1" noChangeArrowheads="1"/>
          </p:cNvPicPr>
          <p:nvPr/>
        </p:nvPicPr>
        <p:blipFill>
          <a:blip r:embed="rId14"/>
          <a:srcRect/>
          <a:stretch>
            <a:fillRect/>
          </a:stretch>
        </p:blipFill>
        <p:spPr bwMode="auto">
          <a:xfrm>
            <a:off x="304800" y="1219200"/>
            <a:ext cx="960438" cy="9826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21"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transition>
    <p:cut/>
  </p:transition>
  <p:hf hdr="0" ftr="0" dt="0"/>
  <p:txStyles>
    <p:titleStyle>
      <a:lvl1pPr algn="l" rtl="0" eaLnBrk="0" fontAlgn="base" hangingPunct="0">
        <a:spcBef>
          <a:spcPct val="0"/>
        </a:spcBef>
        <a:spcAft>
          <a:spcPct val="0"/>
        </a:spcAft>
        <a:defRPr sz="4400">
          <a:solidFill>
            <a:srgbClr val="A50021"/>
          </a:solidFill>
          <a:latin typeface="+mj-lt"/>
          <a:ea typeface="ＭＳ Ｐゴシック" charset="-128"/>
          <a:cs typeface="ＭＳ Ｐゴシック" charset="-128"/>
        </a:defRPr>
      </a:lvl1pPr>
      <a:lvl2pPr algn="l" rtl="0" eaLnBrk="0" fontAlgn="base" hangingPunct="0">
        <a:spcBef>
          <a:spcPct val="0"/>
        </a:spcBef>
        <a:spcAft>
          <a:spcPct val="0"/>
        </a:spcAft>
        <a:defRPr sz="4400">
          <a:solidFill>
            <a:srgbClr val="A50021"/>
          </a:solidFill>
          <a:latin typeface="Tahoma" charset="0"/>
          <a:ea typeface="ＭＳ Ｐゴシック" charset="-128"/>
          <a:cs typeface="ＭＳ Ｐゴシック" charset="-128"/>
        </a:defRPr>
      </a:lvl2pPr>
      <a:lvl3pPr algn="l" rtl="0" eaLnBrk="0" fontAlgn="base" hangingPunct="0">
        <a:spcBef>
          <a:spcPct val="0"/>
        </a:spcBef>
        <a:spcAft>
          <a:spcPct val="0"/>
        </a:spcAft>
        <a:defRPr sz="4400">
          <a:solidFill>
            <a:srgbClr val="A50021"/>
          </a:solidFill>
          <a:latin typeface="Tahoma" charset="0"/>
          <a:ea typeface="ＭＳ Ｐゴシック" charset="-128"/>
          <a:cs typeface="ＭＳ Ｐゴシック" charset="-128"/>
        </a:defRPr>
      </a:lvl3pPr>
      <a:lvl4pPr algn="l" rtl="0" eaLnBrk="0" fontAlgn="base" hangingPunct="0">
        <a:spcBef>
          <a:spcPct val="0"/>
        </a:spcBef>
        <a:spcAft>
          <a:spcPct val="0"/>
        </a:spcAft>
        <a:defRPr sz="4400">
          <a:solidFill>
            <a:srgbClr val="A50021"/>
          </a:solidFill>
          <a:latin typeface="Tahoma" charset="0"/>
          <a:ea typeface="ＭＳ Ｐゴシック" charset="-128"/>
          <a:cs typeface="ＭＳ Ｐゴシック" charset="-128"/>
        </a:defRPr>
      </a:lvl4pPr>
      <a:lvl5pPr algn="l" rtl="0" eaLnBrk="0" fontAlgn="base" hangingPunct="0">
        <a:spcBef>
          <a:spcPct val="0"/>
        </a:spcBef>
        <a:spcAft>
          <a:spcPct val="0"/>
        </a:spcAft>
        <a:defRPr sz="4400">
          <a:solidFill>
            <a:srgbClr val="A50021"/>
          </a:solidFill>
          <a:latin typeface="Tahoma" charset="0"/>
          <a:ea typeface="ＭＳ Ｐゴシック" charset="-128"/>
          <a:cs typeface="ＭＳ Ｐゴシック" charset="-128"/>
        </a:defRPr>
      </a:lvl5pPr>
      <a:lvl6pPr marL="457200" algn="l" rtl="0" fontAlgn="base">
        <a:spcBef>
          <a:spcPct val="0"/>
        </a:spcBef>
        <a:spcAft>
          <a:spcPct val="0"/>
        </a:spcAft>
        <a:defRPr sz="4400">
          <a:solidFill>
            <a:srgbClr val="A50021"/>
          </a:solidFill>
          <a:latin typeface="Tahoma" charset="0"/>
        </a:defRPr>
      </a:lvl6pPr>
      <a:lvl7pPr marL="914400" algn="l" rtl="0" fontAlgn="base">
        <a:spcBef>
          <a:spcPct val="0"/>
        </a:spcBef>
        <a:spcAft>
          <a:spcPct val="0"/>
        </a:spcAft>
        <a:defRPr sz="4400">
          <a:solidFill>
            <a:srgbClr val="A50021"/>
          </a:solidFill>
          <a:latin typeface="Tahoma" charset="0"/>
        </a:defRPr>
      </a:lvl7pPr>
      <a:lvl8pPr marL="1371600" algn="l" rtl="0" fontAlgn="base">
        <a:spcBef>
          <a:spcPct val="0"/>
        </a:spcBef>
        <a:spcAft>
          <a:spcPct val="0"/>
        </a:spcAft>
        <a:defRPr sz="4400">
          <a:solidFill>
            <a:srgbClr val="A50021"/>
          </a:solidFill>
          <a:latin typeface="Tahoma" charset="0"/>
        </a:defRPr>
      </a:lvl8pPr>
      <a:lvl9pPr marL="1828800" algn="l" rtl="0" fontAlgn="base">
        <a:spcBef>
          <a:spcPct val="0"/>
        </a:spcBef>
        <a:spcAft>
          <a:spcPct val="0"/>
        </a:spcAft>
        <a:defRPr sz="4400">
          <a:solidFill>
            <a:srgbClr val="A50021"/>
          </a:solidFill>
          <a:latin typeface="Tahoma"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107" charset="2"/>
        <a:buChar char="n"/>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hlink"/>
        </a:buClr>
        <a:buSzPct val="55000"/>
        <a:buFont typeface="Wingdings" pitchFamily="-107" charset="2"/>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pitchFamily="-107" charset="2"/>
        <a:buChar char="n"/>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pitchFamily="-107" charset="2"/>
        <a:buChar char="n"/>
        <a:defRPr>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pitchFamily="-107" charset="2"/>
        <a:buChar char="n"/>
        <a:defRPr>
          <a:solidFill>
            <a:schemeClr val="tx1"/>
          </a:solidFill>
          <a:latin typeface="+mn-lt"/>
          <a:ea typeface="ＭＳ Ｐゴシック" charset="-128"/>
        </a:defRPr>
      </a:lvl5pPr>
      <a:lvl6pPr marL="2514600" indent="-228600" algn="l" rtl="0" fontAlgn="base">
        <a:spcBef>
          <a:spcPct val="20000"/>
        </a:spcBef>
        <a:spcAft>
          <a:spcPct val="0"/>
        </a:spcAft>
        <a:buClr>
          <a:schemeClr val="accent1"/>
        </a:buClr>
        <a:buSzPct val="50000"/>
        <a:buFont typeface="Wingdings" charset="2"/>
        <a:buChar char="n"/>
        <a:defRPr>
          <a:solidFill>
            <a:schemeClr val="tx1"/>
          </a:solidFill>
          <a:latin typeface="+mn-lt"/>
          <a:ea typeface="ＭＳ Ｐゴシック" charset="-128"/>
        </a:defRPr>
      </a:lvl6pPr>
      <a:lvl7pPr marL="2971800" indent="-228600" algn="l" rtl="0" fontAlgn="base">
        <a:spcBef>
          <a:spcPct val="20000"/>
        </a:spcBef>
        <a:spcAft>
          <a:spcPct val="0"/>
        </a:spcAft>
        <a:buClr>
          <a:schemeClr val="accent1"/>
        </a:buClr>
        <a:buSzPct val="50000"/>
        <a:buFont typeface="Wingdings" charset="2"/>
        <a:buChar char="n"/>
        <a:defRPr>
          <a:solidFill>
            <a:schemeClr val="tx1"/>
          </a:solidFill>
          <a:latin typeface="+mn-lt"/>
          <a:ea typeface="ＭＳ Ｐゴシック" charset="-128"/>
        </a:defRPr>
      </a:lvl7pPr>
      <a:lvl8pPr marL="3429000" indent="-228600" algn="l" rtl="0" fontAlgn="base">
        <a:spcBef>
          <a:spcPct val="20000"/>
        </a:spcBef>
        <a:spcAft>
          <a:spcPct val="0"/>
        </a:spcAft>
        <a:buClr>
          <a:schemeClr val="accent1"/>
        </a:buClr>
        <a:buSzPct val="50000"/>
        <a:buFont typeface="Wingdings" charset="2"/>
        <a:buChar char="n"/>
        <a:defRPr>
          <a:solidFill>
            <a:schemeClr val="tx1"/>
          </a:solidFill>
          <a:latin typeface="+mn-lt"/>
          <a:ea typeface="ＭＳ Ｐゴシック" charset="-128"/>
        </a:defRPr>
      </a:lvl8pPr>
      <a:lvl9pPr marL="3886200" indent="-228600" algn="l" rtl="0" fontAlgn="base">
        <a:spcBef>
          <a:spcPct val="20000"/>
        </a:spcBef>
        <a:spcAft>
          <a:spcPct val="0"/>
        </a:spcAft>
        <a:buClr>
          <a:schemeClr val="accent1"/>
        </a:buClr>
        <a:buSzPct val="50000"/>
        <a:buFont typeface="Wingdings" charset="2"/>
        <a:buChar char="n"/>
        <a:defRPr>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a typeface="+mn-ea"/>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a typeface="+mn-ea"/>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B6F15528-21DE-4FAA-801E-634DDDAF4B2B}" type="slidenum">
              <a:rPr lang="en-US" smtClean="0">
                <a:solidFill>
                  <a:prstClr val="black">
                    <a:tint val="75000"/>
                  </a:prstClr>
                </a:solidFill>
                <a:latin typeface="Calibri"/>
                <a:ea typeface="+mn-ea"/>
              </a:rPr>
              <a:pPr fontAlgn="auto">
                <a:spcBef>
                  <a:spcPts val="0"/>
                </a:spcBef>
                <a:spcAft>
                  <a:spcPts val="0"/>
                </a:spcAft>
              </a:pPr>
              <a:t>‹#›</a:t>
            </a:fld>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2274047304"/>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a typeface="+mn-ea"/>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a typeface="+mn-ea"/>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B6F15528-21DE-4FAA-801E-634DDDAF4B2B}" type="slidenum">
              <a:rPr lang="en-US" smtClean="0">
                <a:solidFill>
                  <a:prstClr val="black">
                    <a:tint val="75000"/>
                  </a:prstClr>
                </a:solidFill>
                <a:latin typeface="Calibri"/>
                <a:ea typeface="+mn-ea"/>
              </a:rPr>
              <a:pPr fontAlgn="auto">
                <a:spcBef>
                  <a:spcPts val="0"/>
                </a:spcBef>
                <a:spcAft>
                  <a:spcPts val="0"/>
                </a:spcAft>
              </a:pPr>
              <a:t>‹#›</a:t>
            </a:fld>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595074654"/>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a typeface="+mn-ea"/>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a typeface="+mn-ea"/>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B6F15528-21DE-4FAA-801E-634DDDAF4B2B}" type="slidenum">
              <a:rPr lang="en-US" smtClean="0">
                <a:solidFill>
                  <a:prstClr val="black">
                    <a:tint val="75000"/>
                  </a:prstClr>
                </a:solidFill>
                <a:latin typeface="Calibri"/>
                <a:ea typeface="+mn-ea"/>
              </a:rPr>
              <a:pPr fontAlgn="auto">
                <a:spcBef>
                  <a:spcPts val="0"/>
                </a:spcBef>
                <a:spcAft>
                  <a:spcPts val="0"/>
                </a:spcAft>
              </a:pPr>
              <a:t>‹#›</a:t>
            </a:fld>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1908906126"/>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7.emf"/><Relationship Id="rId4" Type="http://schemas.openxmlformats.org/officeDocument/2006/relationships/oleObject" Target="../embeddings/Microsoft_Excel_97-2003_Worksheet1.xls"/></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18.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1219200" y="1905000"/>
            <a:ext cx="7772400" cy="1143000"/>
          </a:xfrm>
        </p:spPr>
        <p:txBody>
          <a:bodyPr/>
          <a:lstStyle/>
          <a:p>
            <a:pPr algn="ctr" eaLnBrk="1" hangingPunct="1"/>
            <a:r>
              <a:rPr lang="en-US" sz="4000" smtClean="0">
                <a:ea typeface="ＭＳ Ｐゴシック" pitchFamily="-107" charset="-128"/>
              </a:rPr>
              <a:t>Chapter 2.5:</a:t>
            </a:r>
            <a:br>
              <a:rPr lang="en-US" sz="4000" smtClean="0">
                <a:ea typeface="ＭＳ Ｐゴシック" pitchFamily="-107" charset="-128"/>
              </a:rPr>
            </a:br>
            <a:r>
              <a:rPr lang="en-US" sz="4000" smtClean="0">
                <a:ea typeface="ＭＳ Ｐゴシック" pitchFamily="-107" charset="-128"/>
              </a:rPr>
              <a:t>Dictionaries and Hash Tables</a:t>
            </a:r>
          </a:p>
        </p:txBody>
      </p:sp>
      <p:sp>
        <p:nvSpPr>
          <p:cNvPr id="13315" name="Rectangle 3"/>
          <p:cNvSpPr>
            <a:spLocks noChangeArrowheads="1"/>
          </p:cNvSpPr>
          <p:nvPr/>
        </p:nvSpPr>
        <p:spPr bwMode="auto">
          <a:xfrm>
            <a:off x="5594350" y="3429000"/>
            <a:ext cx="304800" cy="304800"/>
          </a:xfrm>
          <a:prstGeom prst="rect">
            <a:avLst/>
          </a:prstGeom>
          <a:noFill/>
          <a:ln w="19050">
            <a:solidFill>
              <a:schemeClr val="tx1"/>
            </a:solidFill>
            <a:miter lim="800000"/>
            <a:headEnd/>
            <a:tailEnd/>
          </a:ln>
        </p:spPr>
        <p:txBody>
          <a:bodyPr wrap="none" anchor="ctr"/>
          <a:lstStyle/>
          <a:p>
            <a:pPr algn="ctr"/>
            <a:r>
              <a:rPr lang="en-US" sz="1800">
                <a:sym typeface="Symbol" pitchFamily="-107" charset="2"/>
              </a:rPr>
              <a:t></a:t>
            </a:r>
            <a:endParaRPr lang="en-US" sz="1800"/>
          </a:p>
        </p:txBody>
      </p:sp>
      <p:sp>
        <p:nvSpPr>
          <p:cNvPr id="13316" name="Rectangle 4"/>
          <p:cNvSpPr>
            <a:spLocks noChangeArrowheads="1"/>
          </p:cNvSpPr>
          <p:nvPr/>
        </p:nvSpPr>
        <p:spPr bwMode="auto">
          <a:xfrm>
            <a:off x="5594350" y="3733800"/>
            <a:ext cx="304800" cy="304800"/>
          </a:xfrm>
          <a:prstGeom prst="rect">
            <a:avLst/>
          </a:prstGeom>
          <a:noFill/>
          <a:ln w="19050">
            <a:solidFill>
              <a:schemeClr val="tx1"/>
            </a:solidFill>
            <a:miter lim="800000"/>
            <a:headEnd/>
            <a:tailEnd/>
          </a:ln>
        </p:spPr>
        <p:txBody>
          <a:bodyPr wrap="none" anchor="ctr"/>
          <a:lstStyle/>
          <a:p>
            <a:endParaRPr lang="en-US"/>
          </a:p>
        </p:txBody>
      </p:sp>
      <p:sp>
        <p:nvSpPr>
          <p:cNvPr id="13317" name="Rectangle 5"/>
          <p:cNvSpPr>
            <a:spLocks noChangeArrowheads="1"/>
          </p:cNvSpPr>
          <p:nvPr/>
        </p:nvSpPr>
        <p:spPr bwMode="auto">
          <a:xfrm>
            <a:off x="5594350" y="4038600"/>
            <a:ext cx="304800" cy="304800"/>
          </a:xfrm>
          <a:prstGeom prst="rect">
            <a:avLst/>
          </a:prstGeom>
          <a:noFill/>
          <a:ln w="19050">
            <a:solidFill>
              <a:schemeClr val="tx1"/>
            </a:solidFill>
            <a:miter lim="800000"/>
            <a:headEnd/>
            <a:tailEnd/>
          </a:ln>
        </p:spPr>
        <p:txBody>
          <a:bodyPr wrap="none" anchor="ctr"/>
          <a:lstStyle/>
          <a:p>
            <a:pPr algn="ctr"/>
            <a:endParaRPr lang="en-US" sz="1800">
              <a:sym typeface="Symbol" pitchFamily="-107" charset="2"/>
            </a:endParaRPr>
          </a:p>
        </p:txBody>
      </p:sp>
      <p:sp>
        <p:nvSpPr>
          <p:cNvPr id="13318" name="Rectangle 6"/>
          <p:cNvSpPr>
            <a:spLocks noChangeArrowheads="1"/>
          </p:cNvSpPr>
          <p:nvPr/>
        </p:nvSpPr>
        <p:spPr bwMode="auto">
          <a:xfrm>
            <a:off x="5594350" y="4343400"/>
            <a:ext cx="304800" cy="304800"/>
          </a:xfrm>
          <a:prstGeom prst="rect">
            <a:avLst/>
          </a:prstGeom>
          <a:noFill/>
          <a:ln w="19050">
            <a:solidFill>
              <a:schemeClr val="tx1"/>
            </a:solidFill>
            <a:miter lim="800000"/>
            <a:headEnd/>
            <a:tailEnd/>
          </a:ln>
        </p:spPr>
        <p:txBody>
          <a:bodyPr wrap="none" anchor="ctr"/>
          <a:lstStyle/>
          <a:p>
            <a:pPr algn="ctr"/>
            <a:r>
              <a:rPr lang="en-US" sz="1800">
                <a:sym typeface="Symbol" pitchFamily="-107" charset="2"/>
              </a:rPr>
              <a:t></a:t>
            </a:r>
          </a:p>
        </p:txBody>
      </p:sp>
      <p:sp>
        <p:nvSpPr>
          <p:cNvPr id="13319" name="Rectangle 7"/>
          <p:cNvSpPr>
            <a:spLocks noChangeArrowheads="1"/>
          </p:cNvSpPr>
          <p:nvPr/>
        </p:nvSpPr>
        <p:spPr bwMode="auto">
          <a:xfrm>
            <a:off x="5594350" y="4648200"/>
            <a:ext cx="304800" cy="304800"/>
          </a:xfrm>
          <a:prstGeom prst="rect">
            <a:avLst/>
          </a:prstGeom>
          <a:noFill/>
          <a:ln w="19050">
            <a:solidFill>
              <a:schemeClr val="tx1"/>
            </a:solidFill>
            <a:miter lim="800000"/>
            <a:headEnd/>
            <a:tailEnd/>
          </a:ln>
        </p:spPr>
        <p:txBody>
          <a:bodyPr wrap="none" anchor="ctr"/>
          <a:lstStyle/>
          <a:p>
            <a:endParaRPr lang="en-US"/>
          </a:p>
        </p:txBody>
      </p:sp>
      <p:sp>
        <p:nvSpPr>
          <p:cNvPr id="13320" name="Text Box 8"/>
          <p:cNvSpPr txBox="1">
            <a:spLocks noChangeArrowheads="1"/>
          </p:cNvSpPr>
          <p:nvPr/>
        </p:nvSpPr>
        <p:spPr bwMode="auto">
          <a:xfrm>
            <a:off x="5257800" y="3352800"/>
            <a:ext cx="336550" cy="457200"/>
          </a:xfrm>
          <a:prstGeom prst="rect">
            <a:avLst/>
          </a:prstGeom>
          <a:noFill/>
          <a:ln w="19050">
            <a:noFill/>
            <a:miter lim="800000"/>
            <a:headEnd/>
            <a:tailEnd/>
          </a:ln>
        </p:spPr>
        <p:txBody>
          <a:bodyPr wrap="none">
            <a:spAutoFit/>
          </a:bodyPr>
          <a:lstStyle/>
          <a:p>
            <a:pPr algn="ctr"/>
            <a:r>
              <a:rPr lang="en-US">
                <a:latin typeface="Times New Roman" pitchFamily="18" charset="0"/>
              </a:rPr>
              <a:t>0</a:t>
            </a:r>
          </a:p>
        </p:txBody>
      </p:sp>
      <p:sp>
        <p:nvSpPr>
          <p:cNvPr id="13321" name="Text Box 9"/>
          <p:cNvSpPr txBox="1">
            <a:spLocks noChangeArrowheads="1"/>
          </p:cNvSpPr>
          <p:nvPr/>
        </p:nvSpPr>
        <p:spPr bwMode="auto">
          <a:xfrm>
            <a:off x="5257800" y="3657600"/>
            <a:ext cx="336550" cy="457200"/>
          </a:xfrm>
          <a:prstGeom prst="rect">
            <a:avLst/>
          </a:prstGeom>
          <a:noFill/>
          <a:ln w="19050">
            <a:noFill/>
            <a:miter lim="800000"/>
            <a:headEnd/>
            <a:tailEnd/>
          </a:ln>
        </p:spPr>
        <p:txBody>
          <a:bodyPr wrap="none">
            <a:spAutoFit/>
          </a:bodyPr>
          <a:lstStyle/>
          <a:p>
            <a:pPr algn="ctr"/>
            <a:r>
              <a:rPr lang="en-US">
                <a:latin typeface="Times New Roman" pitchFamily="18" charset="0"/>
              </a:rPr>
              <a:t>1</a:t>
            </a:r>
          </a:p>
        </p:txBody>
      </p:sp>
      <p:sp>
        <p:nvSpPr>
          <p:cNvPr id="13322" name="Text Box 10"/>
          <p:cNvSpPr txBox="1">
            <a:spLocks noChangeArrowheads="1"/>
          </p:cNvSpPr>
          <p:nvPr/>
        </p:nvSpPr>
        <p:spPr bwMode="auto">
          <a:xfrm>
            <a:off x="5257800" y="3962400"/>
            <a:ext cx="336550" cy="457200"/>
          </a:xfrm>
          <a:prstGeom prst="rect">
            <a:avLst/>
          </a:prstGeom>
          <a:noFill/>
          <a:ln w="19050">
            <a:noFill/>
            <a:miter lim="800000"/>
            <a:headEnd/>
            <a:tailEnd/>
          </a:ln>
        </p:spPr>
        <p:txBody>
          <a:bodyPr wrap="none">
            <a:spAutoFit/>
          </a:bodyPr>
          <a:lstStyle/>
          <a:p>
            <a:pPr algn="ctr"/>
            <a:r>
              <a:rPr lang="en-US">
                <a:latin typeface="Times New Roman" pitchFamily="18" charset="0"/>
              </a:rPr>
              <a:t>2</a:t>
            </a:r>
          </a:p>
        </p:txBody>
      </p:sp>
      <p:sp>
        <p:nvSpPr>
          <p:cNvPr id="13323" name="Text Box 11"/>
          <p:cNvSpPr txBox="1">
            <a:spLocks noChangeArrowheads="1"/>
          </p:cNvSpPr>
          <p:nvPr/>
        </p:nvSpPr>
        <p:spPr bwMode="auto">
          <a:xfrm>
            <a:off x="5257800" y="4267200"/>
            <a:ext cx="336550" cy="457200"/>
          </a:xfrm>
          <a:prstGeom prst="rect">
            <a:avLst/>
          </a:prstGeom>
          <a:noFill/>
          <a:ln w="19050">
            <a:noFill/>
            <a:miter lim="800000"/>
            <a:headEnd/>
            <a:tailEnd/>
          </a:ln>
        </p:spPr>
        <p:txBody>
          <a:bodyPr wrap="none">
            <a:spAutoFit/>
          </a:bodyPr>
          <a:lstStyle/>
          <a:p>
            <a:pPr algn="ctr"/>
            <a:r>
              <a:rPr lang="en-US">
                <a:latin typeface="Times New Roman" pitchFamily="18" charset="0"/>
              </a:rPr>
              <a:t>3</a:t>
            </a:r>
          </a:p>
        </p:txBody>
      </p:sp>
      <p:sp>
        <p:nvSpPr>
          <p:cNvPr id="13324" name="Text Box 12"/>
          <p:cNvSpPr txBox="1">
            <a:spLocks noChangeArrowheads="1"/>
          </p:cNvSpPr>
          <p:nvPr/>
        </p:nvSpPr>
        <p:spPr bwMode="auto">
          <a:xfrm>
            <a:off x="5257800" y="4572000"/>
            <a:ext cx="336550" cy="457200"/>
          </a:xfrm>
          <a:prstGeom prst="rect">
            <a:avLst/>
          </a:prstGeom>
          <a:noFill/>
          <a:ln w="19050">
            <a:noFill/>
            <a:miter lim="800000"/>
            <a:headEnd/>
            <a:tailEnd/>
          </a:ln>
        </p:spPr>
        <p:txBody>
          <a:bodyPr wrap="none">
            <a:spAutoFit/>
          </a:bodyPr>
          <a:lstStyle/>
          <a:p>
            <a:pPr algn="ctr"/>
            <a:r>
              <a:rPr lang="en-US">
                <a:latin typeface="Times New Roman" pitchFamily="18" charset="0"/>
              </a:rPr>
              <a:t>4</a:t>
            </a:r>
          </a:p>
        </p:txBody>
      </p:sp>
      <p:sp>
        <p:nvSpPr>
          <p:cNvPr id="13325" name="AutoShape 13"/>
          <p:cNvSpPr>
            <a:spLocks noChangeArrowheads="1"/>
          </p:cNvSpPr>
          <p:nvPr/>
        </p:nvSpPr>
        <p:spPr bwMode="auto">
          <a:xfrm>
            <a:off x="6172200" y="4648200"/>
            <a:ext cx="1600200" cy="304800"/>
          </a:xfrm>
          <a:prstGeom prst="roundRect">
            <a:avLst>
              <a:gd name="adj" fmla="val 16667"/>
            </a:avLst>
          </a:prstGeom>
          <a:solidFill>
            <a:schemeClr val="accent1"/>
          </a:solidFill>
          <a:ln w="19050">
            <a:solidFill>
              <a:schemeClr val="tx1"/>
            </a:solidFill>
            <a:round/>
            <a:headEnd/>
            <a:tailEnd/>
          </a:ln>
        </p:spPr>
        <p:txBody>
          <a:bodyPr wrap="none" anchor="ctr"/>
          <a:lstStyle/>
          <a:p>
            <a:pPr algn="ctr"/>
            <a:r>
              <a:rPr lang="en-US" sz="1600" b="1"/>
              <a:t>451-229-0004</a:t>
            </a:r>
          </a:p>
        </p:txBody>
      </p:sp>
      <p:sp>
        <p:nvSpPr>
          <p:cNvPr id="13326" name="AutoShape 14"/>
          <p:cNvSpPr>
            <a:spLocks noChangeArrowheads="1"/>
          </p:cNvSpPr>
          <p:nvPr/>
        </p:nvSpPr>
        <p:spPr bwMode="auto">
          <a:xfrm>
            <a:off x="6172200" y="4038600"/>
            <a:ext cx="1600200" cy="304800"/>
          </a:xfrm>
          <a:prstGeom prst="roundRect">
            <a:avLst>
              <a:gd name="adj" fmla="val 16667"/>
            </a:avLst>
          </a:prstGeom>
          <a:solidFill>
            <a:schemeClr val="accent1"/>
          </a:solidFill>
          <a:ln w="19050">
            <a:solidFill>
              <a:schemeClr val="tx1"/>
            </a:solidFill>
            <a:round/>
            <a:headEnd/>
            <a:tailEnd/>
          </a:ln>
        </p:spPr>
        <p:txBody>
          <a:bodyPr wrap="none" anchor="ctr"/>
          <a:lstStyle/>
          <a:p>
            <a:pPr algn="ctr"/>
            <a:r>
              <a:rPr lang="en-US" sz="1600" b="1"/>
              <a:t>981-101-0002</a:t>
            </a:r>
          </a:p>
        </p:txBody>
      </p:sp>
      <p:sp>
        <p:nvSpPr>
          <p:cNvPr id="13327" name="Line 15"/>
          <p:cNvSpPr>
            <a:spLocks noChangeShapeType="1"/>
          </p:cNvSpPr>
          <p:nvPr/>
        </p:nvSpPr>
        <p:spPr bwMode="auto">
          <a:xfrm>
            <a:off x="5746750" y="4800600"/>
            <a:ext cx="425450" cy="0"/>
          </a:xfrm>
          <a:prstGeom prst="line">
            <a:avLst/>
          </a:prstGeom>
          <a:noFill/>
          <a:ln w="19050">
            <a:solidFill>
              <a:schemeClr val="tx1"/>
            </a:solidFill>
            <a:round/>
            <a:headEnd type="oval" w="med" len="med"/>
            <a:tailEnd type="triangle" w="med" len="med"/>
          </a:ln>
        </p:spPr>
        <p:txBody>
          <a:bodyPr wrap="none" anchor="ctr"/>
          <a:lstStyle/>
          <a:p>
            <a:endParaRPr lang="en-US"/>
          </a:p>
        </p:txBody>
      </p:sp>
      <p:sp>
        <p:nvSpPr>
          <p:cNvPr id="13328" name="AutoShape 16"/>
          <p:cNvSpPr>
            <a:spLocks noChangeArrowheads="1"/>
          </p:cNvSpPr>
          <p:nvPr/>
        </p:nvSpPr>
        <p:spPr bwMode="auto">
          <a:xfrm>
            <a:off x="6172200" y="3733800"/>
            <a:ext cx="1600200" cy="304800"/>
          </a:xfrm>
          <a:prstGeom prst="roundRect">
            <a:avLst>
              <a:gd name="adj" fmla="val 16667"/>
            </a:avLst>
          </a:prstGeom>
          <a:solidFill>
            <a:schemeClr val="accent1"/>
          </a:solidFill>
          <a:ln w="19050">
            <a:solidFill>
              <a:schemeClr val="tx1"/>
            </a:solidFill>
            <a:round/>
            <a:headEnd/>
            <a:tailEnd/>
          </a:ln>
        </p:spPr>
        <p:txBody>
          <a:bodyPr wrap="none" anchor="ctr"/>
          <a:lstStyle/>
          <a:p>
            <a:pPr algn="ctr"/>
            <a:r>
              <a:rPr lang="en-US" sz="1600" b="1"/>
              <a:t>025-612-0001</a:t>
            </a:r>
          </a:p>
        </p:txBody>
      </p:sp>
      <p:sp>
        <p:nvSpPr>
          <p:cNvPr id="13329" name="Line 17"/>
          <p:cNvSpPr>
            <a:spLocks noChangeShapeType="1"/>
          </p:cNvSpPr>
          <p:nvPr/>
        </p:nvSpPr>
        <p:spPr bwMode="auto">
          <a:xfrm>
            <a:off x="5746750" y="3886200"/>
            <a:ext cx="425450" cy="0"/>
          </a:xfrm>
          <a:prstGeom prst="line">
            <a:avLst/>
          </a:prstGeom>
          <a:noFill/>
          <a:ln w="19050">
            <a:solidFill>
              <a:schemeClr val="tx1"/>
            </a:solidFill>
            <a:round/>
            <a:headEnd type="oval" w="med" len="med"/>
            <a:tailEnd type="triangle" w="med" len="med"/>
          </a:ln>
        </p:spPr>
        <p:txBody>
          <a:bodyPr wrap="none" anchor="ctr"/>
          <a:lstStyle/>
          <a:p>
            <a:endParaRPr lang="en-US"/>
          </a:p>
        </p:txBody>
      </p:sp>
      <p:sp>
        <p:nvSpPr>
          <p:cNvPr id="13330" name="Line 18"/>
          <p:cNvSpPr>
            <a:spLocks noChangeShapeType="1"/>
          </p:cNvSpPr>
          <p:nvPr/>
        </p:nvSpPr>
        <p:spPr bwMode="auto">
          <a:xfrm>
            <a:off x="5715000" y="4191000"/>
            <a:ext cx="425450" cy="0"/>
          </a:xfrm>
          <a:prstGeom prst="line">
            <a:avLst/>
          </a:prstGeom>
          <a:noFill/>
          <a:ln w="19050">
            <a:solidFill>
              <a:schemeClr val="tx1"/>
            </a:solidFill>
            <a:round/>
            <a:headEnd type="oval" w="med" len="med"/>
            <a:tailEnd type="triangle" w="med" len="med"/>
          </a:ln>
        </p:spPr>
        <p:txBody>
          <a:bodyPr wrap="none" anchor="ctr"/>
          <a:lstStyle/>
          <a:p>
            <a:endParaRPr lang="en-US"/>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58175" cy="990600"/>
          </a:xfrm>
        </p:spPr>
        <p:txBody>
          <a:bodyPr/>
          <a:lstStyle/>
          <a:p>
            <a:r>
              <a:rPr lang="en-US" dirty="0" smtClean="0"/>
              <a:t>Introduction</a:t>
            </a:r>
            <a:endParaRPr lang="en-US" dirty="0"/>
          </a:p>
        </p:txBody>
      </p:sp>
      <p:sp>
        <p:nvSpPr>
          <p:cNvPr id="3" name="Content Placeholder 2"/>
          <p:cNvSpPr>
            <a:spLocks noGrp="1"/>
          </p:cNvSpPr>
          <p:nvPr>
            <p:ph idx="1"/>
          </p:nvPr>
        </p:nvSpPr>
        <p:spPr>
          <a:xfrm>
            <a:off x="533400" y="1295400"/>
            <a:ext cx="8458200" cy="5410200"/>
          </a:xfrm>
        </p:spPr>
        <p:txBody>
          <a:bodyPr/>
          <a:lstStyle/>
          <a:p>
            <a:r>
              <a:rPr lang="en-US" sz="2400" dirty="0" smtClean="0"/>
              <a:t>A computer dictionary is similar to a  paper dictionary </a:t>
            </a:r>
          </a:p>
          <a:p>
            <a:pPr lvl="1"/>
            <a:r>
              <a:rPr lang="en-US" dirty="0" smtClean="0"/>
              <a:t>used to look up things.</a:t>
            </a:r>
          </a:p>
          <a:p>
            <a:r>
              <a:rPr lang="en-US" sz="2400" dirty="0" smtClean="0"/>
              <a:t>The user can assign a key to an element</a:t>
            </a:r>
          </a:p>
          <a:p>
            <a:r>
              <a:rPr lang="en-US" sz="2400" dirty="0" smtClean="0"/>
              <a:t>Use this key to later search/remove an element.</a:t>
            </a:r>
          </a:p>
          <a:p>
            <a:r>
              <a:rPr lang="en-US" sz="2400" dirty="0" smtClean="0"/>
              <a:t>The dictionary ADT has methods for</a:t>
            </a:r>
          </a:p>
          <a:p>
            <a:pPr lvl="1"/>
            <a:r>
              <a:rPr lang="en-US" dirty="0" smtClean="0"/>
              <a:t>Removing and searching of elements with keys.</a:t>
            </a:r>
          </a:p>
          <a:p>
            <a:r>
              <a:rPr lang="en-US" sz="2400" dirty="0" smtClean="0"/>
              <a:t>Topics</a:t>
            </a:r>
          </a:p>
          <a:p>
            <a:pPr lvl="1"/>
            <a:r>
              <a:rPr lang="en-US" sz="2000" dirty="0" smtClean="0"/>
              <a:t>Unordered Dictionary ADT</a:t>
            </a:r>
          </a:p>
          <a:p>
            <a:pPr lvl="1"/>
            <a:r>
              <a:rPr lang="en-US" sz="2000" dirty="0" smtClean="0"/>
              <a:t>Log Files</a:t>
            </a:r>
          </a:p>
          <a:p>
            <a:pPr lvl="1"/>
            <a:r>
              <a:rPr lang="en-US" sz="2000" dirty="0" smtClean="0"/>
              <a:t>Hash Tables</a:t>
            </a:r>
          </a:p>
          <a:p>
            <a:pPr lvl="1"/>
            <a:r>
              <a:rPr lang="en-US" sz="2000" dirty="0" smtClean="0"/>
              <a:t>Hash Functions</a:t>
            </a:r>
          </a:p>
          <a:p>
            <a:pPr lvl="1"/>
            <a:r>
              <a:rPr lang="en-US" sz="2000" dirty="0" smtClean="0"/>
              <a:t>Compression Maps</a:t>
            </a:r>
          </a:p>
          <a:p>
            <a:pPr lvl="1"/>
            <a:r>
              <a:rPr lang="en-US" sz="2000" dirty="0" smtClean="0"/>
              <a:t>Collision Resolution methods</a:t>
            </a:r>
            <a:endParaRPr lang="en-US" sz="2000" dirty="0"/>
          </a:p>
        </p:txBody>
      </p:sp>
      <p:sp>
        <p:nvSpPr>
          <p:cNvPr id="4" name="Slide Number Placeholder 3"/>
          <p:cNvSpPr>
            <a:spLocks noGrp="1"/>
          </p:cNvSpPr>
          <p:nvPr>
            <p:ph type="sldNum" sz="quarter" idx="11"/>
          </p:nvPr>
        </p:nvSpPr>
        <p:spPr/>
        <p:txBody>
          <a:bodyPr/>
          <a:lstStyle/>
          <a:p>
            <a:pPr>
              <a:defRPr/>
            </a:pPr>
            <a:r>
              <a:rPr lang="en-US" smtClean="0"/>
              <a:t>1.</a:t>
            </a:r>
            <a:fld id="{50F84170-E2CC-4E36-9A4A-D21A558F7FE9}" type="slidenum">
              <a:rPr lang="en-US" smtClean="0"/>
              <a:pPr>
                <a:defRPr/>
              </a:pPr>
              <a:t>2</a:t>
            </a:fld>
            <a:endParaRPr lang="en-US"/>
          </a:p>
        </p:txBody>
      </p:sp>
    </p:spTree>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05775" cy="838200"/>
          </a:xfrm>
        </p:spPr>
        <p:txBody>
          <a:bodyPr/>
          <a:lstStyle/>
          <a:p>
            <a:r>
              <a:rPr lang="en-US" sz="3600" dirty="0" smtClean="0"/>
              <a:t>The Dictionary ADT (2.5.1)</a:t>
            </a:r>
            <a:endParaRPr lang="en-US" sz="3600" dirty="0"/>
          </a:p>
        </p:txBody>
      </p:sp>
      <p:sp>
        <p:nvSpPr>
          <p:cNvPr id="3" name="Content Placeholder 2"/>
          <p:cNvSpPr>
            <a:spLocks noGrp="1"/>
          </p:cNvSpPr>
          <p:nvPr>
            <p:ph idx="1"/>
          </p:nvPr>
        </p:nvSpPr>
        <p:spPr>
          <a:xfrm>
            <a:off x="609600" y="1219200"/>
            <a:ext cx="7696200" cy="5257800"/>
          </a:xfrm>
        </p:spPr>
        <p:txBody>
          <a:bodyPr/>
          <a:lstStyle/>
          <a:p>
            <a:r>
              <a:rPr lang="en-US" dirty="0" smtClean="0"/>
              <a:t>A dictionary stores items (</a:t>
            </a:r>
            <a:r>
              <a:rPr lang="en-US" dirty="0" err="1" smtClean="0"/>
              <a:t>k,e</a:t>
            </a:r>
            <a:r>
              <a:rPr lang="en-US" dirty="0" smtClean="0"/>
              <a:t>) - key-element pairs, k is the key and e is the element</a:t>
            </a:r>
          </a:p>
          <a:p>
            <a:r>
              <a:rPr lang="en-US" dirty="0" smtClean="0"/>
              <a:t>Ex : dictionary storing student records </a:t>
            </a:r>
          </a:p>
          <a:p>
            <a:pPr lvl="1"/>
            <a:r>
              <a:rPr lang="en-US" dirty="0" smtClean="0"/>
              <a:t>Key – student id</a:t>
            </a:r>
          </a:p>
          <a:p>
            <a:r>
              <a:rPr lang="en-US" dirty="0" smtClean="0"/>
              <a:t>Some applications – key is the element itself.</a:t>
            </a:r>
          </a:p>
          <a:p>
            <a:r>
              <a:rPr lang="en-US" dirty="0" smtClean="0"/>
              <a:t>Key is an identifier to an element – assigned by the application/user</a:t>
            </a:r>
          </a:p>
          <a:p>
            <a:r>
              <a:rPr lang="en-US" dirty="0" smtClean="0"/>
              <a:t>Types of dictionaries</a:t>
            </a:r>
          </a:p>
          <a:p>
            <a:pPr lvl="1"/>
            <a:r>
              <a:rPr lang="en-US" dirty="0" smtClean="0"/>
              <a:t>Ordered</a:t>
            </a:r>
          </a:p>
          <a:p>
            <a:pPr lvl="1"/>
            <a:r>
              <a:rPr lang="en-US" dirty="0" smtClean="0"/>
              <a:t>Unordered </a:t>
            </a:r>
            <a:endParaRPr lang="en-US" dirty="0"/>
          </a:p>
        </p:txBody>
      </p:sp>
      <p:sp>
        <p:nvSpPr>
          <p:cNvPr id="5" name="Slide Number Placeholder 4"/>
          <p:cNvSpPr>
            <a:spLocks noGrp="1"/>
          </p:cNvSpPr>
          <p:nvPr>
            <p:ph type="sldNum" sz="quarter" idx="11"/>
          </p:nvPr>
        </p:nvSpPr>
        <p:spPr/>
        <p:txBody>
          <a:bodyPr/>
          <a:lstStyle/>
          <a:p>
            <a:pPr>
              <a:defRPr/>
            </a:pPr>
            <a:r>
              <a:rPr lang="en-US" smtClean="0"/>
              <a:t>1.</a:t>
            </a:r>
            <a:fld id="{50F84170-E2CC-4E36-9A4A-D21A558F7FE9}" type="slidenum">
              <a:rPr lang="en-US" smtClean="0"/>
              <a:pPr>
                <a:defRPr/>
              </a:pPr>
              <a:t>3</a:t>
            </a:fld>
            <a:endParaRPr lang="en-US"/>
          </a:p>
        </p:txBody>
      </p:sp>
    </p:spTree>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7648575" cy="762000"/>
          </a:xfrm>
        </p:spPr>
        <p:txBody>
          <a:bodyPr/>
          <a:lstStyle/>
          <a:p>
            <a:r>
              <a:rPr lang="en-US" sz="3200" dirty="0" smtClean="0"/>
              <a:t>The Unordered Dictionary ADT (2.5.1)</a:t>
            </a:r>
            <a:endParaRPr lang="en-US" sz="3200" dirty="0"/>
          </a:p>
        </p:txBody>
      </p:sp>
      <p:sp>
        <p:nvSpPr>
          <p:cNvPr id="3" name="Content Placeholder 2"/>
          <p:cNvSpPr>
            <a:spLocks noGrp="1"/>
          </p:cNvSpPr>
          <p:nvPr>
            <p:ph idx="1"/>
          </p:nvPr>
        </p:nvSpPr>
        <p:spPr>
          <a:xfrm>
            <a:off x="533400" y="1219200"/>
            <a:ext cx="7696200" cy="5334000"/>
          </a:xfrm>
        </p:spPr>
        <p:txBody>
          <a:bodyPr/>
          <a:lstStyle/>
          <a:p>
            <a:r>
              <a:rPr lang="en-US" dirty="0" smtClean="0"/>
              <a:t>Allows to store multiple items with the same key.</a:t>
            </a:r>
          </a:p>
          <a:p>
            <a:r>
              <a:rPr lang="en-US" dirty="0" smtClean="0"/>
              <a:t>But some applications – key is unique.</a:t>
            </a:r>
          </a:p>
          <a:p>
            <a:pPr>
              <a:buNone/>
            </a:pPr>
            <a:endParaRPr lang="en-US" dirty="0"/>
          </a:p>
        </p:txBody>
      </p:sp>
      <p:sp>
        <p:nvSpPr>
          <p:cNvPr id="5" name="Slide Number Placeholder 4"/>
          <p:cNvSpPr>
            <a:spLocks noGrp="1"/>
          </p:cNvSpPr>
          <p:nvPr>
            <p:ph type="sldNum" sz="quarter" idx="11"/>
          </p:nvPr>
        </p:nvSpPr>
        <p:spPr/>
        <p:txBody>
          <a:bodyPr/>
          <a:lstStyle/>
          <a:p>
            <a:pPr>
              <a:defRPr/>
            </a:pPr>
            <a:r>
              <a:rPr lang="en-US" smtClean="0"/>
              <a:t>1.</a:t>
            </a:r>
            <a:fld id="{50F84170-E2CC-4E36-9A4A-D21A558F7FE9}" type="slidenum">
              <a:rPr lang="en-US" smtClean="0"/>
              <a:pPr>
                <a:defRPr/>
              </a:pPr>
              <a:t>4</a:t>
            </a:fld>
            <a:endParaRPr lang="en-US"/>
          </a:p>
        </p:txBody>
      </p:sp>
    </p:spTree>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762000" y="381000"/>
            <a:ext cx="7648575" cy="1143000"/>
          </a:xfrm>
        </p:spPr>
        <p:txBody>
          <a:bodyPr/>
          <a:lstStyle/>
          <a:p>
            <a:pPr eaLnBrk="1" hangingPunct="1"/>
            <a:r>
              <a:rPr lang="en-US" dirty="0" smtClean="0">
                <a:ea typeface="ＭＳ Ｐゴシック" pitchFamily="-107" charset="-128"/>
              </a:rPr>
              <a:t>Dictionary ADT </a:t>
            </a:r>
            <a:r>
              <a:rPr lang="en-US" sz="4000" dirty="0" smtClean="0">
                <a:ea typeface="ＭＳ Ｐゴシック" pitchFamily="-107" charset="-128"/>
              </a:rPr>
              <a:t>(§2.5.1)</a:t>
            </a:r>
          </a:p>
        </p:txBody>
      </p:sp>
      <p:sp>
        <p:nvSpPr>
          <p:cNvPr id="1029" name="Rectangle 4"/>
          <p:cNvSpPr>
            <a:spLocks noGrp="1" noChangeArrowheads="1"/>
          </p:cNvSpPr>
          <p:nvPr>
            <p:ph type="body" sz="half" idx="2"/>
          </p:nvPr>
        </p:nvSpPr>
        <p:spPr>
          <a:xfrm>
            <a:off x="685800" y="1524000"/>
            <a:ext cx="7696200" cy="5029200"/>
          </a:xfrm>
        </p:spPr>
        <p:txBody>
          <a:bodyPr/>
          <a:lstStyle/>
          <a:p>
            <a:pPr eaLnBrk="1" hangingPunct="1">
              <a:lnSpc>
                <a:spcPct val="90000"/>
              </a:lnSpc>
            </a:pPr>
            <a:r>
              <a:rPr lang="en-US" sz="2000" b="1" dirty="0" smtClean="0">
                <a:ea typeface="ＭＳ Ｐゴシック" pitchFamily="-107" charset="-128"/>
              </a:rPr>
              <a:t>Dictionary ADT methods:</a:t>
            </a:r>
          </a:p>
          <a:p>
            <a:pPr lvl="1" eaLnBrk="1" hangingPunct="1">
              <a:lnSpc>
                <a:spcPct val="90000"/>
              </a:lnSpc>
            </a:pPr>
            <a:r>
              <a:rPr lang="en-US" sz="2000" dirty="0" err="1" smtClean="0">
                <a:solidFill>
                  <a:schemeClr val="tx2"/>
                </a:solidFill>
                <a:ea typeface="ＭＳ Ｐゴシック" pitchFamily="-107" charset="-128"/>
              </a:rPr>
              <a:t>findElement</a:t>
            </a:r>
            <a:r>
              <a:rPr lang="en-US" sz="2000" dirty="0" smtClean="0">
                <a:ea typeface="ＭＳ Ｐゴシック" pitchFamily="-107" charset="-128"/>
              </a:rPr>
              <a:t>(k): if the dictionary D has an item with key k, returns its element, else, returns the special element NO_SUCH_KEY </a:t>
            </a:r>
          </a:p>
          <a:p>
            <a:pPr lvl="1" eaLnBrk="1" hangingPunct="1">
              <a:lnSpc>
                <a:spcPct val="90000"/>
              </a:lnSpc>
            </a:pPr>
            <a:r>
              <a:rPr lang="en-US" sz="2000" dirty="0" err="1" smtClean="0">
                <a:solidFill>
                  <a:schemeClr val="tx2"/>
                </a:solidFill>
                <a:ea typeface="ＭＳ Ｐゴシック" pitchFamily="-107" charset="-128"/>
              </a:rPr>
              <a:t>insertItem</a:t>
            </a:r>
            <a:r>
              <a:rPr lang="en-US" sz="2000" dirty="0" smtClean="0">
                <a:ea typeface="ＭＳ Ｐゴシック" pitchFamily="-107" charset="-128"/>
              </a:rPr>
              <a:t>(k, e): inserts item (k, e) into the dictionary D</a:t>
            </a:r>
          </a:p>
          <a:p>
            <a:pPr lvl="1" eaLnBrk="1" hangingPunct="1">
              <a:lnSpc>
                <a:spcPct val="90000"/>
              </a:lnSpc>
            </a:pPr>
            <a:r>
              <a:rPr lang="en-US" sz="2000" dirty="0" err="1" smtClean="0">
                <a:solidFill>
                  <a:schemeClr val="tx2"/>
                </a:solidFill>
                <a:ea typeface="ＭＳ Ｐゴシック" pitchFamily="-107" charset="-128"/>
              </a:rPr>
              <a:t>removeElement</a:t>
            </a:r>
            <a:r>
              <a:rPr lang="en-US" sz="2000" dirty="0" smtClean="0">
                <a:ea typeface="ＭＳ Ｐゴシック" pitchFamily="-107" charset="-128"/>
              </a:rPr>
              <a:t>(k): if the dictionary D has an item with key k, removes it from the dictionary and returns its element, else returns the special element NO_SUCH_KEY </a:t>
            </a:r>
          </a:p>
          <a:p>
            <a:pPr eaLnBrk="1" hangingPunct="1">
              <a:lnSpc>
                <a:spcPct val="90000"/>
              </a:lnSpc>
            </a:pPr>
            <a:r>
              <a:rPr lang="en-US" sz="2400" dirty="0" smtClean="0">
                <a:ea typeface="ＭＳ Ｐゴシック" pitchFamily="-107" charset="-128"/>
              </a:rPr>
              <a:t> </a:t>
            </a:r>
            <a:r>
              <a:rPr lang="en-US" sz="2000" b="1" dirty="0" smtClean="0">
                <a:ea typeface="ＭＳ Ｐゴシック" pitchFamily="-107" charset="-128"/>
              </a:rPr>
              <a:t>Additional Methods :</a:t>
            </a:r>
          </a:p>
          <a:p>
            <a:pPr lvl="1" eaLnBrk="1" hangingPunct="1">
              <a:lnSpc>
                <a:spcPct val="90000"/>
              </a:lnSpc>
            </a:pPr>
            <a:r>
              <a:rPr lang="en-US" sz="2000" dirty="0" smtClean="0">
                <a:solidFill>
                  <a:schemeClr val="tx2"/>
                </a:solidFill>
                <a:ea typeface="ＭＳ Ｐゴシック" pitchFamily="-107" charset="-128"/>
              </a:rPr>
              <a:t>size</a:t>
            </a:r>
            <a:r>
              <a:rPr lang="en-US" sz="2000" dirty="0" smtClean="0">
                <a:ea typeface="ＭＳ Ｐゴシック" pitchFamily="-107" charset="-128"/>
              </a:rPr>
              <a:t>(), </a:t>
            </a:r>
            <a:r>
              <a:rPr lang="en-US" sz="2000" dirty="0" err="1" smtClean="0">
                <a:solidFill>
                  <a:schemeClr val="tx2"/>
                </a:solidFill>
                <a:ea typeface="ＭＳ Ｐゴシック" pitchFamily="-107" charset="-128"/>
              </a:rPr>
              <a:t>isEmpty</a:t>
            </a:r>
            <a:r>
              <a:rPr lang="en-US" sz="2000" dirty="0" smtClean="0">
                <a:ea typeface="ＭＳ Ｐゴシック" pitchFamily="-107" charset="-128"/>
              </a:rPr>
              <a:t>()</a:t>
            </a:r>
          </a:p>
          <a:p>
            <a:pPr lvl="1" eaLnBrk="1" hangingPunct="1">
              <a:lnSpc>
                <a:spcPct val="90000"/>
              </a:lnSpc>
            </a:pPr>
            <a:r>
              <a:rPr lang="en-US" sz="2000" dirty="0" smtClean="0">
                <a:solidFill>
                  <a:schemeClr val="tx2"/>
                </a:solidFill>
                <a:ea typeface="ＭＳ Ｐゴシック" pitchFamily="-107" charset="-128"/>
              </a:rPr>
              <a:t>keys</a:t>
            </a:r>
            <a:r>
              <a:rPr lang="en-US" sz="2000" dirty="0" smtClean="0">
                <a:ea typeface="ＭＳ Ｐゴシック" pitchFamily="-107" charset="-128"/>
              </a:rPr>
              <a:t>(), </a:t>
            </a:r>
            <a:r>
              <a:rPr lang="en-US" sz="2000" dirty="0" smtClean="0">
                <a:solidFill>
                  <a:schemeClr val="tx2"/>
                </a:solidFill>
                <a:ea typeface="ＭＳ Ｐゴシック" pitchFamily="-107" charset="-128"/>
              </a:rPr>
              <a:t>Elements</a:t>
            </a:r>
            <a:r>
              <a:rPr lang="en-US" sz="2000" dirty="0" smtClean="0">
                <a:ea typeface="ＭＳ Ｐゴシック" pitchFamily="-107" charset="-128"/>
              </a:rPr>
              <a:t>()</a:t>
            </a:r>
          </a:p>
          <a:p>
            <a:pPr eaLnBrk="1" hangingPunct="1">
              <a:lnSpc>
                <a:spcPct val="90000"/>
              </a:lnSpc>
            </a:pPr>
            <a:r>
              <a:rPr lang="en-US" sz="2000" b="1" dirty="0" smtClean="0">
                <a:ea typeface="ＭＳ Ｐゴシック" pitchFamily="-107" charset="-128"/>
              </a:rPr>
              <a:t>Methods with non-unique keys </a:t>
            </a:r>
          </a:p>
          <a:p>
            <a:pPr lvl="1" eaLnBrk="1" hangingPunct="1">
              <a:lnSpc>
                <a:spcPct val="90000"/>
              </a:lnSpc>
            </a:pPr>
            <a:r>
              <a:rPr lang="en-US" sz="2000" dirty="0" err="1" smtClean="0">
                <a:solidFill>
                  <a:srgbClr val="7030A0"/>
                </a:solidFill>
                <a:ea typeface="ＭＳ Ｐゴシック" pitchFamily="-107" charset="-128"/>
              </a:rPr>
              <a:t>findAllElements</a:t>
            </a:r>
            <a:r>
              <a:rPr lang="en-US" sz="2000" dirty="0" smtClean="0">
                <a:solidFill>
                  <a:srgbClr val="7030A0"/>
                </a:solidFill>
                <a:ea typeface="ＭＳ Ｐゴシック" pitchFamily="-107" charset="-128"/>
              </a:rPr>
              <a:t>(k) </a:t>
            </a:r>
            <a:r>
              <a:rPr lang="en-US" sz="2000" dirty="0" smtClean="0">
                <a:ea typeface="ＭＳ Ｐゴシック" pitchFamily="-107" charset="-128"/>
              </a:rPr>
              <a:t>: returns an </a:t>
            </a:r>
            <a:r>
              <a:rPr lang="en-US" sz="2000" dirty="0" err="1" smtClean="0">
                <a:ea typeface="ＭＳ Ｐゴシック" pitchFamily="-107" charset="-128"/>
              </a:rPr>
              <a:t>iterator</a:t>
            </a:r>
            <a:r>
              <a:rPr lang="en-US" sz="2000" dirty="0" smtClean="0">
                <a:ea typeface="ＭＳ Ｐゴシック" pitchFamily="-107" charset="-128"/>
              </a:rPr>
              <a:t> of all elements in D with keys equal to k</a:t>
            </a:r>
          </a:p>
          <a:p>
            <a:pPr lvl="1" eaLnBrk="1" hangingPunct="1">
              <a:lnSpc>
                <a:spcPct val="90000"/>
              </a:lnSpc>
            </a:pPr>
            <a:r>
              <a:rPr lang="en-US" sz="2000" dirty="0" err="1" smtClean="0">
                <a:solidFill>
                  <a:srgbClr val="7030A0"/>
                </a:solidFill>
                <a:ea typeface="ＭＳ Ｐゴシック" pitchFamily="-107" charset="-128"/>
              </a:rPr>
              <a:t>removeAllElements</a:t>
            </a:r>
            <a:r>
              <a:rPr lang="en-US" sz="2000" dirty="0" smtClean="0">
                <a:solidFill>
                  <a:srgbClr val="7030A0"/>
                </a:solidFill>
                <a:ea typeface="ＭＳ Ｐゴシック" pitchFamily="-107" charset="-128"/>
              </a:rPr>
              <a:t>(k) </a:t>
            </a:r>
            <a:r>
              <a:rPr lang="en-US" sz="2000" dirty="0" smtClean="0">
                <a:ea typeface="ＭＳ Ｐゴシック" pitchFamily="-107" charset="-128"/>
              </a:rPr>
              <a:t>: which removes from D, all the items with key equal to k, returns an </a:t>
            </a:r>
            <a:r>
              <a:rPr lang="en-US" sz="2000" dirty="0" err="1" smtClean="0">
                <a:ea typeface="ＭＳ Ｐゴシック" pitchFamily="-107" charset="-128"/>
              </a:rPr>
              <a:t>iterator</a:t>
            </a:r>
            <a:r>
              <a:rPr lang="en-US" sz="2000" dirty="0" smtClean="0">
                <a:ea typeface="ＭＳ Ｐゴシック" pitchFamily="-107" charset="-128"/>
              </a:rPr>
              <a:t> of their elements</a:t>
            </a:r>
          </a:p>
        </p:txBody>
      </p:sp>
      <p:graphicFrame>
        <p:nvGraphicFramePr>
          <p:cNvPr id="1026" name="Object 2"/>
          <p:cNvGraphicFramePr>
            <a:graphicFrameLocks noChangeAspect="1"/>
          </p:cNvGraphicFramePr>
          <p:nvPr/>
        </p:nvGraphicFramePr>
        <p:xfrm>
          <a:off x="7010400" y="609600"/>
          <a:ext cx="2052638" cy="1230313"/>
        </p:xfrm>
        <a:graphic>
          <a:graphicData uri="http://schemas.openxmlformats.org/presentationml/2006/ole">
            <mc:AlternateContent xmlns:mc="http://schemas.openxmlformats.org/markup-compatibility/2006">
              <mc:Choice xmlns:v="urn:schemas-microsoft-com:vml" Requires="v">
                <p:oleObj spid="_x0000_s1083" name="Clip" r:id="rId3" imgW="3499276" imgH="2096981" progId="">
                  <p:embed/>
                </p:oleObj>
              </mc:Choice>
              <mc:Fallback>
                <p:oleObj name="Clip" r:id="rId3" imgW="3499276" imgH="2096981"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609600"/>
                        <a:ext cx="2052638" cy="123031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5</a:t>
            </a:fld>
            <a:endParaRPr lang="en-US"/>
          </a:p>
        </p:txBody>
      </p:sp>
    </p:spTree>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762000" y="228600"/>
            <a:ext cx="7648575" cy="1143000"/>
          </a:xfrm>
        </p:spPr>
        <p:txBody>
          <a:bodyPr/>
          <a:lstStyle/>
          <a:p>
            <a:pPr eaLnBrk="1" hangingPunct="1"/>
            <a:r>
              <a:rPr lang="en-US" dirty="0" smtClean="0">
                <a:ea typeface="ＭＳ Ｐゴシック" pitchFamily="-107" charset="-128"/>
              </a:rPr>
              <a:t>Log File </a:t>
            </a:r>
            <a:r>
              <a:rPr lang="en-US" sz="4000" dirty="0" smtClean="0">
                <a:ea typeface="ＭＳ Ｐゴシック" pitchFamily="-107" charset="-128"/>
              </a:rPr>
              <a:t>(§2.5.1)</a:t>
            </a:r>
          </a:p>
        </p:txBody>
      </p:sp>
      <p:sp>
        <p:nvSpPr>
          <p:cNvPr id="2052" name="Rectangle 3"/>
          <p:cNvSpPr>
            <a:spLocks noGrp="1" noChangeArrowheads="1"/>
          </p:cNvSpPr>
          <p:nvPr>
            <p:ph type="body" sz="half" idx="1"/>
          </p:nvPr>
        </p:nvSpPr>
        <p:spPr>
          <a:xfrm>
            <a:off x="609600" y="1524000"/>
            <a:ext cx="7772400" cy="4572000"/>
          </a:xfrm>
        </p:spPr>
        <p:txBody>
          <a:bodyPr/>
          <a:lstStyle/>
          <a:p>
            <a:pPr eaLnBrk="1" hangingPunct="1">
              <a:lnSpc>
                <a:spcPct val="90000"/>
              </a:lnSpc>
            </a:pPr>
            <a:r>
              <a:rPr lang="en-US" sz="1800" dirty="0" smtClean="0">
                <a:ea typeface="ＭＳ Ｐゴシック" pitchFamily="-107" charset="-128"/>
              </a:rPr>
              <a:t>A log file is a dictionary implemented by means of an </a:t>
            </a:r>
            <a:r>
              <a:rPr lang="en-US" sz="1800" b="1" dirty="0" smtClean="0">
                <a:ea typeface="ＭＳ Ｐゴシック" pitchFamily="-107" charset="-128"/>
              </a:rPr>
              <a:t>unsorted sequence</a:t>
            </a:r>
          </a:p>
          <a:p>
            <a:pPr lvl="1" eaLnBrk="1" hangingPunct="1">
              <a:lnSpc>
                <a:spcPct val="90000"/>
              </a:lnSpc>
            </a:pPr>
            <a:r>
              <a:rPr lang="en-US" sz="1600" dirty="0" smtClean="0">
                <a:ea typeface="ＭＳ Ｐゴシック" pitchFamily="-107" charset="-128"/>
              </a:rPr>
              <a:t>We store the items of the dictionary in a sequence (based on a doubly-linked lists or a circular array), in arbitrary order</a:t>
            </a:r>
          </a:p>
          <a:p>
            <a:pPr lvl="1" eaLnBrk="1" hangingPunct="1">
              <a:lnSpc>
                <a:spcPct val="90000"/>
              </a:lnSpc>
              <a:buNone/>
            </a:pPr>
            <a:endParaRPr lang="en-US" sz="1600" dirty="0" smtClean="0">
              <a:ea typeface="ＭＳ Ｐゴシック" pitchFamily="-107" charset="-128"/>
            </a:endParaRPr>
          </a:p>
          <a:p>
            <a:pPr eaLnBrk="1" hangingPunct="1">
              <a:lnSpc>
                <a:spcPct val="90000"/>
              </a:lnSpc>
            </a:pPr>
            <a:r>
              <a:rPr lang="en-US" sz="1800" b="1" dirty="0" smtClean="0">
                <a:ea typeface="ＭＳ Ｐゴシック" pitchFamily="-107" charset="-128"/>
              </a:rPr>
              <a:t>Performance:</a:t>
            </a:r>
          </a:p>
          <a:p>
            <a:pPr lvl="1" eaLnBrk="1" hangingPunct="1">
              <a:lnSpc>
                <a:spcPct val="90000"/>
              </a:lnSpc>
            </a:pPr>
            <a:r>
              <a:rPr lang="en-US" sz="1600" dirty="0" err="1" smtClean="0">
                <a:solidFill>
                  <a:schemeClr val="tx2"/>
                </a:solidFill>
                <a:ea typeface="ＭＳ Ｐゴシック" pitchFamily="-107" charset="-128"/>
              </a:rPr>
              <a:t>insertItem</a:t>
            </a:r>
            <a:r>
              <a:rPr lang="en-US" sz="1600" dirty="0" smtClean="0">
                <a:ea typeface="ＭＳ Ｐゴシック" pitchFamily="-107" charset="-128"/>
              </a:rPr>
              <a:t> takes </a:t>
            </a:r>
            <a:r>
              <a:rPr lang="en-US" sz="1600" b="1" i="1" dirty="0" smtClean="0">
                <a:latin typeface="Times New Roman" pitchFamily="18" charset="0"/>
                <a:ea typeface="ＭＳ Ｐゴシック" pitchFamily="-107" charset="-128"/>
              </a:rPr>
              <a:t>O</a:t>
            </a:r>
            <a:r>
              <a:rPr lang="en-US" sz="1600" dirty="0" smtClean="0">
                <a:latin typeface="Times New Roman" pitchFamily="18" charset="0"/>
                <a:ea typeface="ＭＳ Ｐゴシック" pitchFamily="-107" charset="-128"/>
              </a:rPr>
              <a:t>(1)</a:t>
            </a:r>
            <a:r>
              <a:rPr lang="en-US" sz="1600" dirty="0" smtClean="0">
                <a:ea typeface="ＭＳ Ｐゴシック" pitchFamily="-107" charset="-128"/>
              </a:rPr>
              <a:t> time since we can insert the new item at the beginning or at the end of the sequence</a:t>
            </a:r>
            <a:endParaRPr lang="en-US" sz="1800" dirty="0" smtClean="0">
              <a:ea typeface="ＭＳ Ｐゴシック" pitchFamily="-107" charset="-128"/>
            </a:endParaRPr>
          </a:p>
          <a:p>
            <a:pPr lvl="1" eaLnBrk="1" hangingPunct="1">
              <a:lnSpc>
                <a:spcPct val="90000"/>
              </a:lnSpc>
            </a:pPr>
            <a:r>
              <a:rPr lang="en-US" sz="1600" dirty="0" err="1" smtClean="0">
                <a:solidFill>
                  <a:schemeClr val="tx2"/>
                </a:solidFill>
                <a:ea typeface="ＭＳ Ｐゴシック" pitchFamily="-107" charset="-128"/>
              </a:rPr>
              <a:t>findElement</a:t>
            </a:r>
            <a:r>
              <a:rPr lang="en-US" sz="1600" dirty="0" smtClean="0">
                <a:ea typeface="ＭＳ Ｐゴシック" pitchFamily="-107" charset="-128"/>
              </a:rPr>
              <a:t> and </a:t>
            </a:r>
            <a:r>
              <a:rPr lang="en-US" sz="1600" dirty="0" err="1" smtClean="0">
                <a:solidFill>
                  <a:schemeClr val="tx2"/>
                </a:solidFill>
                <a:ea typeface="ＭＳ Ｐゴシック" pitchFamily="-107" charset="-128"/>
              </a:rPr>
              <a:t>removeElement</a:t>
            </a:r>
            <a:r>
              <a:rPr lang="en-US" sz="1600" dirty="0" smtClean="0">
                <a:solidFill>
                  <a:schemeClr val="tx2"/>
                </a:solidFill>
                <a:ea typeface="ＭＳ Ｐゴシック" pitchFamily="-107" charset="-128"/>
              </a:rPr>
              <a:t> </a:t>
            </a:r>
            <a:r>
              <a:rPr lang="en-US" sz="1600" dirty="0" smtClean="0">
                <a:ea typeface="ＭＳ Ｐゴシック" pitchFamily="-107" charset="-128"/>
              </a:rPr>
              <a:t>take </a:t>
            </a:r>
            <a:r>
              <a:rPr lang="en-US" sz="1600" b="1" i="1" dirty="0" smtClean="0">
                <a:latin typeface="Times New Roman" pitchFamily="18" charset="0"/>
                <a:ea typeface="ＭＳ Ｐゴシック" pitchFamily="-107" charset="-128"/>
              </a:rPr>
              <a:t>O</a:t>
            </a:r>
            <a:r>
              <a:rPr lang="en-US" sz="1600" dirty="0" smtClean="0">
                <a:latin typeface="Times New Roman" pitchFamily="18" charset="0"/>
                <a:ea typeface="ＭＳ Ｐゴシック" pitchFamily="-107" charset="-128"/>
              </a:rPr>
              <a:t>(</a:t>
            </a:r>
            <a:r>
              <a:rPr lang="en-US" sz="1600" b="1" i="1" dirty="0" smtClean="0">
                <a:latin typeface="Times New Roman" pitchFamily="18" charset="0"/>
                <a:ea typeface="ＭＳ Ｐゴシック" pitchFamily="-107" charset="-128"/>
              </a:rPr>
              <a:t>n</a:t>
            </a:r>
            <a:r>
              <a:rPr lang="en-US" sz="1600" dirty="0" smtClean="0">
                <a:latin typeface="Times New Roman" pitchFamily="18" charset="0"/>
                <a:ea typeface="ＭＳ Ｐゴシック" pitchFamily="-107" charset="-128"/>
              </a:rPr>
              <a:t>)</a:t>
            </a:r>
            <a:r>
              <a:rPr lang="en-US" sz="1600" dirty="0" smtClean="0">
                <a:ea typeface="ＭＳ Ｐゴシック" pitchFamily="-107" charset="-128"/>
              </a:rPr>
              <a:t> time since in the worst case (the item is not found) we traverse the entire sequence to look for an item with the given key</a:t>
            </a:r>
          </a:p>
          <a:p>
            <a:pPr lvl="1" eaLnBrk="1" hangingPunct="1">
              <a:lnSpc>
                <a:spcPct val="90000"/>
              </a:lnSpc>
              <a:buNone/>
            </a:pPr>
            <a:endParaRPr lang="en-US" sz="1600" dirty="0" smtClean="0">
              <a:ea typeface="ＭＳ Ｐゴシック" pitchFamily="-107" charset="-128"/>
            </a:endParaRPr>
          </a:p>
          <a:p>
            <a:pPr eaLnBrk="1" hangingPunct="1">
              <a:lnSpc>
                <a:spcPct val="90000"/>
              </a:lnSpc>
            </a:pPr>
            <a:r>
              <a:rPr lang="en-US" sz="1800" dirty="0" smtClean="0">
                <a:ea typeface="ＭＳ Ｐゴシック" pitchFamily="-107" charset="-128"/>
              </a:rPr>
              <a:t>The log file is effective only for dictionaries of small size or for dictionaries on which insertions are the most common operations, while searches and removals are rarely performed (e.g., historical record of logins to a workstation)</a:t>
            </a:r>
          </a:p>
        </p:txBody>
      </p:sp>
      <p:graphicFrame>
        <p:nvGraphicFramePr>
          <p:cNvPr id="2050" name="Object 2"/>
          <p:cNvGraphicFramePr>
            <a:graphicFrameLocks noChangeAspect="1"/>
          </p:cNvGraphicFramePr>
          <p:nvPr/>
        </p:nvGraphicFramePr>
        <p:xfrm>
          <a:off x="7467600" y="609600"/>
          <a:ext cx="1355725" cy="1354138"/>
        </p:xfrm>
        <a:graphic>
          <a:graphicData uri="http://schemas.openxmlformats.org/presentationml/2006/ole">
            <mc:AlternateContent xmlns:mc="http://schemas.openxmlformats.org/markup-compatibility/2006">
              <mc:Choice xmlns:v="urn:schemas-microsoft-com:vml" Requires="v">
                <p:oleObj spid="_x0000_s2107" name="Clip" r:id="rId3" imgW="1812107" imgH="1810252" progId="">
                  <p:embed/>
                </p:oleObj>
              </mc:Choice>
              <mc:Fallback>
                <p:oleObj name="Clip" r:id="rId3" imgW="1812107" imgH="1810252"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609600"/>
                        <a:ext cx="1355725" cy="1354138"/>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6</a:t>
            </a:fld>
            <a:endParaRPr lang="en-US"/>
          </a:p>
        </p:txBody>
      </p:sp>
    </p:spTree>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04800"/>
            <a:ext cx="7648575" cy="1143000"/>
          </a:xfrm>
        </p:spPr>
        <p:txBody>
          <a:bodyPr/>
          <a:lstStyle/>
          <a:p>
            <a:pPr eaLnBrk="1" hangingPunct="1"/>
            <a:r>
              <a:rPr lang="en-US" dirty="0" smtClean="0">
                <a:ea typeface="ＭＳ Ｐゴシック" pitchFamily="-107" charset="-128"/>
              </a:rPr>
              <a:t>Lookup Table</a:t>
            </a:r>
          </a:p>
        </p:txBody>
      </p:sp>
      <p:sp>
        <p:nvSpPr>
          <p:cNvPr id="14339" name="Rectangle 3"/>
          <p:cNvSpPr>
            <a:spLocks noGrp="1" noChangeArrowheads="1"/>
          </p:cNvSpPr>
          <p:nvPr>
            <p:ph type="body" sz="half" idx="1"/>
          </p:nvPr>
        </p:nvSpPr>
        <p:spPr>
          <a:xfrm>
            <a:off x="609600" y="1600200"/>
            <a:ext cx="8153400" cy="4419600"/>
          </a:xfrm>
        </p:spPr>
        <p:txBody>
          <a:bodyPr/>
          <a:lstStyle/>
          <a:p>
            <a:pPr eaLnBrk="1" hangingPunct="1">
              <a:lnSpc>
                <a:spcPct val="90000"/>
              </a:lnSpc>
            </a:pPr>
            <a:r>
              <a:rPr lang="en-US" sz="2000" dirty="0" smtClean="0">
                <a:ea typeface="ＭＳ Ｐゴシック" pitchFamily="-107" charset="-128"/>
              </a:rPr>
              <a:t>A lookup table is a dictionary implemented with a sorted sequence</a:t>
            </a:r>
          </a:p>
          <a:p>
            <a:pPr lvl="1" eaLnBrk="1" hangingPunct="1">
              <a:lnSpc>
                <a:spcPct val="90000"/>
              </a:lnSpc>
            </a:pPr>
            <a:r>
              <a:rPr lang="en-US" sz="1800" dirty="0" smtClean="0">
                <a:ea typeface="ＭＳ Ｐゴシック" pitchFamily="-107" charset="-128"/>
              </a:rPr>
              <a:t>We store the items of the dictionary in an array-based sequence, sorted by key</a:t>
            </a:r>
          </a:p>
          <a:p>
            <a:pPr lvl="1" eaLnBrk="1" hangingPunct="1">
              <a:lnSpc>
                <a:spcPct val="90000"/>
              </a:lnSpc>
            </a:pPr>
            <a:r>
              <a:rPr lang="en-US" sz="1800" dirty="0" smtClean="0">
                <a:ea typeface="ＭＳ Ｐゴシック" pitchFamily="-107" charset="-128"/>
              </a:rPr>
              <a:t>We use an external comparator for the keys</a:t>
            </a:r>
          </a:p>
          <a:p>
            <a:pPr eaLnBrk="1" hangingPunct="1">
              <a:lnSpc>
                <a:spcPct val="90000"/>
              </a:lnSpc>
            </a:pPr>
            <a:r>
              <a:rPr lang="en-US" sz="2000" dirty="0" smtClean="0">
                <a:ea typeface="ＭＳ Ｐゴシック" pitchFamily="-107" charset="-128"/>
              </a:rPr>
              <a:t>Performance:</a:t>
            </a:r>
          </a:p>
          <a:p>
            <a:pPr lvl="1" eaLnBrk="1" hangingPunct="1">
              <a:lnSpc>
                <a:spcPct val="90000"/>
              </a:lnSpc>
            </a:pPr>
            <a:r>
              <a:rPr lang="en-US" sz="1800" dirty="0" err="1" smtClean="0">
                <a:solidFill>
                  <a:schemeClr val="tx2"/>
                </a:solidFill>
                <a:ea typeface="ＭＳ Ｐゴシック" pitchFamily="-107" charset="-128"/>
              </a:rPr>
              <a:t>findElement</a:t>
            </a:r>
            <a:r>
              <a:rPr lang="en-US" sz="1800" dirty="0" smtClean="0">
                <a:ea typeface="ＭＳ Ｐゴシック" pitchFamily="-107" charset="-128"/>
              </a:rPr>
              <a:t> takes </a:t>
            </a:r>
            <a:r>
              <a:rPr lang="en-US" sz="1800" b="1" i="1" dirty="0" smtClean="0">
                <a:latin typeface="Times New Roman" pitchFamily="18" charset="0"/>
                <a:ea typeface="ＭＳ Ｐゴシック" pitchFamily="-107" charset="-128"/>
              </a:rPr>
              <a:t>O</a:t>
            </a:r>
            <a:r>
              <a:rPr lang="en-US" sz="1800" dirty="0" smtClean="0">
                <a:latin typeface="Times New Roman" pitchFamily="18" charset="0"/>
                <a:ea typeface="ＭＳ Ｐゴシック" pitchFamily="-107" charset="-128"/>
              </a:rPr>
              <a:t>(log </a:t>
            </a:r>
            <a:r>
              <a:rPr lang="en-US" sz="1800" b="1" i="1" dirty="0" smtClean="0">
                <a:latin typeface="Times New Roman" pitchFamily="18" charset="0"/>
                <a:ea typeface="ＭＳ Ｐゴシック" pitchFamily="-107" charset="-128"/>
              </a:rPr>
              <a:t>n</a:t>
            </a:r>
            <a:r>
              <a:rPr lang="en-US" sz="1800" dirty="0" smtClean="0">
                <a:latin typeface="Times New Roman" pitchFamily="18" charset="0"/>
                <a:ea typeface="ＭＳ Ｐゴシック" pitchFamily="-107" charset="-128"/>
              </a:rPr>
              <a:t>)</a:t>
            </a:r>
            <a:r>
              <a:rPr lang="en-US" sz="1800" dirty="0" smtClean="0">
                <a:ea typeface="ＭＳ Ｐゴシック" pitchFamily="-107" charset="-128"/>
              </a:rPr>
              <a:t> time, using binary search</a:t>
            </a:r>
          </a:p>
          <a:p>
            <a:pPr lvl="1" eaLnBrk="1" hangingPunct="1">
              <a:lnSpc>
                <a:spcPct val="90000"/>
              </a:lnSpc>
            </a:pPr>
            <a:r>
              <a:rPr lang="en-US" sz="1800" dirty="0" err="1" smtClean="0">
                <a:solidFill>
                  <a:schemeClr val="tx2"/>
                </a:solidFill>
                <a:ea typeface="ＭＳ Ｐゴシック" pitchFamily="-107" charset="-128"/>
              </a:rPr>
              <a:t>insertItem</a:t>
            </a:r>
            <a:r>
              <a:rPr lang="en-US" sz="1800" dirty="0" smtClean="0">
                <a:ea typeface="ＭＳ Ｐゴシック" pitchFamily="-107" charset="-128"/>
              </a:rPr>
              <a:t> takes </a:t>
            </a:r>
            <a:r>
              <a:rPr lang="en-US" sz="1800" b="1" i="1" dirty="0" smtClean="0">
                <a:latin typeface="Times New Roman" pitchFamily="18" charset="0"/>
                <a:ea typeface="ＭＳ Ｐゴシック" pitchFamily="-107" charset="-128"/>
              </a:rPr>
              <a:t>O</a:t>
            </a:r>
            <a:r>
              <a:rPr lang="en-US" sz="1800" dirty="0" smtClean="0">
                <a:latin typeface="Times New Roman" pitchFamily="18" charset="0"/>
                <a:ea typeface="ＭＳ Ｐゴシック" pitchFamily="-107" charset="-128"/>
              </a:rPr>
              <a:t>(</a:t>
            </a:r>
            <a:r>
              <a:rPr lang="en-US" sz="1800" b="1" i="1" dirty="0" smtClean="0">
                <a:latin typeface="Times New Roman" pitchFamily="18" charset="0"/>
                <a:ea typeface="ＭＳ Ｐゴシック" pitchFamily="-107" charset="-128"/>
              </a:rPr>
              <a:t>n</a:t>
            </a:r>
            <a:r>
              <a:rPr lang="en-US" sz="1800" dirty="0" smtClean="0">
                <a:latin typeface="Times New Roman" pitchFamily="18" charset="0"/>
                <a:ea typeface="ＭＳ Ｐゴシック" pitchFamily="-107" charset="-128"/>
              </a:rPr>
              <a:t>)</a:t>
            </a:r>
            <a:r>
              <a:rPr lang="en-US" sz="1800" dirty="0" smtClean="0">
                <a:ea typeface="ＭＳ Ｐゴシック" pitchFamily="-107" charset="-128"/>
              </a:rPr>
              <a:t> time since in the worst case we have to shift </a:t>
            </a:r>
            <a:r>
              <a:rPr lang="en-US" sz="1800" b="1" i="1" dirty="0" smtClean="0">
                <a:latin typeface="Times New Roman" pitchFamily="18" charset="0"/>
                <a:ea typeface="ＭＳ Ｐゴシック" pitchFamily="-107" charset="-128"/>
              </a:rPr>
              <a:t>O</a:t>
            </a:r>
            <a:r>
              <a:rPr lang="en-US" sz="1800" dirty="0" smtClean="0">
                <a:latin typeface="Times New Roman" pitchFamily="18" charset="0"/>
                <a:ea typeface="ＭＳ Ｐゴシック" pitchFamily="-107" charset="-128"/>
              </a:rPr>
              <a:t>(</a:t>
            </a:r>
            <a:r>
              <a:rPr lang="en-US" sz="1800" b="1" i="1" dirty="0" smtClean="0">
                <a:latin typeface="Times New Roman" pitchFamily="18" charset="0"/>
                <a:ea typeface="ＭＳ Ｐゴシック" pitchFamily="-107" charset="-128"/>
              </a:rPr>
              <a:t>n</a:t>
            </a:r>
            <a:r>
              <a:rPr lang="en-US" sz="1800" dirty="0" smtClean="0">
                <a:latin typeface="Times New Roman" pitchFamily="18" charset="0"/>
                <a:ea typeface="ＭＳ Ｐゴシック" pitchFamily="-107" charset="-128"/>
              </a:rPr>
              <a:t>)</a:t>
            </a:r>
            <a:r>
              <a:rPr lang="en-US" sz="1800" dirty="0" smtClean="0">
                <a:ea typeface="ＭＳ Ｐゴシック" pitchFamily="-107" charset="-128"/>
              </a:rPr>
              <a:t> items to make room for the new item</a:t>
            </a:r>
          </a:p>
          <a:p>
            <a:pPr lvl="1" eaLnBrk="1" hangingPunct="1">
              <a:lnSpc>
                <a:spcPct val="90000"/>
              </a:lnSpc>
            </a:pPr>
            <a:r>
              <a:rPr lang="en-US" sz="1800" dirty="0" err="1" smtClean="0">
                <a:solidFill>
                  <a:schemeClr val="tx2"/>
                </a:solidFill>
                <a:ea typeface="ＭＳ Ｐゴシック" pitchFamily="-107" charset="-128"/>
              </a:rPr>
              <a:t>removeElement</a:t>
            </a:r>
            <a:r>
              <a:rPr lang="en-US" sz="1800" dirty="0" smtClean="0">
                <a:solidFill>
                  <a:schemeClr val="tx2"/>
                </a:solidFill>
                <a:ea typeface="ＭＳ Ｐゴシック" pitchFamily="-107" charset="-128"/>
              </a:rPr>
              <a:t> </a:t>
            </a:r>
            <a:r>
              <a:rPr lang="en-US" sz="1800" dirty="0" smtClean="0">
                <a:ea typeface="ＭＳ Ｐゴシック" pitchFamily="-107" charset="-128"/>
              </a:rPr>
              <a:t>take </a:t>
            </a:r>
            <a:r>
              <a:rPr lang="en-US" sz="1800" b="1" i="1" dirty="0" smtClean="0">
                <a:latin typeface="Times New Roman" pitchFamily="18" charset="0"/>
                <a:ea typeface="ＭＳ Ｐゴシック" pitchFamily="-107" charset="-128"/>
              </a:rPr>
              <a:t>O</a:t>
            </a:r>
            <a:r>
              <a:rPr lang="en-US" sz="1800" dirty="0" smtClean="0">
                <a:latin typeface="Times New Roman" pitchFamily="18" charset="0"/>
                <a:ea typeface="ＭＳ Ｐゴシック" pitchFamily="-107" charset="-128"/>
              </a:rPr>
              <a:t>(</a:t>
            </a:r>
            <a:r>
              <a:rPr lang="en-US" sz="1800" b="1" i="1" dirty="0" smtClean="0">
                <a:latin typeface="Times New Roman" pitchFamily="18" charset="0"/>
                <a:ea typeface="ＭＳ Ｐゴシック" pitchFamily="-107" charset="-128"/>
              </a:rPr>
              <a:t>n</a:t>
            </a:r>
            <a:r>
              <a:rPr lang="en-US" sz="1800" dirty="0" smtClean="0">
                <a:latin typeface="Times New Roman" pitchFamily="18" charset="0"/>
                <a:ea typeface="ＭＳ Ｐゴシック" pitchFamily="-107" charset="-128"/>
              </a:rPr>
              <a:t>)</a:t>
            </a:r>
            <a:r>
              <a:rPr lang="en-US" sz="1800" dirty="0" smtClean="0">
                <a:ea typeface="ＭＳ Ｐゴシック" pitchFamily="-107" charset="-128"/>
              </a:rPr>
              <a:t> time since in the worst case we have to shift </a:t>
            </a:r>
            <a:r>
              <a:rPr lang="en-US" sz="1800" b="1" i="1" dirty="0" smtClean="0">
                <a:latin typeface="Times New Roman" pitchFamily="18" charset="0"/>
                <a:ea typeface="ＭＳ Ｐゴシック" pitchFamily="-107" charset="-128"/>
              </a:rPr>
              <a:t>O</a:t>
            </a:r>
            <a:r>
              <a:rPr lang="en-US" sz="1800" dirty="0" smtClean="0">
                <a:latin typeface="Times New Roman" pitchFamily="18" charset="0"/>
                <a:ea typeface="ＭＳ Ｐゴシック" pitchFamily="-107" charset="-128"/>
              </a:rPr>
              <a:t>(</a:t>
            </a:r>
            <a:r>
              <a:rPr lang="en-US" sz="1800" b="1" i="1" dirty="0" smtClean="0">
                <a:latin typeface="Times New Roman" pitchFamily="18" charset="0"/>
                <a:ea typeface="ＭＳ Ｐゴシック" pitchFamily="-107" charset="-128"/>
              </a:rPr>
              <a:t>n</a:t>
            </a:r>
            <a:r>
              <a:rPr lang="en-US" sz="1800" dirty="0" smtClean="0">
                <a:latin typeface="Times New Roman" pitchFamily="18" charset="0"/>
                <a:ea typeface="ＭＳ Ｐゴシック" pitchFamily="-107" charset="-128"/>
              </a:rPr>
              <a:t>)</a:t>
            </a:r>
            <a:r>
              <a:rPr lang="en-US" sz="1800" dirty="0" smtClean="0">
                <a:ea typeface="ＭＳ Ｐゴシック" pitchFamily="-107" charset="-128"/>
              </a:rPr>
              <a:t> items to compact the items after the removal</a:t>
            </a:r>
          </a:p>
          <a:p>
            <a:pPr eaLnBrk="1" hangingPunct="1">
              <a:lnSpc>
                <a:spcPct val="90000"/>
              </a:lnSpc>
            </a:pPr>
            <a:r>
              <a:rPr lang="en-US" sz="2000" dirty="0" smtClean="0">
                <a:ea typeface="ＭＳ Ｐゴシック" pitchFamily="-107" charset="-128"/>
              </a:rPr>
              <a:t>Effective for small dictionaries or for dictionaries where searches are common but inserts and deletes are rare (e.g. credit card authorizations)</a:t>
            </a:r>
          </a:p>
        </p:txBody>
      </p:sp>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7</a:t>
            </a:fld>
            <a:endParaRPr lang="en-US"/>
          </a:p>
        </p:txBody>
      </p:sp>
    </p:spTree>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648575" cy="990600"/>
          </a:xfrm>
        </p:spPr>
        <p:txBody>
          <a:bodyPr/>
          <a:lstStyle/>
          <a:p>
            <a:r>
              <a:rPr lang="en-US" dirty="0" smtClean="0"/>
              <a:t>Hash Tables (2.5.2)</a:t>
            </a:r>
            <a:endParaRPr lang="en-US" dirty="0"/>
          </a:p>
        </p:txBody>
      </p:sp>
      <p:sp>
        <p:nvSpPr>
          <p:cNvPr id="4" name="Content Placeholder 3"/>
          <p:cNvSpPr>
            <a:spLocks noGrp="1"/>
          </p:cNvSpPr>
          <p:nvPr>
            <p:ph sz="half" idx="2"/>
          </p:nvPr>
        </p:nvSpPr>
        <p:spPr>
          <a:xfrm>
            <a:off x="609600" y="1447800"/>
            <a:ext cx="8382000" cy="5257800"/>
          </a:xfrm>
        </p:spPr>
        <p:txBody>
          <a:bodyPr/>
          <a:lstStyle/>
          <a:p>
            <a:r>
              <a:rPr lang="en-US" dirty="0" smtClean="0"/>
              <a:t>The keys associated with elements in a dictionary are known as addresses for those elements.</a:t>
            </a:r>
          </a:p>
          <a:p>
            <a:r>
              <a:rPr lang="en-US" dirty="0" smtClean="0"/>
              <a:t>An efficient way of implementing a dictionary is using a hash table.</a:t>
            </a:r>
          </a:p>
          <a:p>
            <a:pPr lvl="1"/>
            <a:r>
              <a:rPr lang="en-US" dirty="0" smtClean="0"/>
              <a:t>Insert, Remove, Find all O(1) expected time</a:t>
            </a:r>
          </a:p>
          <a:p>
            <a:r>
              <a:rPr lang="en-US" dirty="0" smtClean="0"/>
              <a:t>Hash Table has two components :</a:t>
            </a:r>
          </a:p>
          <a:p>
            <a:pPr lvl="1"/>
            <a:r>
              <a:rPr lang="en-US" dirty="0" smtClean="0"/>
              <a:t>A bucket array </a:t>
            </a:r>
          </a:p>
          <a:p>
            <a:pPr lvl="2"/>
            <a:r>
              <a:rPr lang="en-US" dirty="0" smtClean="0"/>
              <a:t>provides storage for elements</a:t>
            </a:r>
          </a:p>
          <a:p>
            <a:pPr lvl="1"/>
            <a:r>
              <a:rPr lang="en-US" dirty="0" smtClean="0"/>
              <a:t>A hash function </a:t>
            </a:r>
          </a:p>
          <a:p>
            <a:pPr lvl="2"/>
            <a:r>
              <a:rPr lang="en-US" dirty="0" smtClean="0"/>
              <a:t> maps keys to buckets </a:t>
            </a:r>
          </a:p>
          <a:p>
            <a:pPr lvl="1"/>
            <a:endParaRPr lang="en-US" dirty="0" smtClean="0"/>
          </a:p>
          <a:p>
            <a:endParaRPr lang="en-US"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8</a:t>
            </a:fld>
            <a:endParaRPr lang="en-US"/>
          </a:p>
        </p:txBody>
      </p:sp>
    </p:spTree>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648575" cy="609600"/>
          </a:xfrm>
        </p:spPr>
        <p:txBody>
          <a:bodyPr/>
          <a:lstStyle/>
          <a:p>
            <a:r>
              <a:rPr lang="en-US" sz="3200" dirty="0" smtClean="0"/>
              <a:t>Bucket Array / Simplest Hash Table</a:t>
            </a:r>
            <a:endParaRPr lang="en-US" sz="3200" dirty="0"/>
          </a:p>
        </p:txBody>
      </p:sp>
      <p:sp>
        <p:nvSpPr>
          <p:cNvPr id="4" name="Content Placeholder 3"/>
          <p:cNvSpPr>
            <a:spLocks noGrp="1"/>
          </p:cNvSpPr>
          <p:nvPr>
            <p:ph sz="half" idx="2"/>
          </p:nvPr>
        </p:nvSpPr>
        <p:spPr>
          <a:xfrm>
            <a:off x="381000" y="838200"/>
            <a:ext cx="8610600" cy="5867400"/>
          </a:xfrm>
        </p:spPr>
        <p:txBody>
          <a:bodyPr/>
          <a:lstStyle/>
          <a:p>
            <a:r>
              <a:rPr lang="en-US" sz="2400" dirty="0" smtClean="0"/>
              <a:t>A bucket array for a hash table is an array A of size N</a:t>
            </a:r>
          </a:p>
          <a:p>
            <a:r>
              <a:rPr lang="en-US" sz="2400" dirty="0" smtClean="0"/>
              <a:t>Each cell of A is a bucket – contains key-element pairs</a:t>
            </a:r>
          </a:p>
          <a:p>
            <a:r>
              <a:rPr lang="en-US" sz="2400" dirty="0" smtClean="0"/>
              <a:t>Keys are in the range 0 to N-1.</a:t>
            </a:r>
          </a:p>
          <a:p>
            <a:r>
              <a:rPr lang="en-US" sz="2400" dirty="0" smtClean="0"/>
              <a:t>An item (</a:t>
            </a:r>
            <a:r>
              <a:rPr lang="en-US" sz="2400" dirty="0" err="1" smtClean="0"/>
              <a:t>k,e</a:t>
            </a:r>
            <a:r>
              <a:rPr lang="en-US" sz="2400" dirty="0" smtClean="0"/>
              <a:t>) is inserted into bucket A[k]. </a:t>
            </a:r>
          </a:p>
          <a:p>
            <a:r>
              <a:rPr lang="en-US" sz="2400" dirty="0" smtClean="0"/>
              <a:t>Bucket cells associated with keys absent in the dictionary are assumed to hold NO_SUCH</a:t>
            </a:r>
            <a:r>
              <a:rPr lang="en-US" dirty="0" smtClean="0"/>
              <a:t>_KEY</a:t>
            </a:r>
          </a:p>
          <a:p>
            <a:pPr>
              <a:buNone/>
            </a:pPr>
            <a:endParaRPr lang="en-US" dirty="0" smtClean="0"/>
          </a:p>
          <a:p>
            <a:pPr>
              <a:buNone/>
            </a:pPr>
            <a:endParaRPr lang="en-US" dirty="0" smtClean="0"/>
          </a:p>
          <a:p>
            <a:pPr>
              <a:buNone/>
            </a:pPr>
            <a:endParaRPr lang="en-US" dirty="0" smtClean="0"/>
          </a:p>
          <a:p>
            <a:endParaRPr lang="en-US" dirty="0"/>
          </a:p>
        </p:txBody>
      </p:sp>
      <p:graphicFrame>
        <p:nvGraphicFramePr>
          <p:cNvPr id="6" name="Table 5"/>
          <p:cNvGraphicFramePr>
            <a:graphicFrameLocks noGrp="1"/>
          </p:cNvGraphicFramePr>
          <p:nvPr/>
        </p:nvGraphicFramePr>
        <p:xfrm>
          <a:off x="1600200" y="3733800"/>
          <a:ext cx="6095999" cy="741680"/>
        </p:xfrm>
        <a:graphic>
          <a:graphicData uri="http://schemas.openxmlformats.org/drawingml/2006/table">
            <a:tbl>
              <a:tblPr>
                <a:tableStyleId>{5C22544A-7EE6-4342-B048-85BDC9FD1C3A}</a:tableStyleId>
              </a:tblPr>
              <a:tblGrid>
                <a:gridCol w="870857"/>
                <a:gridCol w="870857"/>
                <a:gridCol w="870857"/>
                <a:gridCol w="870857"/>
                <a:gridCol w="870857"/>
                <a:gridCol w="870857"/>
                <a:gridCol w="870857"/>
              </a:tblGrid>
              <a:tr h="370840">
                <a:tc>
                  <a:txBody>
                    <a:bodyPr/>
                    <a:lstStyle/>
                    <a:p>
                      <a:pPr algn="ctr"/>
                      <a:r>
                        <a:rPr lang="en-US" dirty="0" smtClean="0"/>
                        <a:t>0</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t>1</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t>2</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t>3</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t>4</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t>5</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smtClean="0"/>
                        <a:t>6</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8" name="Straight Arrow Connector 7"/>
          <p:cNvCxnSpPr/>
          <p:nvPr/>
        </p:nvCxnSpPr>
        <p:spPr bwMode="auto">
          <a:xfrm>
            <a:off x="2057400" y="4343400"/>
            <a:ext cx="0" cy="381000"/>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cxnSp>
        <p:nvCxnSpPr>
          <p:cNvPr id="9" name="Straight Arrow Connector 8"/>
          <p:cNvCxnSpPr/>
          <p:nvPr/>
        </p:nvCxnSpPr>
        <p:spPr bwMode="auto">
          <a:xfrm>
            <a:off x="2895600" y="4343400"/>
            <a:ext cx="0" cy="381000"/>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cxnSp>
        <p:nvCxnSpPr>
          <p:cNvPr id="10" name="Straight Arrow Connector 9"/>
          <p:cNvCxnSpPr/>
          <p:nvPr/>
        </p:nvCxnSpPr>
        <p:spPr bwMode="auto">
          <a:xfrm>
            <a:off x="5410200" y="4343400"/>
            <a:ext cx="0" cy="381000"/>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cxnSp>
        <p:nvCxnSpPr>
          <p:cNvPr id="11" name="Straight Arrow Connector 10"/>
          <p:cNvCxnSpPr/>
          <p:nvPr/>
        </p:nvCxnSpPr>
        <p:spPr bwMode="auto">
          <a:xfrm>
            <a:off x="6324600" y="4343400"/>
            <a:ext cx="0" cy="381000"/>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cxnSp>
        <p:nvCxnSpPr>
          <p:cNvPr id="12" name="Straight Arrow Connector 11"/>
          <p:cNvCxnSpPr/>
          <p:nvPr/>
        </p:nvCxnSpPr>
        <p:spPr bwMode="auto">
          <a:xfrm>
            <a:off x="7239000" y="4343400"/>
            <a:ext cx="0" cy="381000"/>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cxnSp>
        <p:nvCxnSpPr>
          <p:cNvPr id="13" name="Straight Arrow Connector 12"/>
          <p:cNvCxnSpPr/>
          <p:nvPr/>
        </p:nvCxnSpPr>
        <p:spPr bwMode="auto">
          <a:xfrm>
            <a:off x="3733800" y="4343400"/>
            <a:ext cx="0" cy="381000"/>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cxnSp>
        <p:nvCxnSpPr>
          <p:cNvPr id="14" name="Straight Arrow Connector 13"/>
          <p:cNvCxnSpPr/>
          <p:nvPr/>
        </p:nvCxnSpPr>
        <p:spPr bwMode="auto">
          <a:xfrm>
            <a:off x="4648200" y="4343400"/>
            <a:ext cx="0" cy="381000"/>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sp>
        <p:nvSpPr>
          <p:cNvPr id="15" name="Can 14"/>
          <p:cNvSpPr/>
          <p:nvPr/>
        </p:nvSpPr>
        <p:spPr bwMode="auto">
          <a:xfrm>
            <a:off x="1828800" y="4876800"/>
            <a:ext cx="457200" cy="533400"/>
          </a:xfrm>
          <a:prstGeom prst="can">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6" name="Can 15"/>
          <p:cNvSpPr/>
          <p:nvPr/>
        </p:nvSpPr>
        <p:spPr bwMode="auto">
          <a:xfrm>
            <a:off x="2667000" y="4876800"/>
            <a:ext cx="457200" cy="533400"/>
          </a:xfrm>
          <a:prstGeom prst="can">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7" name="Can 16"/>
          <p:cNvSpPr/>
          <p:nvPr/>
        </p:nvSpPr>
        <p:spPr bwMode="auto">
          <a:xfrm>
            <a:off x="3505200" y="4953000"/>
            <a:ext cx="457200" cy="533400"/>
          </a:xfrm>
          <a:prstGeom prst="can">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8" name="Can 17"/>
          <p:cNvSpPr/>
          <p:nvPr/>
        </p:nvSpPr>
        <p:spPr bwMode="auto">
          <a:xfrm>
            <a:off x="4419600" y="4953000"/>
            <a:ext cx="457200" cy="533400"/>
          </a:xfrm>
          <a:prstGeom prst="can">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9" name="Can 18"/>
          <p:cNvSpPr/>
          <p:nvPr/>
        </p:nvSpPr>
        <p:spPr bwMode="auto">
          <a:xfrm>
            <a:off x="5181600" y="4953000"/>
            <a:ext cx="457200" cy="533400"/>
          </a:xfrm>
          <a:prstGeom prst="can">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0" name="Can 19"/>
          <p:cNvSpPr/>
          <p:nvPr/>
        </p:nvSpPr>
        <p:spPr bwMode="auto">
          <a:xfrm>
            <a:off x="6096000" y="4953000"/>
            <a:ext cx="457200" cy="533400"/>
          </a:xfrm>
          <a:prstGeom prst="can">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1" name="Can 20"/>
          <p:cNvSpPr/>
          <p:nvPr/>
        </p:nvSpPr>
        <p:spPr bwMode="auto">
          <a:xfrm>
            <a:off x="7010400" y="4953000"/>
            <a:ext cx="457200" cy="533400"/>
          </a:xfrm>
          <a:prstGeom prst="can">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2" name="TextBox 21"/>
          <p:cNvSpPr txBox="1"/>
          <p:nvPr/>
        </p:nvSpPr>
        <p:spPr>
          <a:xfrm>
            <a:off x="1905000" y="5791200"/>
            <a:ext cx="3657600" cy="830997"/>
          </a:xfrm>
          <a:prstGeom prst="rect">
            <a:avLst/>
          </a:prstGeom>
          <a:noFill/>
        </p:spPr>
        <p:txBody>
          <a:bodyPr wrap="square" rtlCol="0">
            <a:spAutoFit/>
          </a:bodyPr>
          <a:lstStyle/>
          <a:p>
            <a:r>
              <a:rPr lang="en-US" dirty="0" smtClean="0"/>
              <a:t>The bucket for items with key = 5</a:t>
            </a:r>
            <a:endParaRPr lang="en-US" dirty="0"/>
          </a:p>
        </p:txBody>
      </p:sp>
      <p:cxnSp>
        <p:nvCxnSpPr>
          <p:cNvPr id="24" name="Straight Arrow Connector 23"/>
          <p:cNvCxnSpPr>
            <a:stCxn id="22" idx="3"/>
          </p:cNvCxnSpPr>
          <p:nvPr/>
        </p:nvCxnSpPr>
        <p:spPr bwMode="auto">
          <a:xfrm flipV="1">
            <a:off x="5562600" y="5638800"/>
            <a:ext cx="685800" cy="567899"/>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9</a:t>
            </a:fld>
            <a:endParaRPr lang="en-US"/>
          </a:p>
        </p:txBody>
      </p:sp>
    </p:spTree>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648575" cy="685800"/>
          </a:xfrm>
        </p:spPr>
        <p:txBody>
          <a:bodyPr/>
          <a:lstStyle/>
          <a:p>
            <a:r>
              <a:rPr lang="en-US" dirty="0" smtClean="0"/>
              <a:t>Bucket Array…….</a:t>
            </a:r>
            <a:endParaRPr lang="en-US" dirty="0"/>
          </a:p>
        </p:txBody>
      </p:sp>
      <p:sp>
        <p:nvSpPr>
          <p:cNvPr id="4" name="Content Placeholder 3"/>
          <p:cNvSpPr>
            <a:spLocks noGrp="1"/>
          </p:cNvSpPr>
          <p:nvPr>
            <p:ph sz="half" idx="2"/>
          </p:nvPr>
        </p:nvSpPr>
        <p:spPr>
          <a:xfrm>
            <a:off x="381000" y="1066800"/>
            <a:ext cx="8610600" cy="5638800"/>
          </a:xfrm>
        </p:spPr>
        <p:txBody>
          <a:bodyPr/>
          <a:lstStyle/>
          <a:p>
            <a:r>
              <a:rPr lang="en-US" sz="2400" dirty="0" smtClean="0"/>
              <a:t>If keys are not unique </a:t>
            </a:r>
          </a:p>
          <a:p>
            <a:pPr lvl="1"/>
            <a:r>
              <a:rPr lang="en-US" dirty="0" smtClean="0"/>
              <a:t>two different elements may map to the same bucket in A. </a:t>
            </a:r>
          </a:p>
          <a:p>
            <a:pPr lvl="1"/>
            <a:r>
              <a:rPr lang="en-US" dirty="0" smtClean="0"/>
              <a:t>A collision has occurred.</a:t>
            </a:r>
          </a:p>
          <a:p>
            <a:pPr lvl="1"/>
            <a:r>
              <a:rPr lang="en-US" dirty="0" smtClean="0"/>
              <a:t>Collision resolving techniques are there, but avoid them.</a:t>
            </a:r>
          </a:p>
          <a:p>
            <a:r>
              <a:rPr lang="en-US" sz="2400" dirty="0" smtClean="0"/>
              <a:t>If keys are unique</a:t>
            </a:r>
          </a:p>
          <a:p>
            <a:pPr lvl="1"/>
            <a:r>
              <a:rPr lang="en-US" sz="2000" dirty="0" smtClean="0"/>
              <a:t>Each bucket has single element</a:t>
            </a:r>
          </a:p>
          <a:p>
            <a:pPr lvl="1"/>
            <a:r>
              <a:rPr lang="en-US" sz="2000" dirty="0" smtClean="0"/>
              <a:t>Searches, insertions and removals in the hash table takes worst case time O(1).</a:t>
            </a:r>
          </a:p>
          <a:p>
            <a:r>
              <a:rPr lang="en-US" dirty="0" smtClean="0"/>
              <a:t>Disadvantage :</a:t>
            </a:r>
          </a:p>
          <a:p>
            <a:pPr lvl="1"/>
            <a:r>
              <a:rPr lang="en-US" dirty="0" smtClean="0"/>
              <a:t>Uses space O(N), not related to n, the size of the dictionary.</a:t>
            </a:r>
          </a:p>
          <a:p>
            <a:pPr lvl="1"/>
            <a:r>
              <a:rPr lang="en-US" dirty="0" smtClean="0"/>
              <a:t>The bucket array needs the keys to be unique in the range [0, N-1], impossible</a:t>
            </a:r>
          </a:p>
          <a:p>
            <a:endParaRPr lang="en-US" sz="2400"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10</a:t>
            </a:fld>
            <a:endParaRPr lang="en-US"/>
          </a:p>
        </p:txBody>
      </p:sp>
    </p:spTree>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648575" cy="914400"/>
          </a:xfrm>
        </p:spPr>
        <p:txBody>
          <a:bodyPr/>
          <a:lstStyle/>
          <a:p>
            <a:r>
              <a:rPr lang="en-US" dirty="0" smtClean="0"/>
              <a:t>Bucket Array…..</a:t>
            </a:r>
            <a:endParaRPr lang="en-US" dirty="0"/>
          </a:p>
        </p:txBody>
      </p:sp>
      <p:sp>
        <p:nvSpPr>
          <p:cNvPr id="4" name="Content Placeholder 3"/>
          <p:cNvSpPr>
            <a:spLocks noGrp="1"/>
          </p:cNvSpPr>
          <p:nvPr>
            <p:ph sz="half" idx="2"/>
          </p:nvPr>
        </p:nvSpPr>
        <p:spPr>
          <a:xfrm>
            <a:off x="533400" y="1219200"/>
            <a:ext cx="8458200" cy="5486400"/>
          </a:xfrm>
        </p:spPr>
        <p:txBody>
          <a:bodyPr/>
          <a:lstStyle/>
          <a:p>
            <a:r>
              <a:rPr lang="en-US" dirty="0" smtClean="0"/>
              <a:t>So, the hash table is defined as a data structure with </a:t>
            </a:r>
          </a:p>
          <a:p>
            <a:r>
              <a:rPr lang="en-US" dirty="0" smtClean="0"/>
              <a:t>A bucket array together with a “good” mapping from the keys to integers [0, N-1].</a:t>
            </a:r>
          </a:p>
          <a:p>
            <a:endParaRPr lang="en-US"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11</a:t>
            </a:fld>
            <a:endParaRPr lang="en-US"/>
          </a:p>
        </p:txBody>
      </p:sp>
    </p:spTree>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648575" cy="914400"/>
          </a:xfrm>
        </p:spPr>
        <p:txBody>
          <a:bodyPr/>
          <a:lstStyle/>
          <a:p>
            <a:r>
              <a:rPr lang="en-US" dirty="0" smtClean="0"/>
              <a:t>Hash Functions</a:t>
            </a:r>
            <a:endParaRPr lang="en-US" dirty="0"/>
          </a:p>
        </p:txBody>
      </p:sp>
      <p:sp>
        <p:nvSpPr>
          <p:cNvPr id="4" name="Content Placeholder 3"/>
          <p:cNvSpPr>
            <a:spLocks noGrp="1"/>
          </p:cNvSpPr>
          <p:nvPr>
            <p:ph sz="half" idx="2"/>
          </p:nvPr>
        </p:nvSpPr>
        <p:spPr>
          <a:xfrm>
            <a:off x="457200" y="1295400"/>
            <a:ext cx="8534400" cy="5410200"/>
          </a:xfrm>
        </p:spPr>
        <p:txBody>
          <a:bodyPr/>
          <a:lstStyle/>
          <a:p>
            <a:r>
              <a:rPr lang="en-US" dirty="0" smtClean="0"/>
              <a:t>Second part of the hash table data structure is a hash function, h</a:t>
            </a:r>
          </a:p>
          <a:p>
            <a:r>
              <a:rPr lang="en-US" dirty="0" smtClean="0"/>
              <a:t>It maps each key k in D to an integer in the range [0, N-1], where N is the capacity of the bucket array.</a:t>
            </a:r>
          </a:p>
          <a:p>
            <a:r>
              <a:rPr lang="en-US" dirty="0" smtClean="0"/>
              <a:t>h[k] is used as an index into the bucket array rather than key k itself.</a:t>
            </a:r>
          </a:p>
          <a:p>
            <a:r>
              <a:rPr lang="en-US" dirty="0" smtClean="0"/>
              <a:t>Item (</a:t>
            </a:r>
            <a:r>
              <a:rPr lang="en-US" dirty="0" err="1" smtClean="0"/>
              <a:t>k,e</a:t>
            </a:r>
            <a:r>
              <a:rPr lang="en-US" dirty="0" smtClean="0"/>
              <a:t>) is stored in the bucket A[h[k]] instead of A[k].</a:t>
            </a:r>
          </a:p>
          <a:p>
            <a:r>
              <a:rPr lang="en-US" dirty="0" smtClean="0"/>
              <a:t>A hash function is good if it minimizes collisions.  </a:t>
            </a:r>
          </a:p>
          <a:p>
            <a:endParaRPr lang="en-US"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12</a:t>
            </a:fld>
            <a:endParaRPr lang="en-US"/>
          </a:p>
        </p:txBody>
      </p:sp>
    </p:spTree>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81000" y="304800"/>
            <a:ext cx="8610600" cy="6400800"/>
          </a:xfrm>
        </p:spPr>
        <p:txBody>
          <a:bodyPr/>
          <a:lstStyle/>
          <a:p>
            <a:r>
              <a:rPr lang="en-US" dirty="0" smtClean="0"/>
              <a:t>A hash function has to evaluate two actions :</a:t>
            </a:r>
          </a:p>
          <a:p>
            <a:pPr lvl="1"/>
            <a:r>
              <a:rPr lang="en-US" dirty="0" smtClean="0"/>
              <a:t>A hash code – mapping a key to an integer.</a:t>
            </a:r>
          </a:p>
          <a:p>
            <a:pPr lvl="1"/>
            <a:r>
              <a:rPr lang="en-US" dirty="0" smtClean="0"/>
              <a:t>A compression map – maps the hash code to an integer in the range [0, N-1] i.e., the range of indices of a bucket array.</a:t>
            </a:r>
          </a:p>
          <a:p>
            <a:pPr lvl="1"/>
            <a:endParaRPr lang="en-US" dirty="0" smtClean="0"/>
          </a:p>
          <a:p>
            <a:pPr>
              <a:buNone/>
            </a:pPr>
            <a:endParaRPr lang="en-US" dirty="0"/>
          </a:p>
        </p:txBody>
      </p:sp>
      <p:sp>
        <p:nvSpPr>
          <p:cNvPr id="6" name="Wave 5"/>
          <p:cNvSpPr/>
          <p:nvPr/>
        </p:nvSpPr>
        <p:spPr bwMode="auto">
          <a:xfrm>
            <a:off x="2514600" y="2590800"/>
            <a:ext cx="3810000" cy="685800"/>
          </a:xfrm>
          <a:prstGeom prst="wav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ahoma" charset="0"/>
              </a:rPr>
              <a:t>Arbitrary objects</a:t>
            </a:r>
            <a:endParaRPr kumimoji="0" lang="en-US" sz="2400" b="0" i="0" u="none" strike="noStrike" cap="none" normalizeH="0" baseline="0" dirty="0">
              <a:ln>
                <a:noFill/>
              </a:ln>
              <a:solidFill>
                <a:schemeClr val="tx1"/>
              </a:solidFill>
              <a:effectLst/>
              <a:latin typeface="Tahoma" charset="0"/>
            </a:endParaRPr>
          </a:p>
        </p:txBody>
      </p:sp>
      <p:sp>
        <p:nvSpPr>
          <p:cNvPr id="7" name="Down Arrow Callout 6"/>
          <p:cNvSpPr/>
          <p:nvPr/>
        </p:nvSpPr>
        <p:spPr bwMode="auto">
          <a:xfrm>
            <a:off x="2819400" y="3429000"/>
            <a:ext cx="3048000" cy="914400"/>
          </a:xfrm>
          <a:prstGeom prst="downArrowCallou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ahoma" charset="0"/>
              </a:rPr>
              <a:t>Hash Code</a:t>
            </a:r>
            <a:endParaRPr kumimoji="0" lang="en-US" sz="2400" b="0" i="0" u="none" strike="noStrike" cap="none" normalizeH="0" baseline="0" dirty="0">
              <a:ln>
                <a:noFill/>
              </a:ln>
              <a:solidFill>
                <a:schemeClr val="tx1"/>
              </a:solidFill>
              <a:effectLst/>
              <a:latin typeface="Tahoma" charset="0"/>
            </a:endParaRPr>
          </a:p>
        </p:txBody>
      </p:sp>
      <p:sp>
        <p:nvSpPr>
          <p:cNvPr id="8" name="Left Arrow 7"/>
          <p:cNvSpPr/>
          <p:nvPr/>
        </p:nvSpPr>
        <p:spPr bwMode="auto">
          <a:xfrm>
            <a:off x="1981200" y="4419600"/>
            <a:ext cx="381000" cy="228600"/>
          </a:xfrm>
          <a:prstGeom prst="lef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9" name="Oval 8"/>
          <p:cNvSpPr/>
          <p:nvPr/>
        </p:nvSpPr>
        <p:spPr bwMode="auto">
          <a:xfrm>
            <a:off x="25908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p:cNvSpPr/>
          <p:nvPr/>
        </p:nvSpPr>
        <p:spPr bwMode="auto">
          <a:xfrm>
            <a:off x="29718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p:cNvSpPr/>
          <p:nvPr/>
        </p:nvSpPr>
        <p:spPr bwMode="auto">
          <a:xfrm>
            <a:off x="33528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Oval 11"/>
          <p:cNvSpPr/>
          <p:nvPr/>
        </p:nvSpPr>
        <p:spPr bwMode="auto">
          <a:xfrm>
            <a:off x="37338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3" name="Oval 12"/>
          <p:cNvSpPr/>
          <p:nvPr/>
        </p:nvSpPr>
        <p:spPr bwMode="auto">
          <a:xfrm>
            <a:off x="41148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4" name="Oval 13"/>
          <p:cNvSpPr/>
          <p:nvPr/>
        </p:nvSpPr>
        <p:spPr bwMode="auto">
          <a:xfrm>
            <a:off x="44196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5" name="Oval 14"/>
          <p:cNvSpPr/>
          <p:nvPr/>
        </p:nvSpPr>
        <p:spPr bwMode="auto">
          <a:xfrm>
            <a:off x="47244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6" name="Oval 15"/>
          <p:cNvSpPr/>
          <p:nvPr/>
        </p:nvSpPr>
        <p:spPr bwMode="auto">
          <a:xfrm>
            <a:off x="51054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7" name="Oval 16"/>
          <p:cNvSpPr/>
          <p:nvPr/>
        </p:nvSpPr>
        <p:spPr bwMode="auto">
          <a:xfrm>
            <a:off x="53340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8" name="Oval 17"/>
          <p:cNvSpPr/>
          <p:nvPr/>
        </p:nvSpPr>
        <p:spPr bwMode="auto">
          <a:xfrm>
            <a:off x="5562600" y="4495800"/>
            <a:ext cx="76200" cy="762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2" name="Right Arrow 21"/>
          <p:cNvSpPr/>
          <p:nvPr/>
        </p:nvSpPr>
        <p:spPr bwMode="auto">
          <a:xfrm>
            <a:off x="5867400" y="4419600"/>
            <a:ext cx="457200" cy="228600"/>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3" name="Rectangle 22"/>
          <p:cNvSpPr/>
          <p:nvPr/>
        </p:nvSpPr>
        <p:spPr bwMode="auto">
          <a:xfrm>
            <a:off x="2438400" y="4953000"/>
            <a:ext cx="4191000" cy="533400"/>
          </a:xfrm>
          <a:prstGeom prst="rect">
            <a:avLst/>
          </a:prstGeom>
          <a:no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ahoma" charset="0"/>
              </a:rPr>
              <a:t>….. …… -2  -1</a:t>
            </a:r>
            <a:r>
              <a:rPr kumimoji="0" lang="en-US" sz="2400" b="0" i="0" u="none" strike="noStrike" cap="none" normalizeH="0" dirty="0" smtClean="0">
                <a:ln>
                  <a:noFill/>
                </a:ln>
                <a:solidFill>
                  <a:schemeClr val="tx1"/>
                </a:solidFill>
                <a:effectLst/>
                <a:latin typeface="Tahoma" charset="0"/>
              </a:rPr>
              <a:t>  0  1  2 …..</a:t>
            </a:r>
            <a:endParaRPr kumimoji="0" lang="en-US" sz="2400" b="0" i="0" u="none" strike="noStrike" cap="none" normalizeH="0" baseline="0" dirty="0">
              <a:ln>
                <a:noFill/>
              </a:ln>
              <a:solidFill>
                <a:schemeClr val="tx1"/>
              </a:solidFill>
              <a:effectLst/>
              <a:latin typeface="Tahoma" charset="0"/>
            </a:endParaRPr>
          </a:p>
        </p:txBody>
      </p:sp>
      <p:sp>
        <p:nvSpPr>
          <p:cNvPr id="24" name="Down Arrow Callout 23"/>
          <p:cNvSpPr/>
          <p:nvPr/>
        </p:nvSpPr>
        <p:spPr bwMode="auto">
          <a:xfrm>
            <a:off x="2819400" y="5486400"/>
            <a:ext cx="3352800" cy="914400"/>
          </a:xfrm>
          <a:prstGeom prst="downArrowCallou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ahoma" charset="0"/>
              </a:rPr>
              <a:t>Compression Map</a:t>
            </a:r>
            <a:endParaRPr kumimoji="0" lang="en-US" sz="2400" b="0" i="0" u="none" strike="noStrike" cap="none" normalizeH="0" baseline="0" dirty="0">
              <a:ln>
                <a:noFill/>
              </a:ln>
              <a:solidFill>
                <a:schemeClr val="tx1"/>
              </a:solidFill>
              <a:effectLst/>
              <a:latin typeface="Tahoma" charset="0"/>
            </a:endParaRPr>
          </a:p>
        </p:txBody>
      </p:sp>
      <p:sp>
        <p:nvSpPr>
          <p:cNvPr id="25" name="Rectangle 24"/>
          <p:cNvSpPr/>
          <p:nvPr/>
        </p:nvSpPr>
        <p:spPr bwMode="auto">
          <a:xfrm>
            <a:off x="2438400" y="6324600"/>
            <a:ext cx="4191000" cy="533400"/>
          </a:xfrm>
          <a:prstGeom prst="rect">
            <a:avLst/>
          </a:prstGeom>
          <a:no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ahoma" charset="0"/>
              </a:rPr>
              <a:t>0   1  2  ………………………N</a:t>
            </a:r>
            <a:r>
              <a:rPr kumimoji="0" lang="en-US" sz="2400" b="0" i="0" u="none" strike="noStrike" cap="none" normalizeH="0" dirty="0" smtClean="0">
                <a:ln>
                  <a:noFill/>
                </a:ln>
                <a:solidFill>
                  <a:schemeClr val="tx1"/>
                </a:solidFill>
                <a:effectLst/>
                <a:latin typeface="Tahoma" charset="0"/>
              </a:rPr>
              <a:t> -1</a:t>
            </a:r>
            <a:endParaRPr kumimoji="0" lang="en-US" sz="2400" b="0" i="0" u="none" strike="noStrike" cap="none" normalizeH="0" baseline="0" dirty="0">
              <a:ln>
                <a:noFill/>
              </a:ln>
              <a:solidFill>
                <a:schemeClr val="tx1"/>
              </a:solidFill>
              <a:effectLst/>
              <a:latin typeface="Tahoma" charset="0"/>
            </a:endParaRPr>
          </a:p>
        </p:txBody>
      </p:sp>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13</a:t>
            </a:fld>
            <a:endParaRPr lang="en-US"/>
          </a:p>
        </p:txBody>
      </p:sp>
    </p:spTree>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381000" y="304800"/>
                <a:ext cx="8610600" cy="6400800"/>
              </a:xfrm>
            </p:spPr>
            <p:txBody>
              <a:bodyPr/>
              <a:lstStyle/>
              <a:p>
                <a:r>
                  <a:rPr lang="en-US" dirty="0" smtClean="0"/>
                  <a:t>Hash Codes: </a:t>
                </a:r>
              </a:p>
              <a:p>
                <a:pPr lvl="1"/>
                <a:r>
                  <a:rPr lang="en-US" dirty="0" smtClean="0"/>
                  <a:t> the hash function maps a key k into an integer value called the hash code/hash value for k.</a:t>
                </a:r>
              </a:p>
              <a:p>
                <a:pPr lvl="1"/>
                <a:r>
                  <a:rPr lang="en-US" dirty="0" smtClean="0"/>
                  <a:t>this integer need not be within [0, N-1].</a:t>
                </a:r>
              </a:p>
              <a:p>
                <a:pPr lvl="1"/>
                <a:r>
                  <a:rPr lang="en-US" dirty="0" smtClean="0"/>
                  <a:t>Can be also negative.</a:t>
                </a:r>
              </a:p>
              <a:p>
                <a:pPr lvl="1"/>
                <a:r>
                  <a:rPr lang="en-US" dirty="0" smtClean="0"/>
                  <a:t>Desire to avoid collisions.</a:t>
                </a:r>
              </a:p>
              <a:p>
                <a:pPr lvl="1"/>
                <a:r>
                  <a:rPr lang="en-US" dirty="0" smtClean="0"/>
                  <a:t>Hash code for any key equal to k should be same</a:t>
                </a:r>
              </a:p>
              <a:p>
                <a:pPr marL="457200" lvl="1" indent="0">
                  <a:buNone/>
                </a:pPr>
                <a:endParaRPr lang="en-US" dirty="0" smtClean="0"/>
              </a:p>
              <a:p>
                <a:r>
                  <a:rPr lang="en-US" sz="2000" b="1" dirty="0" smtClean="0"/>
                  <a:t>Summing Components :</a:t>
                </a:r>
              </a:p>
              <a:p>
                <a:pPr lvl="1"/>
                <a:r>
                  <a:rPr lang="en-US" dirty="0" smtClean="0"/>
                  <a:t>Hash code for an object x whose binary representation is a k-tuple (x</a:t>
                </a:r>
                <a:r>
                  <a:rPr lang="en-US" baseline="-25000" dirty="0" smtClean="0"/>
                  <a:t>0, </a:t>
                </a:r>
                <a:r>
                  <a:rPr lang="en-US" dirty="0" smtClean="0"/>
                  <a:t>x</a:t>
                </a:r>
                <a:r>
                  <a:rPr lang="en-US" baseline="-25000" dirty="0" smtClean="0"/>
                  <a:t>1, …… </a:t>
                </a:r>
                <a:r>
                  <a:rPr lang="en-US" dirty="0" smtClean="0"/>
                  <a:t>x</a:t>
                </a:r>
                <a:r>
                  <a:rPr lang="en-US" baseline="-25000" dirty="0" smtClean="0"/>
                  <a:t>k-1</a:t>
                </a:r>
                <a:r>
                  <a:rPr lang="en-US" dirty="0" smtClean="0"/>
                  <a:t>) of integers, is </a:t>
                </a:r>
                <a14:m>
                  <m:oMath xmlns:m="http://schemas.openxmlformats.org/officeDocument/2006/math">
                    <m:nary>
                      <m:naryPr>
                        <m:chr m:val="∑"/>
                        <m:ctrlPr>
                          <a:rPr lang="en-US" b="1" i="1" smtClean="0">
                            <a:latin typeface="Cambria Math"/>
                          </a:rPr>
                        </m:ctrlPr>
                      </m:naryPr>
                      <m:sub>
                        <m:r>
                          <m:rPr>
                            <m:brk m:alnAt="23"/>
                          </m:rPr>
                          <a:rPr lang="en-US" b="1" i="1" smtClean="0">
                            <a:latin typeface="Cambria Math"/>
                          </a:rPr>
                          <m:t>𝒊</m:t>
                        </m:r>
                        <m:r>
                          <a:rPr lang="en-US" b="1" i="1" smtClean="0">
                            <a:latin typeface="Cambria Math"/>
                          </a:rPr>
                          <m:t>=</m:t>
                        </m:r>
                        <m:r>
                          <a:rPr lang="en-US" b="1" i="1" smtClean="0">
                            <a:latin typeface="Cambria Math"/>
                          </a:rPr>
                          <m:t>𝟎</m:t>
                        </m:r>
                      </m:sub>
                      <m:sup>
                        <m:r>
                          <a:rPr lang="en-US" b="1" i="1" smtClean="0">
                            <a:latin typeface="Cambria Math"/>
                          </a:rPr>
                          <m:t>𝒌</m:t>
                        </m:r>
                        <m:r>
                          <a:rPr lang="en-US" b="1" i="1" smtClean="0">
                            <a:latin typeface="Cambria Math"/>
                          </a:rPr>
                          <m:t>−</m:t>
                        </m:r>
                        <m:r>
                          <a:rPr lang="en-US" b="1" i="1" smtClean="0">
                            <a:latin typeface="Cambria Math"/>
                          </a:rPr>
                          <m:t>𝟏</m:t>
                        </m:r>
                      </m:sup>
                      <m:e>
                        <m:sSub>
                          <m:sSubPr>
                            <m:ctrlPr>
                              <a:rPr lang="en-US" b="1" i="1" smtClean="0">
                                <a:latin typeface="Cambria Math"/>
                              </a:rPr>
                            </m:ctrlPr>
                          </m:sSubPr>
                          <m:e>
                            <m:r>
                              <a:rPr lang="en-US" b="1" i="1" smtClean="0">
                                <a:latin typeface="Cambria Math"/>
                              </a:rPr>
                              <m:t>𝒙</m:t>
                            </m:r>
                          </m:e>
                          <m:sub>
                            <m:r>
                              <a:rPr lang="en-US" b="1" i="1" smtClean="0">
                                <a:latin typeface="Cambria Math"/>
                              </a:rPr>
                              <m:t>𝒊</m:t>
                            </m:r>
                          </m:sub>
                        </m:sSub>
                      </m:e>
                    </m:nary>
                  </m:oMath>
                </a14:m>
                <a:r>
                  <a:rPr lang="en-US" b="1" baseline="-25000" dirty="0" smtClean="0"/>
                  <a:t>.</a:t>
                </a:r>
              </a:p>
              <a:p>
                <a:pPr marL="0" indent="0">
                  <a:buNone/>
                </a:pPr>
                <a:endParaRPr lang="en-US" b="1" baseline="-25000"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381000" y="304800"/>
                <a:ext cx="8610600" cy="6400800"/>
              </a:xfrm>
              <a:blipFill rotWithShape="1">
                <a:blip r:embed="rId2"/>
                <a:stretch>
                  <a:fillRect l="-354" t="-952" r="-2125"/>
                </a:stretch>
              </a:blipFill>
            </p:spPr>
            <p:txBody>
              <a:bodyPr/>
              <a:lstStyle/>
              <a:p>
                <a:r>
                  <a:rPr lang="en-US">
                    <a:noFill/>
                  </a:rPr>
                  <a:t> </a:t>
                </a:r>
              </a:p>
            </p:txBody>
          </p:sp>
        </mc:Fallback>
      </mc:AlternateContent>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14</a:t>
            </a:fld>
            <a:endParaRPr lang="en-US"/>
          </a:p>
        </p:txBody>
      </p:sp>
    </p:spTree>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914400" y="533400"/>
                <a:ext cx="8077200" cy="6172200"/>
              </a:xfrm>
            </p:spPr>
            <p:txBody>
              <a:bodyPr/>
              <a:lstStyle/>
              <a:p>
                <a:r>
                  <a:rPr lang="en-US" b="1" dirty="0" smtClean="0"/>
                  <a:t>Disadvantages of Summation Hash codes: </a:t>
                </a:r>
              </a:p>
              <a:p>
                <a:pPr lvl="1"/>
                <a:r>
                  <a:rPr lang="en-US" dirty="0" smtClean="0"/>
                  <a:t>It gives no significance to the order of the </a:t>
                </a:r>
                <a14:m>
                  <m:oMath xmlns:m="http://schemas.openxmlformats.org/officeDocument/2006/math">
                    <m:sSub>
                      <m:sSubPr>
                        <m:ctrlPr>
                          <a:rPr lang="en-US" i="1" smtClean="0">
                            <a:latin typeface="Cambria Math"/>
                          </a:rPr>
                        </m:ctrlPr>
                      </m:sSubPr>
                      <m:e>
                        <m:r>
                          <a:rPr lang="en-US" b="0" i="1" smtClean="0">
                            <a:latin typeface="Cambria Math"/>
                          </a:rPr>
                          <m:t>𝑥</m:t>
                        </m:r>
                      </m:e>
                      <m:sub>
                        <m:r>
                          <a:rPr lang="en-US" b="0" i="1" smtClean="0">
                            <a:latin typeface="Cambria Math"/>
                          </a:rPr>
                          <m:t>𝑖</m:t>
                        </m:r>
                      </m:sub>
                    </m:sSub>
                  </m:oMath>
                </a14:m>
                <a:r>
                  <a:rPr lang="en-US" dirty="0" smtClean="0"/>
                  <a:t>s .</a:t>
                </a:r>
              </a:p>
              <a:p>
                <a:pPr lvl="1"/>
                <a:r>
                  <a:rPr lang="en-US" dirty="0" smtClean="0"/>
                  <a:t>Not suitable for character strings</a:t>
                </a:r>
              </a:p>
              <a:p>
                <a:pPr lvl="1"/>
                <a:r>
                  <a:rPr lang="en-US" dirty="0" smtClean="0"/>
                  <a:t>So it produces unwanted collisions for common group of strings.</a:t>
                </a:r>
              </a:p>
              <a:p>
                <a:pPr lvl="1"/>
                <a:r>
                  <a:rPr lang="en-US" dirty="0" smtClean="0"/>
                  <a:t>Ex : “temp01” and “temp10” collide</a:t>
                </a:r>
              </a:p>
              <a:p>
                <a:pPr lvl="1"/>
                <a:r>
                  <a:rPr lang="en-US" dirty="0" smtClean="0"/>
                  <a:t>“stop”, “pots”, “spot”, “tops” collide</a:t>
                </a:r>
              </a:p>
              <a:p>
                <a:r>
                  <a:rPr lang="en-US" b="1" dirty="0" smtClean="0"/>
                  <a:t>Polynomial Hash Codes:</a:t>
                </a:r>
              </a:p>
              <a:p>
                <a:pPr lvl="1"/>
                <a:r>
                  <a:rPr lang="en-US" dirty="0" smtClean="0"/>
                  <a:t>It takes the position of</a:t>
                </a:r>
                <a14:m>
                  <m:oMath xmlns:m="http://schemas.openxmlformats.org/officeDocument/2006/math">
                    <m:sSub>
                      <m:sSubPr>
                        <m:ctrlPr>
                          <a:rPr lang="en-US" i="1">
                            <a:latin typeface="Cambria Math"/>
                          </a:rPr>
                        </m:ctrlPr>
                      </m:sSubPr>
                      <m:e>
                        <m:r>
                          <a:rPr lang="en-US" i="1">
                            <a:latin typeface="Cambria Math"/>
                          </a:rPr>
                          <m:t>𝑥</m:t>
                        </m:r>
                      </m:e>
                      <m:sub>
                        <m:r>
                          <a:rPr lang="en-US" i="1">
                            <a:latin typeface="Cambria Math"/>
                          </a:rPr>
                          <m:t>𝑖</m:t>
                        </m:r>
                      </m:sub>
                    </m:sSub>
                  </m:oMath>
                </a14:m>
                <a:r>
                  <a:rPr lang="en-US" dirty="0"/>
                  <a:t>s </a:t>
                </a:r>
                <a:r>
                  <a:rPr lang="en-US" dirty="0" smtClean="0"/>
                  <a:t> into consideration.</a:t>
                </a:r>
              </a:p>
              <a:p>
                <a:pPr lvl="1"/>
                <a:r>
                  <a:rPr lang="en-US" dirty="0" smtClean="0"/>
                  <a:t>h</a:t>
                </a:r>
                <a:r>
                  <a:rPr lang="en-US" dirty="0"/>
                  <a:t> (x</a:t>
                </a:r>
                <a:r>
                  <a:rPr lang="en-US" baseline="-25000" dirty="0"/>
                  <a:t>0, </a:t>
                </a:r>
                <a:r>
                  <a:rPr lang="en-US" dirty="0"/>
                  <a:t>x</a:t>
                </a:r>
                <a:r>
                  <a:rPr lang="en-US" baseline="-25000" dirty="0"/>
                  <a:t>1, …… </a:t>
                </a:r>
                <a:r>
                  <a:rPr lang="en-US" dirty="0"/>
                  <a:t>x</a:t>
                </a:r>
                <a:r>
                  <a:rPr lang="en-US" baseline="-25000" dirty="0"/>
                  <a:t>k-1</a:t>
                </a:r>
                <a:r>
                  <a:rPr lang="en-US" dirty="0"/>
                  <a:t>) </a:t>
                </a:r>
                <a:r>
                  <a:rPr lang="en-US" dirty="0" smtClean="0"/>
                  <a:t>= </a:t>
                </a:r>
                <a14:m>
                  <m:oMath xmlns:m="http://schemas.openxmlformats.org/officeDocument/2006/math">
                    <m:nary>
                      <m:naryPr>
                        <m:chr m:val="∑"/>
                        <m:ctrlPr>
                          <a:rPr lang="en-US" b="1" i="1">
                            <a:latin typeface="Cambria Math"/>
                          </a:rPr>
                        </m:ctrlPr>
                      </m:naryPr>
                      <m:sub>
                        <m:r>
                          <m:rPr>
                            <m:brk m:alnAt="23"/>
                          </m:rPr>
                          <a:rPr lang="en-US" b="1" i="1">
                            <a:latin typeface="Cambria Math"/>
                          </a:rPr>
                          <m:t>𝒊</m:t>
                        </m:r>
                        <m:r>
                          <a:rPr lang="en-US" b="1" i="1">
                            <a:latin typeface="Cambria Math"/>
                          </a:rPr>
                          <m:t>=</m:t>
                        </m:r>
                        <m:r>
                          <a:rPr lang="en-US" b="1" i="1">
                            <a:latin typeface="Cambria Math"/>
                          </a:rPr>
                          <m:t>𝟎</m:t>
                        </m:r>
                      </m:sub>
                      <m:sup>
                        <m:r>
                          <a:rPr lang="en-US" b="1" i="1">
                            <a:latin typeface="Cambria Math"/>
                          </a:rPr>
                          <m:t>𝒌</m:t>
                        </m:r>
                        <m:r>
                          <a:rPr lang="en-US" b="1" i="1">
                            <a:latin typeface="Cambria Math"/>
                          </a:rPr>
                          <m:t>−</m:t>
                        </m:r>
                        <m:r>
                          <a:rPr lang="en-US" b="1" i="1">
                            <a:latin typeface="Cambria Math"/>
                          </a:rPr>
                          <m:t>𝟏</m:t>
                        </m:r>
                      </m:sup>
                      <m:e>
                        <m:sSup>
                          <m:sSupPr>
                            <m:ctrlPr>
                              <a:rPr lang="en-US" b="1" i="1" smtClean="0">
                                <a:latin typeface="Cambria Math"/>
                              </a:rPr>
                            </m:ctrlPr>
                          </m:sSupPr>
                          <m:e>
                            <m:r>
                              <a:rPr lang="en-US" b="1" i="1" smtClean="0">
                                <a:latin typeface="Cambria Math"/>
                              </a:rPr>
                              <m:t>𝒂</m:t>
                            </m:r>
                          </m:e>
                          <m:sup>
                            <m:r>
                              <a:rPr lang="en-US" b="1" i="1" smtClean="0">
                                <a:latin typeface="Cambria Math"/>
                              </a:rPr>
                              <m:t>𝒊</m:t>
                            </m:r>
                          </m:sup>
                        </m:sSup>
                        <m:sSub>
                          <m:sSubPr>
                            <m:ctrlPr>
                              <a:rPr lang="en-US" i="1">
                                <a:latin typeface="Cambria Math"/>
                              </a:rPr>
                            </m:ctrlPr>
                          </m:sSubPr>
                          <m:e>
                            <m:r>
                              <a:rPr lang="en-US" i="1">
                                <a:latin typeface="Cambria Math"/>
                              </a:rPr>
                              <m:t>𝑥</m:t>
                            </m:r>
                          </m:e>
                          <m:sub>
                            <m:r>
                              <a:rPr lang="en-US" i="1">
                                <a:latin typeface="Cambria Math"/>
                              </a:rPr>
                              <m:t>𝑖</m:t>
                            </m:r>
                          </m:sub>
                        </m:sSub>
                      </m:e>
                    </m:nary>
                  </m:oMath>
                </a14:m>
                <a:r>
                  <a:rPr lang="en-US" dirty="0" smtClean="0"/>
                  <a:t>, where a is a non-zero constant and a </a:t>
                </a:r>
                <a:r>
                  <a:rPr lang="en-US" dirty="0" smtClean="0">
                    <a:latin typeface="Cambria Math"/>
                    <a:ea typeface="Cambria Math"/>
                  </a:rPr>
                  <a:t>≠ 1.</a:t>
                </a:r>
              </a:p>
              <a:p>
                <a:pPr lvl="1"/>
                <a:r>
                  <a:rPr lang="en-US" dirty="0" smtClean="0">
                    <a:latin typeface="Cambria Math"/>
                    <a:ea typeface="Cambria Math"/>
                  </a:rPr>
                  <a:t>Makes the hash code depend on the order of the components.</a:t>
                </a:r>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914400" y="533400"/>
                <a:ext cx="8077200" cy="6172200"/>
              </a:xfrm>
              <a:blipFill rotWithShape="1">
                <a:blip r:embed="rId2"/>
                <a:stretch>
                  <a:fillRect l="-302" t="-988" r="-2038"/>
                </a:stretch>
              </a:blipFill>
            </p:spPr>
            <p:txBody>
              <a:bodyPr/>
              <a:lstStyle/>
              <a:p>
                <a:r>
                  <a:rPr lang="en-US">
                    <a:noFill/>
                  </a:rPr>
                  <a:t> </a:t>
                </a:r>
              </a:p>
            </p:txBody>
          </p:sp>
        </mc:Fallback>
      </mc:AlternateContent>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15</a:t>
            </a:fld>
            <a:endParaRPr lang="en-US"/>
          </a:p>
        </p:txBody>
      </p:sp>
    </p:spTree>
    <p:extLst>
      <p:ext uri="{BB962C8B-B14F-4D97-AF65-F5344CB8AC3E}">
        <p14:creationId xmlns:p14="http://schemas.microsoft.com/office/powerpoint/2010/main" val="4225410818"/>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85800" y="533400"/>
            <a:ext cx="8305800" cy="6172200"/>
          </a:xfrm>
        </p:spPr>
        <p:txBody>
          <a:bodyPr/>
          <a:lstStyle/>
          <a:p>
            <a:r>
              <a:rPr lang="en-US" dirty="0" smtClean="0"/>
              <a:t>In working with characters strings good choices for k are 33,37, 39 and 41 for characters strings that are English words.</a:t>
            </a:r>
          </a:p>
          <a:p>
            <a:pPr marL="0" indent="0">
              <a:buNone/>
            </a:pPr>
            <a:endParaRPr lang="en-US" dirty="0" smtClean="0"/>
          </a:p>
          <a:p>
            <a:pPr marL="0" indent="0">
              <a:buNone/>
            </a:pPr>
            <a:endParaRPr lang="en-US" dirty="0" smtClean="0"/>
          </a:p>
        </p:txBody>
      </p:sp>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16</a:t>
            </a:fld>
            <a:endParaRPr lang="en-US"/>
          </a:p>
        </p:txBody>
      </p:sp>
    </p:spTree>
    <p:extLst>
      <p:ext uri="{BB962C8B-B14F-4D97-AF65-F5344CB8AC3E}">
        <p14:creationId xmlns:p14="http://schemas.microsoft.com/office/powerpoint/2010/main" val="928744328"/>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09600" y="685800"/>
            <a:ext cx="8382000" cy="6019800"/>
          </a:xfrm>
        </p:spPr>
        <p:txBody>
          <a:bodyPr/>
          <a:lstStyle/>
          <a:p>
            <a:pPr marL="0" indent="0">
              <a:buNone/>
            </a:pPr>
            <a:r>
              <a:rPr lang="en-US" b="1" dirty="0" smtClean="0"/>
              <a:t>Compression Maps: </a:t>
            </a:r>
          </a:p>
          <a:p>
            <a:r>
              <a:rPr lang="en-US" dirty="0" smtClean="0"/>
              <a:t>The hash code for a key k will be in the range which exceeds the legal indices of the bucket array.</a:t>
            </a:r>
          </a:p>
          <a:p>
            <a:r>
              <a:rPr lang="en-US" dirty="0" smtClean="0"/>
              <a:t>It can be even negative.</a:t>
            </a:r>
          </a:p>
          <a:p>
            <a:r>
              <a:rPr lang="en-US" dirty="0" smtClean="0"/>
              <a:t>So, it cannot be immediately used to index the bucket array.</a:t>
            </a:r>
          </a:p>
          <a:p>
            <a:r>
              <a:rPr lang="en-US" dirty="0" smtClean="0"/>
              <a:t>The integer hash code for a key k, has to be mapped into the range [0, N-1].</a:t>
            </a:r>
          </a:p>
          <a:p>
            <a:r>
              <a:rPr lang="en-US" dirty="0" smtClean="0"/>
              <a:t>This compression step is the second action of a hash function.</a:t>
            </a:r>
          </a:p>
          <a:p>
            <a:endParaRPr lang="en-US" dirty="0"/>
          </a:p>
        </p:txBody>
      </p:sp>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17</a:t>
            </a:fld>
            <a:endParaRPr lang="en-US"/>
          </a:p>
        </p:txBody>
      </p:sp>
    </p:spTree>
    <p:extLst>
      <p:ext uri="{BB962C8B-B14F-4D97-AF65-F5344CB8AC3E}">
        <p14:creationId xmlns:p14="http://schemas.microsoft.com/office/powerpoint/2010/main" val="4133461663"/>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304800" y="152400"/>
                <a:ext cx="8686800" cy="6553200"/>
              </a:xfrm>
            </p:spPr>
            <p:txBody>
              <a:bodyPr/>
              <a:lstStyle/>
              <a:p>
                <a:pPr marL="0" indent="0">
                  <a:buNone/>
                </a:pPr>
                <a:r>
                  <a:rPr lang="en-US" b="1" dirty="0" smtClean="0"/>
                  <a:t>Division Method:</a:t>
                </a:r>
              </a:p>
              <a:p>
                <a:r>
                  <a:rPr lang="en-US" sz="2400" dirty="0" smtClean="0"/>
                  <a:t>Simple compression map:  </a:t>
                </a:r>
                <a14:m>
                  <m:oMath xmlns:m="http://schemas.openxmlformats.org/officeDocument/2006/math">
                    <m:r>
                      <a:rPr lang="en-US" sz="2400" b="0" i="1" smtClean="0">
                        <a:latin typeface="Cambria Math"/>
                      </a:rPr>
                      <m:t>h</m:t>
                    </m:r>
                    <m:d>
                      <m:dPr>
                        <m:ctrlPr>
                          <a:rPr lang="en-US" sz="2400" b="0" i="1" smtClean="0">
                            <a:latin typeface="Cambria Math"/>
                          </a:rPr>
                        </m:ctrlPr>
                      </m:dPr>
                      <m:e>
                        <m:r>
                          <a:rPr lang="en-US" sz="2400" b="0" i="1" smtClean="0">
                            <a:latin typeface="Cambria Math"/>
                          </a:rPr>
                          <m:t>𝑘</m:t>
                        </m:r>
                      </m:e>
                    </m:d>
                    <m:r>
                      <a:rPr lang="en-US" sz="2400" b="0" i="1" smtClean="0">
                        <a:latin typeface="Cambria Math"/>
                      </a:rPr>
                      <m:t>= </m:t>
                    </m:r>
                    <m:d>
                      <m:dPr>
                        <m:begChr m:val="|"/>
                        <m:endChr m:val="|"/>
                        <m:ctrlPr>
                          <a:rPr lang="en-US" sz="2400" b="0" i="1" smtClean="0">
                            <a:latin typeface="Cambria Math"/>
                          </a:rPr>
                        </m:ctrlPr>
                      </m:dPr>
                      <m:e>
                        <m:r>
                          <a:rPr lang="en-US" sz="2400" b="0" i="1" smtClean="0">
                            <a:latin typeface="Cambria Math"/>
                          </a:rPr>
                          <m:t>𝑘</m:t>
                        </m:r>
                      </m:e>
                    </m:d>
                    <m:r>
                      <a:rPr lang="en-US" sz="2400" b="0" i="1" smtClean="0">
                        <a:latin typeface="Cambria Math"/>
                      </a:rPr>
                      <m:t> </m:t>
                    </m:r>
                    <m:r>
                      <a:rPr lang="en-US" sz="2400" b="0" i="1" smtClean="0">
                        <a:latin typeface="Cambria Math"/>
                      </a:rPr>
                      <m:t>𝑚𝑜𝑑</m:t>
                    </m:r>
                    <m:r>
                      <a:rPr lang="en-US" sz="2400" b="0" i="1" smtClean="0">
                        <a:latin typeface="Cambria Math"/>
                      </a:rPr>
                      <m:t> </m:t>
                    </m:r>
                    <m:r>
                      <a:rPr lang="en-US" sz="2400" b="0" i="1" smtClean="0">
                        <a:latin typeface="Cambria Math"/>
                      </a:rPr>
                      <m:t>𝑁</m:t>
                    </m:r>
                  </m:oMath>
                </a14:m>
                <a:endParaRPr lang="en-US" sz="2400" dirty="0" smtClean="0"/>
              </a:p>
              <a:p>
                <a:pPr marL="0" indent="0">
                  <a:buNone/>
                </a:pPr>
                <a:endParaRPr lang="en-US" sz="2400" dirty="0" smtClean="0"/>
              </a:p>
              <a:p>
                <a:r>
                  <a:rPr lang="en-US" sz="2400" dirty="0" smtClean="0"/>
                  <a:t>Works best if N is a prime number. Spreads out the distribution of hashed values.</a:t>
                </a:r>
              </a:p>
              <a:p>
                <a:pPr marL="0" indent="0">
                  <a:buNone/>
                </a:pPr>
                <a:endParaRPr lang="en-US" sz="2400" dirty="0" smtClean="0"/>
              </a:p>
              <a:p>
                <a:r>
                  <a:rPr lang="en-US" sz="2400" dirty="0" smtClean="0"/>
                  <a:t>If N is not prime, more likelihood of collisions.</a:t>
                </a:r>
              </a:p>
              <a:p>
                <a:pPr lvl="1"/>
                <a:r>
                  <a:rPr lang="en-US" sz="2000" dirty="0" smtClean="0"/>
                  <a:t>Ex: if we hash the keys {200, 205, 210, 215, 220,…..600} to a bucket of size 100, every hash code will collide with three others.</a:t>
                </a:r>
              </a:p>
              <a:p>
                <a:pPr marL="457200" lvl="1" indent="0">
                  <a:buNone/>
                </a:pPr>
                <a:endParaRPr lang="en-US" sz="2000" dirty="0" smtClean="0"/>
              </a:p>
              <a:p>
                <a:r>
                  <a:rPr lang="en-US" sz="2400" dirty="0" smtClean="0"/>
                  <a:t>If N = 101, there is no collision. </a:t>
                </a:r>
              </a:p>
              <a:p>
                <a:pPr marL="0" indent="0">
                  <a:buNone/>
                </a:pPr>
                <a:endParaRPr lang="en-US" sz="2400" dirty="0" smtClean="0"/>
              </a:p>
              <a:p>
                <a:r>
                  <a:rPr lang="en-US" sz="2400" dirty="0" smtClean="0"/>
                  <a:t>A good hash function has </a:t>
                </a:r>
                <a:r>
                  <a:rPr lang="en-US" sz="2400" dirty="0" err="1" smtClean="0"/>
                  <a:t>atmost</a:t>
                </a:r>
                <a:r>
                  <a:rPr lang="en-US" sz="2400" dirty="0" smtClean="0"/>
                  <a:t> 1/N </a:t>
                </a:r>
                <a:r>
                  <a:rPr lang="en-US" sz="2400" dirty="0" err="1" smtClean="0"/>
                  <a:t>prob</a:t>
                </a:r>
                <a:r>
                  <a:rPr lang="en-US" sz="2400" dirty="0" smtClean="0"/>
                  <a:t> of collisions.</a:t>
                </a:r>
              </a:p>
              <a:p>
                <a:r>
                  <a:rPr lang="en-US" sz="2400" dirty="0" smtClean="0"/>
                  <a:t>Even if N is prime, its multiples map to same position</a:t>
                </a:r>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304800" y="152400"/>
                <a:ext cx="8686800" cy="6553200"/>
              </a:xfrm>
              <a:blipFill rotWithShape="1">
                <a:blip r:embed="rId2"/>
                <a:stretch>
                  <a:fillRect l="-1404" t="-930"/>
                </a:stretch>
              </a:blipFill>
            </p:spPr>
            <p:txBody>
              <a:bodyPr/>
              <a:lstStyle/>
              <a:p>
                <a:r>
                  <a:rPr lang="en-US">
                    <a:noFill/>
                  </a:rPr>
                  <a:t> </a:t>
                </a:r>
              </a:p>
            </p:txBody>
          </p:sp>
        </mc:Fallback>
      </mc:AlternateContent>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18</a:t>
            </a:fld>
            <a:endParaRPr lang="en-US"/>
          </a:p>
        </p:txBody>
      </p:sp>
    </p:spTree>
    <p:extLst>
      <p:ext uri="{BB962C8B-B14F-4D97-AF65-F5344CB8AC3E}">
        <p14:creationId xmlns:p14="http://schemas.microsoft.com/office/powerpoint/2010/main" val="3341582576"/>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533400" y="381000"/>
                <a:ext cx="8458200" cy="6324600"/>
              </a:xfrm>
            </p:spPr>
            <p:txBody>
              <a:bodyPr/>
              <a:lstStyle/>
              <a:p>
                <a:pPr marL="0" indent="0">
                  <a:buNone/>
                </a:pPr>
                <a:r>
                  <a:rPr lang="en-US" b="1" dirty="0" smtClean="0"/>
                  <a:t>MAD (multiply, add and divide)method:</a:t>
                </a:r>
              </a:p>
              <a:p>
                <a:r>
                  <a:rPr lang="en-US" dirty="0" smtClean="0"/>
                  <a:t>The compression function is defined as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h</m:t>
                      </m:r>
                      <m:d>
                        <m:dPr>
                          <m:ctrlPr>
                            <a:rPr lang="en-US" b="0" i="1" smtClean="0">
                              <a:latin typeface="Cambria Math"/>
                            </a:rPr>
                          </m:ctrlPr>
                        </m:dPr>
                        <m:e>
                          <m:r>
                            <a:rPr lang="en-US" b="0" i="1" smtClean="0">
                              <a:latin typeface="Cambria Math"/>
                            </a:rPr>
                            <m:t>𝑘</m:t>
                          </m:r>
                        </m:e>
                      </m:d>
                      <m:r>
                        <a:rPr lang="en-US" b="0" i="1" smtClean="0">
                          <a:latin typeface="Cambria Math"/>
                        </a:rPr>
                        <m:t>= </m:t>
                      </m:r>
                      <m:d>
                        <m:dPr>
                          <m:begChr m:val="|"/>
                          <m:endChr m:val="|"/>
                          <m:ctrlPr>
                            <a:rPr lang="en-US" b="0" i="1" smtClean="0">
                              <a:latin typeface="Cambria Math"/>
                            </a:rPr>
                          </m:ctrlPr>
                        </m:dPr>
                        <m:e>
                          <m:r>
                            <a:rPr lang="en-US" b="0" i="1" smtClean="0">
                              <a:latin typeface="Cambria Math"/>
                            </a:rPr>
                            <m:t>𝑎𝑘</m:t>
                          </m:r>
                          <m:r>
                            <a:rPr lang="en-US" b="0" i="1" smtClean="0">
                              <a:latin typeface="Cambria Math"/>
                            </a:rPr>
                            <m:t>+</m:t>
                          </m:r>
                          <m:r>
                            <a:rPr lang="en-US" b="0" i="1" smtClean="0">
                              <a:latin typeface="Cambria Math"/>
                            </a:rPr>
                            <m:t>𝑏</m:t>
                          </m:r>
                        </m:e>
                      </m:d>
                      <m:r>
                        <a:rPr lang="en-US" b="0" i="1" smtClean="0">
                          <a:latin typeface="Cambria Math"/>
                        </a:rPr>
                        <m:t> </m:t>
                      </m:r>
                      <m:r>
                        <a:rPr lang="en-US" b="0" i="1" smtClean="0">
                          <a:latin typeface="Cambria Math"/>
                        </a:rPr>
                        <m:t>𝑚𝑜𝑑</m:t>
                      </m:r>
                      <m:r>
                        <a:rPr lang="en-US" b="0" i="1" smtClean="0">
                          <a:latin typeface="Cambria Math"/>
                        </a:rPr>
                        <m:t> </m:t>
                      </m:r>
                      <m:r>
                        <a:rPr lang="en-US" b="0" i="1" smtClean="0">
                          <a:latin typeface="Cambria Math"/>
                        </a:rPr>
                        <m:t>𝑁</m:t>
                      </m:r>
                    </m:oMath>
                  </m:oMathPara>
                </a14:m>
                <a:endParaRPr lang="en-US" dirty="0" smtClean="0"/>
              </a:p>
              <a:p>
                <a:pPr marL="0" indent="0">
                  <a:buNone/>
                </a:pPr>
                <a:r>
                  <a:rPr lang="en-US" dirty="0"/>
                  <a:t> </a:t>
                </a:r>
                <a:r>
                  <a:rPr lang="en-US" dirty="0" smtClean="0"/>
                  <a:t>where N is a prime number, a and b are randomly chosen such that a mod N </a:t>
                </a:r>
                <a:r>
                  <a:rPr lang="en-US" dirty="0" smtClean="0">
                    <a:latin typeface="Cambria Math"/>
                    <a:ea typeface="Cambria Math"/>
                  </a:rPr>
                  <a:t>≠ 0.</a:t>
                </a:r>
              </a:p>
              <a:p>
                <a:r>
                  <a:rPr lang="en-US" dirty="0" smtClean="0">
                    <a:latin typeface="Cambria Math"/>
                    <a:ea typeface="Cambria Math"/>
                  </a:rPr>
                  <a:t>Eliminates collisions by repeated patterns.</a:t>
                </a:r>
              </a:p>
              <a:p>
                <a:pPr marL="0" indent="0">
                  <a:buNone/>
                </a:pPr>
                <a:endParaRPr lang="en-US" dirty="0" smtClean="0">
                  <a:latin typeface="Cambria Math"/>
                  <a:ea typeface="Cambria Math"/>
                </a:endParaRPr>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533400" y="381000"/>
                <a:ext cx="8458200" cy="6324600"/>
              </a:xfrm>
              <a:blipFill rotWithShape="1">
                <a:blip r:embed="rId2"/>
                <a:stretch>
                  <a:fillRect l="-1514" t="-964"/>
                </a:stretch>
              </a:blipFill>
            </p:spPr>
            <p:txBody>
              <a:bodyPr/>
              <a:lstStyle/>
              <a:p>
                <a:r>
                  <a:rPr lang="en-US">
                    <a:noFill/>
                  </a:rPr>
                  <a:t> </a:t>
                </a:r>
              </a:p>
            </p:txBody>
          </p:sp>
        </mc:Fallback>
      </mc:AlternateContent>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19</a:t>
            </a:fld>
            <a:endParaRPr lang="en-US"/>
          </a:p>
        </p:txBody>
      </p:sp>
    </p:spTree>
    <p:extLst>
      <p:ext uri="{BB962C8B-B14F-4D97-AF65-F5344CB8AC3E}">
        <p14:creationId xmlns:p14="http://schemas.microsoft.com/office/powerpoint/2010/main" val="85265609"/>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648575" cy="838200"/>
          </a:xfrm>
        </p:spPr>
        <p:txBody>
          <a:bodyPr/>
          <a:lstStyle/>
          <a:p>
            <a:r>
              <a:rPr lang="en-US" dirty="0" smtClean="0"/>
              <a:t>Collision-Handling Schemes</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685800" y="1219200"/>
                <a:ext cx="8305800" cy="5486400"/>
              </a:xfrm>
            </p:spPr>
            <p:txBody>
              <a:bodyPr/>
              <a:lstStyle/>
              <a:p>
                <a:r>
                  <a:rPr lang="en-US" dirty="0" smtClean="0"/>
                  <a:t>A hash table takes a bucket array A and a hash function h, and implements a dictionary by storing each (</a:t>
                </a:r>
                <a:r>
                  <a:rPr lang="en-US" dirty="0" err="1" smtClean="0"/>
                  <a:t>k,e</a:t>
                </a:r>
                <a:r>
                  <a:rPr lang="en-US" dirty="0" smtClean="0"/>
                  <a:t>) into the bucket A[h(k)].</a:t>
                </a:r>
              </a:p>
              <a:p>
                <a:r>
                  <a:rPr lang="en-US" dirty="0" smtClean="0"/>
                  <a:t>Collision occurs when for two keys </a:t>
                </a:r>
                <a14:m>
                  <m:oMath xmlns:m="http://schemas.openxmlformats.org/officeDocument/2006/math">
                    <m:sSub>
                      <m:sSubPr>
                        <m:ctrlPr>
                          <a:rPr lang="en-US" i="1" smtClean="0">
                            <a:latin typeface="Cambria Math"/>
                          </a:rPr>
                        </m:ctrlPr>
                      </m:sSubPr>
                      <m:e>
                        <m:r>
                          <a:rPr lang="en-US" b="0" i="1" smtClean="0">
                            <a:latin typeface="Cambria Math"/>
                          </a:rPr>
                          <m:t>𝑘</m:t>
                        </m:r>
                      </m:e>
                      <m:sub>
                        <m:r>
                          <a:rPr lang="en-US" b="0" i="1" smtClean="0">
                            <a:latin typeface="Cambria Math"/>
                          </a:rPr>
                          <m:t>1</m:t>
                        </m:r>
                      </m:sub>
                    </m:sSub>
                  </m:oMath>
                </a14:m>
                <a:r>
                  <a:rPr lang="en-US" dirty="0" smtClean="0"/>
                  <a:t> and </a:t>
                </a:r>
                <a14:m>
                  <m:oMath xmlns:m="http://schemas.openxmlformats.org/officeDocument/2006/math">
                    <m:sSub>
                      <m:sSubPr>
                        <m:ctrlPr>
                          <a:rPr lang="en-US" i="1">
                            <a:latin typeface="Cambria Math"/>
                          </a:rPr>
                        </m:ctrlPr>
                      </m:sSubPr>
                      <m:e>
                        <m:r>
                          <a:rPr lang="en-US" i="1">
                            <a:latin typeface="Cambria Math"/>
                          </a:rPr>
                          <m:t>𝑘</m:t>
                        </m:r>
                      </m:e>
                      <m:sub>
                        <m:r>
                          <a:rPr lang="en-US" b="0" i="1" smtClean="0">
                            <a:latin typeface="Cambria Math"/>
                          </a:rPr>
                          <m:t>2</m:t>
                        </m:r>
                      </m:sub>
                    </m:sSub>
                  </m:oMath>
                </a14:m>
                <a:r>
                  <a:rPr lang="en-US" dirty="0" smtClean="0"/>
                  <a:t>, </a:t>
                </a:r>
              </a:p>
              <a:p>
                <a:pPr marL="0" indent="0">
                  <a:buNone/>
                </a:pPr>
                <a:r>
                  <a:rPr lang="en-US" dirty="0"/>
                  <a:t> </a:t>
                </a:r>
                <a:r>
                  <a:rPr lang="en-US" dirty="0" smtClean="0"/>
                  <a:t>   h(</a:t>
                </a:r>
                <a14:m>
                  <m:oMath xmlns:m="http://schemas.openxmlformats.org/officeDocument/2006/math">
                    <m:sSub>
                      <m:sSubPr>
                        <m:ctrlPr>
                          <a:rPr lang="en-US" i="1">
                            <a:latin typeface="Cambria Math"/>
                          </a:rPr>
                        </m:ctrlPr>
                      </m:sSubPr>
                      <m:e>
                        <m:r>
                          <a:rPr lang="en-US" i="1">
                            <a:latin typeface="Cambria Math"/>
                          </a:rPr>
                          <m:t>𝑘</m:t>
                        </m:r>
                      </m:e>
                      <m:sub>
                        <m:r>
                          <a:rPr lang="en-US" i="1">
                            <a:latin typeface="Cambria Math"/>
                          </a:rPr>
                          <m:t>1</m:t>
                        </m:r>
                      </m:sub>
                    </m:sSub>
                  </m:oMath>
                </a14:m>
                <a:r>
                  <a:rPr lang="en-US" dirty="0" smtClean="0"/>
                  <a:t>) = h(</a:t>
                </a:r>
                <a14:m>
                  <m:oMath xmlns:m="http://schemas.openxmlformats.org/officeDocument/2006/math">
                    <m:sSub>
                      <m:sSubPr>
                        <m:ctrlPr>
                          <a:rPr lang="en-US" i="1">
                            <a:latin typeface="Cambria Math"/>
                          </a:rPr>
                        </m:ctrlPr>
                      </m:sSubPr>
                      <m:e>
                        <m:r>
                          <a:rPr lang="en-US" i="1">
                            <a:latin typeface="Cambria Math"/>
                          </a:rPr>
                          <m:t>𝑘</m:t>
                        </m:r>
                      </m:e>
                      <m:sub>
                        <m:r>
                          <a:rPr lang="en-US" b="0" i="1" smtClean="0">
                            <a:latin typeface="Cambria Math"/>
                          </a:rPr>
                          <m:t>2</m:t>
                        </m:r>
                      </m:sub>
                    </m:sSub>
                  </m:oMath>
                </a14:m>
                <a:r>
                  <a:rPr lang="en-US" dirty="0" smtClean="0"/>
                  <a:t>).</a:t>
                </a:r>
              </a:p>
              <a:p>
                <a:r>
                  <a:rPr lang="en-US" dirty="0" smtClean="0"/>
                  <a:t>Methods for resolving collisions</a:t>
                </a:r>
              </a:p>
              <a:p>
                <a:pPr marL="0" indent="0">
                  <a:buNone/>
                </a:pPr>
                <a:r>
                  <a:rPr lang="en-US" b="1" dirty="0" smtClean="0"/>
                  <a:t>1) Separate Chaining:</a:t>
                </a:r>
                <a:endParaRPr lang="en-US" b="1" dirty="0"/>
              </a:p>
              <a:p>
                <a:r>
                  <a:rPr lang="en-US" dirty="0" smtClean="0"/>
                  <a:t>Each bucket A[i] stores a reference to a list, vector or a sequence, </a:t>
                </a:r>
                <a14:m>
                  <m:oMath xmlns:m="http://schemas.openxmlformats.org/officeDocument/2006/math">
                    <m:sSub>
                      <m:sSubPr>
                        <m:ctrlPr>
                          <a:rPr lang="en-US" i="1" smtClean="0">
                            <a:latin typeface="Cambria Math"/>
                          </a:rPr>
                        </m:ctrlPr>
                      </m:sSubPr>
                      <m:e>
                        <m:r>
                          <a:rPr lang="en-US" b="0" i="1" smtClean="0">
                            <a:latin typeface="Cambria Math"/>
                          </a:rPr>
                          <m:t>𝑆</m:t>
                        </m:r>
                      </m:e>
                      <m:sub>
                        <m:r>
                          <a:rPr lang="en-US" b="0" i="1" smtClean="0">
                            <a:latin typeface="Cambria Math"/>
                          </a:rPr>
                          <m:t>𝑖</m:t>
                        </m:r>
                      </m:sub>
                    </m:sSub>
                  </m:oMath>
                </a14:m>
                <a:r>
                  <a:rPr lang="en-US" dirty="0" smtClean="0"/>
                  <a:t>. </a:t>
                </a:r>
              </a:p>
              <a:p>
                <a:r>
                  <a:rPr lang="en-US" dirty="0" smtClean="0"/>
                  <a:t>All items that are hashed to bucket A[i] is stored in </a:t>
                </a:r>
                <a14:m>
                  <m:oMath xmlns:m="http://schemas.openxmlformats.org/officeDocument/2006/math">
                    <m:sSub>
                      <m:sSubPr>
                        <m:ctrlPr>
                          <a:rPr lang="en-US" i="1">
                            <a:latin typeface="Cambria Math"/>
                          </a:rPr>
                        </m:ctrlPr>
                      </m:sSubPr>
                      <m:e>
                        <m:r>
                          <a:rPr lang="en-US" i="1">
                            <a:latin typeface="Cambria Math"/>
                          </a:rPr>
                          <m:t>𝑆</m:t>
                        </m:r>
                      </m:e>
                      <m:sub>
                        <m:r>
                          <a:rPr lang="en-US" i="1">
                            <a:latin typeface="Cambria Math"/>
                          </a:rPr>
                          <m:t>𝑖</m:t>
                        </m:r>
                      </m:sub>
                    </m:sSub>
                  </m:oMath>
                </a14:m>
                <a:r>
                  <a:rPr lang="en-US" dirty="0" smtClean="0"/>
                  <a:t>.</a:t>
                </a:r>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685800" y="1219200"/>
                <a:ext cx="8305800" cy="5486400"/>
              </a:xfrm>
              <a:blipFill rotWithShape="1">
                <a:blip r:embed="rId2"/>
                <a:stretch>
                  <a:fillRect l="-1542" t="-1111" r="-881"/>
                </a:stretch>
              </a:blipFill>
            </p:spPr>
            <p:txBody>
              <a:bodyPr/>
              <a:lstStyle/>
              <a:p>
                <a:r>
                  <a:rPr lang="en-US">
                    <a:noFill/>
                  </a:rPr>
                  <a:t> </a:t>
                </a:r>
              </a:p>
            </p:txBody>
          </p:sp>
        </mc:Fallback>
      </mc:AlternateContent>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20</a:t>
            </a:fld>
            <a:endParaRPr lang="en-US"/>
          </a:p>
        </p:txBody>
      </p:sp>
    </p:spTree>
    <p:extLst>
      <p:ext uri="{BB962C8B-B14F-4D97-AF65-F5344CB8AC3E}">
        <p14:creationId xmlns:p14="http://schemas.microsoft.com/office/powerpoint/2010/main" val="1522041194"/>
      </p:ext>
    </p:extLst>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648575" cy="914400"/>
          </a:xfrm>
        </p:spPr>
        <p:txBody>
          <a:bodyPr/>
          <a:lstStyle/>
          <a:p>
            <a:r>
              <a:rPr lang="en-US" dirty="0" smtClean="0"/>
              <a:t>Chaining Example</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609600" y="1295400"/>
                <a:ext cx="8382000" cy="5410200"/>
              </a:xfrm>
            </p:spPr>
            <p:txBody>
              <a:bodyPr/>
              <a:lstStyle/>
              <a:p>
                <a:r>
                  <a:rPr lang="en-US" dirty="0" smtClean="0"/>
                  <a:t> N = 13, and division compression function, </a:t>
                </a:r>
              </a:p>
              <a:p>
                <a:pPr marL="0" indent="0">
                  <a:buNone/>
                </a:pPr>
                <a:r>
                  <a:rPr lang="en-US" dirty="0"/>
                  <a:t> </a:t>
                </a:r>
                <a:r>
                  <a:rPr lang="en-US" dirty="0" smtClean="0"/>
                  <a:t>   insert the keys 90, 41, 18, 36,10, 12, 38, 54, </a:t>
                </a:r>
              </a:p>
              <a:p>
                <a:pPr marL="0" indent="0">
                  <a:buNone/>
                </a:pPr>
                <a:r>
                  <a:rPr lang="en-US" dirty="0"/>
                  <a:t> </a:t>
                </a:r>
                <a:r>
                  <a:rPr lang="en-US" dirty="0" smtClean="0"/>
                  <a:t>   28,25 using separate chaining</a:t>
                </a:r>
              </a:p>
              <a:p>
                <a:r>
                  <a:rPr lang="en-US" dirty="0" smtClean="0"/>
                  <a:t>Compression map is h(k) = </a:t>
                </a:r>
                <a14:m>
                  <m:oMath xmlns:m="http://schemas.openxmlformats.org/officeDocument/2006/math">
                    <m:d>
                      <m:dPr>
                        <m:begChr m:val="|"/>
                        <m:endChr m:val="|"/>
                        <m:ctrlPr>
                          <a:rPr lang="en-US" i="1" smtClean="0">
                            <a:latin typeface="Cambria Math"/>
                          </a:rPr>
                        </m:ctrlPr>
                      </m:dPr>
                      <m:e>
                        <m:r>
                          <a:rPr lang="en-US" b="0" i="1" smtClean="0">
                            <a:latin typeface="Cambria Math"/>
                          </a:rPr>
                          <m:t>𝑘</m:t>
                        </m:r>
                      </m:e>
                    </m:d>
                    <m:r>
                      <a:rPr lang="en-US" b="0" i="1" smtClean="0">
                        <a:latin typeface="Cambria Math"/>
                      </a:rPr>
                      <m:t> </m:t>
                    </m:r>
                    <m:r>
                      <a:rPr lang="en-US" b="0" i="1" smtClean="0">
                        <a:latin typeface="Cambria Math"/>
                      </a:rPr>
                      <m:t>𝑚𝑜𝑑</m:t>
                    </m:r>
                    <m:r>
                      <a:rPr lang="en-US" b="0" i="1" smtClean="0">
                        <a:latin typeface="Cambria Math"/>
                      </a:rPr>
                      <m:t> </m:t>
                    </m:r>
                    <m:r>
                      <a:rPr lang="en-US" b="0" i="1" smtClean="0">
                        <a:latin typeface="Cambria Math"/>
                      </a:rPr>
                      <m:t>𝑁</m:t>
                    </m:r>
                  </m:oMath>
                </a14:m>
                <a:endParaRPr lang="en-US" dirty="0" smtClean="0"/>
              </a:p>
              <a:p>
                <a:pPr marL="0" indent="0">
                  <a:buNone/>
                </a:pPr>
                <a:r>
                  <a:rPr lang="en-US" dirty="0"/>
                  <a:t>  </a:t>
                </a:r>
                <a:r>
                  <a:rPr lang="en-US" dirty="0" smtClean="0"/>
                  <a:t> </a:t>
                </a:r>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609600" y="1295400"/>
                <a:ext cx="8382000" cy="5410200"/>
              </a:xfrm>
              <a:blipFill rotWithShape="1">
                <a:blip r:embed="rId2"/>
                <a:stretch>
                  <a:fillRect l="-291" t="-1127"/>
                </a:stretch>
              </a:blipFill>
            </p:spPr>
            <p:txBody>
              <a:bodyPr/>
              <a:lstStyle/>
              <a:p>
                <a:r>
                  <a:rPr lang="en-US">
                    <a:noFill/>
                  </a:rPr>
                  <a:t> </a:t>
                </a:r>
              </a:p>
            </p:txBody>
          </p:sp>
        </mc:Fallback>
      </mc:AlternateContent>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21</a:t>
            </a:fld>
            <a:endParaRPr lang="en-US"/>
          </a:p>
        </p:txBody>
      </p:sp>
    </p:spTree>
    <p:extLst>
      <p:ext uri="{BB962C8B-B14F-4D97-AF65-F5344CB8AC3E}">
        <p14:creationId xmlns:p14="http://schemas.microsoft.com/office/powerpoint/2010/main" val="990302322"/>
      </p:ext>
    </p:extLst>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648575" cy="838200"/>
          </a:xfrm>
        </p:spPr>
        <p:txBody>
          <a:bodyPr/>
          <a:lstStyle/>
          <a:p>
            <a:r>
              <a:rPr lang="en-US" dirty="0" smtClean="0"/>
              <a:t>Collision-Handling Schemes….</a:t>
            </a:r>
            <a:endParaRPr lang="en-US" dirty="0"/>
          </a:p>
        </p:txBody>
      </p:sp>
      <p:sp>
        <p:nvSpPr>
          <p:cNvPr id="4" name="Content Placeholder 3"/>
          <p:cNvSpPr>
            <a:spLocks noGrp="1"/>
          </p:cNvSpPr>
          <p:nvPr>
            <p:ph sz="half" idx="2"/>
          </p:nvPr>
        </p:nvSpPr>
        <p:spPr>
          <a:xfrm>
            <a:off x="685800" y="1219200"/>
            <a:ext cx="4038600" cy="5486400"/>
          </a:xfrm>
        </p:spPr>
        <p:txBody>
          <a:bodyPr/>
          <a:lstStyle/>
          <a:p>
            <a:r>
              <a:rPr lang="en-US" sz="2400" b="1" dirty="0" err="1" smtClean="0"/>
              <a:t>findElement</a:t>
            </a:r>
            <a:r>
              <a:rPr lang="en-US" sz="2400" b="1" dirty="0" smtClean="0"/>
              <a:t>(k) :</a:t>
            </a:r>
          </a:p>
          <a:p>
            <a:pPr marL="0" indent="0">
              <a:buNone/>
            </a:pPr>
            <a:r>
              <a:rPr lang="en-US" sz="2400" dirty="0"/>
              <a:t> </a:t>
            </a:r>
            <a:r>
              <a:rPr lang="en-US" sz="2400" dirty="0" smtClean="0"/>
              <a:t>     B </a:t>
            </a:r>
            <a:r>
              <a:rPr lang="en-US" sz="2400" dirty="0" smtClean="0">
                <a:latin typeface="Cambria Math"/>
                <a:ea typeface="Cambria Math"/>
              </a:rPr>
              <a:t>⟵ A[h(k)]</a:t>
            </a:r>
          </a:p>
          <a:p>
            <a:pPr marL="0" indent="0">
              <a:buNone/>
            </a:pPr>
            <a:r>
              <a:rPr lang="en-US" sz="2400" dirty="0">
                <a:latin typeface="Cambria Math"/>
                <a:ea typeface="Cambria Math"/>
              </a:rPr>
              <a:t> </a:t>
            </a:r>
            <a:r>
              <a:rPr lang="en-US" sz="2400" dirty="0" smtClean="0">
                <a:latin typeface="Cambria Math"/>
                <a:ea typeface="Cambria Math"/>
              </a:rPr>
              <a:t>       if B is empty then</a:t>
            </a:r>
          </a:p>
          <a:p>
            <a:pPr marL="0" indent="0">
              <a:buNone/>
            </a:pPr>
            <a:r>
              <a:rPr lang="en-US" sz="2400" dirty="0">
                <a:latin typeface="Cambria Math"/>
                <a:ea typeface="Cambria Math"/>
              </a:rPr>
              <a:t> </a:t>
            </a:r>
            <a:r>
              <a:rPr lang="en-US" sz="2400" dirty="0" smtClean="0">
                <a:latin typeface="Cambria Math"/>
                <a:ea typeface="Cambria Math"/>
              </a:rPr>
              <a:t>           return NO_SUCH_KEY</a:t>
            </a:r>
          </a:p>
          <a:p>
            <a:pPr marL="0" indent="0">
              <a:buNone/>
            </a:pPr>
            <a:r>
              <a:rPr lang="en-US" sz="2400" dirty="0">
                <a:latin typeface="Cambria Math"/>
                <a:ea typeface="Cambria Math"/>
              </a:rPr>
              <a:t> </a:t>
            </a:r>
            <a:r>
              <a:rPr lang="en-US" sz="2400" dirty="0" smtClean="0">
                <a:latin typeface="Cambria Math"/>
                <a:ea typeface="Cambria Math"/>
              </a:rPr>
              <a:t>       else</a:t>
            </a:r>
          </a:p>
          <a:p>
            <a:pPr marL="0" indent="0">
              <a:buNone/>
            </a:pPr>
            <a:r>
              <a:rPr lang="en-US" sz="2400" dirty="0">
                <a:latin typeface="Cambria Math"/>
                <a:ea typeface="Cambria Math"/>
              </a:rPr>
              <a:t> </a:t>
            </a:r>
            <a:r>
              <a:rPr lang="en-US" sz="2400" dirty="0" smtClean="0">
                <a:latin typeface="Cambria Math"/>
                <a:ea typeface="Cambria Math"/>
              </a:rPr>
              <a:t>           {search for key k in the</a:t>
            </a:r>
          </a:p>
          <a:p>
            <a:pPr marL="0" indent="0">
              <a:buNone/>
            </a:pPr>
            <a:r>
              <a:rPr lang="en-US" sz="2400" dirty="0">
                <a:latin typeface="Cambria Math"/>
                <a:ea typeface="Cambria Math"/>
              </a:rPr>
              <a:t> </a:t>
            </a:r>
            <a:r>
              <a:rPr lang="en-US" sz="2400" dirty="0" smtClean="0">
                <a:latin typeface="Cambria Math"/>
                <a:ea typeface="Cambria Math"/>
              </a:rPr>
              <a:t>             sequence for this  </a:t>
            </a:r>
          </a:p>
          <a:p>
            <a:pPr marL="0" indent="0">
              <a:buNone/>
            </a:pPr>
            <a:r>
              <a:rPr lang="en-US" sz="2400" dirty="0">
                <a:latin typeface="Cambria Math"/>
                <a:ea typeface="Cambria Math"/>
              </a:rPr>
              <a:t> </a:t>
            </a:r>
            <a:r>
              <a:rPr lang="en-US" sz="2400" dirty="0" smtClean="0">
                <a:latin typeface="Cambria Math"/>
                <a:ea typeface="Cambria Math"/>
              </a:rPr>
              <a:t>            bucket}</a:t>
            </a:r>
          </a:p>
          <a:p>
            <a:pPr marL="0" indent="0">
              <a:buNone/>
            </a:pPr>
            <a:r>
              <a:rPr lang="en-US" sz="2400" dirty="0">
                <a:latin typeface="Cambria Math"/>
                <a:ea typeface="Cambria Math"/>
              </a:rPr>
              <a:t> </a:t>
            </a:r>
            <a:r>
              <a:rPr lang="en-US" sz="2400" dirty="0" smtClean="0">
                <a:latin typeface="Cambria Math"/>
                <a:ea typeface="Cambria Math"/>
              </a:rPr>
              <a:t>         return </a:t>
            </a:r>
            <a:r>
              <a:rPr lang="en-US" sz="2400" dirty="0" err="1" smtClean="0">
                <a:latin typeface="Cambria Math"/>
                <a:ea typeface="Cambria Math"/>
              </a:rPr>
              <a:t>B.findElement</a:t>
            </a:r>
            <a:r>
              <a:rPr lang="en-US" sz="2400" dirty="0" smtClean="0">
                <a:latin typeface="Cambria Math"/>
                <a:ea typeface="Cambria Math"/>
              </a:rPr>
              <a:t>(k)</a:t>
            </a:r>
            <a:endParaRPr lang="en-US" sz="2400" dirty="0"/>
          </a:p>
        </p:txBody>
      </p:sp>
      <p:sp>
        <p:nvSpPr>
          <p:cNvPr id="6" name="Content Placeholder 3"/>
          <p:cNvSpPr>
            <a:spLocks noGrp="1"/>
          </p:cNvSpPr>
          <p:nvPr>
            <p:ph sz="half" idx="2"/>
          </p:nvPr>
        </p:nvSpPr>
        <p:spPr>
          <a:xfrm>
            <a:off x="4953000" y="1143000"/>
            <a:ext cx="4495800" cy="5486400"/>
          </a:xfrm>
        </p:spPr>
        <p:txBody>
          <a:bodyPr/>
          <a:lstStyle/>
          <a:p>
            <a:r>
              <a:rPr lang="en-US" sz="2400" b="1" dirty="0" err="1" smtClean="0"/>
              <a:t>removeElement</a:t>
            </a:r>
            <a:r>
              <a:rPr lang="en-US" sz="2400" b="1" dirty="0" smtClean="0"/>
              <a:t>(k) :</a:t>
            </a:r>
          </a:p>
          <a:p>
            <a:pPr marL="0" indent="0">
              <a:buNone/>
            </a:pPr>
            <a:r>
              <a:rPr lang="en-US" sz="2400" dirty="0"/>
              <a:t> </a:t>
            </a:r>
            <a:r>
              <a:rPr lang="en-US" sz="2400" dirty="0" smtClean="0"/>
              <a:t>   B </a:t>
            </a:r>
            <a:r>
              <a:rPr lang="en-US" sz="2400" dirty="0" smtClean="0">
                <a:latin typeface="Cambria Math"/>
                <a:ea typeface="Cambria Math"/>
              </a:rPr>
              <a:t>⟵ A[h(k)]</a:t>
            </a:r>
          </a:p>
          <a:p>
            <a:pPr marL="0" indent="0">
              <a:buNone/>
            </a:pPr>
            <a:r>
              <a:rPr lang="en-US" sz="2400" dirty="0">
                <a:latin typeface="Cambria Math"/>
                <a:ea typeface="Cambria Math"/>
              </a:rPr>
              <a:t> </a:t>
            </a:r>
            <a:r>
              <a:rPr lang="en-US" sz="2400" dirty="0" smtClean="0">
                <a:latin typeface="Cambria Math"/>
                <a:ea typeface="Cambria Math"/>
              </a:rPr>
              <a:t>       if B is empty then</a:t>
            </a:r>
          </a:p>
          <a:p>
            <a:pPr marL="0" indent="0">
              <a:buNone/>
            </a:pPr>
            <a:r>
              <a:rPr lang="en-US" sz="2400" dirty="0">
                <a:latin typeface="Cambria Math"/>
                <a:ea typeface="Cambria Math"/>
              </a:rPr>
              <a:t> </a:t>
            </a:r>
            <a:r>
              <a:rPr lang="en-US" sz="2400" dirty="0" smtClean="0">
                <a:latin typeface="Cambria Math"/>
                <a:ea typeface="Cambria Math"/>
              </a:rPr>
              <a:t>         return NO_SUCH_KEY</a:t>
            </a:r>
          </a:p>
          <a:p>
            <a:pPr marL="0" indent="0">
              <a:buNone/>
            </a:pPr>
            <a:r>
              <a:rPr lang="en-US" sz="2400" dirty="0">
                <a:latin typeface="Cambria Math"/>
                <a:ea typeface="Cambria Math"/>
              </a:rPr>
              <a:t> </a:t>
            </a:r>
            <a:r>
              <a:rPr lang="en-US" sz="2400" dirty="0" smtClean="0">
                <a:latin typeface="Cambria Math"/>
                <a:ea typeface="Cambria Math"/>
              </a:rPr>
              <a:t>       else</a:t>
            </a:r>
          </a:p>
          <a:p>
            <a:pPr marL="0" indent="0">
              <a:buNone/>
            </a:pPr>
            <a:r>
              <a:rPr lang="en-US" sz="2400" dirty="0" smtClean="0">
                <a:latin typeface="Cambria Math"/>
                <a:ea typeface="Cambria Math"/>
              </a:rPr>
              <a:t>       return  </a:t>
            </a:r>
            <a:r>
              <a:rPr lang="en-US" sz="2400" dirty="0" err="1" smtClean="0">
                <a:latin typeface="Cambria Math"/>
                <a:ea typeface="Cambria Math"/>
              </a:rPr>
              <a:t>B.removeElement</a:t>
            </a:r>
            <a:r>
              <a:rPr lang="en-US" sz="2400" dirty="0" smtClean="0">
                <a:latin typeface="Cambria Math"/>
                <a:ea typeface="Cambria Math"/>
              </a:rPr>
              <a:t>(k)</a:t>
            </a:r>
            <a:endParaRPr lang="en-US" sz="2400"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22</a:t>
            </a:fld>
            <a:endParaRPr lang="en-US"/>
          </a:p>
        </p:txBody>
      </p:sp>
    </p:spTree>
    <p:extLst>
      <p:ext uri="{BB962C8B-B14F-4D97-AF65-F5344CB8AC3E}">
        <p14:creationId xmlns:p14="http://schemas.microsoft.com/office/powerpoint/2010/main" val="2278941645"/>
      </p:ext>
    </p:extLst>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648575" cy="990600"/>
          </a:xfrm>
        </p:spPr>
        <p:txBody>
          <a:bodyPr/>
          <a:lstStyle/>
          <a:p>
            <a:r>
              <a:rPr lang="en-US" dirty="0"/>
              <a:t>Collision-Handling Schemes….</a:t>
            </a:r>
          </a:p>
        </p:txBody>
      </p:sp>
      <p:sp>
        <p:nvSpPr>
          <p:cNvPr id="4" name="Content Placeholder 3"/>
          <p:cNvSpPr>
            <a:spLocks noGrp="1"/>
          </p:cNvSpPr>
          <p:nvPr>
            <p:ph sz="half" idx="2"/>
          </p:nvPr>
        </p:nvSpPr>
        <p:spPr>
          <a:xfrm>
            <a:off x="381000" y="1219200"/>
            <a:ext cx="8305800" cy="5562600"/>
          </a:xfrm>
        </p:spPr>
        <p:txBody>
          <a:bodyPr/>
          <a:lstStyle/>
          <a:p>
            <a:r>
              <a:rPr lang="en-US" dirty="0" err="1" smtClean="0"/>
              <a:t>insertItem</a:t>
            </a:r>
            <a:r>
              <a:rPr lang="en-US" dirty="0" smtClean="0"/>
              <a:t>(</a:t>
            </a:r>
            <a:r>
              <a:rPr lang="en-US" dirty="0" err="1" smtClean="0"/>
              <a:t>k,e</a:t>
            </a:r>
            <a:r>
              <a:rPr lang="en-US" dirty="0" smtClean="0"/>
              <a:t>):</a:t>
            </a:r>
          </a:p>
          <a:p>
            <a:pPr marL="0" indent="0">
              <a:buNone/>
            </a:pPr>
            <a:r>
              <a:rPr lang="en-US" dirty="0"/>
              <a:t> </a:t>
            </a:r>
            <a:r>
              <a:rPr lang="en-US" dirty="0" smtClean="0"/>
              <a:t>    if A[h(k)] is empty then</a:t>
            </a:r>
          </a:p>
          <a:p>
            <a:pPr marL="0" indent="0">
              <a:buNone/>
            </a:pPr>
            <a:r>
              <a:rPr lang="en-US" dirty="0"/>
              <a:t> </a:t>
            </a:r>
            <a:r>
              <a:rPr lang="en-US" dirty="0" smtClean="0"/>
              <a:t>       {Create a new initially empty, sequence-</a:t>
            </a:r>
          </a:p>
          <a:p>
            <a:pPr marL="0" indent="0">
              <a:buNone/>
            </a:pPr>
            <a:r>
              <a:rPr lang="en-US" dirty="0"/>
              <a:t> </a:t>
            </a:r>
            <a:r>
              <a:rPr lang="en-US" dirty="0" smtClean="0"/>
              <a:t>        based dictionary B}</a:t>
            </a:r>
          </a:p>
          <a:p>
            <a:pPr marL="0" indent="0">
              <a:buNone/>
            </a:pPr>
            <a:r>
              <a:rPr lang="en-US" dirty="0"/>
              <a:t> </a:t>
            </a:r>
            <a:r>
              <a:rPr lang="en-US" dirty="0" smtClean="0"/>
              <a:t>        A[h(k)] </a:t>
            </a:r>
            <a:r>
              <a:rPr lang="en-US" dirty="0" smtClean="0">
                <a:latin typeface="Cambria Math"/>
                <a:ea typeface="Cambria Math"/>
              </a:rPr>
              <a:t>⟵ B</a:t>
            </a:r>
          </a:p>
          <a:p>
            <a:pPr marL="0" indent="0">
              <a:buNone/>
            </a:pPr>
            <a:r>
              <a:rPr lang="en-US" dirty="0">
                <a:latin typeface="Cambria Math"/>
                <a:ea typeface="Cambria Math"/>
              </a:rPr>
              <a:t> </a:t>
            </a:r>
            <a:r>
              <a:rPr lang="en-US" dirty="0" smtClean="0">
                <a:latin typeface="Cambria Math"/>
                <a:ea typeface="Cambria Math"/>
              </a:rPr>
              <a:t>     else</a:t>
            </a:r>
          </a:p>
          <a:p>
            <a:pPr marL="0" indent="0">
              <a:buNone/>
            </a:pPr>
            <a:r>
              <a:rPr lang="en-US" dirty="0">
                <a:latin typeface="Cambria Math"/>
                <a:ea typeface="Cambria Math"/>
              </a:rPr>
              <a:t> </a:t>
            </a:r>
            <a:r>
              <a:rPr lang="en-US" dirty="0" smtClean="0">
                <a:latin typeface="Cambria Math"/>
                <a:ea typeface="Cambria Math"/>
              </a:rPr>
              <a:t>            B ⟵ </a:t>
            </a:r>
            <a:r>
              <a:rPr lang="en-US" dirty="0"/>
              <a:t>A[h(k</a:t>
            </a:r>
            <a:r>
              <a:rPr lang="en-US" dirty="0" smtClean="0"/>
              <a:t>)]</a:t>
            </a:r>
          </a:p>
          <a:p>
            <a:pPr marL="0" indent="0">
              <a:buNone/>
            </a:pPr>
            <a:r>
              <a:rPr lang="en-US" dirty="0">
                <a:latin typeface="Cambria Math"/>
                <a:ea typeface="Cambria Math"/>
              </a:rPr>
              <a:t> </a:t>
            </a:r>
            <a:r>
              <a:rPr lang="en-US" dirty="0" smtClean="0">
                <a:latin typeface="Cambria Math"/>
                <a:ea typeface="Cambria Math"/>
              </a:rPr>
              <a:t>            </a:t>
            </a:r>
            <a:r>
              <a:rPr lang="en-US" dirty="0" err="1" smtClean="0">
                <a:latin typeface="Cambria Math"/>
                <a:ea typeface="Cambria Math"/>
              </a:rPr>
              <a:t>B.insertItem</a:t>
            </a:r>
            <a:r>
              <a:rPr lang="en-US" dirty="0" smtClean="0">
                <a:latin typeface="Cambria Math"/>
                <a:ea typeface="Cambria Math"/>
              </a:rPr>
              <a:t>(</a:t>
            </a:r>
            <a:r>
              <a:rPr lang="en-US" dirty="0" err="1" smtClean="0">
                <a:latin typeface="Cambria Math"/>
                <a:ea typeface="Cambria Math"/>
              </a:rPr>
              <a:t>k,e</a:t>
            </a:r>
            <a:r>
              <a:rPr lang="en-US" dirty="0" smtClean="0">
                <a:latin typeface="Cambria Math"/>
                <a:ea typeface="Cambria Math"/>
              </a:rPr>
              <a:t>)</a:t>
            </a:r>
          </a:p>
          <a:p>
            <a:pPr marL="0" indent="0">
              <a:buNone/>
            </a:pPr>
            <a:r>
              <a:rPr lang="en-US" dirty="0" smtClean="0">
                <a:latin typeface="Cambria Math"/>
                <a:ea typeface="Cambria Math"/>
              </a:rPr>
              <a:t> </a:t>
            </a:r>
            <a:endParaRPr lang="en-US"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23</a:t>
            </a:fld>
            <a:endParaRPr lang="en-US"/>
          </a:p>
        </p:txBody>
      </p:sp>
    </p:spTree>
    <p:extLst>
      <p:ext uri="{BB962C8B-B14F-4D97-AF65-F5344CB8AC3E}">
        <p14:creationId xmlns:p14="http://schemas.microsoft.com/office/powerpoint/2010/main" val="1994501701"/>
      </p:ext>
    </p:extLst>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877175" cy="990600"/>
          </a:xfrm>
        </p:spPr>
        <p:txBody>
          <a:bodyPr/>
          <a:lstStyle/>
          <a:p>
            <a:r>
              <a:rPr lang="en-US" dirty="0" smtClean="0"/>
              <a:t>Separate Chaining</a:t>
            </a:r>
            <a:endParaRPr lang="en-US" dirty="0"/>
          </a:p>
        </p:txBody>
      </p:sp>
      <p:sp>
        <p:nvSpPr>
          <p:cNvPr id="4" name="Content Placeholder 3"/>
          <p:cNvSpPr>
            <a:spLocks noGrp="1"/>
          </p:cNvSpPr>
          <p:nvPr>
            <p:ph sz="half" idx="2"/>
          </p:nvPr>
        </p:nvSpPr>
        <p:spPr>
          <a:xfrm>
            <a:off x="381000" y="1295400"/>
            <a:ext cx="8610600" cy="5334000"/>
          </a:xfrm>
        </p:spPr>
        <p:txBody>
          <a:bodyPr/>
          <a:lstStyle/>
          <a:p>
            <a:r>
              <a:rPr lang="en-US" dirty="0">
                <a:latin typeface="Cambria Math"/>
                <a:ea typeface="Cambria Math"/>
              </a:rPr>
              <a:t>Every A[h(k)] stores a miniature sequence-based </a:t>
            </a:r>
            <a:r>
              <a:rPr lang="en-US" dirty="0" smtClean="0">
                <a:latin typeface="Cambria Math"/>
                <a:ea typeface="Cambria Math"/>
              </a:rPr>
              <a:t>dictionary.</a:t>
            </a:r>
          </a:p>
          <a:p>
            <a:r>
              <a:rPr lang="en-US" dirty="0" smtClean="0">
                <a:latin typeface="Cambria Math"/>
                <a:ea typeface="Cambria Math"/>
              </a:rPr>
              <a:t>Insertion – puts the new item at the end of the sequence A[h(k)]</a:t>
            </a:r>
          </a:p>
          <a:p>
            <a:r>
              <a:rPr lang="en-US" dirty="0" smtClean="0">
                <a:latin typeface="Cambria Math"/>
                <a:ea typeface="Cambria Math"/>
              </a:rPr>
              <a:t>Find – searches the sequence till the end/finds the element.</a:t>
            </a:r>
          </a:p>
          <a:p>
            <a:r>
              <a:rPr lang="en-US" dirty="0" smtClean="0">
                <a:latin typeface="Cambria Math"/>
                <a:ea typeface="Cambria Math"/>
              </a:rPr>
              <a:t>Remove – additionally remove an item once it is found.</a:t>
            </a:r>
            <a:endParaRPr lang="en-US"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24</a:t>
            </a:fld>
            <a:endParaRPr lang="en-US"/>
          </a:p>
        </p:txBody>
      </p:sp>
    </p:spTree>
    <p:extLst>
      <p:ext uri="{BB962C8B-B14F-4D97-AF65-F5344CB8AC3E}">
        <p14:creationId xmlns:p14="http://schemas.microsoft.com/office/powerpoint/2010/main" val="148024311"/>
      </p:ext>
    </p:extLst>
  </p:cSld>
  <p:clrMapOvr>
    <a:masterClrMapping/>
  </p:clrMapOvr>
  <p:transition>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953375" cy="914400"/>
          </a:xfrm>
        </p:spPr>
        <p:txBody>
          <a:bodyPr/>
          <a:lstStyle/>
          <a:p>
            <a:r>
              <a:rPr lang="en-US" dirty="0" smtClean="0"/>
              <a:t>Load Factors and Rehashing</a:t>
            </a:r>
            <a:endParaRPr lang="en-US" dirty="0"/>
          </a:p>
        </p:txBody>
      </p:sp>
      <p:sp>
        <p:nvSpPr>
          <p:cNvPr id="4" name="Content Placeholder 3"/>
          <p:cNvSpPr>
            <a:spLocks noGrp="1"/>
          </p:cNvSpPr>
          <p:nvPr>
            <p:ph sz="half" idx="2"/>
          </p:nvPr>
        </p:nvSpPr>
        <p:spPr>
          <a:xfrm>
            <a:off x="609600" y="1524000"/>
            <a:ext cx="8382000" cy="5181600"/>
          </a:xfrm>
        </p:spPr>
        <p:txBody>
          <a:bodyPr/>
          <a:lstStyle/>
          <a:p>
            <a:r>
              <a:rPr lang="en-US" dirty="0" smtClean="0"/>
              <a:t>The performance of collision resolution methods depends on the load factor, expected size of each bucket </a:t>
            </a:r>
            <a:r>
              <a:rPr lang="en-US" dirty="0" err="1" smtClean="0"/>
              <a:t>i.e</a:t>
            </a:r>
            <a:r>
              <a:rPr lang="en-US" dirty="0" smtClean="0"/>
              <a:t>, n/N</a:t>
            </a:r>
          </a:p>
          <a:p>
            <a:pPr lvl="1"/>
            <a:r>
              <a:rPr lang="en-US" dirty="0" smtClean="0"/>
              <a:t>Where n is the no. of keys and </a:t>
            </a:r>
          </a:p>
          <a:p>
            <a:pPr lvl="1"/>
            <a:r>
              <a:rPr lang="en-US" dirty="0" smtClean="0"/>
              <a:t>N is the no. of hash addresses.</a:t>
            </a:r>
          </a:p>
          <a:p>
            <a:r>
              <a:rPr lang="en-US" dirty="0" smtClean="0"/>
              <a:t>The efficiency of a hash function with a collision resolution procedure, is measured by the no. of average no. of comparisons (probes) needed to locate a key k.</a:t>
            </a:r>
          </a:p>
          <a:p>
            <a:r>
              <a:rPr lang="en-US" dirty="0" smtClean="0"/>
              <a:t>This depends on the load factor. </a:t>
            </a:r>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25</a:t>
            </a:fld>
            <a:endParaRPr lang="en-US"/>
          </a:p>
        </p:txBody>
      </p:sp>
    </p:spTree>
    <p:extLst>
      <p:ext uri="{BB962C8B-B14F-4D97-AF65-F5344CB8AC3E}">
        <p14:creationId xmlns:p14="http://schemas.microsoft.com/office/powerpoint/2010/main" val="299426933"/>
      </p:ext>
    </p:extLst>
  </p:cSld>
  <p:clrMapOvr>
    <a:masterClrMapping/>
  </p:clrMapOvr>
  <p:transition>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953375" cy="685800"/>
          </a:xfrm>
        </p:spPr>
        <p:txBody>
          <a:bodyPr/>
          <a:lstStyle/>
          <a:p>
            <a:r>
              <a:rPr lang="en-US" dirty="0" smtClean="0"/>
              <a:t>Load Factors and Rehashing</a:t>
            </a:r>
            <a:endParaRPr lang="en-US" dirty="0"/>
          </a:p>
        </p:txBody>
      </p:sp>
      <p:sp>
        <p:nvSpPr>
          <p:cNvPr id="4" name="Content Placeholder 3"/>
          <p:cNvSpPr>
            <a:spLocks noGrp="1"/>
          </p:cNvSpPr>
          <p:nvPr>
            <p:ph sz="half" idx="2"/>
          </p:nvPr>
        </p:nvSpPr>
        <p:spPr>
          <a:xfrm>
            <a:off x="609600" y="1524000"/>
            <a:ext cx="8382000" cy="5181600"/>
          </a:xfrm>
        </p:spPr>
        <p:txBody>
          <a:bodyPr/>
          <a:lstStyle/>
          <a:p>
            <a:r>
              <a:rPr lang="en-US" dirty="0" smtClean="0"/>
              <a:t>To keep the load factor constant, additional work is done each time an element is added.</a:t>
            </a:r>
          </a:p>
          <a:p>
            <a:pPr lvl="1"/>
            <a:r>
              <a:rPr lang="en-US" dirty="0" smtClean="0"/>
              <a:t>Need to increase the size of the bucket array</a:t>
            </a:r>
          </a:p>
          <a:p>
            <a:pPr lvl="1"/>
            <a:r>
              <a:rPr lang="en-US" dirty="0" smtClean="0"/>
              <a:t>Change the compression map.</a:t>
            </a:r>
          </a:p>
          <a:p>
            <a:pPr lvl="1"/>
            <a:r>
              <a:rPr lang="en-US" dirty="0" smtClean="0"/>
              <a:t>Insert all existing hash table elements into the new bucket array using the new compression map.</a:t>
            </a:r>
          </a:p>
          <a:p>
            <a:r>
              <a:rPr lang="en-US" dirty="0" smtClean="0"/>
              <a:t>Rehashing – size increase and hash table rebuild</a:t>
            </a:r>
          </a:p>
          <a:p>
            <a:r>
              <a:rPr lang="en-US" dirty="0" smtClean="0"/>
              <a:t>Good choice – rehash into an array double the size of the original array.</a:t>
            </a:r>
          </a:p>
          <a:p>
            <a:endParaRPr lang="en-US"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26</a:t>
            </a:fld>
            <a:endParaRPr lang="en-US"/>
          </a:p>
        </p:txBody>
      </p:sp>
    </p:spTree>
    <p:extLst>
      <p:ext uri="{BB962C8B-B14F-4D97-AF65-F5344CB8AC3E}">
        <p14:creationId xmlns:p14="http://schemas.microsoft.com/office/powerpoint/2010/main" val="3446876175"/>
      </p:ext>
    </p:extLst>
  </p:cSld>
  <p:clrMapOvr>
    <a:masterClrMapping/>
  </p:clrMapOvr>
  <p:transition>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953375" cy="685800"/>
          </a:xfrm>
        </p:spPr>
        <p:txBody>
          <a:bodyPr/>
          <a:lstStyle/>
          <a:p>
            <a:r>
              <a:rPr lang="en-US" dirty="0" smtClean="0"/>
              <a:t>Open Addressing</a:t>
            </a:r>
            <a:endParaRPr lang="en-US" dirty="0"/>
          </a:p>
        </p:txBody>
      </p:sp>
      <p:sp>
        <p:nvSpPr>
          <p:cNvPr id="4" name="Content Placeholder 3"/>
          <p:cNvSpPr>
            <a:spLocks noGrp="1"/>
          </p:cNvSpPr>
          <p:nvPr>
            <p:ph sz="half" idx="2"/>
          </p:nvPr>
        </p:nvSpPr>
        <p:spPr>
          <a:xfrm>
            <a:off x="533400" y="1371600"/>
            <a:ext cx="8382000" cy="5181600"/>
          </a:xfrm>
        </p:spPr>
        <p:txBody>
          <a:bodyPr/>
          <a:lstStyle/>
          <a:p>
            <a:r>
              <a:rPr lang="en-US" dirty="0" smtClean="0"/>
              <a:t>Separate chaining needs an auxiliary data structure – vector, lists – to maintain the colliding values. </a:t>
            </a:r>
          </a:p>
          <a:p>
            <a:r>
              <a:rPr lang="en-US" dirty="0" smtClean="0"/>
              <a:t>This method stores each item directly in a bucket, </a:t>
            </a:r>
            <a:r>
              <a:rPr lang="en-US" dirty="0" err="1" smtClean="0"/>
              <a:t>atmost</a:t>
            </a:r>
            <a:r>
              <a:rPr lang="en-US" dirty="0" smtClean="0"/>
              <a:t> one item per bucket.</a:t>
            </a:r>
          </a:p>
          <a:p>
            <a:r>
              <a:rPr lang="en-US" dirty="0" smtClean="0"/>
              <a:t>Uses no auxiliary structures.</a:t>
            </a:r>
          </a:p>
          <a:p>
            <a:r>
              <a:rPr lang="en-US" dirty="0" smtClean="0"/>
              <a:t>Needs efficient collision resolving methods.</a:t>
            </a:r>
          </a:p>
          <a:p>
            <a:pPr marL="0" indent="0">
              <a:buNone/>
            </a:pPr>
            <a:endParaRPr lang="en-US" dirty="0"/>
          </a:p>
        </p:txBody>
      </p:sp>
      <p:sp>
        <p:nvSpPr>
          <p:cNvPr id="3" name="Slide Number Placeholder 2"/>
          <p:cNvSpPr>
            <a:spLocks noGrp="1"/>
          </p:cNvSpPr>
          <p:nvPr>
            <p:ph type="sldNum" sz="quarter" idx="11"/>
          </p:nvPr>
        </p:nvSpPr>
        <p:spPr/>
        <p:txBody>
          <a:bodyPr/>
          <a:lstStyle/>
          <a:p>
            <a:pPr>
              <a:defRPr/>
            </a:pPr>
            <a:r>
              <a:rPr lang="en-US" smtClean="0"/>
              <a:t>1.</a:t>
            </a:r>
            <a:fld id="{439A79E9-6A78-48D5-AF91-B85B5052F592}" type="slidenum">
              <a:rPr lang="en-US" smtClean="0"/>
              <a:pPr>
                <a:defRPr/>
              </a:pPr>
              <a:t>27</a:t>
            </a:fld>
            <a:endParaRPr lang="en-US"/>
          </a:p>
        </p:txBody>
      </p:sp>
    </p:spTree>
    <p:extLst>
      <p:ext uri="{BB962C8B-B14F-4D97-AF65-F5344CB8AC3E}">
        <p14:creationId xmlns:p14="http://schemas.microsoft.com/office/powerpoint/2010/main" val="3446876175"/>
      </p:ext>
    </p:extLst>
  </p:cSld>
  <p:clrMapOvr>
    <a:masterClrMapping/>
  </p:clrMapOvr>
  <p:transition>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81000" y="228600"/>
            <a:ext cx="8610600" cy="6477000"/>
          </a:xfrm>
        </p:spPr>
        <p:txBody>
          <a:bodyPr/>
          <a:lstStyle/>
          <a:p>
            <a:pPr marL="0" indent="0">
              <a:buNone/>
            </a:pPr>
            <a:r>
              <a:rPr lang="en-US" dirty="0" smtClean="0"/>
              <a:t>1. </a:t>
            </a:r>
            <a:r>
              <a:rPr lang="en-US" b="1" dirty="0" smtClean="0"/>
              <a:t>Linear </a:t>
            </a:r>
            <a:r>
              <a:rPr lang="en-US" b="1" dirty="0"/>
              <a:t>Probing :</a:t>
            </a:r>
          </a:p>
          <a:p>
            <a:r>
              <a:rPr lang="en-US" dirty="0"/>
              <a:t>A simple open-address collision handling strategy.</a:t>
            </a:r>
          </a:p>
          <a:p>
            <a:r>
              <a:rPr lang="en-US" dirty="0"/>
              <a:t> </a:t>
            </a:r>
            <a:r>
              <a:rPr lang="en-US" dirty="0" smtClean="0"/>
              <a:t>to insert an item (</a:t>
            </a:r>
            <a:r>
              <a:rPr lang="en-US" dirty="0" err="1" smtClean="0"/>
              <a:t>k,e</a:t>
            </a:r>
            <a:r>
              <a:rPr lang="en-US" dirty="0" smtClean="0"/>
              <a:t>)</a:t>
            </a:r>
          </a:p>
          <a:p>
            <a:pPr lvl="1"/>
            <a:r>
              <a:rPr lang="en-US" dirty="0" smtClean="0"/>
              <a:t> get the hash code i = h(k), </a:t>
            </a:r>
          </a:p>
          <a:p>
            <a:pPr lvl="1"/>
            <a:r>
              <a:rPr lang="en-US" dirty="0" smtClean="0"/>
              <a:t>If bucket A[i] is free</a:t>
            </a:r>
            <a:r>
              <a:rPr lang="en-US" dirty="0"/>
              <a:t> </a:t>
            </a:r>
            <a:r>
              <a:rPr lang="en-US" dirty="0" smtClean="0"/>
              <a:t>insert item into A[i]. Otherwise, try next A[(i + 1) mod N]. If this is also occupied try next A[(i + 2) mod N] and so on.</a:t>
            </a:r>
          </a:p>
          <a:p>
            <a:pPr lvl="1"/>
            <a:r>
              <a:rPr lang="en-US" dirty="0" smtClean="0"/>
              <a:t>Find an empty bucket in A that can accept (</a:t>
            </a:r>
            <a:r>
              <a:rPr lang="en-US" dirty="0" err="1" smtClean="0"/>
              <a:t>k,e</a:t>
            </a:r>
            <a:r>
              <a:rPr lang="en-US" dirty="0" smtClean="0"/>
              <a:t>).</a:t>
            </a:r>
          </a:p>
          <a:p>
            <a:r>
              <a:rPr lang="en-US" dirty="0" smtClean="0"/>
              <a:t>Removal is complicated.</a:t>
            </a:r>
          </a:p>
          <a:p>
            <a:pPr marL="0" indent="0">
              <a:buNone/>
            </a:pPr>
            <a:endParaRPr lang="en-US" dirty="0" smtClean="0"/>
          </a:p>
          <a:p>
            <a:endParaRPr lang="en-US" dirty="0"/>
          </a:p>
          <a:p>
            <a:endParaRPr lang="en-US" dirty="0"/>
          </a:p>
        </p:txBody>
      </p:sp>
      <p:sp>
        <p:nvSpPr>
          <p:cNvPr id="2" name="Slide Number Placeholder 1"/>
          <p:cNvSpPr>
            <a:spLocks noGrp="1"/>
          </p:cNvSpPr>
          <p:nvPr>
            <p:ph type="sldNum" sz="quarter" idx="11"/>
          </p:nvPr>
        </p:nvSpPr>
        <p:spPr/>
        <p:txBody>
          <a:bodyPr/>
          <a:lstStyle/>
          <a:p>
            <a:pPr>
              <a:defRPr/>
            </a:pPr>
            <a:r>
              <a:rPr lang="en-US" smtClean="0"/>
              <a:t>1.</a:t>
            </a:r>
            <a:fld id="{439A79E9-6A78-48D5-AF91-B85B5052F592}" type="slidenum">
              <a:rPr lang="en-US" smtClean="0"/>
              <a:pPr>
                <a:defRPr/>
              </a:pPr>
              <a:t>28</a:t>
            </a:fld>
            <a:endParaRPr lang="en-US"/>
          </a:p>
        </p:txBody>
      </p:sp>
    </p:spTree>
    <p:extLst>
      <p:ext uri="{BB962C8B-B14F-4D97-AF65-F5344CB8AC3E}">
        <p14:creationId xmlns:p14="http://schemas.microsoft.com/office/powerpoint/2010/main" val="3688077087"/>
      </p:ext>
    </p:extLst>
  </p:cSld>
  <p:clrMapOvr>
    <a:masterClrMapping/>
  </p:clrMapOvr>
  <p:transition>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1"/>
            <a:ext cx="7772400" cy="609600"/>
          </a:xfrm>
        </p:spPr>
        <p:txBody>
          <a:bodyPr>
            <a:normAutofit fontScale="90000"/>
          </a:bodyPr>
          <a:lstStyle/>
          <a:p>
            <a:endParaRPr lang="en-US" dirty="0"/>
          </a:p>
        </p:txBody>
      </p:sp>
      <p:sp>
        <p:nvSpPr>
          <p:cNvPr id="3" name="Subtitle 2"/>
          <p:cNvSpPr>
            <a:spLocks noGrp="1"/>
          </p:cNvSpPr>
          <p:nvPr>
            <p:ph type="subTitle" idx="1"/>
          </p:nvPr>
        </p:nvSpPr>
        <p:spPr>
          <a:xfrm>
            <a:off x="990600" y="1295400"/>
            <a:ext cx="6858000" cy="4495800"/>
          </a:xfrm>
        </p:spPr>
        <p:txBody>
          <a:bodyPr/>
          <a:lstStyle/>
          <a:p>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304800" y="304800"/>
            <a:ext cx="8153399" cy="5791199"/>
          </a:xfrm>
          <a:prstGeom prst="rect">
            <a:avLst/>
          </a:prstGeom>
          <a:noFill/>
          <a:ln w="9525">
            <a:noFill/>
            <a:miter lim="800000"/>
            <a:headEnd/>
            <a:tailEnd/>
          </a:ln>
        </p:spPr>
      </p:pic>
    </p:spTree>
    <p:extLst>
      <p:ext uri="{BB962C8B-B14F-4D97-AF65-F5344CB8AC3E}">
        <p14:creationId xmlns:p14="http://schemas.microsoft.com/office/powerpoint/2010/main" val="23260947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cstate="print"/>
          <a:srcRect/>
          <a:stretch>
            <a:fillRect/>
          </a:stretch>
        </p:blipFill>
        <p:spPr bwMode="auto">
          <a:xfrm>
            <a:off x="457200" y="304800"/>
            <a:ext cx="8229599" cy="5821363"/>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B6F15528-21DE-4FAA-801E-634DDDAF4B2B}" type="slidenum">
              <a:rPr lang="en-US" smtClean="0">
                <a:solidFill>
                  <a:prstClr val="black">
                    <a:tint val="75000"/>
                  </a:prstClr>
                </a:solidFill>
              </a:rPr>
              <a:pPr/>
              <a:t>30</a:t>
            </a:fld>
            <a:endParaRPr lang="en-US">
              <a:solidFill>
                <a:prstClr val="black">
                  <a:tint val="75000"/>
                </a:prstClr>
              </a:solidFill>
            </a:endParaRPr>
          </a:p>
        </p:txBody>
      </p:sp>
    </p:spTree>
    <p:extLst>
      <p:ext uri="{BB962C8B-B14F-4D97-AF65-F5344CB8AC3E}">
        <p14:creationId xmlns:p14="http://schemas.microsoft.com/office/powerpoint/2010/main" val="41047029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cstate="print"/>
          <a:srcRect/>
          <a:stretch>
            <a:fillRect/>
          </a:stretch>
        </p:blipFill>
        <p:spPr bwMode="auto">
          <a:xfrm>
            <a:off x="228600" y="228600"/>
            <a:ext cx="8534399" cy="5897563"/>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B6F15528-21DE-4FAA-801E-634DDDAF4B2B}" type="slidenum">
              <a:rPr lang="en-US" smtClean="0">
                <a:solidFill>
                  <a:prstClr val="black">
                    <a:tint val="75000"/>
                  </a:prstClr>
                </a:solidFill>
              </a:rPr>
              <a:pPr/>
              <a:t>31</a:t>
            </a:fld>
            <a:endParaRPr lang="en-US">
              <a:solidFill>
                <a:prstClr val="black">
                  <a:tint val="75000"/>
                </a:prstClr>
              </a:solidFill>
            </a:endParaRPr>
          </a:p>
        </p:txBody>
      </p:sp>
    </p:spTree>
    <p:extLst>
      <p:ext uri="{BB962C8B-B14F-4D97-AF65-F5344CB8AC3E}">
        <p14:creationId xmlns:p14="http://schemas.microsoft.com/office/powerpoint/2010/main" val="21743264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2. Quadratic Probing</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371600"/>
                <a:ext cx="8229600" cy="4754563"/>
              </a:xfrm>
            </p:spPr>
            <p:txBody>
              <a:bodyPr>
                <a:normAutofit fontScale="85000" lnSpcReduction="10000"/>
              </a:bodyPr>
              <a:lstStyle/>
              <a:p>
                <a:r>
                  <a:rPr lang="en-US" dirty="0" smtClean="0"/>
                  <a:t>An open addressing collision handling strategy.</a:t>
                </a:r>
              </a:p>
              <a:p>
                <a:r>
                  <a:rPr lang="en-US" dirty="0" smtClean="0"/>
                  <a:t>Iteratively tries the buckets A[(i + f(j)) mod N] for j = 0, 1, 2,…. Where f(j) = </a:t>
                </a:r>
                <a14:m>
                  <m:oMath xmlns:m="http://schemas.openxmlformats.org/officeDocument/2006/math">
                    <m:sSup>
                      <m:sSupPr>
                        <m:ctrlPr>
                          <a:rPr lang="en-US" i="1" smtClean="0">
                            <a:latin typeface="Cambria Math"/>
                          </a:rPr>
                        </m:ctrlPr>
                      </m:sSupPr>
                      <m:e>
                        <m:r>
                          <a:rPr lang="en-US" b="0" i="1" smtClean="0">
                            <a:latin typeface="Cambria Math"/>
                          </a:rPr>
                          <m:t>𝑗</m:t>
                        </m:r>
                      </m:e>
                      <m:sup>
                        <m:r>
                          <a:rPr lang="en-US" b="0" i="1" smtClean="0">
                            <a:latin typeface="Cambria Math"/>
                          </a:rPr>
                          <m:t>2</m:t>
                        </m:r>
                      </m:sup>
                    </m:sSup>
                  </m:oMath>
                </a14:m>
                <a:r>
                  <a:rPr lang="en-US" dirty="0" smtClean="0"/>
                  <a:t>, until finding an empty bucket. </a:t>
                </a:r>
              </a:p>
              <a:p>
                <a:r>
                  <a:rPr lang="en-US" dirty="0" smtClean="0"/>
                  <a:t>Complicates removal, but avoids the clustering pattern unlike linear probing.</a:t>
                </a:r>
              </a:p>
              <a:p>
                <a:r>
                  <a:rPr lang="en-US" dirty="0" smtClean="0"/>
                  <a:t>If N is not prime, may not find an empty bucket in A, even if one exists.</a:t>
                </a:r>
              </a:p>
              <a:p>
                <a:r>
                  <a:rPr lang="en-US" dirty="0" smtClean="0"/>
                  <a:t>If N is prime, this may not find an empty slot, if the bucket array is </a:t>
                </a:r>
                <a:r>
                  <a:rPr lang="en-US" dirty="0" err="1" smtClean="0"/>
                  <a:t>atleast</a:t>
                </a:r>
                <a:r>
                  <a:rPr lang="en-US" dirty="0" smtClean="0"/>
                  <a:t> half full. </a:t>
                </a:r>
              </a:p>
              <a:p>
                <a:r>
                  <a:rPr lang="en-US" dirty="0" smtClean="0"/>
                  <a:t>Filled array cells “bounces” around the array in a fixed pattern – secondary clustering.</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371600"/>
                <a:ext cx="8229600" cy="4754563"/>
              </a:xfrm>
              <a:blipFill rotWithShape="1">
                <a:blip r:embed="rId2"/>
                <a:stretch>
                  <a:fillRect l="-1185" t="-1923" r="-81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32</a:t>
            </a:fld>
            <a:endParaRPr lang="en-US">
              <a:solidFill>
                <a:prstClr val="black">
                  <a:tint val="75000"/>
                </a:prstClr>
              </a:solidFill>
            </a:endParaRPr>
          </a:p>
        </p:txBody>
      </p:sp>
    </p:spTree>
    <p:extLst>
      <p:ext uri="{BB962C8B-B14F-4D97-AF65-F5344CB8AC3E}">
        <p14:creationId xmlns:p14="http://schemas.microsoft.com/office/powerpoint/2010/main" val="34610840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Ex : h(</a:t>
            </a:r>
            <a:r>
              <a:rPr lang="en-US" dirty="0" err="1" smtClean="0"/>
              <a:t>k,i</a:t>
            </a:r>
            <a:r>
              <a:rPr lang="en-US" dirty="0" smtClean="0"/>
              <a:t>) = (h’(k) + c</a:t>
            </a:r>
            <a:r>
              <a:rPr lang="en-US" baseline="-25000" dirty="0" smtClean="0"/>
              <a:t>1</a:t>
            </a:r>
            <a:r>
              <a:rPr lang="en-US" dirty="0" smtClean="0"/>
              <a:t>i + c</a:t>
            </a:r>
            <a:r>
              <a:rPr lang="en-US" baseline="-25000" dirty="0" smtClean="0"/>
              <a:t>2</a:t>
            </a:r>
            <a:r>
              <a:rPr lang="en-US" dirty="0" smtClean="0"/>
              <a:t>i</a:t>
            </a:r>
            <a:r>
              <a:rPr lang="en-US" baseline="30000" dirty="0" smtClean="0"/>
              <a:t>2</a:t>
            </a:r>
            <a:r>
              <a:rPr lang="en-US" dirty="0" smtClean="0"/>
              <a:t>) mod m for i=0,1,2,3…….m-1</a:t>
            </a:r>
          </a:p>
          <a:p>
            <a:pPr marL="0" indent="0">
              <a:buNone/>
            </a:pPr>
            <a:r>
              <a:rPr lang="en-US" dirty="0"/>
              <a:t> </a:t>
            </a:r>
            <a:r>
              <a:rPr lang="en-US" dirty="0" smtClean="0"/>
              <a:t>where m is the size of the hash table. C</a:t>
            </a:r>
            <a:r>
              <a:rPr lang="en-US" baseline="-25000" dirty="0" smtClean="0"/>
              <a:t>1 </a:t>
            </a:r>
            <a:r>
              <a:rPr lang="en-US" dirty="0" smtClean="0"/>
              <a:t> and c</a:t>
            </a:r>
            <a:r>
              <a:rPr lang="en-US" baseline="-25000" dirty="0" smtClean="0"/>
              <a:t>2 </a:t>
            </a:r>
            <a:r>
              <a:rPr lang="en-US" dirty="0" smtClean="0"/>
              <a:t>are constants</a:t>
            </a:r>
            <a:r>
              <a:rPr lang="en-US" baseline="-25000" dirty="0" smtClean="0"/>
              <a:t>.</a:t>
            </a:r>
            <a:endParaRPr lang="en-US" dirty="0" smtClean="0"/>
          </a:p>
          <a:p>
            <a:pPr marL="0" indent="0">
              <a:buNone/>
            </a:pPr>
            <a:r>
              <a:rPr lang="en-US" dirty="0"/>
              <a:t> h’(k</a:t>
            </a:r>
            <a:r>
              <a:rPr lang="en-US" dirty="0" smtClean="0"/>
              <a:t>) = k mod m is the primary hash function.</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33</a:t>
            </a:fld>
            <a:endParaRPr lang="en-US">
              <a:solidFill>
                <a:prstClr val="black">
                  <a:tint val="75000"/>
                </a:prstClr>
              </a:solidFill>
            </a:endParaRPr>
          </a:p>
        </p:txBody>
      </p:sp>
    </p:spTree>
    <p:extLst>
      <p:ext uri="{BB962C8B-B14F-4D97-AF65-F5344CB8AC3E}">
        <p14:creationId xmlns:p14="http://schemas.microsoft.com/office/powerpoint/2010/main" val="585197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Double Hashing</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smtClean="0"/>
                  <a:t>This does not cause clustering as in linear probing and quadratic probing.</a:t>
                </a:r>
              </a:p>
              <a:p>
                <a:r>
                  <a:rPr lang="en-US" dirty="0" smtClean="0"/>
                  <a:t>Uses a secondary hash function </a:t>
                </a:r>
                <a14:m>
                  <m:oMath xmlns:m="http://schemas.openxmlformats.org/officeDocument/2006/math">
                    <m:sSup>
                      <m:sSupPr>
                        <m:ctrlPr>
                          <a:rPr lang="en-US" i="1" smtClean="0">
                            <a:latin typeface="Cambria Math"/>
                          </a:rPr>
                        </m:ctrlPr>
                      </m:sSupPr>
                      <m:e>
                        <m:r>
                          <a:rPr lang="en-US" b="0" i="1" smtClean="0">
                            <a:latin typeface="Cambria Math"/>
                          </a:rPr>
                          <m:t>h</m:t>
                        </m:r>
                      </m:e>
                      <m:sup>
                        <m:r>
                          <a:rPr lang="en-US" b="0" i="1" smtClean="0">
                            <a:latin typeface="Cambria Math"/>
                          </a:rPr>
                          <m:t>′</m:t>
                        </m:r>
                      </m:sup>
                    </m:sSup>
                  </m:oMath>
                </a14:m>
                <a:r>
                  <a:rPr lang="en-US" dirty="0" smtClean="0"/>
                  <a:t>.</a:t>
                </a:r>
              </a:p>
              <a:p>
                <a:r>
                  <a:rPr lang="en-US" dirty="0" smtClean="0"/>
                  <a:t>Primary hash function </a:t>
                </a:r>
                <a:r>
                  <a:rPr lang="en-US" i="1" dirty="0" smtClean="0"/>
                  <a:t>h </a:t>
                </a:r>
                <a:r>
                  <a:rPr lang="en-US" dirty="0" smtClean="0"/>
                  <a:t>maps key </a:t>
                </a:r>
                <a:r>
                  <a:rPr lang="en-US" i="1" dirty="0" smtClean="0"/>
                  <a:t>k to a bucket A[i]. </a:t>
                </a:r>
              </a:p>
              <a:p>
                <a:pPr lvl="1"/>
                <a:r>
                  <a:rPr lang="en-US" i="1" dirty="0">
                    <a:latin typeface="Cambria Math"/>
                  </a:rPr>
                  <a:t>i</a:t>
                </a:r>
                <a:r>
                  <a:rPr lang="en-US" i="1" dirty="0" smtClean="0">
                    <a:latin typeface="Cambria Math"/>
                  </a:rPr>
                  <a:t>= h(k)</a:t>
                </a:r>
                <a:endParaRPr lang="en-US" b="0" i="1" dirty="0" smtClean="0">
                  <a:latin typeface="Cambria Math"/>
                </a:endParaRPr>
              </a:p>
              <a:p>
                <a:pPr lvl="1"/>
                <a14:m>
                  <m:oMath xmlns:m="http://schemas.openxmlformats.org/officeDocument/2006/math">
                    <m:r>
                      <a:rPr lang="en-US" b="0" i="1" smtClean="0">
                        <a:latin typeface="Cambria Math"/>
                      </a:rPr>
                      <m:t>𝑘</m:t>
                    </m:r>
                    <m:r>
                      <a:rPr lang="en-US" b="0" i="1" smtClean="0">
                        <a:latin typeface="Cambria Math"/>
                      </a:rPr>
                      <m:t> ⟶</m:t>
                    </m:r>
                    <m:r>
                      <a:rPr lang="en-US" b="0" i="1" smtClean="0">
                        <a:latin typeface="Cambria Math"/>
                        <a:ea typeface="Cambria Math"/>
                      </a:rPr>
                      <m:t>𝐴</m:t>
                    </m:r>
                    <m:d>
                      <m:dPr>
                        <m:begChr m:val="["/>
                        <m:endChr m:val="]"/>
                        <m:ctrlPr>
                          <a:rPr lang="en-US" b="0" i="1" smtClean="0">
                            <a:latin typeface="Cambria Math"/>
                            <a:ea typeface="Cambria Math"/>
                          </a:rPr>
                        </m:ctrlPr>
                      </m:dPr>
                      <m:e>
                        <m:r>
                          <a:rPr lang="en-US" b="0" i="1" smtClean="0">
                            <a:latin typeface="Cambria Math"/>
                            <a:ea typeface="Cambria Math"/>
                          </a:rPr>
                          <m:t>𝑖</m:t>
                        </m:r>
                      </m:e>
                    </m:d>
                    <m:r>
                      <a:rPr lang="en-US" b="0" i="1" smtClean="0">
                        <a:latin typeface="Cambria Math"/>
                        <a:ea typeface="Cambria Math"/>
                      </a:rPr>
                      <m:t> </m:t>
                    </m:r>
                  </m:oMath>
                </a14:m>
                <a:r>
                  <a:rPr lang="en-US" i="1" dirty="0" smtClean="0"/>
                  <a:t>if A[i] is free.</a:t>
                </a:r>
              </a:p>
              <a:p>
                <a:pPr marL="0" indent="0">
                  <a:buNone/>
                </a:pPr>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34</a:t>
            </a:fld>
            <a:endParaRPr lang="en-US">
              <a:solidFill>
                <a:prstClr val="black">
                  <a:tint val="75000"/>
                </a:prstClr>
              </a:solidFill>
            </a:endParaRPr>
          </a:p>
        </p:txBody>
      </p:sp>
    </p:spTree>
    <p:extLst>
      <p:ext uri="{BB962C8B-B14F-4D97-AF65-F5344CB8AC3E}">
        <p14:creationId xmlns:p14="http://schemas.microsoft.com/office/powerpoint/2010/main" val="18911784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i="1" dirty="0" smtClean="0"/>
                  <a:t>If  A[i] is not free, try the buckets A[(i + f(j)) mod N] iteratively, for j = 1,2,3,…. Where</a:t>
                </a:r>
              </a:p>
              <a:p>
                <a:pPr marL="0" indent="0">
                  <a:buNone/>
                </a:pPr>
                <a:r>
                  <a:rPr lang="en-US" i="1" dirty="0"/>
                  <a:t> </a:t>
                </a:r>
                <a:r>
                  <a:rPr lang="en-US" i="1" dirty="0" smtClean="0"/>
                  <a:t>   </a:t>
                </a:r>
                <a14:m>
                  <m:oMath xmlns:m="http://schemas.openxmlformats.org/officeDocument/2006/math">
                    <m:r>
                      <a:rPr lang="en-US" b="0" i="1" smtClean="0">
                        <a:latin typeface="Cambria Math"/>
                      </a:rPr>
                      <m:t>𝑓</m:t>
                    </m:r>
                    <m:d>
                      <m:dPr>
                        <m:ctrlPr>
                          <a:rPr lang="en-US" b="0" i="1" smtClean="0">
                            <a:latin typeface="Cambria Math"/>
                          </a:rPr>
                        </m:ctrlPr>
                      </m:dPr>
                      <m:e>
                        <m:r>
                          <a:rPr lang="en-US" b="0" i="1" smtClean="0">
                            <a:latin typeface="Cambria Math"/>
                          </a:rPr>
                          <m:t>𝑗</m:t>
                        </m:r>
                      </m:e>
                    </m:d>
                    <m:r>
                      <a:rPr lang="en-US" b="0" i="1" smtClean="0">
                        <a:latin typeface="Cambria Math"/>
                      </a:rPr>
                      <m:t>=</m:t>
                    </m:r>
                    <m:r>
                      <a:rPr lang="en-US" b="0" i="1" smtClean="0">
                        <a:latin typeface="Cambria Math"/>
                      </a:rPr>
                      <m:t>𝑗</m:t>
                    </m:r>
                    <m:r>
                      <a:rPr lang="en-US" b="0" i="1" smtClean="0">
                        <a:latin typeface="Cambria Math"/>
                      </a:rPr>
                      <m:t>.</m:t>
                    </m:r>
                    <m:sSup>
                      <m:sSupPr>
                        <m:ctrlPr>
                          <a:rPr lang="en-US" b="0" i="1" smtClean="0">
                            <a:latin typeface="Cambria Math"/>
                          </a:rPr>
                        </m:ctrlPr>
                      </m:sSupPr>
                      <m:e>
                        <m:r>
                          <a:rPr lang="en-US" b="0" i="1" smtClean="0">
                            <a:latin typeface="Cambria Math"/>
                          </a:rPr>
                          <m:t>h</m:t>
                        </m:r>
                      </m:e>
                      <m:sup>
                        <m:r>
                          <a:rPr lang="en-US" b="0" i="1" smtClean="0">
                            <a:latin typeface="Cambria Math"/>
                          </a:rPr>
                          <m:t>′</m:t>
                        </m:r>
                      </m:sup>
                    </m:sSup>
                    <m:r>
                      <a:rPr lang="en-US" b="0" i="1" smtClean="0">
                        <a:latin typeface="Cambria Math"/>
                      </a:rPr>
                      <m:t>(</m:t>
                    </m:r>
                    <m:r>
                      <a:rPr lang="en-US" b="0" i="1" smtClean="0">
                        <a:latin typeface="Cambria Math"/>
                      </a:rPr>
                      <m:t>𝑘</m:t>
                    </m:r>
                    <m:r>
                      <a:rPr lang="en-US" b="0" i="1" smtClean="0">
                        <a:latin typeface="Cambria Math"/>
                      </a:rPr>
                      <m:t>)</m:t>
                    </m:r>
                  </m:oMath>
                </a14:m>
                <a:r>
                  <a:rPr lang="en-US" i="1" dirty="0" smtClean="0"/>
                  <a:t>. </a:t>
                </a:r>
              </a:p>
              <a:p>
                <a:r>
                  <a:rPr lang="en-US" i="1" dirty="0" smtClean="0"/>
                  <a:t>The secondary hash function should not evaluate to zero.</a:t>
                </a:r>
              </a:p>
              <a:p>
                <a14:m>
                  <m:oMath xmlns:m="http://schemas.openxmlformats.org/officeDocument/2006/math">
                    <m:sSup>
                      <m:sSupPr>
                        <m:ctrlPr>
                          <a:rPr lang="en-US" i="1">
                            <a:latin typeface="Cambria Math"/>
                          </a:rPr>
                        </m:ctrlPr>
                      </m:sSupPr>
                      <m:e>
                        <m:r>
                          <a:rPr lang="en-US" b="0" i="1" smtClean="0">
                            <a:latin typeface="Cambria Math"/>
                          </a:rPr>
                          <m:t>𝐸𝑥</m:t>
                        </m:r>
                        <m:r>
                          <a:rPr lang="en-US" b="0" i="1" smtClean="0">
                            <a:latin typeface="Cambria Math"/>
                          </a:rPr>
                          <m:t> : </m:t>
                        </m:r>
                        <m:r>
                          <a:rPr lang="en-US" i="1">
                            <a:latin typeface="Cambria Math"/>
                          </a:rPr>
                          <m:t>h</m:t>
                        </m:r>
                      </m:e>
                      <m:sup>
                        <m:r>
                          <a:rPr lang="en-US" i="1">
                            <a:latin typeface="Cambria Math"/>
                          </a:rPr>
                          <m:t>′</m:t>
                        </m:r>
                      </m:sup>
                    </m:sSup>
                    <m:d>
                      <m:dPr>
                        <m:ctrlPr>
                          <a:rPr lang="en-US" i="1">
                            <a:latin typeface="Cambria Math"/>
                          </a:rPr>
                        </m:ctrlPr>
                      </m:dPr>
                      <m:e>
                        <m:r>
                          <a:rPr lang="en-US" i="1">
                            <a:latin typeface="Cambria Math"/>
                          </a:rPr>
                          <m:t>𝑘</m:t>
                        </m:r>
                      </m:e>
                    </m:d>
                    <m:r>
                      <a:rPr lang="en-US" b="0" i="1" smtClean="0">
                        <a:latin typeface="Cambria Math"/>
                      </a:rPr>
                      <m:t>= </m:t>
                    </m:r>
                  </m:oMath>
                </a14:m>
                <a:r>
                  <a:rPr lang="en-US" i="1" dirty="0" smtClean="0"/>
                  <a:t>q – (k mod q) for some prime q &gt; N </a:t>
                </a:r>
                <a:endParaRPr lang="en-US" i="1"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r="-288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35</a:t>
            </a:fld>
            <a:endParaRPr lang="en-US">
              <a:solidFill>
                <a:prstClr val="black">
                  <a:tint val="75000"/>
                </a:prstClr>
              </a:solidFill>
            </a:endParaRPr>
          </a:p>
        </p:txBody>
      </p:sp>
    </p:spTree>
    <p:extLst>
      <p:ext uri="{BB962C8B-B14F-4D97-AF65-F5344CB8AC3E}">
        <p14:creationId xmlns:p14="http://schemas.microsoft.com/office/powerpoint/2010/main" val="23006706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09600"/>
            <a:ext cx="7772400" cy="1470025"/>
          </a:xfrm>
        </p:spPr>
        <p:txBody>
          <a:bodyPr/>
          <a:lstStyle/>
          <a:p>
            <a:endParaRPr lang="en-US" dirty="0"/>
          </a:p>
        </p:txBody>
      </p:sp>
      <p:sp>
        <p:nvSpPr>
          <p:cNvPr id="3" name="Subtitle 2"/>
          <p:cNvSpPr>
            <a:spLocks noGrp="1"/>
          </p:cNvSpPr>
          <p:nvPr>
            <p:ph type="subTitle" idx="1"/>
          </p:nvPr>
        </p:nvSpPr>
        <p:spPr>
          <a:xfrm>
            <a:off x="1371600" y="2286000"/>
            <a:ext cx="6400800" cy="3352800"/>
          </a:xfrm>
        </p:spPr>
        <p:txBody>
          <a:bodyPr/>
          <a:lstStyle/>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28600" y="609600"/>
            <a:ext cx="8458199" cy="5791200"/>
          </a:xfrm>
          <a:prstGeom prst="rect">
            <a:avLst/>
          </a:prstGeom>
          <a:noFill/>
          <a:ln w="9525">
            <a:noFill/>
            <a:miter lim="800000"/>
            <a:headEnd/>
            <a:tailEnd/>
          </a:ln>
        </p:spPr>
      </p:pic>
    </p:spTree>
    <p:extLst>
      <p:ext uri="{BB962C8B-B14F-4D97-AF65-F5344CB8AC3E}">
        <p14:creationId xmlns:p14="http://schemas.microsoft.com/office/powerpoint/2010/main" val="184696295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9" name="Rectangle 2"/>
          <p:cNvSpPr>
            <a:spLocks noGrp="1" noChangeArrowheads="1"/>
          </p:cNvSpPr>
          <p:nvPr>
            <p:ph type="body" idx="1"/>
          </p:nvPr>
        </p:nvSpPr>
        <p:spPr>
          <a:xfrm>
            <a:off x="762000" y="2286000"/>
            <a:ext cx="3429000" cy="3810000"/>
          </a:xfrm>
        </p:spPr>
        <p:txBody>
          <a:bodyPr/>
          <a:lstStyle/>
          <a:p>
            <a:pPr eaLnBrk="1" hangingPunct="1"/>
            <a:r>
              <a:rPr lang="en-US" sz="2000" smtClean="0">
                <a:ea typeface="ＭＳ Ｐゴシック" pitchFamily="-107" charset="-128"/>
              </a:rPr>
              <a:t>Consider a hash table storing integer keys that handles collision with double hashing</a:t>
            </a:r>
          </a:p>
          <a:p>
            <a:pPr lvl="1" eaLnBrk="1" hangingPunct="1"/>
            <a:r>
              <a:rPr lang="en-US" sz="1800" b="1" i="1" smtClean="0">
                <a:latin typeface="Times New Roman" pitchFamily="18" charset="0"/>
                <a:ea typeface="ＭＳ Ｐゴシック" pitchFamily="-107" charset="-128"/>
              </a:rPr>
              <a:t>N</a:t>
            </a:r>
            <a:r>
              <a:rPr lang="en-US" sz="1800" b="1" i="1" smtClean="0">
                <a:latin typeface="Symbol" pitchFamily="-107" charset="2"/>
                <a:ea typeface="ＭＳ Ｐゴシック" pitchFamily="-107" charset="-128"/>
              </a:rPr>
              <a:t> </a:t>
            </a:r>
            <a:r>
              <a:rPr lang="en-US" sz="1800" smtClean="0">
                <a:latin typeface="Symbol" pitchFamily="-107" charset="2"/>
                <a:ea typeface="ＭＳ Ｐゴシック" pitchFamily="-107" charset="-128"/>
              </a:rPr>
              <a:t>= </a:t>
            </a:r>
            <a:r>
              <a:rPr lang="en-US" sz="1800" smtClean="0">
                <a:latin typeface="Times New Roman" pitchFamily="18" charset="0"/>
                <a:ea typeface="ＭＳ Ｐゴシック" pitchFamily="-107" charset="-128"/>
              </a:rPr>
              <a:t>13</a:t>
            </a:r>
            <a:r>
              <a:rPr lang="en-US" sz="1800" smtClean="0">
                <a:ea typeface="ＭＳ Ｐゴシック" pitchFamily="-107" charset="-128"/>
              </a:rPr>
              <a:t> </a:t>
            </a:r>
          </a:p>
          <a:p>
            <a:pPr lvl="1" eaLnBrk="1" hangingPunct="1"/>
            <a:r>
              <a:rPr lang="en-US" sz="1800" b="1" i="1" smtClean="0">
                <a:latin typeface="Times New Roman" pitchFamily="18" charset="0"/>
                <a:ea typeface="ＭＳ Ｐゴシック" pitchFamily="-107" charset="-128"/>
              </a:rPr>
              <a:t>h</a:t>
            </a:r>
            <a:r>
              <a:rPr lang="en-US" sz="1800" smtClean="0">
                <a:latin typeface="Times New Roman" pitchFamily="18" charset="0"/>
                <a:ea typeface="ＭＳ Ｐゴシック" pitchFamily="-107" charset="-128"/>
              </a:rPr>
              <a:t>(</a:t>
            </a:r>
            <a:r>
              <a:rPr lang="en-US" sz="1800" b="1" i="1" smtClean="0">
                <a:latin typeface="Times New Roman" pitchFamily="18" charset="0"/>
                <a:ea typeface="ＭＳ Ｐゴシック" pitchFamily="-107" charset="-128"/>
              </a:rPr>
              <a:t>k</a:t>
            </a:r>
            <a:r>
              <a:rPr lang="en-US" sz="1800" smtClean="0">
                <a:latin typeface="Times New Roman" pitchFamily="18" charset="0"/>
                <a:ea typeface="ＭＳ Ｐゴシック" pitchFamily="-107" charset="-128"/>
              </a:rPr>
              <a:t>) </a:t>
            </a:r>
            <a:r>
              <a:rPr lang="en-US" sz="1800" smtClean="0">
                <a:latin typeface="Symbol" pitchFamily="-107" charset="2"/>
                <a:ea typeface="ＭＳ Ｐゴシック" pitchFamily="-107" charset="-128"/>
              </a:rPr>
              <a:t>=</a:t>
            </a:r>
            <a:r>
              <a:rPr lang="en-US" sz="1800" b="1" i="1" smtClean="0">
                <a:latin typeface="Times New Roman" pitchFamily="18" charset="0"/>
                <a:ea typeface="ＭＳ Ｐゴシック" pitchFamily="-107" charset="-128"/>
              </a:rPr>
              <a:t> k </a:t>
            </a:r>
            <a:r>
              <a:rPr lang="en-US" sz="1800" smtClean="0">
                <a:latin typeface="Times New Roman" pitchFamily="18" charset="0"/>
                <a:ea typeface="ＭＳ Ｐゴシック" pitchFamily="-107" charset="-128"/>
              </a:rPr>
              <a:t>mod</a:t>
            </a:r>
            <a:r>
              <a:rPr lang="en-US" sz="1800" b="1" i="1" smtClean="0">
                <a:latin typeface="Times New Roman" pitchFamily="18" charset="0"/>
                <a:ea typeface="ＭＳ Ｐゴシック" pitchFamily="-107" charset="-128"/>
              </a:rPr>
              <a:t> </a:t>
            </a:r>
            <a:r>
              <a:rPr lang="en-US" sz="1800" smtClean="0">
                <a:latin typeface="Times New Roman" pitchFamily="18" charset="0"/>
                <a:ea typeface="ＭＳ Ｐゴシック" pitchFamily="-107" charset="-128"/>
              </a:rPr>
              <a:t>13</a:t>
            </a:r>
            <a:r>
              <a:rPr lang="en-US" sz="1800" smtClean="0">
                <a:ea typeface="ＭＳ Ｐゴシック" pitchFamily="-107" charset="-128"/>
              </a:rPr>
              <a:t> </a:t>
            </a:r>
          </a:p>
          <a:p>
            <a:pPr lvl="1" eaLnBrk="1" hangingPunct="1"/>
            <a:r>
              <a:rPr lang="en-US" sz="1800" b="1" i="1" smtClean="0">
                <a:latin typeface="Times New Roman" pitchFamily="18" charset="0"/>
                <a:ea typeface="ＭＳ Ｐゴシック" pitchFamily="-107" charset="-128"/>
              </a:rPr>
              <a:t>d</a:t>
            </a:r>
            <a:r>
              <a:rPr lang="en-US" sz="1800" smtClean="0">
                <a:latin typeface="Times New Roman" pitchFamily="18" charset="0"/>
                <a:ea typeface="ＭＳ Ｐゴシック" pitchFamily="-107" charset="-128"/>
              </a:rPr>
              <a:t>(</a:t>
            </a:r>
            <a:r>
              <a:rPr lang="en-US" sz="1800" b="1" i="1" smtClean="0">
                <a:latin typeface="Times New Roman" pitchFamily="18" charset="0"/>
                <a:ea typeface="ＭＳ Ｐゴシック" pitchFamily="-107" charset="-128"/>
              </a:rPr>
              <a:t>k</a:t>
            </a:r>
            <a:r>
              <a:rPr lang="en-US" sz="1800" smtClean="0">
                <a:latin typeface="Times New Roman" pitchFamily="18" charset="0"/>
                <a:ea typeface="ＭＳ Ｐゴシック" pitchFamily="-107" charset="-128"/>
              </a:rPr>
              <a:t>) </a:t>
            </a:r>
            <a:r>
              <a:rPr lang="en-US" sz="1800" smtClean="0">
                <a:latin typeface="Symbol" pitchFamily="-107" charset="2"/>
                <a:ea typeface="ＭＳ Ｐゴシック" pitchFamily="-107" charset="-128"/>
              </a:rPr>
              <a:t>=</a:t>
            </a:r>
            <a:r>
              <a:rPr lang="en-US" sz="1800" b="1" i="1" smtClean="0">
                <a:latin typeface="Times New Roman" pitchFamily="18" charset="0"/>
                <a:ea typeface="ＭＳ Ｐゴシック" pitchFamily="-107" charset="-128"/>
              </a:rPr>
              <a:t> </a:t>
            </a:r>
            <a:r>
              <a:rPr lang="en-US" sz="1800" smtClean="0">
                <a:latin typeface="Times New Roman" pitchFamily="18" charset="0"/>
                <a:ea typeface="ＭＳ Ｐゴシック" pitchFamily="-107" charset="-128"/>
              </a:rPr>
              <a:t>7 </a:t>
            </a:r>
            <a:r>
              <a:rPr lang="en-US" sz="1800" smtClean="0">
                <a:latin typeface="Symbol" pitchFamily="-107" charset="2"/>
                <a:ea typeface="ＭＳ Ｐゴシック" pitchFamily="-107" charset="-128"/>
              </a:rPr>
              <a:t>-</a:t>
            </a:r>
            <a:r>
              <a:rPr lang="en-US" sz="1800" b="1" i="1" smtClean="0">
                <a:latin typeface="Times New Roman" pitchFamily="18" charset="0"/>
                <a:ea typeface="ＭＳ Ｐゴシック" pitchFamily="-107" charset="-128"/>
              </a:rPr>
              <a:t> k </a:t>
            </a:r>
            <a:r>
              <a:rPr lang="en-US" sz="1800" smtClean="0">
                <a:latin typeface="Times New Roman" pitchFamily="18" charset="0"/>
                <a:ea typeface="ＭＳ Ｐゴシック" pitchFamily="-107" charset="-128"/>
              </a:rPr>
              <a:t>mod</a:t>
            </a:r>
            <a:r>
              <a:rPr lang="en-US" sz="1800" b="1" i="1" smtClean="0">
                <a:latin typeface="Times New Roman" pitchFamily="18" charset="0"/>
                <a:ea typeface="ＭＳ Ｐゴシック" pitchFamily="-107" charset="-128"/>
              </a:rPr>
              <a:t> </a:t>
            </a:r>
            <a:r>
              <a:rPr lang="en-US" sz="1800" smtClean="0">
                <a:latin typeface="Times New Roman" pitchFamily="18" charset="0"/>
                <a:ea typeface="ＭＳ Ｐゴシック" pitchFamily="-107" charset="-128"/>
              </a:rPr>
              <a:t>7</a:t>
            </a:r>
            <a:r>
              <a:rPr lang="en-US" sz="1800" b="1" i="1" smtClean="0">
                <a:latin typeface="Times New Roman" pitchFamily="18" charset="0"/>
                <a:ea typeface="ＭＳ Ｐゴシック" pitchFamily="-107" charset="-128"/>
              </a:rPr>
              <a:t> </a:t>
            </a:r>
          </a:p>
          <a:p>
            <a:pPr eaLnBrk="1" hangingPunct="1"/>
            <a:r>
              <a:rPr lang="en-US" sz="2000" smtClean="0">
                <a:ea typeface="ＭＳ Ｐゴシック" pitchFamily="-107" charset="-128"/>
              </a:rPr>
              <a:t>Insert keys 18, 41, 22, 44, 59, 32, 31, 73, in this order</a:t>
            </a:r>
          </a:p>
        </p:txBody>
      </p:sp>
      <p:sp>
        <p:nvSpPr>
          <p:cNvPr id="9220" name="Rectangle 3"/>
          <p:cNvSpPr>
            <a:spLocks noGrp="1" noChangeArrowheads="1"/>
          </p:cNvSpPr>
          <p:nvPr>
            <p:ph type="title"/>
          </p:nvPr>
        </p:nvSpPr>
        <p:spPr/>
        <p:txBody>
          <a:bodyPr/>
          <a:lstStyle/>
          <a:p>
            <a:pPr eaLnBrk="1" hangingPunct="1"/>
            <a:r>
              <a:rPr lang="en-US" smtClean="0">
                <a:ea typeface="ＭＳ Ｐゴシック" pitchFamily="-107" charset="-128"/>
              </a:rPr>
              <a:t>Example of Double Hashing</a:t>
            </a:r>
          </a:p>
        </p:txBody>
      </p:sp>
      <p:grpSp>
        <p:nvGrpSpPr>
          <p:cNvPr id="9221" name="Group 4"/>
          <p:cNvGrpSpPr>
            <a:grpSpLocks/>
          </p:cNvGrpSpPr>
          <p:nvPr/>
        </p:nvGrpSpPr>
        <p:grpSpPr bwMode="auto">
          <a:xfrm>
            <a:off x="4648200" y="2209800"/>
            <a:ext cx="3978275" cy="4443413"/>
            <a:chOff x="2688" y="1056"/>
            <a:chExt cx="2506" cy="2799"/>
          </a:xfrm>
        </p:grpSpPr>
        <p:sp>
          <p:nvSpPr>
            <p:cNvPr id="9222" name="Rectangle 5"/>
            <p:cNvSpPr>
              <a:spLocks noChangeArrowheads="1"/>
            </p:cNvSpPr>
            <p:nvPr/>
          </p:nvSpPr>
          <p:spPr bwMode="auto">
            <a:xfrm>
              <a:off x="2688"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23" name="Rectangle 6"/>
            <p:cNvSpPr>
              <a:spLocks noChangeArrowheads="1"/>
            </p:cNvSpPr>
            <p:nvPr/>
          </p:nvSpPr>
          <p:spPr bwMode="auto">
            <a:xfrm>
              <a:off x="2880"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24" name="Rectangle 7"/>
            <p:cNvSpPr>
              <a:spLocks noChangeArrowheads="1"/>
            </p:cNvSpPr>
            <p:nvPr/>
          </p:nvSpPr>
          <p:spPr bwMode="auto">
            <a:xfrm>
              <a:off x="3072"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25" name="Rectangle 8"/>
            <p:cNvSpPr>
              <a:spLocks noChangeArrowheads="1"/>
            </p:cNvSpPr>
            <p:nvPr/>
          </p:nvSpPr>
          <p:spPr bwMode="auto">
            <a:xfrm>
              <a:off x="3264"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26" name="Rectangle 9"/>
            <p:cNvSpPr>
              <a:spLocks noChangeArrowheads="1"/>
            </p:cNvSpPr>
            <p:nvPr/>
          </p:nvSpPr>
          <p:spPr bwMode="auto">
            <a:xfrm>
              <a:off x="3456"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27" name="Rectangle 10"/>
            <p:cNvSpPr>
              <a:spLocks noChangeArrowheads="1"/>
            </p:cNvSpPr>
            <p:nvPr/>
          </p:nvSpPr>
          <p:spPr bwMode="auto">
            <a:xfrm>
              <a:off x="3648"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28" name="Rectangle 11"/>
            <p:cNvSpPr>
              <a:spLocks noChangeArrowheads="1"/>
            </p:cNvSpPr>
            <p:nvPr/>
          </p:nvSpPr>
          <p:spPr bwMode="auto">
            <a:xfrm>
              <a:off x="3840"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29" name="Rectangle 12"/>
            <p:cNvSpPr>
              <a:spLocks noChangeArrowheads="1"/>
            </p:cNvSpPr>
            <p:nvPr/>
          </p:nvSpPr>
          <p:spPr bwMode="auto">
            <a:xfrm>
              <a:off x="4032"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30" name="Rectangle 13"/>
            <p:cNvSpPr>
              <a:spLocks noChangeArrowheads="1"/>
            </p:cNvSpPr>
            <p:nvPr/>
          </p:nvSpPr>
          <p:spPr bwMode="auto">
            <a:xfrm>
              <a:off x="4224"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31" name="Rectangle 14"/>
            <p:cNvSpPr>
              <a:spLocks noChangeArrowheads="1"/>
            </p:cNvSpPr>
            <p:nvPr/>
          </p:nvSpPr>
          <p:spPr bwMode="auto">
            <a:xfrm>
              <a:off x="4416"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32" name="Rectangle 15"/>
            <p:cNvSpPr>
              <a:spLocks noChangeArrowheads="1"/>
            </p:cNvSpPr>
            <p:nvPr/>
          </p:nvSpPr>
          <p:spPr bwMode="auto">
            <a:xfrm>
              <a:off x="4608"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33" name="Rectangle 16"/>
            <p:cNvSpPr>
              <a:spLocks noChangeArrowheads="1"/>
            </p:cNvSpPr>
            <p:nvPr/>
          </p:nvSpPr>
          <p:spPr bwMode="auto">
            <a:xfrm>
              <a:off x="4800"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34" name="Rectangle 17"/>
            <p:cNvSpPr>
              <a:spLocks noChangeArrowheads="1"/>
            </p:cNvSpPr>
            <p:nvPr/>
          </p:nvSpPr>
          <p:spPr bwMode="auto">
            <a:xfrm>
              <a:off x="4992" y="2688"/>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35" name="Text Box 18"/>
            <p:cNvSpPr txBox="1">
              <a:spLocks noChangeArrowheads="1"/>
            </p:cNvSpPr>
            <p:nvPr/>
          </p:nvSpPr>
          <p:spPr bwMode="auto">
            <a:xfrm>
              <a:off x="269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0</a:t>
              </a:r>
            </a:p>
          </p:txBody>
        </p:sp>
        <p:sp>
          <p:nvSpPr>
            <p:cNvPr id="9236" name="Text Box 19"/>
            <p:cNvSpPr txBox="1">
              <a:spLocks noChangeArrowheads="1"/>
            </p:cNvSpPr>
            <p:nvPr/>
          </p:nvSpPr>
          <p:spPr bwMode="auto">
            <a:xfrm>
              <a:off x="288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1</a:t>
              </a:r>
            </a:p>
          </p:txBody>
        </p:sp>
        <p:sp>
          <p:nvSpPr>
            <p:cNvPr id="9237" name="Text Box 20"/>
            <p:cNvSpPr txBox="1">
              <a:spLocks noChangeArrowheads="1"/>
            </p:cNvSpPr>
            <p:nvPr/>
          </p:nvSpPr>
          <p:spPr bwMode="auto">
            <a:xfrm>
              <a:off x="307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2</a:t>
              </a:r>
            </a:p>
          </p:txBody>
        </p:sp>
        <p:sp>
          <p:nvSpPr>
            <p:cNvPr id="9238" name="Text Box 21"/>
            <p:cNvSpPr txBox="1">
              <a:spLocks noChangeArrowheads="1"/>
            </p:cNvSpPr>
            <p:nvPr/>
          </p:nvSpPr>
          <p:spPr bwMode="auto">
            <a:xfrm>
              <a:off x="326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3</a:t>
              </a:r>
            </a:p>
          </p:txBody>
        </p:sp>
        <p:sp>
          <p:nvSpPr>
            <p:cNvPr id="9239" name="Text Box 22"/>
            <p:cNvSpPr txBox="1">
              <a:spLocks noChangeArrowheads="1"/>
            </p:cNvSpPr>
            <p:nvPr/>
          </p:nvSpPr>
          <p:spPr bwMode="auto">
            <a:xfrm>
              <a:off x="345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4</a:t>
              </a:r>
            </a:p>
          </p:txBody>
        </p:sp>
        <p:sp>
          <p:nvSpPr>
            <p:cNvPr id="9240" name="Text Box 23"/>
            <p:cNvSpPr txBox="1">
              <a:spLocks noChangeArrowheads="1"/>
            </p:cNvSpPr>
            <p:nvPr/>
          </p:nvSpPr>
          <p:spPr bwMode="auto">
            <a:xfrm>
              <a:off x="364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5</a:t>
              </a:r>
            </a:p>
          </p:txBody>
        </p:sp>
        <p:sp>
          <p:nvSpPr>
            <p:cNvPr id="9241" name="Text Box 24"/>
            <p:cNvSpPr txBox="1">
              <a:spLocks noChangeArrowheads="1"/>
            </p:cNvSpPr>
            <p:nvPr/>
          </p:nvSpPr>
          <p:spPr bwMode="auto">
            <a:xfrm>
              <a:off x="383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6</a:t>
              </a:r>
            </a:p>
          </p:txBody>
        </p:sp>
        <p:sp>
          <p:nvSpPr>
            <p:cNvPr id="9242" name="Text Box 25"/>
            <p:cNvSpPr txBox="1">
              <a:spLocks noChangeArrowheads="1"/>
            </p:cNvSpPr>
            <p:nvPr/>
          </p:nvSpPr>
          <p:spPr bwMode="auto">
            <a:xfrm>
              <a:off x="402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7</a:t>
              </a:r>
            </a:p>
          </p:txBody>
        </p:sp>
        <p:sp>
          <p:nvSpPr>
            <p:cNvPr id="9243" name="Text Box 26"/>
            <p:cNvSpPr txBox="1">
              <a:spLocks noChangeArrowheads="1"/>
            </p:cNvSpPr>
            <p:nvPr/>
          </p:nvSpPr>
          <p:spPr bwMode="auto">
            <a:xfrm>
              <a:off x="421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8</a:t>
              </a:r>
            </a:p>
          </p:txBody>
        </p:sp>
        <p:sp>
          <p:nvSpPr>
            <p:cNvPr id="9244" name="Text Box 27"/>
            <p:cNvSpPr txBox="1">
              <a:spLocks noChangeArrowheads="1"/>
            </p:cNvSpPr>
            <p:nvPr/>
          </p:nvSpPr>
          <p:spPr bwMode="auto">
            <a:xfrm>
              <a:off x="4400" y="2856"/>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9</a:t>
              </a:r>
            </a:p>
          </p:txBody>
        </p:sp>
        <p:sp>
          <p:nvSpPr>
            <p:cNvPr id="9245" name="Text Box 28"/>
            <p:cNvSpPr txBox="1">
              <a:spLocks noChangeArrowheads="1"/>
            </p:cNvSpPr>
            <p:nvPr/>
          </p:nvSpPr>
          <p:spPr bwMode="auto">
            <a:xfrm>
              <a:off x="4554" y="2856"/>
              <a:ext cx="260" cy="231"/>
            </a:xfrm>
            <a:prstGeom prst="rect">
              <a:avLst/>
            </a:prstGeom>
            <a:noFill/>
            <a:ln w="19050">
              <a:noFill/>
              <a:miter lim="800000"/>
              <a:headEnd/>
              <a:tailEnd/>
            </a:ln>
          </p:spPr>
          <p:txBody>
            <a:bodyPr wrap="none">
              <a:spAutoFit/>
            </a:bodyPr>
            <a:lstStyle/>
            <a:p>
              <a:pPr algn="ctr"/>
              <a:r>
                <a:rPr lang="en-US" sz="1800">
                  <a:latin typeface="Times New Roman" pitchFamily="18" charset="0"/>
                </a:rPr>
                <a:t>10</a:t>
              </a:r>
            </a:p>
          </p:txBody>
        </p:sp>
        <p:sp>
          <p:nvSpPr>
            <p:cNvPr id="9246" name="Text Box 29"/>
            <p:cNvSpPr txBox="1">
              <a:spLocks noChangeArrowheads="1"/>
            </p:cNvSpPr>
            <p:nvPr/>
          </p:nvSpPr>
          <p:spPr bwMode="auto">
            <a:xfrm>
              <a:off x="4744" y="2856"/>
              <a:ext cx="260" cy="231"/>
            </a:xfrm>
            <a:prstGeom prst="rect">
              <a:avLst/>
            </a:prstGeom>
            <a:noFill/>
            <a:ln w="19050">
              <a:noFill/>
              <a:miter lim="800000"/>
              <a:headEnd/>
              <a:tailEnd/>
            </a:ln>
          </p:spPr>
          <p:txBody>
            <a:bodyPr wrap="none">
              <a:spAutoFit/>
            </a:bodyPr>
            <a:lstStyle/>
            <a:p>
              <a:pPr algn="ctr"/>
              <a:r>
                <a:rPr lang="en-US" sz="1800">
                  <a:latin typeface="Times New Roman" pitchFamily="18" charset="0"/>
                </a:rPr>
                <a:t>11</a:t>
              </a:r>
            </a:p>
          </p:txBody>
        </p:sp>
        <p:sp>
          <p:nvSpPr>
            <p:cNvPr id="9247" name="Text Box 30"/>
            <p:cNvSpPr txBox="1">
              <a:spLocks noChangeArrowheads="1"/>
            </p:cNvSpPr>
            <p:nvPr/>
          </p:nvSpPr>
          <p:spPr bwMode="auto">
            <a:xfrm>
              <a:off x="4934" y="2856"/>
              <a:ext cx="260" cy="231"/>
            </a:xfrm>
            <a:prstGeom prst="rect">
              <a:avLst/>
            </a:prstGeom>
            <a:noFill/>
            <a:ln w="19050">
              <a:noFill/>
              <a:miter lim="800000"/>
              <a:headEnd/>
              <a:tailEnd/>
            </a:ln>
          </p:spPr>
          <p:txBody>
            <a:bodyPr wrap="none">
              <a:spAutoFit/>
            </a:bodyPr>
            <a:lstStyle/>
            <a:p>
              <a:pPr algn="ctr"/>
              <a:r>
                <a:rPr lang="en-US" sz="1800">
                  <a:latin typeface="Times New Roman" pitchFamily="18" charset="0"/>
                </a:rPr>
                <a:t>12</a:t>
              </a:r>
            </a:p>
          </p:txBody>
        </p:sp>
        <p:sp>
          <p:nvSpPr>
            <p:cNvPr id="9248" name="Rectangle 31"/>
            <p:cNvSpPr>
              <a:spLocks noChangeArrowheads="1"/>
            </p:cNvSpPr>
            <p:nvPr/>
          </p:nvSpPr>
          <p:spPr bwMode="auto">
            <a:xfrm>
              <a:off x="2688"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31</a:t>
              </a:r>
            </a:p>
          </p:txBody>
        </p:sp>
        <p:sp>
          <p:nvSpPr>
            <p:cNvPr id="9249" name="Rectangle 32"/>
            <p:cNvSpPr>
              <a:spLocks noChangeArrowheads="1"/>
            </p:cNvSpPr>
            <p:nvPr/>
          </p:nvSpPr>
          <p:spPr bwMode="auto">
            <a:xfrm>
              <a:off x="2880"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50" name="Rectangle 33"/>
            <p:cNvSpPr>
              <a:spLocks noChangeArrowheads="1"/>
            </p:cNvSpPr>
            <p:nvPr/>
          </p:nvSpPr>
          <p:spPr bwMode="auto">
            <a:xfrm>
              <a:off x="3072"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41</a:t>
              </a:r>
            </a:p>
          </p:txBody>
        </p:sp>
        <p:sp>
          <p:nvSpPr>
            <p:cNvPr id="9251" name="Rectangle 34"/>
            <p:cNvSpPr>
              <a:spLocks noChangeArrowheads="1"/>
            </p:cNvSpPr>
            <p:nvPr/>
          </p:nvSpPr>
          <p:spPr bwMode="auto">
            <a:xfrm>
              <a:off x="3264"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52" name="Rectangle 35"/>
            <p:cNvSpPr>
              <a:spLocks noChangeArrowheads="1"/>
            </p:cNvSpPr>
            <p:nvPr/>
          </p:nvSpPr>
          <p:spPr bwMode="auto">
            <a:xfrm>
              <a:off x="3456"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53" name="Rectangle 36"/>
            <p:cNvSpPr>
              <a:spLocks noChangeArrowheads="1"/>
            </p:cNvSpPr>
            <p:nvPr/>
          </p:nvSpPr>
          <p:spPr bwMode="auto">
            <a:xfrm>
              <a:off x="3648"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18</a:t>
              </a:r>
            </a:p>
          </p:txBody>
        </p:sp>
        <p:sp>
          <p:nvSpPr>
            <p:cNvPr id="9254" name="Rectangle 37"/>
            <p:cNvSpPr>
              <a:spLocks noChangeArrowheads="1"/>
            </p:cNvSpPr>
            <p:nvPr/>
          </p:nvSpPr>
          <p:spPr bwMode="auto">
            <a:xfrm>
              <a:off x="3840"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32</a:t>
              </a:r>
            </a:p>
          </p:txBody>
        </p:sp>
        <p:sp>
          <p:nvSpPr>
            <p:cNvPr id="9255" name="Rectangle 38"/>
            <p:cNvSpPr>
              <a:spLocks noChangeArrowheads="1"/>
            </p:cNvSpPr>
            <p:nvPr/>
          </p:nvSpPr>
          <p:spPr bwMode="auto">
            <a:xfrm>
              <a:off x="4032"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59</a:t>
              </a:r>
            </a:p>
          </p:txBody>
        </p:sp>
        <p:sp>
          <p:nvSpPr>
            <p:cNvPr id="9256" name="Rectangle 39"/>
            <p:cNvSpPr>
              <a:spLocks noChangeArrowheads="1"/>
            </p:cNvSpPr>
            <p:nvPr/>
          </p:nvSpPr>
          <p:spPr bwMode="auto">
            <a:xfrm>
              <a:off x="4224"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73</a:t>
              </a:r>
            </a:p>
          </p:txBody>
        </p:sp>
        <p:sp>
          <p:nvSpPr>
            <p:cNvPr id="9257" name="Rectangle 40"/>
            <p:cNvSpPr>
              <a:spLocks noChangeArrowheads="1"/>
            </p:cNvSpPr>
            <p:nvPr/>
          </p:nvSpPr>
          <p:spPr bwMode="auto">
            <a:xfrm>
              <a:off x="4416"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22</a:t>
              </a:r>
            </a:p>
          </p:txBody>
        </p:sp>
        <p:sp>
          <p:nvSpPr>
            <p:cNvPr id="9258" name="Rectangle 41"/>
            <p:cNvSpPr>
              <a:spLocks noChangeArrowheads="1"/>
            </p:cNvSpPr>
            <p:nvPr/>
          </p:nvSpPr>
          <p:spPr bwMode="auto">
            <a:xfrm>
              <a:off x="4608"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44</a:t>
              </a:r>
            </a:p>
          </p:txBody>
        </p:sp>
        <p:sp>
          <p:nvSpPr>
            <p:cNvPr id="9259" name="Rectangle 42"/>
            <p:cNvSpPr>
              <a:spLocks noChangeArrowheads="1"/>
            </p:cNvSpPr>
            <p:nvPr/>
          </p:nvSpPr>
          <p:spPr bwMode="auto">
            <a:xfrm>
              <a:off x="4800" y="3456"/>
              <a:ext cx="192" cy="192"/>
            </a:xfrm>
            <a:prstGeom prst="rect">
              <a:avLst/>
            </a:prstGeom>
            <a:solidFill>
              <a:schemeClr val="accent1"/>
            </a:solidFill>
            <a:ln w="19050">
              <a:solidFill>
                <a:schemeClr val="tx1"/>
              </a:solidFill>
              <a:miter lim="800000"/>
              <a:headEnd/>
              <a:tailEnd/>
            </a:ln>
          </p:spPr>
          <p:txBody>
            <a:bodyPr wrap="none" anchor="ctr"/>
            <a:lstStyle/>
            <a:p>
              <a:pPr algn="ctr"/>
              <a:endParaRPr lang="en-US" sz="1800"/>
            </a:p>
          </p:txBody>
        </p:sp>
        <p:sp>
          <p:nvSpPr>
            <p:cNvPr id="9260" name="Rectangle 43"/>
            <p:cNvSpPr>
              <a:spLocks noChangeArrowheads="1"/>
            </p:cNvSpPr>
            <p:nvPr/>
          </p:nvSpPr>
          <p:spPr bwMode="auto">
            <a:xfrm>
              <a:off x="4992" y="3456"/>
              <a:ext cx="192" cy="192"/>
            </a:xfrm>
            <a:prstGeom prst="rect">
              <a:avLst/>
            </a:prstGeom>
            <a:solidFill>
              <a:schemeClr val="accent1"/>
            </a:solidFill>
            <a:ln w="19050">
              <a:solidFill>
                <a:schemeClr val="tx1"/>
              </a:solidFill>
              <a:miter lim="800000"/>
              <a:headEnd/>
              <a:tailEnd/>
            </a:ln>
          </p:spPr>
          <p:txBody>
            <a:bodyPr wrap="none" anchor="ctr"/>
            <a:lstStyle/>
            <a:p>
              <a:pPr algn="ctr"/>
              <a:r>
                <a:rPr lang="en-US" sz="1800"/>
                <a:t> </a:t>
              </a:r>
            </a:p>
          </p:txBody>
        </p:sp>
        <p:sp>
          <p:nvSpPr>
            <p:cNvPr id="9261" name="Text Box 44"/>
            <p:cNvSpPr txBox="1">
              <a:spLocks noChangeArrowheads="1"/>
            </p:cNvSpPr>
            <p:nvPr/>
          </p:nvSpPr>
          <p:spPr bwMode="auto">
            <a:xfrm>
              <a:off x="269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0</a:t>
              </a:r>
            </a:p>
          </p:txBody>
        </p:sp>
        <p:sp>
          <p:nvSpPr>
            <p:cNvPr id="9262" name="Text Box 45"/>
            <p:cNvSpPr txBox="1">
              <a:spLocks noChangeArrowheads="1"/>
            </p:cNvSpPr>
            <p:nvPr/>
          </p:nvSpPr>
          <p:spPr bwMode="auto">
            <a:xfrm>
              <a:off x="288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1</a:t>
              </a:r>
            </a:p>
          </p:txBody>
        </p:sp>
        <p:sp>
          <p:nvSpPr>
            <p:cNvPr id="9263" name="Text Box 46"/>
            <p:cNvSpPr txBox="1">
              <a:spLocks noChangeArrowheads="1"/>
            </p:cNvSpPr>
            <p:nvPr/>
          </p:nvSpPr>
          <p:spPr bwMode="auto">
            <a:xfrm>
              <a:off x="307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2</a:t>
              </a:r>
            </a:p>
          </p:txBody>
        </p:sp>
        <p:sp>
          <p:nvSpPr>
            <p:cNvPr id="9264" name="Text Box 47"/>
            <p:cNvSpPr txBox="1">
              <a:spLocks noChangeArrowheads="1"/>
            </p:cNvSpPr>
            <p:nvPr/>
          </p:nvSpPr>
          <p:spPr bwMode="auto">
            <a:xfrm>
              <a:off x="326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3</a:t>
              </a:r>
            </a:p>
          </p:txBody>
        </p:sp>
        <p:sp>
          <p:nvSpPr>
            <p:cNvPr id="9265" name="Text Box 48"/>
            <p:cNvSpPr txBox="1">
              <a:spLocks noChangeArrowheads="1"/>
            </p:cNvSpPr>
            <p:nvPr/>
          </p:nvSpPr>
          <p:spPr bwMode="auto">
            <a:xfrm>
              <a:off x="345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4</a:t>
              </a:r>
            </a:p>
          </p:txBody>
        </p:sp>
        <p:sp>
          <p:nvSpPr>
            <p:cNvPr id="9266" name="Text Box 49"/>
            <p:cNvSpPr txBox="1">
              <a:spLocks noChangeArrowheads="1"/>
            </p:cNvSpPr>
            <p:nvPr/>
          </p:nvSpPr>
          <p:spPr bwMode="auto">
            <a:xfrm>
              <a:off x="364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5</a:t>
              </a:r>
            </a:p>
          </p:txBody>
        </p:sp>
        <p:sp>
          <p:nvSpPr>
            <p:cNvPr id="9267" name="Text Box 50"/>
            <p:cNvSpPr txBox="1">
              <a:spLocks noChangeArrowheads="1"/>
            </p:cNvSpPr>
            <p:nvPr/>
          </p:nvSpPr>
          <p:spPr bwMode="auto">
            <a:xfrm>
              <a:off x="383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6</a:t>
              </a:r>
            </a:p>
          </p:txBody>
        </p:sp>
        <p:sp>
          <p:nvSpPr>
            <p:cNvPr id="9268" name="Text Box 51"/>
            <p:cNvSpPr txBox="1">
              <a:spLocks noChangeArrowheads="1"/>
            </p:cNvSpPr>
            <p:nvPr/>
          </p:nvSpPr>
          <p:spPr bwMode="auto">
            <a:xfrm>
              <a:off x="402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7</a:t>
              </a:r>
            </a:p>
          </p:txBody>
        </p:sp>
        <p:sp>
          <p:nvSpPr>
            <p:cNvPr id="9269" name="Text Box 52"/>
            <p:cNvSpPr txBox="1">
              <a:spLocks noChangeArrowheads="1"/>
            </p:cNvSpPr>
            <p:nvPr/>
          </p:nvSpPr>
          <p:spPr bwMode="auto">
            <a:xfrm>
              <a:off x="421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8</a:t>
              </a:r>
            </a:p>
          </p:txBody>
        </p:sp>
        <p:sp>
          <p:nvSpPr>
            <p:cNvPr id="9270" name="Text Box 53"/>
            <p:cNvSpPr txBox="1">
              <a:spLocks noChangeArrowheads="1"/>
            </p:cNvSpPr>
            <p:nvPr/>
          </p:nvSpPr>
          <p:spPr bwMode="auto">
            <a:xfrm>
              <a:off x="4400" y="3624"/>
              <a:ext cx="188" cy="231"/>
            </a:xfrm>
            <a:prstGeom prst="rect">
              <a:avLst/>
            </a:prstGeom>
            <a:noFill/>
            <a:ln w="19050">
              <a:noFill/>
              <a:miter lim="800000"/>
              <a:headEnd/>
              <a:tailEnd/>
            </a:ln>
          </p:spPr>
          <p:txBody>
            <a:bodyPr wrap="none">
              <a:spAutoFit/>
            </a:bodyPr>
            <a:lstStyle/>
            <a:p>
              <a:pPr algn="ctr"/>
              <a:r>
                <a:rPr lang="en-US" sz="1800">
                  <a:latin typeface="Times New Roman" pitchFamily="18" charset="0"/>
                </a:rPr>
                <a:t>9</a:t>
              </a:r>
            </a:p>
          </p:txBody>
        </p:sp>
        <p:sp>
          <p:nvSpPr>
            <p:cNvPr id="9271" name="Text Box 54"/>
            <p:cNvSpPr txBox="1">
              <a:spLocks noChangeArrowheads="1"/>
            </p:cNvSpPr>
            <p:nvPr/>
          </p:nvSpPr>
          <p:spPr bwMode="auto">
            <a:xfrm>
              <a:off x="4554" y="3624"/>
              <a:ext cx="260" cy="231"/>
            </a:xfrm>
            <a:prstGeom prst="rect">
              <a:avLst/>
            </a:prstGeom>
            <a:noFill/>
            <a:ln w="19050">
              <a:noFill/>
              <a:miter lim="800000"/>
              <a:headEnd/>
              <a:tailEnd/>
            </a:ln>
          </p:spPr>
          <p:txBody>
            <a:bodyPr wrap="none">
              <a:spAutoFit/>
            </a:bodyPr>
            <a:lstStyle/>
            <a:p>
              <a:pPr algn="ctr"/>
              <a:r>
                <a:rPr lang="en-US" sz="1800">
                  <a:latin typeface="Times New Roman" pitchFamily="18" charset="0"/>
                </a:rPr>
                <a:t>10</a:t>
              </a:r>
            </a:p>
          </p:txBody>
        </p:sp>
        <p:sp>
          <p:nvSpPr>
            <p:cNvPr id="9272" name="Text Box 55"/>
            <p:cNvSpPr txBox="1">
              <a:spLocks noChangeArrowheads="1"/>
            </p:cNvSpPr>
            <p:nvPr/>
          </p:nvSpPr>
          <p:spPr bwMode="auto">
            <a:xfrm>
              <a:off x="4744" y="3624"/>
              <a:ext cx="260" cy="231"/>
            </a:xfrm>
            <a:prstGeom prst="rect">
              <a:avLst/>
            </a:prstGeom>
            <a:noFill/>
            <a:ln w="19050">
              <a:noFill/>
              <a:miter lim="800000"/>
              <a:headEnd/>
              <a:tailEnd/>
            </a:ln>
          </p:spPr>
          <p:txBody>
            <a:bodyPr wrap="none">
              <a:spAutoFit/>
            </a:bodyPr>
            <a:lstStyle/>
            <a:p>
              <a:pPr algn="ctr"/>
              <a:r>
                <a:rPr lang="en-US" sz="1800">
                  <a:latin typeface="Times New Roman" pitchFamily="18" charset="0"/>
                </a:rPr>
                <a:t>11</a:t>
              </a:r>
            </a:p>
          </p:txBody>
        </p:sp>
        <p:sp>
          <p:nvSpPr>
            <p:cNvPr id="9273" name="Text Box 56"/>
            <p:cNvSpPr txBox="1">
              <a:spLocks noChangeArrowheads="1"/>
            </p:cNvSpPr>
            <p:nvPr/>
          </p:nvSpPr>
          <p:spPr bwMode="auto">
            <a:xfrm>
              <a:off x="4934" y="3624"/>
              <a:ext cx="260" cy="231"/>
            </a:xfrm>
            <a:prstGeom prst="rect">
              <a:avLst/>
            </a:prstGeom>
            <a:noFill/>
            <a:ln w="19050">
              <a:noFill/>
              <a:miter lim="800000"/>
              <a:headEnd/>
              <a:tailEnd/>
            </a:ln>
          </p:spPr>
          <p:txBody>
            <a:bodyPr wrap="none">
              <a:spAutoFit/>
            </a:bodyPr>
            <a:lstStyle/>
            <a:p>
              <a:pPr algn="ctr"/>
              <a:r>
                <a:rPr lang="en-US" sz="1800">
                  <a:latin typeface="Times New Roman" pitchFamily="18" charset="0"/>
                </a:rPr>
                <a:t>12</a:t>
              </a:r>
            </a:p>
          </p:txBody>
        </p:sp>
        <p:sp>
          <p:nvSpPr>
            <p:cNvPr id="9274" name="AutoShape 57"/>
            <p:cNvSpPr>
              <a:spLocks noChangeArrowheads="1"/>
            </p:cNvSpPr>
            <p:nvPr/>
          </p:nvSpPr>
          <p:spPr bwMode="auto">
            <a:xfrm>
              <a:off x="3840" y="3120"/>
              <a:ext cx="192" cy="192"/>
            </a:xfrm>
            <a:prstGeom prst="downArrow">
              <a:avLst>
                <a:gd name="adj1" fmla="val 50000"/>
                <a:gd name="adj2" fmla="val 25000"/>
              </a:avLst>
            </a:prstGeom>
            <a:noFill/>
            <a:ln w="28575">
              <a:solidFill>
                <a:schemeClr val="tx1"/>
              </a:solidFill>
              <a:miter lim="800000"/>
              <a:headEnd/>
              <a:tailEnd/>
            </a:ln>
          </p:spPr>
          <p:txBody>
            <a:bodyPr wrap="none" anchor="ctr"/>
            <a:lstStyle/>
            <a:p>
              <a:endParaRPr lang="en-US"/>
            </a:p>
          </p:txBody>
        </p:sp>
        <p:graphicFrame>
          <p:nvGraphicFramePr>
            <p:cNvPr id="9218" name="Object 2"/>
            <p:cNvGraphicFramePr>
              <a:graphicFrameLocks noChangeAspect="1"/>
            </p:cNvGraphicFramePr>
            <p:nvPr/>
          </p:nvGraphicFramePr>
          <p:xfrm>
            <a:off x="2976" y="1056"/>
            <a:ext cx="1848" cy="1452"/>
          </p:xfrm>
          <a:graphic>
            <a:graphicData uri="http://schemas.openxmlformats.org/presentationml/2006/ole">
              <mc:AlternateContent xmlns:mc="http://schemas.openxmlformats.org/markup-compatibility/2006">
                <mc:Choice xmlns:v="urn:schemas-microsoft-com:vml" Requires="v">
                  <p:oleObj spid="_x0000_s9275" name="Worksheet" r:id="rId4" imgW="2772000" imgH="2041920" progId="Excel.Sheet.8">
                    <p:embed/>
                  </p:oleObj>
                </mc:Choice>
                <mc:Fallback>
                  <p:oleObj name="Worksheet" r:id="rId4" imgW="2772000" imgH="2041920" progId="Excel.Shee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6" y="1056"/>
                          <a:ext cx="1848" cy="1452"/>
                        </a:xfrm>
                        <a:prstGeom prst="rect">
                          <a:avLst/>
                        </a:prstGeom>
                        <a:solidFill>
                          <a:schemeClr val="bg1"/>
                        </a:solidFill>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2" name="Slide Number Placeholder 1"/>
          <p:cNvSpPr>
            <a:spLocks noGrp="1"/>
          </p:cNvSpPr>
          <p:nvPr>
            <p:ph type="sldNum" sz="quarter" idx="11"/>
          </p:nvPr>
        </p:nvSpPr>
        <p:spPr/>
        <p:txBody>
          <a:bodyPr/>
          <a:lstStyle/>
          <a:p>
            <a:pPr>
              <a:defRPr/>
            </a:pPr>
            <a:r>
              <a:rPr lang="en-US" smtClean="0"/>
              <a:t>1.</a:t>
            </a:r>
            <a:fld id="{50F84170-E2CC-4E36-9A4A-D21A558F7FE9}" type="slidenum">
              <a:rPr lang="en-US" smtClean="0"/>
              <a:pPr>
                <a:defRPr/>
              </a:pPr>
              <a:t>37</a:t>
            </a:fld>
            <a:endParaRPr lang="en-US"/>
          </a:p>
        </p:txBody>
      </p:sp>
    </p:spTree>
  </p:cSld>
  <p:clrMapOvr>
    <a:masterClrMapping/>
  </p:clrMapOvr>
  <p:transition>
    <p:cu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ea typeface="ＭＳ Ｐゴシック" pitchFamily="-107" charset="-128"/>
              </a:rPr>
              <a:t>Dynamic Hash Tables</a:t>
            </a:r>
          </a:p>
        </p:txBody>
      </p:sp>
      <p:sp>
        <p:nvSpPr>
          <p:cNvPr id="454659" name="Rectangle 3"/>
          <p:cNvSpPr>
            <a:spLocks noGrp="1" noChangeArrowheads="1"/>
          </p:cNvSpPr>
          <p:nvPr>
            <p:ph type="body" idx="1"/>
          </p:nvPr>
        </p:nvSpPr>
        <p:spPr/>
        <p:txBody>
          <a:bodyPr/>
          <a:lstStyle/>
          <a:p>
            <a:pPr eaLnBrk="1" hangingPunct="1"/>
            <a:r>
              <a:rPr lang="en-US" sz="2400" smtClean="0">
                <a:ea typeface="ＭＳ Ｐゴシック" pitchFamily="-107" charset="-128"/>
              </a:rPr>
              <a:t>Suppose you are making a symbol table for a compiler.  How big should you make the hash table?</a:t>
            </a:r>
          </a:p>
          <a:p>
            <a:pPr eaLnBrk="1" hangingPunct="1"/>
            <a:r>
              <a:rPr lang="en-US" sz="2400" smtClean="0">
                <a:ea typeface="ＭＳ Ｐゴシック" pitchFamily="-107" charset="-128"/>
              </a:rPr>
              <a:t>If you don</a:t>
            </a:r>
            <a:r>
              <a:rPr lang="ja-JP" altLang="en-US" sz="2400" smtClean="0">
                <a:ea typeface="ＭＳ Ｐゴシック" pitchFamily="-107" charset="-128"/>
              </a:rPr>
              <a:t>’</a:t>
            </a:r>
            <a:r>
              <a:rPr lang="en-US" altLang="ja-JP" sz="2400" smtClean="0">
                <a:ea typeface="ＭＳ Ｐゴシック" pitchFamily="-107" charset="-128"/>
              </a:rPr>
              <a:t>t know in advance how big a table to make, what to do?</a:t>
            </a:r>
          </a:p>
          <a:p>
            <a:pPr eaLnBrk="1" hangingPunct="1"/>
            <a:endParaRPr lang="en-US" sz="2400" smtClean="0">
              <a:ea typeface="ＭＳ Ｐゴシック" pitchFamily="-107" charset="-128"/>
            </a:endParaRPr>
          </a:p>
          <a:p>
            <a:pPr eaLnBrk="1" hangingPunct="1"/>
            <a:r>
              <a:rPr lang="en-US" sz="2400" smtClean="0">
                <a:ea typeface="ＭＳ Ｐゴシック" pitchFamily="-107" charset="-128"/>
              </a:rPr>
              <a:t>Could </a:t>
            </a:r>
            <a:r>
              <a:rPr lang="en-US" sz="2400" i="1" smtClean="0">
                <a:ea typeface="ＭＳ Ｐゴシック" pitchFamily="-107" charset="-128"/>
              </a:rPr>
              <a:t>grow</a:t>
            </a:r>
            <a:r>
              <a:rPr lang="en-US" sz="2400" smtClean="0">
                <a:ea typeface="ＭＳ Ｐゴシック" pitchFamily="-107" charset="-128"/>
              </a:rPr>
              <a:t> the table when it </a:t>
            </a:r>
            <a:r>
              <a:rPr lang="ja-JP" altLang="en-US" sz="2400" smtClean="0">
                <a:ea typeface="ＭＳ Ｐゴシック" pitchFamily="-107" charset="-128"/>
              </a:rPr>
              <a:t>“</a:t>
            </a:r>
            <a:r>
              <a:rPr lang="en-US" altLang="ja-JP" sz="2400" smtClean="0">
                <a:ea typeface="ＭＳ Ｐゴシック" pitchFamily="-107" charset="-128"/>
              </a:rPr>
              <a:t>fills</a:t>
            </a:r>
            <a:r>
              <a:rPr lang="ja-JP" altLang="en-US" sz="2400" smtClean="0">
                <a:ea typeface="ＭＳ Ｐゴシック" pitchFamily="-107" charset="-128"/>
              </a:rPr>
              <a:t>”</a:t>
            </a:r>
            <a:r>
              <a:rPr lang="en-US" altLang="ja-JP" sz="2400" smtClean="0">
                <a:ea typeface="ＭＳ Ｐゴシック" pitchFamily="-107" charset="-128"/>
              </a:rPr>
              <a:t> (e.g. 50% full)</a:t>
            </a:r>
          </a:p>
          <a:p>
            <a:pPr eaLnBrk="1" hangingPunct="1"/>
            <a:r>
              <a:rPr lang="en-US" sz="2400" smtClean="0">
                <a:ea typeface="ＭＳ Ｐゴシック" pitchFamily="-107" charset="-128"/>
              </a:rPr>
              <a:t>Make a new table of twice the size.</a:t>
            </a:r>
          </a:p>
          <a:p>
            <a:pPr eaLnBrk="1" hangingPunct="1"/>
            <a:r>
              <a:rPr lang="en-US" sz="2400" smtClean="0">
                <a:ea typeface="ＭＳ Ｐゴシック" pitchFamily="-107" charset="-128"/>
              </a:rPr>
              <a:t>Make a new hash function</a:t>
            </a:r>
          </a:p>
          <a:p>
            <a:pPr eaLnBrk="1" hangingPunct="1"/>
            <a:r>
              <a:rPr lang="en-US" sz="2400" smtClean="0">
                <a:ea typeface="ＭＳ Ｐゴシック" pitchFamily="-107" charset="-128"/>
              </a:rPr>
              <a:t>Re-hash all of the items in the new table</a:t>
            </a:r>
          </a:p>
          <a:p>
            <a:pPr eaLnBrk="1" hangingPunct="1"/>
            <a:r>
              <a:rPr lang="en-US" sz="2400" smtClean="0">
                <a:ea typeface="ＭＳ Ｐゴシック" pitchFamily="-107" charset="-128"/>
              </a:rPr>
              <a:t>Dispose of the old table</a:t>
            </a:r>
          </a:p>
        </p:txBody>
      </p:sp>
      <p:sp>
        <p:nvSpPr>
          <p:cNvPr id="2" name="Slide Number Placeholder 1"/>
          <p:cNvSpPr>
            <a:spLocks noGrp="1"/>
          </p:cNvSpPr>
          <p:nvPr>
            <p:ph type="sldNum" sz="quarter" idx="11"/>
          </p:nvPr>
        </p:nvSpPr>
        <p:spPr/>
        <p:txBody>
          <a:bodyPr/>
          <a:lstStyle/>
          <a:p>
            <a:pPr>
              <a:defRPr/>
            </a:pPr>
            <a:r>
              <a:rPr lang="en-US" smtClean="0"/>
              <a:t>1.</a:t>
            </a:r>
            <a:fld id="{50F84170-E2CC-4E36-9A4A-D21A558F7FE9}" type="slidenum">
              <a:rPr lang="en-US" smtClean="0"/>
              <a:pPr>
                <a:defRPr/>
              </a:pPr>
              <a:t>38</a:t>
            </a:fld>
            <a:endParaRPr 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46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46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465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465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465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54659">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546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59"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ea typeface="ＭＳ Ｐゴシック" pitchFamily="-107" charset="-128"/>
              </a:rPr>
              <a:t>Table Growing Analysis</a:t>
            </a:r>
          </a:p>
        </p:txBody>
      </p:sp>
      <p:sp>
        <p:nvSpPr>
          <p:cNvPr id="455683" name="Rectangle 3"/>
          <p:cNvSpPr>
            <a:spLocks noGrp="1" noChangeArrowheads="1"/>
          </p:cNvSpPr>
          <p:nvPr>
            <p:ph type="body" idx="1"/>
          </p:nvPr>
        </p:nvSpPr>
        <p:spPr/>
        <p:txBody>
          <a:bodyPr/>
          <a:lstStyle/>
          <a:p>
            <a:pPr eaLnBrk="1" hangingPunct="1"/>
            <a:r>
              <a:rPr lang="en-US" sz="2400" smtClean="0">
                <a:ea typeface="ＭＳ Ｐゴシック" pitchFamily="-107" charset="-128"/>
              </a:rPr>
              <a:t>Worst case insertion: </a:t>
            </a:r>
            <a:r>
              <a:rPr lang="en-US" sz="2400" smtClean="0">
                <a:latin typeface="Symbol" pitchFamily="-107" charset="2"/>
                <a:ea typeface="ＭＳ Ｐゴシック" pitchFamily="-107" charset="-128"/>
              </a:rPr>
              <a:t>Q</a:t>
            </a:r>
            <a:r>
              <a:rPr lang="en-US" sz="2400" smtClean="0">
                <a:ea typeface="ＭＳ Ｐゴシック" pitchFamily="-107" charset="-128"/>
              </a:rPr>
              <a:t>(n), to re-hash all items</a:t>
            </a:r>
          </a:p>
          <a:p>
            <a:pPr eaLnBrk="1" hangingPunct="1"/>
            <a:r>
              <a:rPr lang="en-US" sz="2400" smtClean="0">
                <a:ea typeface="ＭＳ Ｐゴシック" pitchFamily="-107" charset="-128"/>
              </a:rPr>
              <a:t>Can we make any better statements?</a:t>
            </a:r>
          </a:p>
          <a:p>
            <a:pPr eaLnBrk="1" hangingPunct="1"/>
            <a:r>
              <a:rPr lang="en-US" sz="2400" smtClean="0">
                <a:ea typeface="ＭＳ Ｐゴシック" pitchFamily="-107" charset="-128"/>
              </a:rPr>
              <a:t>Average case?</a:t>
            </a:r>
          </a:p>
          <a:p>
            <a:pPr lvl="1" eaLnBrk="1" hangingPunct="1"/>
            <a:r>
              <a:rPr lang="en-US" sz="2000" smtClean="0">
                <a:ea typeface="ＭＳ Ｐゴシック" pitchFamily="-107" charset="-128"/>
              </a:rPr>
              <a:t>O(1), since insertions n through 2n cost O(n) (on average) for insertions and O(2n) (on average) for rehashing </a:t>
            </a:r>
            <a:r>
              <a:rPr lang="en-US" sz="2000" smtClean="0">
                <a:ea typeface="ＭＳ Ｐゴシック" pitchFamily="-107" charset="-128"/>
                <a:sym typeface="Wingdings" pitchFamily="-107" charset="2"/>
              </a:rPr>
              <a:t> O(n) total (with 3x the constant)</a:t>
            </a:r>
          </a:p>
          <a:p>
            <a:pPr eaLnBrk="1" hangingPunct="1"/>
            <a:r>
              <a:rPr lang="en-US" sz="2400" smtClean="0">
                <a:ea typeface="ＭＳ Ｐゴシック" pitchFamily="-107" charset="-128"/>
              </a:rPr>
              <a:t>Amortized analysis?</a:t>
            </a:r>
          </a:p>
          <a:p>
            <a:pPr lvl="1" eaLnBrk="1" hangingPunct="1"/>
            <a:r>
              <a:rPr lang="en-US" sz="2000" smtClean="0">
                <a:ea typeface="ＭＳ Ｐゴシック" pitchFamily="-107" charset="-128"/>
              </a:rPr>
              <a:t>The result above is actually an amortized result for the rehashing.</a:t>
            </a:r>
          </a:p>
          <a:p>
            <a:pPr lvl="1" eaLnBrk="1" hangingPunct="1"/>
            <a:r>
              <a:rPr lang="en-US" sz="2000" smtClean="0">
                <a:ea typeface="ＭＳ Ｐゴシック" pitchFamily="-107" charset="-128"/>
              </a:rPr>
              <a:t>Any sequence of j insertions into an empty table has O(j) average cost for insertions and O(2j) for rehashing.</a:t>
            </a:r>
          </a:p>
          <a:p>
            <a:pPr lvl="1" eaLnBrk="1" hangingPunct="1"/>
            <a:r>
              <a:rPr lang="en-US" sz="2000" smtClean="0">
                <a:ea typeface="ＭＳ Ｐゴシック" pitchFamily="-107" charset="-128"/>
              </a:rPr>
              <a:t>Or, think of it as billing 3 time units for each insertion, storing 2 in the bank.  Withdraw them later for rehashing.</a:t>
            </a:r>
          </a:p>
        </p:txBody>
      </p:sp>
      <p:sp>
        <p:nvSpPr>
          <p:cNvPr id="2" name="Slide Number Placeholder 1"/>
          <p:cNvSpPr>
            <a:spLocks noGrp="1"/>
          </p:cNvSpPr>
          <p:nvPr>
            <p:ph type="sldNum" sz="quarter" idx="11"/>
          </p:nvPr>
        </p:nvSpPr>
        <p:spPr/>
        <p:txBody>
          <a:bodyPr/>
          <a:lstStyle/>
          <a:p>
            <a:pPr>
              <a:defRPr/>
            </a:pPr>
            <a:r>
              <a:rPr lang="en-US" smtClean="0"/>
              <a:t>1.</a:t>
            </a:r>
            <a:fld id="{50F84170-E2CC-4E36-9A4A-D21A558F7FE9}" type="slidenum">
              <a:rPr lang="en-US" smtClean="0"/>
              <a:pPr>
                <a:defRPr/>
              </a:pPr>
              <a:t>39</a:t>
            </a:fld>
            <a:endParaRPr 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56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56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568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568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568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5568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5568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556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3" grpId="0" build="p" bldLvl="2"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ea typeface="ＭＳ Ｐゴシック" pitchFamily="-107" charset="-128"/>
              </a:rPr>
              <a:t>Separate Chaining vs.</a:t>
            </a:r>
            <a:br>
              <a:rPr lang="en-US" smtClean="0">
                <a:ea typeface="ＭＳ Ｐゴシック" pitchFamily="-107" charset="-128"/>
              </a:rPr>
            </a:br>
            <a:r>
              <a:rPr lang="en-US" smtClean="0">
                <a:ea typeface="ＭＳ Ｐゴシック" pitchFamily="-107" charset="-128"/>
              </a:rPr>
              <a:t>Double Hashing</a:t>
            </a:r>
          </a:p>
        </p:txBody>
      </p:sp>
      <p:sp>
        <p:nvSpPr>
          <p:cNvPr id="456707" name="Rectangle 3"/>
          <p:cNvSpPr>
            <a:spLocks noGrp="1" noChangeArrowheads="1"/>
          </p:cNvSpPr>
          <p:nvPr>
            <p:ph type="body" idx="1"/>
          </p:nvPr>
        </p:nvSpPr>
        <p:spPr/>
        <p:txBody>
          <a:bodyPr/>
          <a:lstStyle/>
          <a:p>
            <a:pPr eaLnBrk="1" hangingPunct="1"/>
            <a:r>
              <a:rPr lang="en-US" sz="2400" smtClean="0">
                <a:ea typeface="ＭＳ Ｐゴシック" pitchFamily="-107" charset="-128"/>
              </a:rPr>
              <a:t>Assume the same amount of space for keys, links (use pointers for long or variable-length keys)</a:t>
            </a:r>
          </a:p>
          <a:p>
            <a:pPr eaLnBrk="1" hangingPunct="1"/>
            <a:r>
              <a:rPr lang="en-US" sz="2400" smtClean="0">
                <a:ea typeface="ＭＳ Ｐゴシック" pitchFamily="-107" charset="-128"/>
              </a:rPr>
              <a:t>Separate chaining:</a:t>
            </a:r>
          </a:p>
          <a:p>
            <a:pPr lvl="1" eaLnBrk="1" hangingPunct="1"/>
            <a:r>
              <a:rPr lang="en-US" sz="2000" smtClean="0">
                <a:ea typeface="ＭＳ Ｐゴシック" pitchFamily="-107" charset="-128"/>
              </a:rPr>
              <a:t>1M buckets, 4M keys</a:t>
            </a:r>
          </a:p>
          <a:p>
            <a:pPr lvl="1" eaLnBrk="1" hangingPunct="1"/>
            <a:r>
              <a:rPr lang="en-US" sz="2000" smtClean="0">
                <a:ea typeface="ＭＳ Ｐゴシック" pitchFamily="-107" charset="-128"/>
              </a:rPr>
              <a:t>4M links in nodes</a:t>
            </a:r>
          </a:p>
          <a:p>
            <a:pPr lvl="1" eaLnBrk="1" hangingPunct="1"/>
            <a:r>
              <a:rPr lang="en-US" sz="2000" smtClean="0">
                <a:ea typeface="ＭＳ Ｐゴシック" pitchFamily="-107" charset="-128"/>
              </a:rPr>
              <a:t>9M words total; avg search time 2</a:t>
            </a:r>
          </a:p>
          <a:p>
            <a:pPr eaLnBrk="1" hangingPunct="1"/>
            <a:r>
              <a:rPr lang="en-US" sz="2400" smtClean="0">
                <a:ea typeface="ＭＳ Ｐゴシック" pitchFamily="-107" charset="-128"/>
              </a:rPr>
              <a:t>Double hashing in same space:</a:t>
            </a:r>
          </a:p>
          <a:p>
            <a:pPr lvl="1" eaLnBrk="1" hangingPunct="1"/>
            <a:r>
              <a:rPr lang="en-US" sz="2000" smtClean="0">
                <a:ea typeface="ＭＳ Ｐゴシック" pitchFamily="-107" charset="-128"/>
              </a:rPr>
              <a:t>4M items, 9M buckets in table</a:t>
            </a:r>
          </a:p>
          <a:p>
            <a:pPr lvl="1" eaLnBrk="1" hangingPunct="1"/>
            <a:r>
              <a:rPr lang="en-US" sz="2000" smtClean="0">
                <a:ea typeface="ＭＳ Ｐゴシック" pitchFamily="-107" charset="-128"/>
              </a:rPr>
              <a:t>average search time: 1/(1-4/9) = 1.8: 10% faster</a:t>
            </a:r>
          </a:p>
          <a:p>
            <a:pPr eaLnBrk="1" hangingPunct="1"/>
            <a:r>
              <a:rPr lang="en-US" sz="2400" smtClean="0">
                <a:ea typeface="ＭＳ Ｐゴシック" pitchFamily="-107" charset="-128"/>
              </a:rPr>
              <a:t>Double hashing in same time</a:t>
            </a:r>
          </a:p>
          <a:p>
            <a:pPr lvl="1" eaLnBrk="1" hangingPunct="1"/>
            <a:r>
              <a:rPr lang="en-US" sz="2000" smtClean="0">
                <a:ea typeface="ＭＳ Ｐゴシック" pitchFamily="-107" charset="-128"/>
              </a:rPr>
              <a:t>4M items, average search time 2</a:t>
            </a:r>
          </a:p>
          <a:p>
            <a:pPr lvl="1" eaLnBrk="1" hangingPunct="1"/>
            <a:r>
              <a:rPr lang="en-US" sz="2000" smtClean="0">
                <a:ea typeface="ＭＳ Ｐゴシック" pitchFamily="-107" charset="-128"/>
              </a:rPr>
              <a:t>space needed: 8M words (1/(1-4/8) = 2) (11% less space)</a:t>
            </a:r>
          </a:p>
        </p:txBody>
      </p:sp>
      <p:sp>
        <p:nvSpPr>
          <p:cNvPr id="2" name="Slide Number Placeholder 1"/>
          <p:cNvSpPr>
            <a:spLocks noGrp="1"/>
          </p:cNvSpPr>
          <p:nvPr>
            <p:ph type="sldNum" sz="quarter" idx="11"/>
          </p:nvPr>
        </p:nvSpPr>
        <p:spPr/>
        <p:txBody>
          <a:bodyPr/>
          <a:lstStyle/>
          <a:p>
            <a:pPr>
              <a:defRPr/>
            </a:pPr>
            <a:r>
              <a:rPr lang="en-US" smtClean="0"/>
              <a:t>1.</a:t>
            </a:r>
            <a:fld id="{50F84170-E2CC-4E36-9A4A-D21A558F7FE9}" type="slidenum">
              <a:rPr lang="en-US" smtClean="0"/>
              <a:pPr>
                <a:defRPr/>
              </a:pPr>
              <a:t>40</a:t>
            </a:fld>
            <a:endParaRPr 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67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67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67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670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670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5670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56707">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56707">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56707">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456707">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5670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7" grpId="0" build="p" bldLvl="2"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ea typeface="ＭＳ Ｐゴシック" pitchFamily="-107" charset="-128"/>
              </a:rPr>
              <a:t>Deletion</a:t>
            </a:r>
          </a:p>
        </p:txBody>
      </p:sp>
      <p:sp>
        <p:nvSpPr>
          <p:cNvPr id="457731" name="Rectangle 3"/>
          <p:cNvSpPr>
            <a:spLocks noGrp="1" noChangeArrowheads="1"/>
          </p:cNvSpPr>
          <p:nvPr>
            <p:ph type="body" idx="1"/>
          </p:nvPr>
        </p:nvSpPr>
        <p:spPr/>
        <p:txBody>
          <a:bodyPr/>
          <a:lstStyle/>
          <a:p>
            <a:pPr eaLnBrk="1" hangingPunct="1"/>
            <a:r>
              <a:rPr lang="en-US" sz="2400" smtClean="0">
                <a:ea typeface="ＭＳ Ｐゴシック" pitchFamily="-107" charset="-128"/>
              </a:rPr>
              <a:t>How to implement delete() with separate chaining?</a:t>
            </a:r>
          </a:p>
          <a:p>
            <a:pPr lvl="1" eaLnBrk="1" hangingPunct="1"/>
            <a:r>
              <a:rPr lang="en-US" sz="2000" smtClean="0">
                <a:ea typeface="ＭＳ Ｐゴシック" pitchFamily="-107" charset="-128"/>
              </a:rPr>
              <a:t>Simply unlink unwanted item</a:t>
            </a:r>
          </a:p>
          <a:p>
            <a:pPr lvl="1" eaLnBrk="1" hangingPunct="1"/>
            <a:r>
              <a:rPr lang="en-US" sz="2000" smtClean="0">
                <a:ea typeface="ＭＳ Ｐゴシック" pitchFamily="-107" charset="-128"/>
              </a:rPr>
              <a:t>Runtime?</a:t>
            </a:r>
          </a:p>
          <a:p>
            <a:pPr lvl="1" eaLnBrk="1" hangingPunct="1"/>
            <a:r>
              <a:rPr lang="en-US" sz="2000" smtClean="0">
                <a:ea typeface="ＭＳ Ｐゴシック" pitchFamily="-107" charset="-128"/>
              </a:rPr>
              <a:t>Same as search()</a:t>
            </a:r>
          </a:p>
          <a:p>
            <a:pPr eaLnBrk="1" hangingPunct="1"/>
            <a:r>
              <a:rPr lang="en-US" sz="2400" smtClean="0">
                <a:ea typeface="ＭＳ Ｐゴシック" pitchFamily="-107" charset="-128"/>
              </a:rPr>
              <a:t>How to implement delete() with linear probing?</a:t>
            </a:r>
          </a:p>
          <a:p>
            <a:pPr lvl="1" eaLnBrk="1" hangingPunct="1"/>
            <a:r>
              <a:rPr lang="en-US" sz="2000" smtClean="0">
                <a:ea typeface="ＭＳ Ｐゴシック" pitchFamily="-107" charset="-128"/>
              </a:rPr>
              <a:t>Can</a:t>
            </a:r>
            <a:r>
              <a:rPr lang="ja-JP" altLang="en-US" sz="2000" smtClean="0">
                <a:ea typeface="ＭＳ Ｐゴシック" pitchFamily="-107" charset="-128"/>
              </a:rPr>
              <a:t>’</a:t>
            </a:r>
            <a:r>
              <a:rPr lang="en-US" altLang="ja-JP" sz="2000" smtClean="0">
                <a:ea typeface="ＭＳ Ｐゴシック" pitchFamily="-107" charset="-128"/>
              </a:rPr>
              <a:t>t just erase it.  (Why not?)</a:t>
            </a:r>
          </a:p>
          <a:p>
            <a:pPr lvl="1" eaLnBrk="1" hangingPunct="1"/>
            <a:r>
              <a:rPr lang="en-US" sz="2000" smtClean="0">
                <a:ea typeface="ＭＳ Ｐゴシック" pitchFamily="-107" charset="-128"/>
              </a:rPr>
              <a:t>Re-hash entire cluster</a:t>
            </a:r>
          </a:p>
          <a:p>
            <a:pPr lvl="1" eaLnBrk="1" hangingPunct="1"/>
            <a:r>
              <a:rPr lang="en-US" sz="2000" smtClean="0">
                <a:ea typeface="ＭＳ Ｐゴシック" pitchFamily="-107" charset="-128"/>
              </a:rPr>
              <a:t>Or mark as deleted?</a:t>
            </a:r>
          </a:p>
          <a:p>
            <a:pPr eaLnBrk="1" hangingPunct="1"/>
            <a:r>
              <a:rPr lang="en-US" sz="2400" smtClean="0">
                <a:ea typeface="ＭＳ Ｐゴシック" pitchFamily="-107" charset="-128"/>
              </a:rPr>
              <a:t>How to delete() with double hashing?</a:t>
            </a:r>
          </a:p>
          <a:p>
            <a:pPr lvl="1" eaLnBrk="1" hangingPunct="1"/>
            <a:r>
              <a:rPr lang="en-US" sz="2000" smtClean="0">
                <a:ea typeface="ＭＳ Ｐゴシック" pitchFamily="-107" charset="-128"/>
              </a:rPr>
              <a:t>Re-hashing cluster doesn</a:t>
            </a:r>
            <a:r>
              <a:rPr lang="ja-JP" altLang="en-US" sz="2000" smtClean="0">
                <a:ea typeface="ＭＳ Ｐゴシック" pitchFamily="-107" charset="-128"/>
              </a:rPr>
              <a:t>’</a:t>
            </a:r>
            <a:r>
              <a:rPr lang="en-US" altLang="ja-JP" sz="2000" smtClean="0">
                <a:ea typeface="ＭＳ Ｐゴシック" pitchFamily="-107" charset="-128"/>
              </a:rPr>
              <a:t>t work – which </a:t>
            </a:r>
            <a:r>
              <a:rPr lang="ja-JP" altLang="en-US" sz="2000" smtClean="0">
                <a:ea typeface="ＭＳ Ｐゴシック" pitchFamily="-107" charset="-128"/>
              </a:rPr>
              <a:t>“</a:t>
            </a:r>
            <a:r>
              <a:rPr lang="en-US" altLang="ja-JP" sz="2000" smtClean="0">
                <a:ea typeface="ＭＳ Ｐゴシック" pitchFamily="-107" charset="-128"/>
              </a:rPr>
              <a:t>cluster</a:t>
            </a:r>
            <a:r>
              <a:rPr lang="ja-JP" altLang="en-US" sz="2000" smtClean="0">
                <a:ea typeface="ＭＳ Ｐゴシック" pitchFamily="-107" charset="-128"/>
              </a:rPr>
              <a:t>”</a:t>
            </a:r>
            <a:r>
              <a:rPr lang="en-US" altLang="ja-JP" sz="2000" smtClean="0">
                <a:ea typeface="ＭＳ Ｐゴシック" pitchFamily="-107" charset="-128"/>
              </a:rPr>
              <a:t>?</a:t>
            </a:r>
          </a:p>
          <a:p>
            <a:pPr lvl="1" eaLnBrk="1" hangingPunct="1"/>
            <a:r>
              <a:rPr lang="en-US" sz="2000" smtClean="0">
                <a:ea typeface="ＭＳ Ｐゴシック" pitchFamily="-107" charset="-128"/>
              </a:rPr>
              <a:t>Mark as deleted</a:t>
            </a:r>
          </a:p>
          <a:p>
            <a:pPr lvl="1" eaLnBrk="1" hangingPunct="1"/>
            <a:r>
              <a:rPr lang="en-US" sz="2000" smtClean="0">
                <a:ea typeface="ＭＳ Ｐゴシック" pitchFamily="-107" charset="-128"/>
              </a:rPr>
              <a:t>Every so often re-hash entire table to prune </a:t>
            </a:r>
            <a:r>
              <a:rPr lang="ja-JP" altLang="en-US" sz="2000" smtClean="0">
                <a:ea typeface="ＭＳ Ｐゴシック" pitchFamily="-107" charset="-128"/>
              </a:rPr>
              <a:t>“</a:t>
            </a:r>
            <a:r>
              <a:rPr lang="en-US" altLang="ja-JP" sz="2000" smtClean="0">
                <a:ea typeface="ＭＳ Ｐゴシック" pitchFamily="-107" charset="-128"/>
              </a:rPr>
              <a:t>dead-wood</a:t>
            </a:r>
            <a:r>
              <a:rPr lang="ja-JP" altLang="en-US" sz="2000" smtClean="0">
                <a:ea typeface="ＭＳ Ｐゴシック" pitchFamily="-107" charset="-128"/>
              </a:rPr>
              <a:t>”</a:t>
            </a:r>
            <a:endParaRPr lang="en-US" altLang="ja-JP" sz="2000" smtClean="0">
              <a:ea typeface="ＭＳ Ｐゴシック" pitchFamily="-107" charset="-128"/>
            </a:endParaRPr>
          </a:p>
          <a:p>
            <a:pPr eaLnBrk="1" hangingPunct="1"/>
            <a:endParaRPr lang="en-US" sz="2000" smtClean="0">
              <a:ea typeface="ＭＳ Ｐゴシック" pitchFamily="-107" charset="-128"/>
            </a:endParaRPr>
          </a:p>
        </p:txBody>
      </p:sp>
      <p:sp>
        <p:nvSpPr>
          <p:cNvPr id="2" name="Slide Number Placeholder 1"/>
          <p:cNvSpPr>
            <a:spLocks noGrp="1"/>
          </p:cNvSpPr>
          <p:nvPr>
            <p:ph type="sldNum" sz="quarter" idx="11"/>
          </p:nvPr>
        </p:nvSpPr>
        <p:spPr/>
        <p:txBody>
          <a:bodyPr/>
          <a:lstStyle/>
          <a:p>
            <a:pPr>
              <a:defRPr/>
            </a:pPr>
            <a:r>
              <a:rPr lang="en-US" smtClean="0"/>
              <a:t>1.</a:t>
            </a:r>
            <a:fld id="{50F84170-E2CC-4E36-9A4A-D21A558F7FE9}" type="slidenum">
              <a:rPr lang="en-US" smtClean="0"/>
              <a:pPr>
                <a:defRPr/>
              </a:pPr>
              <a:t>41</a:t>
            </a:fld>
            <a:endParaRPr 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77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77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773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773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773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5773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5773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57731">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57731">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457731">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57731">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5773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1" grpId="0" build="p" bldLvl="2"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en-US" smtClean="0">
                <a:ea typeface="ＭＳ Ｐゴシック" pitchFamily="-107" charset="-128"/>
              </a:rPr>
              <a:t>Comparisons</a:t>
            </a:r>
          </a:p>
        </p:txBody>
      </p:sp>
      <p:sp>
        <p:nvSpPr>
          <p:cNvPr id="458755" name="Rectangle 3"/>
          <p:cNvSpPr>
            <a:spLocks noGrp="1" noChangeArrowheads="1"/>
          </p:cNvSpPr>
          <p:nvPr>
            <p:ph type="body" sz="half" idx="1"/>
          </p:nvPr>
        </p:nvSpPr>
        <p:spPr>
          <a:xfrm>
            <a:off x="1295400" y="1828800"/>
            <a:ext cx="7848600" cy="4648200"/>
          </a:xfrm>
        </p:spPr>
        <p:txBody>
          <a:bodyPr/>
          <a:lstStyle/>
          <a:p>
            <a:pPr eaLnBrk="1" hangingPunct="1"/>
            <a:r>
              <a:rPr lang="en-US" sz="2400" smtClean="0">
                <a:ea typeface="ＭＳ Ｐゴシック" pitchFamily="-107" charset="-128"/>
              </a:rPr>
              <a:t>Separate chaining advantages:</a:t>
            </a:r>
          </a:p>
          <a:p>
            <a:pPr lvl="1" eaLnBrk="1" hangingPunct="1"/>
            <a:r>
              <a:rPr lang="en-US" sz="1800" smtClean="0">
                <a:ea typeface="ＭＳ Ｐゴシック" pitchFamily="-107" charset="-128"/>
              </a:rPr>
              <a:t>Idiot-proof (degrades gracefully)</a:t>
            </a:r>
          </a:p>
          <a:p>
            <a:pPr lvl="1" eaLnBrk="1" hangingPunct="1"/>
            <a:r>
              <a:rPr lang="en-US" sz="1800" smtClean="0">
                <a:ea typeface="ＭＳ Ｐゴシック" pitchFamily="-107" charset="-128"/>
              </a:rPr>
              <a:t> No large chunks of memory needed (but is this better?)</a:t>
            </a:r>
          </a:p>
          <a:p>
            <a:pPr eaLnBrk="1" hangingPunct="1"/>
            <a:r>
              <a:rPr lang="en-US" sz="2400" smtClean="0">
                <a:ea typeface="ＭＳ Ｐゴシック" pitchFamily="-107" charset="-128"/>
              </a:rPr>
              <a:t>Why use hashing?</a:t>
            </a:r>
          </a:p>
          <a:p>
            <a:pPr lvl="1" eaLnBrk="1" hangingPunct="1"/>
            <a:r>
              <a:rPr lang="en-US" sz="1800" smtClean="0">
                <a:ea typeface="ＭＳ Ｐゴシック" pitchFamily="-107" charset="-128"/>
              </a:rPr>
              <a:t>Fastest dictionary implementation</a:t>
            </a:r>
          </a:p>
          <a:p>
            <a:pPr lvl="1" eaLnBrk="1" hangingPunct="1"/>
            <a:r>
              <a:rPr lang="en-US" sz="1800" smtClean="0">
                <a:ea typeface="ＭＳ Ｐゴシック" pitchFamily="-107" charset="-128"/>
              </a:rPr>
              <a:t>Constant time search and insert, on average</a:t>
            </a:r>
          </a:p>
          <a:p>
            <a:pPr lvl="1" eaLnBrk="1" hangingPunct="1"/>
            <a:r>
              <a:rPr lang="en-US" sz="1800" smtClean="0">
                <a:ea typeface="ＭＳ Ｐゴシック" pitchFamily="-107" charset="-128"/>
              </a:rPr>
              <a:t>Easy to implement; built into many environments</a:t>
            </a:r>
          </a:p>
          <a:p>
            <a:pPr eaLnBrk="1" hangingPunct="1"/>
            <a:r>
              <a:rPr lang="en-US" sz="2400" smtClean="0">
                <a:ea typeface="ＭＳ Ｐゴシック" pitchFamily="-107" charset="-128"/>
              </a:rPr>
              <a:t>Why not use hashing?</a:t>
            </a:r>
          </a:p>
          <a:p>
            <a:pPr lvl="1" eaLnBrk="1" hangingPunct="1"/>
            <a:r>
              <a:rPr lang="en-US" sz="1800" smtClean="0">
                <a:ea typeface="ＭＳ Ｐゴシック" pitchFamily="-107" charset="-128"/>
              </a:rPr>
              <a:t>No performance guarantees</a:t>
            </a:r>
          </a:p>
          <a:p>
            <a:pPr lvl="1" eaLnBrk="1" hangingPunct="1"/>
            <a:r>
              <a:rPr lang="en-US" sz="1800" smtClean="0">
                <a:ea typeface="ＭＳ Ｐゴシック" pitchFamily="-107" charset="-128"/>
              </a:rPr>
              <a:t>Uses extra space</a:t>
            </a:r>
          </a:p>
          <a:p>
            <a:pPr lvl="1" eaLnBrk="1" hangingPunct="1"/>
            <a:r>
              <a:rPr lang="en-US" sz="1800" smtClean="0">
                <a:ea typeface="ＭＳ Ｐゴシック" pitchFamily="-107" charset="-128"/>
              </a:rPr>
              <a:t>Doesn</a:t>
            </a:r>
            <a:r>
              <a:rPr lang="ja-JP" altLang="en-US" sz="1800" smtClean="0">
                <a:ea typeface="ＭＳ Ｐゴシック" pitchFamily="-107" charset="-128"/>
              </a:rPr>
              <a:t>’</a:t>
            </a:r>
            <a:r>
              <a:rPr lang="en-US" altLang="ja-JP" sz="1800" smtClean="0">
                <a:ea typeface="ＭＳ Ｐゴシック" pitchFamily="-107" charset="-128"/>
              </a:rPr>
              <a:t>t support pred, succ, sort, etc. – no notion of order</a:t>
            </a:r>
          </a:p>
          <a:p>
            <a:pPr eaLnBrk="1" hangingPunct="1"/>
            <a:r>
              <a:rPr lang="en-US" sz="2400" smtClean="0">
                <a:ea typeface="ＭＳ Ｐゴシック" pitchFamily="-107" charset="-128"/>
              </a:rPr>
              <a:t>Where did perl </a:t>
            </a:r>
            <a:r>
              <a:rPr lang="ja-JP" altLang="en-US" sz="2400" smtClean="0">
                <a:ea typeface="ＭＳ Ｐゴシック" pitchFamily="-107" charset="-128"/>
              </a:rPr>
              <a:t>“</a:t>
            </a:r>
            <a:r>
              <a:rPr lang="en-US" altLang="ja-JP" sz="2400" smtClean="0">
                <a:ea typeface="ＭＳ Ｐゴシック" pitchFamily="-107" charset="-128"/>
              </a:rPr>
              <a:t>hashes</a:t>
            </a:r>
            <a:r>
              <a:rPr lang="ja-JP" altLang="en-US" sz="2400" smtClean="0">
                <a:ea typeface="ＭＳ Ｐゴシック" pitchFamily="-107" charset="-128"/>
              </a:rPr>
              <a:t>”</a:t>
            </a:r>
            <a:r>
              <a:rPr lang="en-US" altLang="ja-JP" sz="2400" smtClean="0">
                <a:ea typeface="ＭＳ Ｐゴシック" pitchFamily="-107" charset="-128"/>
              </a:rPr>
              <a:t> get their name?</a:t>
            </a:r>
            <a:endParaRPr lang="en-US" sz="2400" smtClean="0">
              <a:ea typeface="ＭＳ Ｐゴシック" pitchFamily="-107" charset="-128"/>
            </a:endParaRPr>
          </a:p>
        </p:txBody>
      </p:sp>
      <p:graphicFrame>
        <p:nvGraphicFramePr>
          <p:cNvPr id="10242" name="Object 2"/>
          <p:cNvGraphicFramePr>
            <a:graphicFrameLocks noGrp="1" noChangeAspect="1"/>
          </p:cNvGraphicFramePr>
          <p:nvPr>
            <p:ph sz="half" idx="2"/>
          </p:nvPr>
        </p:nvGraphicFramePr>
        <p:xfrm>
          <a:off x="6477000" y="533400"/>
          <a:ext cx="2062163" cy="1841500"/>
        </p:xfrm>
        <a:graphic>
          <a:graphicData uri="http://schemas.openxmlformats.org/presentationml/2006/ole">
            <mc:AlternateContent xmlns:mc="http://schemas.openxmlformats.org/markup-compatibility/2006">
              <mc:Choice xmlns:v="urn:schemas-microsoft-com:vml" Requires="v">
                <p:oleObj spid="_x0000_s10299" name="Clip" r:id="rId3" imgW="2946759" imgH="2630112" progId="">
                  <p:embed/>
                </p:oleObj>
              </mc:Choice>
              <mc:Fallback>
                <p:oleObj name="Clip" r:id="rId3" imgW="2946759" imgH="2630112"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533400"/>
                        <a:ext cx="2062163" cy="18415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pPr>
              <a:defRPr/>
            </a:pPr>
            <a:r>
              <a:rPr lang="en-US" smtClean="0"/>
              <a:t>1.</a:t>
            </a:r>
            <a:fld id="{7D3CE998-D19A-4491-8869-C47A1AAA589D}" type="slidenum">
              <a:rPr lang="en-US" smtClean="0"/>
              <a:pPr>
                <a:defRPr/>
              </a:pPr>
              <a:t>42</a:t>
            </a:fld>
            <a:endParaRPr 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87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87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875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875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875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5875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5875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5875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58755">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458755">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58755">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5875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5" grpId="0" build="p" bldLvl="2"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mtClean="0">
                <a:ea typeface="ＭＳ Ｐゴシック" pitchFamily="-107" charset="-128"/>
              </a:rPr>
              <a:t>Hash Tables in C#</a:t>
            </a:r>
          </a:p>
        </p:txBody>
      </p:sp>
      <p:sp>
        <p:nvSpPr>
          <p:cNvPr id="25603" name="Rectangle 3"/>
          <p:cNvSpPr>
            <a:spLocks noGrp="1" noChangeArrowheads="1"/>
          </p:cNvSpPr>
          <p:nvPr>
            <p:ph type="body" idx="1"/>
          </p:nvPr>
        </p:nvSpPr>
        <p:spPr/>
        <p:txBody>
          <a:bodyPr/>
          <a:lstStyle/>
          <a:p>
            <a:pPr eaLnBrk="1" hangingPunct="1"/>
            <a:r>
              <a:rPr lang="en-US" smtClean="0">
                <a:ea typeface="ＭＳ Ｐゴシック" pitchFamily="-107" charset="-128"/>
              </a:rPr>
              <a:t>System.Collections: basic data structures</a:t>
            </a:r>
          </a:p>
          <a:p>
            <a:pPr eaLnBrk="1" hangingPunct="1"/>
            <a:r>
              <a:rPr lang="en-US" smtClean="0">
                <a:ea typeface="ＭＳ Ｐゴシック" pitchFamily="-107" charset="-128"/>
              </a:rPr>
              <a:t>Hashtable</a:t>
            </a:r>
          </a:p>
          <a:p>
            <a:pPr eaLnBrk="1" hangingPunct="1"/>
            <a:r>
              <a:rPr lang="en-US" smtClean="0">
                <a:ea typeface="ＭＳ Ｐゴシック" pitchFamily="-107" charset="-128"/>
              </a:rPr>
              <a:t>ArrayList</a:t>
            </a:r>
          </a:p>
          <a:p>
            <a:pPr eaLnBrk="1" hangingPunct="1"/>
            <a:endParaRPr lang="en-US" smtClean="0">
              <a:ea typeface="ＭＳ Ｐゴシック" pitchFamily="-107" charset="-128"/>
            </a:endParaRPr>
          </a:p>
          <a:p>
            <a:pPr eaLnBrk="1" hangingPunct="1"/>
            <a:r>
              <a:rPr lang="en-US" smtClean="0">
                <a:ea typeface="ＭＳ Ｐゴシック" pitchFamily="-107" charset="-128"/>
              </a:rPr>
              <a:t>(See handout)</a:t>
            </a:r>
          </a:p>
        </p:txBody>
      </p:sp>
      <p:sp>
        <p:nvSpPr>
          <p:cNvPr id="2" name="Slide Number Placeholder 1"/>
          <p:cNvSpPr>
            <a:spLocks noGrp="1"/>
          </p:cNvSpPr>
          <p:nvPr>
            <p:ph type="sldNum" sz="quarter" idx="11"/>
          </p:nvPr>
        </p:nvSpPr>
        <p:spPr/>
        <p:txBody>
          <a:bodyPr/>
          <a:lstStyle/>
          <a:p>
            <a:pPr>
              <a:defRPr/>
            </a:pPr>
            <a:r>
              <a:rPr lang="en-US" smtClean="0"/>
              <a:t>1.</a:t>
            </a:r>
            <a:fld id="{50F84170-E2CC-4E36-9A4A-D21A558F7FE9}" type="slidenum">
              <a:rPr lang="en-US" smtClean="0"/>
              <a:pPr>
                <a:defRPr/>
              </a:pPr>
              <a:t>43</a:t>
            </a:fld>
            <a:endParaRPr lang="en-US"/>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mtClean="0">
                <a:ea typeface="ＭＳ Ｐゴシック" pitchFamily="-107" charset="-128"/>
              </a:rPr>
              <a:t>Hashing Summary</a:t>
            </a:r>
          </a:p>
        </p:txBody>
      </p:sp>
      <p:sp>
        <p:nvSpPr>
          <p:cNvPr id="470019" name="Rectangle 3"/>
          <p:cNvSpPr>
            <a:spLocks noGrp="1" noChangeArrowheads="1"/>
          </p:cNvSpPr>
          <p:nvPr>
            <p:ph type="body" idx="1"/>
          </p:nvPr>
        </p:nvSpPr>
        <p:spPr>
          <a:xfrm>
            <a:off x="1295400" y="1828800"/>
            <a:ext cx="7696200" cy="3124200"/>
          </a:xfrm>
        </p:spPr>
        <p:txBody>
          <a:bodyPr/>
          <a:lstStyle/>
          <a:p>
            <a:pPr eaLnBrk="1" hangingPunct="1"/>
            <a:r>
              <a:rPr lang="en-US" sz="2000" smtClean="0">
                <a:ea typeface="ＭＳ Ｐゴシック" pitchFamily="-107" charset="-128"/>
              </a:rPr>
              <a:t>Separate chaining: easiest to deploy</a:t>
            </a:r>
          </a:p>
          <a:p>
            <a:pPr eaLnBrk="1" hangingPunct="1"/>
            <a:r>
              <a:rPr lang="en-US" sz="2000" smtClean="0">
                <a:ea typeface="ＭＳ Ｐゴシック" pitchFamily="-107" charset="-128"/>
              </a:rPr>
              <a:t>Linear probing: fastest (but takes more memory)</a:t>
            </a:r>
          </a:p>
          <a:p>
            <a:pPr eaLnBrk="1" hangingPunct="1"/>
            <a:r>
              <a:rPr lang="en-US" sz="2000" smtClean="0">
                <a:ea typeface="ＭＳ Ｐゴシック" pitchFamily="-107" charset="-128"/>
              </a:rPr>
              <a:t>Double hashing: least memory (but takes more time to compute the second hash function)</a:t>
            </a:r>
          </a:p>
          <a:p>
            <a:pPr eaLnBrk="1" hangingPunct="1"/>
            <a:r>
              <a:rPr lang="en-US" sz="2000" smtClean="0">
                <a:ea typeface="ＭＳ Ｐゴシック" pitchFamily="-107" charset="-128"/>
              </a:rPr>
              <a:t>Dynamic (grow): handles any number of inserts at &lt; 3x time</a:t>
            </a:r>
          </a:p>
          <a:p>
            <a:pPr eaLnBrk="1" hangingPunct="1"/>
            <a:r>
              <a:rPr lang="en-US" sz="2000" smtClean="0">
                <a:latin typeface="Lucida Handwriting" pitchFamily="66" charset="0"/>
                <a:ea typeface="ＭＳ Ｐゴシック" pitchFamily="-107" charset="-128"/>
              </a:rPr>
              <a:t>Curious use of hashing: early unix spell checker (back in the days of the 3M machines…)</a:t>
            </a:r>
          </a:p>
        </p:txBody>
      </p:sp>
      <p:sp>
        <p:nvSpPr>
          <p:cNvPr id="26628" name="Text Box 4"/>
          <p:cNvSpPr txBox="1">
            <a:spLocks noChangeArrowheads="1"/>
          </p:cNvSpPr>
          <p:nvPr/>
        </p:nvSpPr>
        <p:spPr bwMode="auto">
          <a:xfrm>
            <a:off x="381000" y="4572000"/>
            <a:ext cx="8763000" cy="2014538"/>
          </a:xfrm>
          <a:prstGeom prst="rect">
            <a:avLst/>
          </a:prstGeom>
          <a:noFill/>
          <a:ln w="9525">
            <a:noFill/>
            <a:miter lim="800000"/>
            <a:headEnd/>
            <a:tailEnd/>
          </a:ln>
        </p:spPr>
        <p:txBody>
          <a:bodyPr>
            <a:spAutoFit/>
          </a:bodyPr>
          <a:lstStyle/>
          <a:p>
            <a:r>
              <a:rPr lang="en-US" sz="1800">
                <a:latin typeface="Courier New" pitchFamily="49" charset="0"/>
              </a:rPr>
              <a:t>            Construction                Search Miss</a:t>
            </a:r>
          </a:p>
          <a:p>
            <a:r>
              <a:rPr lang="en-US" sz="1800">
                <a:latin typeface="Courier New" pitchFamily="49" charset="0"/>
              </a:rPr>
              <a:t>       Chain Probe  Dbl Grow       Chain Probe  Dbl Grow</a:t>
            </a:r>
          </a:p>
          <a:p>
            <a:r>
              <a:rPr lang="en-US" sz="1800">
                <a:latin typeface="Courier New" pitchFamily="49" charset="0"/>
              </a:rPr>
              <a:t>5k        1     4     4    3          1     0     1    0</a:t>
            </a:r>
          </a:p>
          <a:p>
            <a:r>
              <a:rPr lang="en-US" sz="1800">
                <a:latin typeface="Courier New" pitchFamily="49" charset="0"/>
              </a:rPr>
              <a:t>50k      18    11    12   22         15     8     8    8</a:t>
            </a:r>
          </a:p>
          <a:p>
            <a:r>
              <a:rPr lang="en-US" sz="1800">
                <a:latin typeface="Courier New" pitchFamily="49" charset="0"/>
              </a:rPr>
              <a:t>100k     35    21    23   47         45    23    21   15</a:t>
            </a:r>
          </a:p>
          <a:p>
            <a:r>
              <a:rPr lang="en-US" sz="1800">
                <a:latin typeface="Courier New" pitchFamily="49" charset="0"/>
              </a:rPr>
              <a:t>190k     79   106    59  155        144  2194   261   30</a:t>
            </a:r>
          </a:p>
          <a:p>
            <a:r>
              <a:rPr lang="en-US" sz="1800">
                <a:latin typeface="Courier New" pitchFamily="49" charset="0"/>
              </a:rPr>
              <a:t>200k     84              159        156               33</a:t>
            </a:r>
          </a:p>
        </p:txBody>
      </p:sp>
      <p:sp>
        <p:nvSpPr>
          <p:cNvPr id="2" name="Slide Number Placeholder 1"/>
          <p:cNvSpPr>
            <a:spLocks noGrp="1"/>
          </p:cNvSpPr>
          <p:nvPr>
            <p:ph type="sldNum" sz="quarter" idx="11"/>
          </p:nvPr>
        </p:nvSpPr>
        <p:spPr/>
        <p:txBody>
          <a:bodyPr/>
          <a:lstStyle/>
          <a:p>
            <a:pPr>
              <a:defRPr/>
            </a:pPr>
            <a:r>
              <a:rPr lang="en-US" smtClean="0"/>
              <a:t>1.</a:t>
            </a:r>
            <a:fld id="{50F84170-E2CC-4E36-9A4A-D21A558F7FE9}" type="slidenum">
              <a:rPr lang="en-US" smtClean="0"/>
              <a:pPr>
                <a:defRPr/>
              </a:pPr>
              <a:t>44</a:t>
            </a:fld>
            <a:endParaRPr 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00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700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700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700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700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9"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mtClean="0">
                <a:ea typeface="ＭＳ Ｐゴシック" pitchFamily="-107" charset="-128"/>
              </a:rPr>
              <a:t>GUI Programming in C#</a:t>
            </a:r>
          </a:p>
        </p:txBody>
      </p:sp>
      <p:sp>
        <p:nvSpPr>
          <p:cNvPr id="27651" name="Content Placeholder 2"/>
          <p:cNvSpPr>
            <a:spLocks noGrp="1"/>
          </p:cNvSpPr>
          <p:nvPr>
            <p:ph idx="1"/>
          </p:nvPr>
        </p:nvSpPr>
        <p:spPr/>
        <p:txBody>
          <a:bodyPr/>
          <a:lstStyle/>
          <a:p>
            <a:r>
              <a:rPr lang="en-US" smtClean="0">
                <a:ea typeface="ＭＳ Ｐゴシック" pitchFamily="-107" charset="-128"/>
              </a:rPr>
              <a:t>Microsoft has provided a number of different GUI programming environments over the years:</a:t>
            </a:r>
          </a:p>
          <a:p>
            <a:pPr lvl="1"/>
            <a:r>
              <a:rPr lang="en-US" smtClean="0">
                <a:ea typeface="ＭＳ Ｐゴシック" pitchFamily="-107" charset="-128"/>
              </a:rPr>
              <a:t>MFC: Microsoft Foundation Classes</a:t>
            </a:r>
          </a:p>
          <a:p>
            <a:pPr lvl="1"/>
            <a:r>
              <a:rPr lang="en-US" smtClean="0">
                <a:ea typeface="ＭＳ Ｐゴシック" pitchFamily="-107" charset="-128"/>
              </a:rPr>
              <a:t>Windows Forms</a:t>
            </a:r>
          </a:p>
          <a:p>
            <a:pPr lvl="1"/>
            <a:r>
              <a:rPr lang="en-US" smtClean="0">
                <a:ea typeface="ＭＳ Ｐゴシック" pitchFamily="-107" charset="-128"/>
              </a:rPr>
              <a:t>WPF: Windows Presentation Foundation</a:t>
            </a:r>
          </a:p>
          <a:p>
            <a:pPr lvl="2"/>
            <a:r>
              <a:rPr lang="en-US" smtClean="0">
                <a:ea typeface="ＭＳ Ｐゴシック" pitchFamily="-107" charset="-128"/>
              </a:rPr>
              <a:t>XML file defines user interface</a:t>
            </a:r>
          </a:p>
          <a:p>
            <a:pPr lvl="1"/>
            <a:r>
              <a:rPr lang="en-US" smtClean="0">
                <a:ea typeface="ＭＳ Ｐゴシック" pitchFamily="-107" charset="-128"/>
              </a:rPr>
              <a:t>Windows 8: HTML/CSS/JavaScript?</a:t>
            </a:r>
          </a:p>
        </p:txBody>
      </p:sp>
      <p:sp>
        <p:nvSpPr>
          <p:cNvPr id="2" name="Slide Number Placeholder 1"/>
          <p:cNvSpPr>
            <a:spLocks noGrp="1"/>
          </p:cNvSpPr>
          <p:nvPr>
            <p:ph type="sldNum" sz="quarter" idx="11"/>
          </p:nvPr>
        </p:nvSpPr>
        <p:spPr/>
        <p:txBody>
          <a:bodyPr/>
          <a:lstStyle/>
          <a:p>
            <a:pPr>
              <a:defRPr/>
            </a:pPr>
            <a:r>
              <a:rPr lang="en-US" smtClean="0"/>
              <a:t>1.</a:t>
            </a:r>
            <a:fld id="{50F84170-E2CC-4E36-9A4A-D21A558F7FE9}" type="slidenum">
              <a:rPr lang="en-US" smtClean="0"/>
              <a:pPr>
                <a:defRPr/>
              </a:pPr>
              <a:t>45</a:t>
            </a:fld>
            <a:endParaRPr lang="en-US"/>
          </a:p>
        </p:txBody>
      </p:sp>
    </p:spTree>
  </p:cSld>
  <p:clrMapOvr>
    <a:masterClrMapping/>
  </p:clrMapOvr>
  <p:transition>
    <p:cut/>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TC102455596[[fn=Spring]]</Template>
  <TotalTime>2193</TotalTime>
  <Words>3274</Words>
  <Application>Microsoft Office PowerPoint</Application>
  <PresentationFormat>On-screen Show (4:3)</PresentationFormat>
  <Paragraphs>444</Paragraphs>
  <Slides>45</Slides>
  <Notes>2</Notes>
  <HiddenSlides>0</HiddenSlides>
  <MMClips>0</MMClips>
  <ScaleCrop>false</ScaleCrop>
  <HeadingPairs>
    <vt:vector size="6" baseType="variant">
      <vt:variant>
        <vt:lpstr>Theme</vt:lpstr>
      </vt:variant>
      <vt:variant>
        <vt:i4>4</vt:i4>
      </vt:variant>
      <vt:variant>
        <vt:lpstr>Embedded OLE Servers</vt:lpstr>
      </vt:variant>
      <vt:variant>
        <vt:i4>2</vt:i4>
      </vt:variant>
      <vt:variant>
        <vt:lpstr>Slide Titles</vt:lpstr>
      </vt:variant>
      <vt:variant>
        <vt:i4>45</vt:i4>
      </vt:variant>
    </vt:vector>
  </HeadingPairs>
  <TitlesOfParts>
    <vt:vector size="51" baseType="lpstr">
      <vt:lpstr>Blends</vt:lpstr>
      <vt:lpstr>Office Theme</vt:lpstr>
      <vt:lpstr>1_Office Theme</vt:lpstr>
      <vt:lpstr>2_Office Theme</vt:lpstr>
      <vt:lpstr>Clip</vt:lpstr>
      <vt:lpstr>Worksheet</vt:lpstr>
      <vt:lpstr>Chapter 2.5: Dictionaries and Hash Tables</vt:lpstr>
      <vt:lpstr>Introduction</vt:lpstr>
      <vt:lpstr>The Dictionary ADT (2.5.1)</vt:lpstr>
      <vt:lpstr>The Unordered Dictionary ADT (2.5.1)</vt:lpstr>
      <vt:lpstr>Dictionary ADT (§2.5.1)</vt:lpstr>
      <vt:lpstr>Log File (§2.5.1)</vt:lpstr>
      <vt:lpstr>Lookup Table</vt:lpstr>
      <vt:lpstr>Hash Tables (2.5.2)</vt:lpstr>
      <vt:lpstr>Bucket Array / Simplest Hash Table</vt:lpstr>
      <vt:lpstr>Bucket Array…….</vt:lpstr>
      <vt:lpstr>Bucket Array…..</vt:lpstr>
      <vt:lpstr>Hash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Collision-Handling Schemes</vt:lpstr>
      <vt:lpstr>Chaining Example</vt:lpstr>
      <vt:lpstr>Collision-Handling Schemes….</vt:lpstr>
      <vt:lpstr>Collision-Handling Schemes….</vt:lpstr>
      <vt:lpstr>Separate Chaining</vt:lpstr>
      <vt:lpstr>Load Factors and Rehashing</vt:lpstr>
      <vt:lpstr>Load Factors and Rehashing</vt:lpstr>
      <vt:lpstr>Open Addressing</vt:lpstr>
      <vt:lpstr>PowerPoint Presentation</vt:lpstr>
      <vt:lpstr>PowerPoint Presentation</vt:lpstr>
      <vt:lpstr>PowerPoint Presentation</vt:lpstr>
      <vt:lpstr>PowerPoint Presentation</vt:lpstr>
      <vt:lpstr>2. Quadratic Probing</vt:lpstr>
      <vt:lpstr>PowerPoint Presentation</vt:lpstr>
      <vt:lpstr>3. Double Hashing</vt:lpstr>
      <vt:lpstr>PowerPoint Presentation</vt:lpstr>
      <vt:lpstr>PowerPoint Presentation</vt:lpstr>
      <vt:lpstr>Example of Double Hashing</vt:lpstr>
      <vt:lpstr>Dynamic Hash Tables</vt:lpstr>
      <vt:lpstr>Table Growing Analysis</vt:lpstr>
      <vt:lpstr>Separate Chaining vs. Double Hashing</vt:lpstr>
      <vt:lpstr>Deletion</vt:lpstr>
      <vt:lpstr>Comparisons</vt:lpstr>
      <vt:lpstr>Hash Tables in C#</vt:lpstr>
      <vt:lpstr>Hashing Summary</vt:lpstr>
      <vt:lpstr>GUI Programming in C#</vt:lpstr>
    </vt:vector>
  </TitlesOfParts>
  <Company>Calvin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Harry Plantinga</dc:creator>
  <cp:lastModifiedBy>manimaran</cp:lastModifiedBy>
  <cp:revision>143</cp:revision>
  <cp:lastPrinted>1601-01-01T00:00:00Z</cp:lastPrinted>
  <dcterms:created xsi:type="dcterms:W3CDTF">2000-01-29T15:18:25Z</dcterms:created>
  <dcterms:modified xsi:type="dcterms:W3CDTF">2014-05-13T05:23:59Z</dcterms:modified>
</cp:coreProperties>
</file>