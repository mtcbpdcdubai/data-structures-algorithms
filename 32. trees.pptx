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62"/>
  </p:notesMasterIdLst>
  <p:handoutMasterIdLst>
    <p:handoutMasterId r:id="rId63"/>
  </p:handoutMasterIdLst>
  <p:sldIdLst>
    <p:sldId id="256" r:id="rId2"/>
    <p:sldId id="335" r:id="rId3"/>
    <p:sldId id="336" r:id="rId4"/>
    <p:sldId id="315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45" r:id="rId14"/>
    <p:sldId id="322" r:id="rId15"/>
    <p:sldId id="394" r:id="rId16"/>
    <p:sldId id="350" r:id="rId17"/>
    <p:sldId id="351" r:id="rId18"/>
    <p:sldId id="352" r:id="rId19"/>
    <p:sldId id="355" r:id="rId20"/>
    <p:sldId id="359" r:id="rId21"/>
    <p:sldId id="360" r:id="rId22"/>
    <p:sldId id="361" r:id="rId23"/>
    <p:sldId id="319" r:id="rId24"/>
    <p:sldId id="363" r:id="rId25"/>
    <p:sldId id="320" r:id="rId26"/>
    <p:sldId id="364" r:id="rId27"/>
    <p:sldId id="365" r:id="rId28"/>
    <p:sldId id="316" r:id="rId29"/>
    <p:sldId id="317" r:id="rId30"/>
    <p:sldId id="318" r:id="rId31"/>
    <p:sldId id="324" r:id="rId32"/>
    <p:sldId id="325" r:id="rId33"/>
    <p:sldId id="369" r:id="rId34"/>
    <p:sldId id="370" r:id="rId35"/>
    <p:sldId id="357" r:id="rId36"/>
    <p:sldId id="358" r:id="rId37"/>
    <p:sldId id="371" r:id="rId38"/>
    <p:sldId id="384" r:id="rId39"/>
    <p:sldId id="374" r:id="rId40"/>
    <p:sldId id="375" r:id="rId41"/>
    <p:sldId id="376" r:id="rId42"/>
    <p:sldId id="377" r:id="rId43"/>
    <p:sldId id="385" r:id="rId44"/>
    <p:sldId id="378" r:id="rId45"/>
    <p:sldId id="379" r:id="rId46"/>
    <p:sldId id="380" r:id="rId47"/>
    <p:sldId id="381" r:id="rId48"/>
    <p:sldId id="383" r:id="rId49"/>
    <p:sldId id="386" r:id="rId50"/>
    <p:sldId id="387" r:id="rId51"/>
    <p:sldId id="321" r:id="rId52"/>
    <p:sldId id="399" r:id="rId53"/>
    <p:sldId id="390" r:id="rId54"/>
    <p:sldId id="400" r:id="rId55"/>
    <p:sldId id="391" r:id="rId56"/>
    <p:sldId id="397" r:id="rId57"/>
    <p:sldId id="398" r:id="rId58"/>
    <p:sldId id="328" r:id="rId59"/>
    <p:sldId id="389" r:id="rId60"/>
    <p:sldId id="388" r:id="rId61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i="1" kern="1200">
        <a:solidFill>
          <a:schemeClr val="tx2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i="1" kern="1200">
        <a:solidFill>
          <a:schemeClr val="tx2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i="1" kern="1200">
        <a:solidFill>
          <a:schemeClr val="tx2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i="1" kern="1200">
        <a:solidFill>
          <a:schemeClr val="tx2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i="1" kern="1200">
        <a:solidFill>
          <a:schemeClr val="tx2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i="1" kern="1200">
        <a:solidFill>
          <a:schemeClr val="tx2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i="1" kern="1200">
        <a:solidFill>
          <a:schemeClr val="tx2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i="1" kern="1200">
        <a:solidFill>
          <a:schemeClr val="tx2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i="1" kern="1200">
        <a:solidFill>
          <a:schemeClr val="tx2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61F6"/>
    <a:srgbClr val="5674F6"/>
    <a:srgbClr val="6289F8"/>
    <a:srgbClr val="8097F8"/>
    <a:srgbClr val="F8F0D0"/>
    <a:srgbClr val="F2E4AA"/>
    <a:srgbClr val="000000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0" autoAdjust="0"/>
    <p:restoredTop sz="94686" autoAdjust="0"/>
  </p:normalViewPr>
  <p:slideViewPr>
    <p:cSldViewPr>
      <p:cViewPr>
        <p:scale>
          <a:sx n="85" d="100"/>
          <a:sy n="85" d="100"/>
        </p:scale>
        <p:origin x="-714" y="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31.xml"/><Relationship Id="rId13" Type="http://schemas.openxmlformats.org/officeDocument/2006/relationships/slide" Target="slides/slide58.xml"/><Relationship Id="rId3" Type="http://schemas.openxmlformats.org/officeDocument/2006/relationships/slide" Target="slides/slide23.xml"/><Relationship Id="rId7" Type="http://schemas.openxmlformats.org/officeDocument/2006/relationships/slide" Target="slides/slide30.xml"/><Relationship Id="rId12" Type="http://schemas.openxmlformats.org/officeDocument/2006/relationships/slide" Target="slides/slide51.xml"/><Relationship Id="rId2" Type="http://schemas.openxmlformats.org/officeDocument/2006/relationships/slide" Target="slides/slide14.xml"/><Relationship Id="rId1" Type="http://schemas.openxmlformats.org/officeDocument/2006/relationships/slide" Target="slides/slide4.xml"/><Relationship Id="rId6" Type="http://schemas.openxmlformats.org/officeDocument/2006/relationships/slide" Target="slides/slide29.xml"/><Relationship Id="rId11" Type="http://schemas.openxmlformats.org/officeDocument/2006/relationships/slide" Target="slides/slide40.xml"/><Relationship Id="rId5" Type="http://schemas.openxmlformats.org/officeDocument/2006/relationships/slide" Target="slides/slide28.xml"/><Relationship Id="rId10" Type="http://schemas.openxmlformats.org/officeDocument/2006/relationships/slide" Target="slides/slide39.xml"/><Relationship Id="rId4" Type="http://schemas.openxmlformats.org/officeDocument/2006/relationships/slide" Target="slides/slide25.xml"/><Relationship Id="rId9" Type="http://schemas.openxmlformats.org/officeDocument/2006/relationships/slide" Target="slides/slide32.xml"/><Relationship Id="rId14" Type="http://schemas.openxmlformats.org/officeDocument/2006/relationships/slide" Target="slides/slide6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 b="0" i="0">
                <a:solidFill>
                  <a:schemeClr val="tx1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 b="0" i="0">
                <a:solidFill>
                  <a:schemeClr val="tx1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fld id="{CDF86009-AE93-4848-A8BA-CF9D405F1E2C}" type="datetime8">
              <a:rPr lang="en-US"/>
              <a:pPr>
                <a:defRPr/>
              </a:pPr>
              <a:t>3/27/2014 7:17 AM</a:t>
            </a:fld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 b="0" i="0">
                <a:solidFill>
                  <a:schemeClr val="tx1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 b="0" i="0">
                <a:solidFill>
                  <a:schemeClr val="tx1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fld id="{844A0A98-DF43-446D-A34B-247A102B82D7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83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 b="0" i="0">
                <a:solidFill>
                  <a:schemeClr val="tx1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 b="0" i="0">
                <a:solidFill>
                  <a:schemeClr val="tx1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fld id="{95F6E4BC-F1A1-47B1-B451-E9C946847A9A}" type="datetime8">
              <a:rPr lang="en-US"/>
              <a:pPr>
                <a:defRPr/>
              </a:pPr>
              <a:t>3/27/2014 7:16 AM</a:t>
            </a:fld>
            <a:endParaRPr lang="en-US"/>
          </a:p>
        </p:txBody>
      </p:sp>
      <p:sp>
        <p:nvSpPr>
          <p:cNvPr id="65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 b="0" i="0">
                <a:solidFill>
                  <a:schemeClr val="tx1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 b="0" i="0">
                <a:solidFill>
                  <a:schemeClr val="tx1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fld id="{0A3B5C22-0C21-4B4D-9B5E-E3625D51B41C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71767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sz="1300" b="0" i="0" smtClean="0">
                <a:solidFill>
                  <a:schemeClr val="tx1"/>
                </a:solidFill>
                <a:latin typeface="Tahoma" pitchFamily="34" charset="0"/>
              </a:rPr>
              <a:t>Trees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6A4312DD-1D6B-47D5-B55B-013797C625AD}" type="datetime8">
              <a:rPr lang="en-US" sz="1300" b="0" i="0" smtClean="0">
                <a:solidFill>
                  <a:schemeClr val="tx1"/>
                </a:solidFill>
                <a:latin typeface="Tahoma" pitchFamily="34" charset="0"/>
              </a:rPr>
              <a:pPr/>
              <a:t>3/27/2014 7:16 AM</a:t>
            </a:fld>
            <a:endParaRPr lang="en-US" sz="1300" b="0" i="0" smtClean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665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A328D9CB-EBB0-4B6D-9B55-51684D7EC746}" type="slidenum">
              <a:rPr lang="ar-SA" sz="1300" b="0" i="0" smtClean="0">
                <a:solidFill>
                  <a:schemeClr val="tx1"/>
                </a:solidFill>
                <a:latin typeface="Tahoma" pitchFamily="34" charset="0"/>
              </a:rPr>
              <a:pPr/>
              <a:t>1</a:t>
            </a:fld>
            <a:endParaRPr lang="en-US" sz="1300" b="0" i="0" smtClean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665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sz="1300" b="0" i="0" smtClean="0">
                <a:solidFill>
                  <a:schemeClr val="tx1"/>
                </a:solidFill>
                <a:latin typeface="Tahoma" pitchFamily="34" charset="0"/>
              </a:rPr>
              <a:t>Trees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02EB19C1-3FD0-41D6-9A32-40F2224076B9}" type="datetime8">
              <a:rPr lang="en-US" sz="1300" b="0" i="0" smtClean="0">
                <a:solidFill>
                  <a:schemeClr val="tx1"/>
                </a:solidFill>
                <a:latin typeface="Tahoma" pitchFamily="34" charset="0"/>
              </a:rPr>
              <a:pPr/>
              <a:t>3/27/2014 7:16 AM</a:t>
            </a:fld>
            <a:endParaRPr lang="en-US" sz="1300" b="0" i="0" smtClean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675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4BCA3B9F-1E51-498D-8F40-DDC2BA986CE6}" type="slidenum">
              <a:rPr lang="ar-SA" sz="1300" b="0" i="0" smtClean="0">
                <a:solidFill>
                  <a:schemeClr val="tx1"/>
                </a:solidFill>
                <a:latin typeface="Tahoma" pitchFamily="34" charset="0"/>
              </a:rPr>
              <a:pPr/>
              <a:t>37</a:t>
            </a:fld>
            <a:endParaRPr lang="en-US" sz="1300" b="0" i="0" smtClean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675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5238" y="727075"/>
            <a:ext cx="4775200" cy="3581400"/>
          </a:xfrm>
          <a:ln/>
        </p:spPr>
      </p:sp>
      <p:sp>
        <p:nvSpPr>
          <p:cNvPr id="675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4538"/>
            <a:ext cx="5353050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sz="1300" b="0" i="0" smtClean="0">
                <a:solidFill>
                  <a:schemeClr val="tx1"/>
                </a:solidFill>
                <a:latin typeface="Tahoma" pitchFamily="34" charset="0"/>
              </a:rPr>
              <a:t>Trees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2A5390EF-17AF-4804-A524-A0CC3C1DA81A}" type="datetime8">
              <a:rPr lang="en-US" sz="1300" b="0" i="0" smtClean="0">
                <a:solidFill>
                  <a:schemeClr val="tx1"/>
                </a:solidFill>
                <a:latin typeface="Tahoma" pitchFamily="34" charset="0"/>
              </a:rPr>
              <a:pPr/>
              <a:t>3/27/2014 7:16 AM</a:t>
            </a:fld>
            <a:endParaRPr lang="en-US" sz="1300" b="0" i="0" smtClean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686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CCA5267F-5461-422E-981B-9C93D2AB3B39}" type="slidenum">
              <a:rPr lang="ar-SA" sz="1300" b="0" i="0" smtClean="0">
                <a:solidFill>
                  <a:schemeClr val="tx1"/>
                </a:solidFill>
                <a:latin typeface="Tahoma" pitchFamily="34" charset="0"/>
              </a:rPr>
              <a:pPr/>
              <a:t>38</a:t>
            </a:fld>
            <a:endParaRPr lang="en-US" sz="1300" b="0" i="0" smtClean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686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ln/>
        </p:spPr>
      </p:sp>
      <p:sp>
        <p:nvSpPr>
          <p:cNvPr id="686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sz="1300" b="0" i="0" smtClean="0">
                <a:solidFill>
                  <a:schemeClr val="tx1"/>
                </a:solidFill>
                <a:latin typeface="Tahoma" pitchFamily="34" charset="0"/>
              </a:rPr>
              <a:t>Trees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BC008222-AED8-4F62-A3CD-ED571AB7588C}" type="datetime8">
              <a:rPr lang="en-US" sz="1300" b="0" i="0" smtClean="0">
                <a:solidFill>
                  <a:schemeClr val="tx1"/>
                </a:solidFill>
                <a:latin typeface="Tahoma" pitchFamily="34" charset="0"/>
              </a:rPr>
              <a:pPr/>
              <a:t>3/27/2014 7:16 AM</a:t>
            </a:fld>
            <a:endParaRPr lang="en-US" sz="1300" b="0" i="0" smtClean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696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3DAA8E71-347D-4597-B738-2B2993F7577E}" type="slidenum">
              <a:rPr lang="ar-SA" sz="1300" b="0" i="0" smtClean="0">
                <a:solidFill>
                  <a:schemeClr val="tx1"/>
                </a:solidFill>
                <a:latin typeface="Tahoma" pitchFamily="34" charset="0"/>
              </a:rPr>
              <a:pPr/>
              <a:t>48</a:t>
            </a:fld>
            <a:endParaRPr lang="en-US" sz="1300" b="0" i="0" smtClean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696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4125" y="719138"/>
            <a:ext cx="4794250" cy="3595687"/>
          </a:xfrm>
          <a:ln/>
        </p:spPr>
      </p:sp>
      <p:sp>
        <p:nvSpPr>
          <p:cNvPr id="696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4554538"/>
            <a:ext cx="5356225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sz="1300" b="0" i="0" smtClean="0">
                <a:solidFill>
                  <a:schemeClr val="tx1"/>
                </a:solidFill>
                <a:latin typeface="Tahoma" pitchFamily="34" charset="0"/>
              </a:rPr>
              <a:t>Trees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24150633-BA1D-4517-8E2E-A64A8D1CB319}" type="datetime8">
              <a:rPr lang="en-US" sz="1300" b="0" i="0" smtClean="0">
                <a:solidFill>
                  <a:schemeClr val="tx1"/>
                </a:solidFill>
                <a:latin typeface="Tahoma" pitchFamily="34" charset="0"/>
              </a:rPr>
              <a:pPr/>
              <a:t>3/27/2014 7:16 AM</a:t>
            </a:fld>
            <a:endParaRPr lang="en-US" sz="1300" b="0" i="0" smtClean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706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3E4626AB-C033-406E-8F42-BB6E54243CD3}" type="slidenum">
              <a:rPr lang="ar-SA" sz="1300" b="0" i="0" smtClean="0">
                <a:solidFill>
                  <a:schemeClr val="tx1"/>
                </a:solidFill>
                <a:latin typeface="Tahoma" pitchFamily="34" charset="0"/>
              </a:rPr>
              <a:pPr/>
              <a:t>53</a:t>
            </a:fld>
            <a:endParaRPr lang="en-US" sz="1300" b="0" i="0" smtClean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706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5238" y="727075"/>
            <a:ext cx="4775200" cy="3581400"/>
          </a:xfrm>
          <a:ln/>
        </p:spPr>
      </p:sp>
      <p:sp>
        <p:nvSpPr>
          <p:cNvPr id="706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4538"/>
            <a:ext cx="5353050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sz="1300" b="0" i="0" smtClean="0">
                <a:solidFill>
                  <a:schemeClr val="tx1"/>
                </a:solidFill>
                <a:latin typeface="Tahoma" pitchFamily="34" charset="0"/>
              </a:rPr>
              <a:t>Trees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FF24DD07-1E9E-40B0-B047-733B073471AD}" type="datetime8">
              <a:rPr lang="en-US" sz="1300" b="0" i="0" smtClean="0">
                <a:solidFill>
                  <a:schemeClr val="tx1"/>
                </a:solidFill>
                <a:latin typeface="Tahoma" pitchFamily="34" charset="0"/>
              </a:rPr>
              <a:pPr/>
              <a:t>3/27/2014 7:16 AM</a:t>
            </a:fld>
            <a:endParaRPr lang="en-US" sz="1300" b="0" i="0" smtClean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716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 defTabSz="9652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fld id="{C965B1F0-2B8D-4FFC-9C2B-4035795B555D}" type="slidenum">
              <a:rPr lang="ar-SA" sz="1300" b="0" i="0" smtClean="0">
                <a:solidFill>
                  <a:schemeClr val="tx1"/>
                </a:solidFill>
                <a:latin typeface="Tahoma" pitchFamily="34" charset="0"/>
              </a:rPr>
              <a:pPr/>
              <a:t>55</a:t>
            </a:fld>
            <a:endParaRPr lang="en-US" sz="1300" b="0" i="0" smtClean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716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5238" y="727075"/>
            <a:ext cx="4775200" cy="3581400"/>
          </a:xfrm>
          <a:ln/>
        </p:spPr>
      </p:sp>
      <p:sp>
        <p:nvSpPr>
          <p:cNvPr id="716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4538"/>
            <a:ext cx="5353050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152400" y="6451600"/>
            <a:ext cx="2387600" cy="3048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1400" b="0" i="0">
                <a:solidFill>
                  <a:schemeClr val="tx1"/>
                </a:solidFill>
                <a:latin typeface="Tahoma" pitchFamily="34" charset="0"/>
              </a:rPr>
              <a:t>© 2004 Goodrich, Tamassia</a:t>
            </a:r>
          </a:p>
        </p:txBody>
      </p:sp>
      <p:sp>
        <p:nvSpPr>
          <p:cNvPr id="5" name="Text Box 8"/>
          <p:cNvSpPr txBox="1">
            <a:spLocks noChangeArrowheads="1"/>
          </p:cNvSpPr>
          <p:nvPr userDrawn="1"/>
        </p:nvSpPr>
        <p:spPr bwMode="auto">
          <a:xfrm>
            <a:off x="152400" y="6451600"/>
            <a:ext cx="2387600" cy="3048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1400" b="0" i="0">
                <a:solidFill>
                  <a:schemeClr val="tx1"/>
                </a:solidFill>
                <a:latin typeface="Tahoma" pitchFamily="34" charset="0"/>
              </a:rPr>
              <a:t>© 2004 Goodrich, Tamassia</a:t>
            </a:r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27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9F0AA6-FDA4-45CB-90EE-1C1951F8920E}" type="datetime8">
              <a:rPr lang="en-US"/>
              <a:pPr>
                <a:defRPr/>
              </a:pPr>
              <a:t>3/27/2014 7:16 AM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24A55E-057F-4A96-AF70-AA4B4E1FE826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1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C8835F-7353-4467-8833-AD144FB8F11B}" type="datetime8">
              <a:rPr lang="en-US"/>
              <a:pPr>
                <a:defRPr/>
              </a:pPr>
              <a:t>3/27/2014 7:16 AM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2AC6C-D07D-474F-B97D-A9779DF6F7EF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63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42C97E-B4E0-4067-AC3A-B4ED1B4748BF}" type="datetime8">
              <a:rPr lang="en-US"/>
              <a:pPr>
                <a:defRPr/>
              </a:pPr>
              <a:t>3/27/2014 7:16 AM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201F7-B459-42A3-8F0F-180A542AD73E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910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CF91E-5DC9-4C71-94C8-E4E38E1E2F6B}" type="datetime8">
              <a:rPr lang="en-US"/>
              <a:pPr>
                <a:defRPr/>
              </a:pPr>
              <a:t>3/27/2014 7:16 AM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DD20BB-7078-4A30-B781-60F216078252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45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E6C609-8318-400B-8C2D-7C04440DE9A0}" type="datetime8">
              <a:rPr lang="en-US"/>
              <a:pPr>
                <a:defRPr/>
              </a:pPr>
              <a:t>3/27/2014 7:16 AM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041F9C-8D41-4233-BDA2-635412181251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35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7766BA-F4DD-46BE-B599-F07E6B4C1317}" type="datetime8">
              <a:rPr lang="en-US"/>
              <a:pPr>
                <a:defRPr/>
              </a:pPr>
              <a:t>3/27/2014 7:16 AM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363AB8-9CD3-4706-B970-844AE58B397E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15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BD8E58-71DB-46C3-9866-2C8E1C549977}" type="datetime8">
              <a:rPr lang="en-US"/>
              <a:pPr>
                <a:defRPr/>
              </a:pPr>
              <a:t>3/27/2014 7:16 AM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C66FA4-9823-442F-8526-59D40A7ECE2C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745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501DC5-0B39-42F6-98E3-A5925CEDE92F}" type="datetime8">
              <a:rPr lang="en-US"/>
              <a:pPr>
                <a:defRPr/>
              </a:pPr>
              <a:t>3/27/2014 7:16 AM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F66CB3-E57F-40BD-B6F5-2BC17EA298D9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123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25FA40-8A0E-4E51-9620-55F13B90FA44}" type="datetime8">
              <a:rPr lang="en-US"/>
              <a:pPr>
                <a:defRPr/>
              </a:pPr>
              <a:t>3/27/2014 7:16 AM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43A8B8-A300-4526-A1C2-4FC89A7F76BF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862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793C96-38B4-435C-BBD4-183E4DA665E0}" type="datetime8">
              <a:rPr lang="en-US"/>
              <a:pPr>
                <a:defRPr/>
              </a:pPr>
              <a:t>3/27/2014 7:16 AM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F65218-A972-4745-98AA-71811FC77A48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F92D3B-D8CC-477B-93FE-29882AB72197}" type="datetime8">
              <a:rPr lang="en-US"/>
              <a:pPr>
                <a:defRPr/>
              </a:pPr>
              <a:t>3/27/2014 7:16 AM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9D4434-23A9-4E0C-B375-3E8C7A5595E2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37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81D3F-CBA7-4178-AF7C-C69A994BC6D2}" type="datetime8">
              <a:rPr lang="en-US"/>
              <a:pPr>
                <a:defRPr/>
              </a:pPr>
              <a:t>3/27/2014 7:16 AM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ED1B46-13FC-42E6-B622-9A8A9F86E6C9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64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426DA2-C99B-4F5E-B4BD-1DC276E9D0E1}" type="datetime8">
              <a:rPr lang="en-US"/>
              <a:pPr>
                <a:defRPr/>
              </a:pPr>
              <a:t>3/27/2014 7:16 AM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F16397-16BE-4501-8BA2-776C39FE165A}" type="slidenum">
              <a:rPr lang="ar-SA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135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17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2296DB95-D7B9-4FA5-813D-3B03BBC3ED3D}" type="datetime8">
              <a:rPr lang="en-US"/>
              <a:pPr>
                <a:defRPr/>
              </a:pPr>
              <a:t>3/27/2014 7:16 AM</a:t>
            </a:fld>
            <a:endParaRPr lang="en-US"/>
          </a:p>
        </p:txBody>
      </p:sp>
      <p:sp>
        <p:nvSpPr>
          <p:cNvPr id="2017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0" i="0">
                <a:solidFill>
                  <a:schemeClr val="tx1"/>
                </a:solidFill>
                <a:latin typeface="+mn-lt"/>
                <a:cs typeface="Arial" charset="0"/>
              </a:defRPr>
            </a:lvl1pPr>
          </a:lstStyle>
          <a:p>
            <a:pPr>
              <a:defRPr/>
            </a:pPr>
            <a:fld id="{9DE47729-365B-4D3B-8EA8-782D27314194}" type="slidenum">
              <a:rPr lang="ar-SA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1735" name="Text Box 7"/>
          <p:cNvSpPr txBox="1">
            <a:spLocks noChangeArrowheads="1"/>
          </p:cNvSpPr>
          <p:nvPr/>
        </p:nvSpPr>
        <p:spPr bwMode="auto">
          <a:xfrm>
            <a:off x="152400" y="6451600"/>
            <a:ext cx="2387600" cy="3048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1400" b="0" i="0">
                <a:solidFill>
                  <a:schemeClr val="tx1"/>
                </a:solidFill>
                <a:latin typeface="Tahoma" pitchFamily="34" charset="0"/>
              </a:rPr>
              <a:t>© 2004 Goodrich, Tamassia</a:t>
            </a:r>
          </a:p>
        </p:txBody>
      </p:sp>
      <p:sp>
        <p:nvSpPr>
          <p:cNvPr id="201736" name="Text Box 8"/>
          <p:cNvSpPr txBox="1">
            <a:spLocks noChangeArrowheads="1"/>
          </p:cNvSpPr>
          <p:nvPr userDrawn="1"/>
        </p:nvSpPr>
        <p:spPr bwMode="auto">
          <a:xfrm>
            <a:off x="152400" y="6451600"/>
            <a:ext cx="2387600" cy="3048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1400" b="0" i="0">
                <a:solidFill>
                  <a:schemeClr val="tx1"/>
                </a:solidFill>
                <a:latin typeface="Tahoma" pitchFamily="34" charset="0"/>
              </a:rPr>
              <a:t>© 2004 Goodrich, Tamassia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72F286-7CFC-4390-B3DA-BABB1CBE7447}" type="slidenum">
              <a:rPr lang="ar-SA"/>
              <a:pPr>
                <a:defRPr/>
              </a:pPr>
              <a:t>1</a:t>
            </a:fld>
            <a:endParaRPr lang="en-US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838200"/>
            <a:ext cx="7772400" cy="1524000"/>
          </a:xfrm>
        </p:spPr>
        <p:txBody>
          <a:bodyPr/>
          <a:lstStyle/>
          <a:p>
            <a:pPr eaLnBrk="1" hangingPunct="1"/>
            <a:r>
              <a:rPr lang="en-US" sz="4000" smtClean="0"/>
              <a:t/>
            </a:r>
            <a:br>
              <a:rPr lang="en-US" sz="4000" smtClean="0"/>
            </a:br>
            <a:r>
              <a:rPr lang="en-US" sz="4000" smtClean="0"/>
              <a:t/>
            </a:r>
            <a:br>
              <a:rPr lang="en-US" sz="4000" smtClean="0"/>
            </a:br>
            <a:r>
              <a:rPr lang="en-US" sz="4000" smtClean="0"/>
              <a:t/>
            </a:r>
            <a:br>
              <a:rPr lang="en-US" sz="4000" smtClean="0"/>
            </a:br>
            <a:r>
              <a:rPr lang="en-US" sz="4000" smtClean="0"/>
              <a:t/>
            </a:r>
            <a:br>
              <a:rPr lang="en-US" sz="4000" smtClean="0"/>
            </a:br>
            <a:r>
              <a:rPr lang="en-US" sz="4000" smtClean="0"/>
              <a:t/>
            </a:r>
            <a:br>
              <a:rPr lang="en-US" sz="4000" smtClean="0"/>
            </a:br>
            <a:r>
              <a:rPr lang="en-US" sz="4000" smtClean="0"/>
              <a:t/>
            </a:r>
            <a:br>
              <a:rPr lang="en-US" sz="4000" smtClean="0"/>
            </a:br>
            <a:r>
              <a:rPr lang="en-US" sz="4000" smtClean="0"/>
              <a:t>Chapter 2.3</a:t>
            </a:r>
            <a:br>
              <a:rPr lang="en-US" sz="4000" smtClean="0"/>
            </a:br>
            <a:r>
              <a:rPr lang="en-US" sz="4000" smtClean="0"/>
              <a:t>  Trees</a:t>
            </a:r>
          </a:p>
        </p:txBody>
      </p:sp>
      <p:sp>
        <p:nvSpPr>
          <p:cNvPr id="4101" name="AutoShape 251"/>
          <p:cNvSpPr>
            <a:spLocks noChangeAspect="1" noChangeArrowheads="1"/>
          </p:cNvSpPr>
          <p:nvPr/>
        </p:nvSpPr>
        <p:spPr bwMode="auto">
          <a:xfrm>
            <a:off x="4340225" y="3451225"/>
            <a:ext cx="1865313" cy="3841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Make Money Fast!</a:t>
            </a:r>
          </a:p>
        </p:txBody>
      </p:sp>
      <p:sp>
        <p:nvSpPr>
          <p:cNvPr id="4102" name="AutoShape 252"/>
          <p:cNvSpPr>
            <a:spLocks noChangeAspect="1" noChangeArrowheads="1"/>
          </p:cNvSpPr>
          <p:nvPr/>
        </p:nvSpPr>
        <p:spPr bwMode="auto">
          <a:xfrm>
            <a:off x="3276600" y="4451350"/>
            <a:ext cx="765175" cy="6540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Stock</a:t>
            </a:r>
            <a:br>
              <a:rPr lang="en-US" sz="1600" b="0" i="0">
                <a:solidFill>
                  <a:schemeClr val="tx1"/>
                </a:solidFill>
                <a:latin typeface="Tahoma" pitchFamily="34" charset="0"/>
              </a:rPr>
            </a:b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Fraud</a:t>
            </a:r>
          </a:p>
        </p:txBody>
      </p:sp>
      <p:sp>
        <p:nvSpPr>
          <p:cNvPr id="4103" name="AutoShape 253"/>
          <p:cNvSpPr>
            <a:spLocks noChangeAspect="1" noChangeArrowheads="1"/>
          </p:cNvSpPr>
          <p:nvPr/>
        </p:nvSpPr>
        <p:spPr bwMode="auto">
          <a:xfrm>
            <a:off x="4791075" y="4451350"/>
            <a:ext cx="957263" cy="6540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Ponzi</a:t>
            </a:r>
            <a:br>
              <a:rPr lang="en-US" sz="1600" b="0" i="0">
                <a:solidFill>
                  <a:schemeClr val="tx1"/>
                </a:solidFill>
                <a:latin typeface="Tahoma" pitchFamily="34" charset="0"/>
              </a:rPr>
            </a:b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Scheme</a:t>
            </a:r>
          </a:p>
        </p:txBody>
      </p:sp>
      <p:cxnSp>
        <p:nvCxnSpPr>
          <p:cNvPr id="4104" name="AutoShape 254"/>
          <p:cNvCxnSpPr>
            <a:cxnSpLocks noChangeShapeType="1"/>
            <a:stCxn id="4101" idx="2"/>
            <a:endCxn id="4103" idx="0"/>
          </p:cNvCxnSpPr>
          <p:nvPr/>
        </p:nvCxnSpPr>
        <p:spPr bwMode="auto">
          <a:xfrm flipH="1">
            <a:off x="5270500" y="3844925"/>
            <a:ext cx="3175" cy="596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5" name="AutoShape 255"/>
          <p:cNvCxnSpPr>
            <a:cxnSpLocks noChangeShapeType="1"/>
            <a:stCxn id="4101" idx="2"/>
            <a:endCxn id="4102" idx="0"/>
          </p:cNvCxnSpPr>
          <p:nvPr/>
        </p:nvCxnSpPr>
        <p:spPr bwMode="auto">
          <a:xfrm flipH="1">
            <a:off x="3659188" y="3844925"/>
            <a:ext cx="1614487" cy="5969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6" name="AutoShape 256"/>
          <p:cNvSpPr>
            <a:spLocks noChangeAspect="1" noChangeArrowheads="1"/>
          </p:cNvSpPr>
          <p:nvPr/>
        </p:nvSpPr>
        <p:spPr bwMode="auto">
          <a:xfrm>
            <a:off x="6394450" y="4449763"/>
            <a:ext cx="996950" cy="6540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Bank</a:t>
            </a:r>
            <a:br>
              <a:rPr lang="en-US" sz="1600" b="0" i="0">
                <a:solidFill>
                  <a:schemeClr val="tx1"/>
                </a:solidFill>
                <a:latin typeface="Tahoma" pitchFamily="34" charset="0"/>
              </a:rPr>
            </a:b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Robbery</a:t>
            </a:r>
          </a:p>
        </p:txBody>
      </p:sp>
      <p:cxnSp>
        <p:nvCxnSpPr>
          <p:cNvPr id="4107" name="AutoShape 257"/>
          <p:cNvCxnSpPr>
            <a:cxnSpLocks noChangeShapeType="1"/>
            <a:stCxn id="4101" idx="2"/>
            <a:endCxn id="4106" idx="0"/>
          </p:cNvCxnSpPr>
          <p:nvPr/>
        </p:nvCxnSpPr>
        <p:spPr bwMode="auto">
          <a:xfrm>
            <a:off x="5273675" y="3844925"/>
            <a:ext cx="1619250" cy="595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B87E1D-A195-46E4-A280-E4F8D1750EB6}" type="slidenum">
              <a:rPr lang="ar-SA"/>
              <a:pPr>
                <a:defRPr/>
              </a:pPr>
              <a:t>2</a:t>
            </a:fld>
            <a:endParaRPr lang="en-US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2.3 General Trees</a:t>
            </a:r>
          </a:p>
        </p:txBody>
      </p:sp>
      <p:sp>
        <p:nvSpPr>
          <p:cNvPr id="512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i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one of the most important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non-linear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Data Structures in computing.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structures allow us to implement a host of algorithms much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faster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than when using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linear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data structures, such as list.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Trees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also provide a natural way to organize data in many areas such as: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File systems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Graphical User Interfaces (GUI)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Databases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Web Sites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many other computer systems.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B90056-1C21-4D28-99CF-AC1BDD1083FE}" type="slidenum">
              <a:rPr lang="ar-SA"/>
              <a:pPr>
                <a:defRPr/>
              </a:pPr>
              <a:t>3</a:t>
            </a:fld>
            <a:endParaRPr lang="en-US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84213"/>
          </a:xfrm>
        </p:spPr>
        <p:txBody>
          <a:bodyPr/>
          <a:lstStyle/>
          <a:p>
            <a:pPr eaLnBrk="1" hangingPunct="1"/>
            <a:r>
              <a:rPr lang="en-US" sz="2800" smtClean="0"/>
              <a:t>Tree Structure</a:t>
            </a:r>
          </a:p>
        </p:txBody>
      </p:sp>
      <p:sp>
        <p:nvSpPr>
          <p:cNvPr id="614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066800"/>
            <a:ext cx="7772400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700" smtClean="0"/>
              <a:t>In computer science, a 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z="2700" smtClean="0"/>
              <a:t> is an abstract data type that stores elements in a 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hierarchical</a:t>
            </a:r>
            <a:r>
              <a:rPr lang="en-US" sz="2700" smtClean="0"/>
              <a:t> structure.</a:t>
            </a:r>
          </a:p>
          <a:p>
            <a:pPr eaLnBrk="1" hangingPunct="1">
              <a:lnSpc>
                <a:spcPct val="80000"/>
              </a:lnSpc>
            </a:pPr>
            <a:r>
              <a:rPr lang="en-US" sz="2700" smtClean="0"/>
              <a:t>A 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z="2700" smtClean="0"/>
              <a:t> consists of nodes with 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a parent-child</a:t>
            </a:r>
            <a:r>
              <a:rPr lang="en-US" sz="2700" smtClean="0"/>
              <a:t> relationship, rather than the simple “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before</a:t>
            </a:r>
            <a:r>
              <a:rPr lang="en-US" sz="2700" smtClean="0"/>
              <a:t>” and “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after</a:t>
            </a:r>
            <a:r>
              <a:rPr lang="en-US" sz="2700" smtClean="0"/>
              <a:t>” relationship, found between objects in sequential (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linear</a:t>
            </a:r>
            <a:r>
              <a:rPr lang="en-US" sz="27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smtClean="0"/>
              <a:t>) structures.</a:t>
            </a:r>
          </a:p>
          <a:p>
            <a:pPr eaLnBrk="1" hangingPunct="1">
              <a:lnSpc>
                <a:spcPct val="80000"/>
              </a:lnSpc>
            </a:pPr>
            <a:r>
              <a:rPr lang="en-US" sz="2700" smtClean="0"/>
              <a:t>A famous example of 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hierarchical</a:t>
            </a:r>
            <a:r>
              <a:rPr lang="en-US" sz="2700" smtClean="0"/>
              <a:t> structure (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z="2700" smtClean="0"/>
              <a:t>) is the 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family tree</a:t>
            </a:r>
            <a:r>
              <a:rPr lang="en-US" sz="2700" smtClean="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sz="2700" smtClean="0"/>
              <a:t>Applications: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600" smtClean="0"/>
              <a:t>Organization charts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600" smtClean="0"/>
              <a:t>File systems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600" smtClean="0"/>
              <a:t>Programming environments</a:t>
            </a:r>
          </a:p>
          <a:p>
            <a:pPr eaLnBrk="1" hangingPunct="1">
              <a:lnSpc>
                <a:spcPct val="80000"/>
              </a:lnSpc>
            </a:pPr>
            <a:endParaRPr lang="en-US" sz="27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00C987-E43A-4AD3-8083-59EC6C83512D}" type="slidenum">
              <a:rPr lang="ar-SA"/>
              <a:pPr>
                <a:defRPr/>
              </a:pPr>
              <a:t>4</a:t>
            </a:fld>
            <a:endParaRPr lang="en-US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825500" y="314325"/>
            <a:ext cx="7340600" cy="630238"/>
          </a:xfrm>
        </p:spPr>
        <p:txBody>
          <a:bodyPr/>
          <a:lstStyle/>
          <a:p>
            <a:pPr eaLnBrk="1" hangingPunct="1"/>
            <a:r>
              <a:rPr lang="en-US" sz="3200" smtClean="0"/>
              <a:t>Tree Definitions and Properties</a:t>
            </a:r>
          </a:p>
        </p:txBody>
      </p:sp>
      <p:sp>
        <p:nvSpPr>
          <p:cNvPr id="717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066800"/>
            <a:ext cx="4648200" cy="48006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sz="2000" smtClean="0"/>
              <a:t>A </a:t>
            </a: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T, </a:t>
            </a:r>
            <a:r>
              <a:rPr lang="en-US" sz="2000" smtClean="0"/>
              <a:t>is an abstract data type that stores elements hierarchically.</a:t>
            </a:r>
          </a:p>
          <a:p>
            <a:pPr eaLnBrk="1" hangingPunct="1">
              <a:lnSpc>
                <a:spcPct val="110000"/>
              </a:lnSpc>
            </a:pPr>
            <a:r>
              <a:rPr lang="en-US" sz="2000" smtClean="0"/>
              <a:t>Except the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top</a:t>
            </a:r>
            <a:r>
              <a:rPr lang="en-US" sz="2000" smtClean="0"/>
              <a:t> element (</a:t>
            </a: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sz="2000" smtClean="0"/>
              <a:t>), each element in a tree has a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parent</a:t>
            </a:r>
            <a:r>
              <a:rPr lang="en-US" sz="2000" smtClean="0"/>
              <a:t> and zero or more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children</a:t>
            </a:r>
            <a:r>
              <a:rPr lang="en-US" sz="2000" smtClean="0"/>
              <a:t> elements.</a:t>
            </a:r>
          </a:p>
          <a:p>
            <a:pPr eaLnBrk="1" hangingPunct="1">
              <a:lnSpc>
                <a:spcPct val="110000"/>
              </a:lnSpc>
            </a:pP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sz="2000" smtClean="0"/>
              <a:t>: node without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parent</a:t>
            </a:r>
            <a:r>
              <a:rPr lang="en-US" sz="2000" smtClean="0"/>
              <a:t> (Node A)</a:t>
            </a:r>
          </a:p>
          <a:p>
            <a:pPr eaLnBrk="1" hangingPunct="1">
              <a:lnSpc>
                <a:spcPct val="110000"/>
              </a:lnSpc>
            </a:pP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Internal node</a:t>
            </a:r>
            <a:r>
              <a:rPr lang="en-US" sz="2000" smtClean="0"/>
              <a:t>: node with at least one child (A, B, C, F)</a:t>
            </a:r>
          </a:p>
          <a:p>
            <a:pPr eaLnBrk="1" hangingPunct="1">
              <a:lnSpc>
                <a:spcPct val="110000"/>
              </a:lnSpc>
            </a:pP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External node</a:t>
            </a:r>
            <a:r>
              <a:rPr lang="en-US" sz="2000" smtClean="0"/>
              <a:t> ( </a:t>
            </a: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leaf</a:t>
            </a:r>
            <a:r>
              <a:rPr lang="en-US" sz="2000" smtClean="0"/>
              <a:t> ): node without children (E, I, J, K, G, H, D)</a:t>
            </a:r>
          </a:p>
          <a:p>
            <a:pPr eaLnBrk="1" hangingPunct="1">
              <a:lnSpc>
                <a:spcPct val="110000"/>
              </a:lnSpc>
            </a:pP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Sibling nodes</a:t>
            </a:r>
            <a:r>
              <a:rPr lang="en-US" sz="2000" smtClean="0"/>
              <a:t>: Two nodes that are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children</a:t>
            </a:r>
            <a:r>
              <a:rPr lang="en-US" sz="2000" smtClean="0"/>
              <a:t> of the same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parent</a:t>
            </a:r>
            <a:r>
              <a:rPr lang="en-US" sz="2000" smtClean="0"/>
              <a:t> are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Siblings</a:t>
            </a: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mtClean="0"/>
              <a:t>.</a:t>
            </a:r>
          </a:p>
        </p:txBody>
      </p:sp>
      <p:sp>
        <p:nvSpPr>
          <p:cNvPr id="7174" name="Rectangle 27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5257800" y="11430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b="0">
                <a:cs typeface="Times New Roman" pitchFamily="18" charset="0"/>
              </a:rPr>
              <a:t>Depth</a:t>
            </a:r>
            <a:r>
              <a:rPr lang="en-US" sz="2000" b="0" i="0">
                <a:solidFill>
                  <a:schemeClr val="tx1"/>
                </a:solidFill>
                <a:latin typeface="Tahoma" pitchFamily="34" charset="0"/>
              </a:rPr>
              <a:t> of a </a:t>
            </a:r>
            <a:r>
              <a:rPr lang="en-US" sz="2000" b="0">
                <a:solidFill>
                  <a:schemeClr val="tx1"/>
                </a:solidFill>
                <a:cs typeface="Times New Roman" pitchFamily="18" charset="0"/>
              </a:rPr>
              <a:t>node</a:t>
            </a:r>
            <a:r>
              <a:rPr lang="en-US" sz="2000" b="0" i="0">
                <a:solidFill>
                  <a:schemeClr val="tx1"/>
                </a:solidFill>
                <a:latin typeface="Tahoma" pitchFamily="34" charset="0"/>
              </a:rPr>
              <a:t>: number of its </a:t>
            </a:r>
            <a:r>
              <a:rPr lang="en-US" sz="2000" b="0">
                <a:solidFill>
                  <a:schemeClr val="tx1"/>
                </a:solidFill>
                <a:cs typeface="Times New Roman" pitchFamily="18" charset="0"/>
              </a:rPr>
              <a:t>ancestors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b="0" i="0">
                <a:solidFill>
                  <a:schemeClr val="tx1"/>
                </a:solidFill>
                <a:latin typeface="Tahoma" pitchFamily="34" charset="0"/>
              </a:rPr>
              <a:t> </a:t>
            </a:r>
            <a:r>
              <a:rPr lang="en-US" sz="2000" b="0">
                <a:cs typeface="Times New Roman" pitchFamily="18" charset="0"/>
              </a:rPr>
              <a:t>Height</a:t>
            </a:r>
            <a:r>
              <a:rPr lang="en-US" sz="2000" b="0" i="0">
                <a:solidFill>
                  <a:schemeClr val="tx1"/>
                </a:solidFill>
                <a:latin typeface="Tahoma" pitchFamily="34" charset="0"/>
              </a:rPr>
              <a:t> of a </a:t>
            </a:r>
            <a:r>
              <a:rPr lang="en-US" sz="2000" b="0">
                <a:solidFill>
                  <a:schemeClr val="tx1"/>
                </a:solidFill>
                <a:cs typeface="Times New Roman" pitchFamily="18" charset="0"/>
              </a:rPr>
              <a:t>tree</a:t>
            </a:r>
            <a:r>
              <a:rPr lang="en-US" sz="2000" b="0" i="0">
                <a:solidFill>
                  <a:schemeClr val="tx1"/>
                </a:solidFill>
                <a:latin typeface="Tahoma" pitchFamily="34" charset="0"/>
              </a:rPr>
              <a:t>: maximum </a:t>
            </a:r>
            <a:r>
              <a:rPr lang="en-US" sz="2000" b="0">
                <a:solidFill>
                  <a:schemeClr val="tx1"/>
                </a:solidFill>
                <a:cs typeface="Times New Roman" pitchFamily="18" charset="0"/>
              </a:rPr>
              <a:t>depth</a:t>
            </a:r>
            <a:r>
              <a:rPr lang="en-US" sz="2000" b="0" i="0">
                <a:solidFill>
                  <a:schemeClr val="tx1"/>
                </a:solidFill>
                <a:latin typeface="Tahoma" pitchFamily="34" charset="0"/>
              </a:rPr>
              <a:t> of any </a:t>
            </a:r>
            <a:r>
              <a:rPr lang="en-US" sz="2000" b="0">
                <a:solidFill>
                  <a:schemeClr val="tx1"/>
                </a:solidFill>
                <a:cs typeface="Times New Roman" pitchFamily="18" charset="0"/>
              </a:rPr>
              <a:t>node</a:t>
            </a:r>
            <a:endParaRPr lang="en-US" sz="2000" b="0" i="0">
              <a:solidFill>
                <a:schemeClr val="tx1"/>
              </a:solidFill>
              <a:latin typeface="Tahoma" pitchFamily="34" charset="0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b="0">
                <a:cs typeface="Times New Roman" pitchFamily="18" charset="0"/>
              </a:rPr>
              <a:t>Ancestors</a:t>
            </a:r>
            <a:r>
              <a:rPr lang="en-US" sz="2000" b="0" i="0">
                <a:solidFill>
                  <a:schemeClr val="tx1"/>
                </a:solidFill>
                <a:latin typeface="Tahoma" pitchFamily="34" charset="0"/>
              </a:rPr>
              <a:t> of a </a:t>
            </a:r>
            <a:r>
              <a:rPr lang="en-US" sz="2000" b="0">
                <a:solidFill>
                  <a:schemeClr val="tx1"/>
                </a:solidFill>
                <a:cs typeface="Times New Roman" pitchFamily="18" charset="0"/>
              </a:rPr>
              <a:t>node</a:t>
            </a:r>
            <a:r>
              <a:rPr lang="en-US" sz="2000" b="0" i="0">
                <a:solidFill>
                  <a:schemeClr val="tx1"/>
                </a:solidFill>
                <a:latin typeface="Tahoma" pitchFamily="34" charset="0"/>
              </a:rPr>
              <a:t>: parent, grandparent, grand-grandparent, … etc.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b="0" i="0">
                <a:solidFill>
                  <a:schemeClr val="tx1"/>
                </a:solidFill>
                <a:latin typeface="Tahoma" pitchFamily="34" charset="0"/>
              </a:rPr>
              <a:t> </a:t>
            </a:r>
            <a:r>
              <a:rPr lang="en-US" sz="2000" b="0">
                <a:cs typeface="Times New Roman" pitchFamily="18" charset="0"/>
              </a:rPr>
              <a:t>Descendants</a:t>
            </a:r>
            <a:r>
              <a:rPr lang="en-US" sz="2000" b="0" i="0">
                <a:solidFill>
                  <a:schemeClr val="tx1"/>
                </a:solidFill>
                <a:latin typeface="Tahoma" pitchFamily="34" charset="0"/>
              </a:rPr>
              <a:t> of a </a:t>
            </a:r>
            <a:r>
              <a:rPr lang="en-US" sz="2000" b="0">
                <a:solidFill>
                  <a:schemeClr val="tx1"/>
                </a:solidFill>
                <a:cs typeface="Times New Roman" pitchFamily="18" charset="0"/>
              </a:rPr>
              <a:t>node</a:t>
            </a:r>
            <a:r>
              <a:rPr lang="en-US" sz="2000" b="0" i="0">
                <a:solidFill>
                  <a:schemeClr val="tx1"/>
                </a:solidFill>
                <a:latin typeface="Tahoma" pitchFamily="34" charset="0"/>
              </a:rPr>
              <a:t>: child, grandchild, grand-grandchild, … etc.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b="0">
                <a:cs typeface="Times New Roman" pitchFamily="18" charset="0"/>
              </a:rPr>
              <a:t>Subtree</a:t>
            </a:r>
            <a:r>
              <a:rPr lang="en-US" sz="2000" b="0" i="0">
                <a:solidFill>
                  <a:schemeClr val="tx1"/>
                </a:solidFill>
                <a:latin typeface="Tahoma" pitchFamily="34" charset="0"/>
              </a:rPr>
              <a:t>: a tree consisting of a </a:t>
            </a:r>
            <a:r>
              <a:rPr lang="en-US" sz="2000" b="0">
                <a:solidFill>
                  <a:schemeClr val="tx1"/>
                </a:solidFill>
                <a:cs typeface="Times New Roman" pitchFamily="18" charset="0"/>
              </a:rPr>
              <a:t>node</a:t>
            </a:r>
            <a:r>
              <a:rPr lang="en-US" sz="2000" b="0" i="0">
                <a:solidFill>
                  <a:schemeClr val="tx1"/>
                </a:solidFill>
                <a:latin typeface="Tahoma" pitchFamily="34" charset="0"/>
              </a:rPr>
              <a:t> and its </a:t>
            </a:r>
            <a:r>
              <a:rPr lang="en-US" sz="2000" b="0">
                <a:solidFill>
                  <a:schemeClr val="tx1"/>
                </a:solidFill>
                <a:cs typeface="Times New Roman" pitchFamily="18" charset="0"/>
              </a:rPr>
              <a:t>descendants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sz="2000" b="0" i="0">
              <a:solidFill>
                <a:schemeClr val="tx1"/>
              </a:solidFill>
              <a:latin typeface="Tahoma" pitchFamily="34" charset="0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endParaRPr lang="en-US" sz="2000" b="0" i="0">
              <a:solidFill>
                <a:schemeClr val="tx1"/>
              </a:solidFill>
              <a:latin typeface="Tahoma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B66BF7-D297-4A63-BCC8-E53E1EE6A942}" type="slidenum">
              <a:rPr lang="ar-SA"/>
              <a:pPr>
                <a:defRPr/>
              </a:pPr>
              <a:t>5</a:t>
            </a:fld>
            <a:endParaRPr lang="en-US"/>
          </a:p>
        </p:txBody>
      </p:sp>
      <p:sp>
        <p:nvSpPr>
          <p:cNvPr id="8196" name="Rectangle 27"/>
          <p:cNvSpPr>
            <a:spLocks noGrp="1" noChangeArrowheads="1"/>
          </p:cNvSpPr>
          <p:nvPr>
            <p:ph type="body" idx="1"/>
          </p:nvPr>
        </p:nvSpPr>
        <p:spPr>
          <a:xfrm>
            <a:off x="6019800" y="2214563"/>
            <a:ext cx="2133600" cy="1747837"/>
          </a:xfrm>
          <a:prstGeom prst="triangle">
            <a:avLst>
              <a:gd name="adj" fmla="val 50000"/>
            </a:avLst>
          </a:prstGeom>
          <a:solidFill>
            <a:schemeClr val="folHlink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mtClean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7772400" cy="685800"/>
          </a:xfrm>
        </p:spPr>
        <p:txBody>
          <a:bodyPr/>
          <a:lstStyle/>
          <a:p>
            <a:pPr eaLnBrk="1" hangingPunct="1"/>
            <a:r>
              <a:rPr lang="en-US" sz="3200" smtClean="0"/>
              <a:t>Example</a:t>
            </a:r>
          </a:p>
        </p:txBody>
      </p:sp>
      <p:grpSp>
        <p:nvGrpSpPr>
          <p:cNvPr id="8198" name="Group 4"/>
          <p:cNvGrpSpPr>
            <a:grpSpLocks/>
          </p:cNvGrpSpPr>
          <p:nvPr/>
        </p:nvGrpSpPr>
        <p:grpSpPr bwMode="auto">
          <a:xfrm>
            <a:off x="4343400" y="1447800"/>
            <a:ext cx="3708400" cy="3116263"/>
            <a:chOff x="3135" y="1253"/>
            <a:chExt cx="2336" cy="1963"/>
          </a:xfrm>
        </p:grpSpPr>
        <p:sp>
          <p:nvSpPr>
            <p:cNvPr id="8202" name="AutoShape 5"/>
            <p:cNvSpPr>
              <a:spLocks noChangeAspect="1" noChangeArrowheads="1"/>
            </p:cNvSpPr>
            <p:nvPr/>
          </p:nvSpPr>
          <p:spPr bwMode="auto">
            <a:xfrm>
              <a:off x="4217" y="1253"/>
              <a:ext cx="213" cy="2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sz="1600" b="0" i="0">
                  <a:solidFill>
                    <a:schemeClr val="tx1"/>
                  </a:solidFill>
                  <a:latin typeface="Tahoma" pitchFamily="34" charset="0"/>
                </a:rPr>
                <a:t>A</a:t>
              </a:r>
            </a:p>
          </p:txBody>
        </p:sp>
        <p:sp>
          <p:nvSpPr>
            <p:cNvPr id="8203" name="AutoShape 6"/>
            <p:cNvSpPr>
              <a:spLocks noChangeAspect="1" noChangeArrowheads="1"/>
            </p:cNvSpPr>
            <p:nvPr/>
          </p:nvSpPr>
          <p:spPr bwMode="auto">
            <a:xfrm>
              <a:off x="3385" y="1829"/>
              <a:ext cx="211" cy="2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sz="1600" b="0" i="0">
                  <a:solidFill>
                    <a:schemeClr val="tx1"/>
                  </a:solidFill>
                  <a:latin typeface="Tahoma" pitchFamily="34" charset="0"/>
                </a:rPr>
                <a:t>B</a:t>
              </a:r>
            </a:p>
          </p:txBody>
        </p:sp>
        <p:sp>
          <p:nvSpPr>
            <p:cNvPr id="8204" name="AutoShape 7"/>
            <p:cNvSpPr>
              <a:spLocks noChangeAspect="1" noChangeArrowheads="1"/>
            </p:cNvSpPr>
            <p:nvPr/>
          </p:nvSpPr>
          <p:spPr bwMode="auto">
            <a:xfrm>
              <a:off x="5247" y="1828"/>
              <a:ext cx="224" cy="233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sz="1600" b="0" i="0">
                  <a:solidFill>
                    <a:schemeClr val="tx1"/>
                  </a:solidFill>
                  <a:latin typeface="Tahoma" pitchFamily="34" charset="0"/>
                </a:rPr>
                <a:t>D</a:t>
              </a:r>
            </a:p>
          </p:txBody>
        </p:sp>
        <p:sp>
          <p:nvSpPr>
            <p:cNvPr id="8205" name="AutoShape 8"/>
            <p:cNvSpPr>
              <a:spLocks noChangeAspect="1" noChangeArrowheads="1"/>
            </p:cNvSpPr>
            <p:nvPr/>
          </p:nvSpPr>
          <p:spPr bwMode="auto">
            <a:xfrm>
              <a:off x="4755" y="1829"/>
              <a:ext cx="213" cy="2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sz="1600" b="0" i="0">
                  <a:solidFill>
                    <a:schemeClr val="tx1"/>
                  </a:solidFill>
                  <a:latin typeface="Tahoma" pitchFamily="34" charset="0"/>
                </a:rPr>
                <a:t>C</a:t>
              </a:r>
            </a:p>
          </p:txBody>
        </p:sp>
        <p:sp>
          <p:nvSpPr>
            <p:cNvPr id="8206" name="AutoShape 9"/>
            <p:cNvSpPr>
              <a:spLocks noChangeAspect="1" noChangeArrowheads="1"/>
            </p:cNvSpPr>
            <p:nvPr/>
          </p:nvSpPr>
          <p:spPr bwMode="auto">
            <a:xfrm>
              <a:off x="4494" y="2404"/>
              <a:ext cx="222" cy="233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sz="1600" b="0" i="0">
                  <a:solidFill>
                    <a:schemeClr val="tx1"/>
                  </a:solidFill>
                  <a:latin typeface="Tahoma" pitchFamily="34" charset="0"/>
                </a:rPr>
                <a:t>G</a:t>
              </a:r>
            </a:p>
          </p:txBody>
        </p:sp>
        <p:sp>
          <p:nvSpPr>
            <p:cNvPr id="8207" name="AutoShape 10"/>
            <p:cNvSpPr>
              <a:spLocks noChangeAspect="1" noChangeArrowheads="1"/>
            </p:cNvSpPr>
            <p:nvPr/>
          </p:nvSpPr>
          <p:spPr bwMode="auto">
            <a:xfrm>
              <a:off x="5007" y="2404"/>
              <a:ext cx="223" cy="233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sz="1600" b="0" i="0">
                  <a:solidFill>
                    <a:schemeClr val="tx1"/>
                  </a:solidFill>
                  <a:latin typeface="Tahoma" pitchFamily="34" charset="0"/>
                </a:rPr>
                <a:t>H</a:t>
              </a:r>
            </a:p>
          </p:txBody>
        </p:sp>
        <p:sp>
          <p:nvSpPr>
            <p:cNvPr id="8208" name="AutoShape 11"/>
            <p:cNvSpPr>
              <a:spLocks noChangeAspect="1" noChangeArrowheads="1"/>
            </p:cNvSpPr>
            <p:nvPr/>
          </p:nvSpPr>
          <p:spPr bwMode="auto">
            <a:xfrm>
              <a:off x="3135" y="2404"/>
              <a:ext cx="208" cy="2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sz="1600" b="0" i="0">
                  <a:solidFill>
                    <a:schemeClr val="tx1"/>
                  </a:solidFill>
                  <a:latin typeface="Tahoma" pitchFamily="34" charset="0"/>
                </a:rPr>
                <a:t>E</a:t>
              </a:r>
            </a:p>
          </p:txBody>
        </p:sp>
        <p:sp>
          <p:nvSpPr>
            <p:cNvPr id="8209" name="AutoShape 12"/>
            <p:cNvSpPr>
              <a:spLocks noChangeAspect="1" noChangeArrowheads="1"/>
            </p:cNvSpPr>
            <p:nvPr/>
          </p:nvSpPr>
          <p:spPr bwMode="auto">
            <a:xfrm>
              <a:off x="3639" y="2405"/>
              <a:ext cx="202" cy="231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sz="1600" b="0" i="0">
                  <a:solidFill>
                    <a:schemeClr val="tx1"/>
                  </a:solidFill>
                  <a:latin typeface="Tahoma" pitchFamily="34" charset="0"/>
                </a:rPr>
                <a:t>F</a:t>
              </a:r>
            </a:p>
          </p:txBody>
        </p:sp>
        <p:cxnSp>
          <p:nvCxnSpPr>
            <p:cNvPr id="8210" name="AutoShape 13"/>
            <p:cNvCxnSpPr>
              <a:cxnSpLocks noChangeShapeType="1"/>
              <a:stCxn id="8202" idx="2"/>
              <a:endCxn id="8203" idx="0"/>
            </p:cNvCxnSpPr>
            <p:nvPr/>
          </p:nvCxnSpPr>
          <p:spPr bwMode="auto">
            <a:xfrm flipH="1">
              <a:off x="3491" y="1494"/>
              <a:ext cx="833" cy="32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1" name="AutoShape 14"/>
            <p:cNvCxnSpPr>
              <a:cxnSpLocks noChangeShapeType="1"/>
              <a:stCxn id="8202" idx="2"/>
              <a:endCxn id="8205" idx="0"/>
            </p:cNvCxnSpPr>
            <p:nvPr/>
          </p:nvCxnSpPr>
          <p:spPr bwMode="auto">
            <a:xfrm>
              <a:off x="4324" y="1494"/>
              <a:ext cx="538" cy="3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2" name="AutoShape 15"/>
            <p:cNvCxnSpPr>
              <a:cxnSpLocks noChangeShapeType="1"/>
              <a:stCxn id="8202" idx="2"/>
              <a:endCxn id="8204" idx="0"/>
            </p:cNvCxnSpPr>
            <p:nvPr/>
          </p:nvCxnSpPr>
          <p:spPr bwMode="auto">
            <a:xfrm>
              <a:off x="4324" y="1494"/>
              <a:ext cx="1036" cy="32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3" name="AutoShape 16"/>
            <p:cNvCxnSpPr>
              <a:cxnSpLocks noChangeShapeType="1"/>
              <a:stCxn id="8205" idx="2"/>
              <a:endCxn id="8207" idx="0"/>
            </p:cNvCxnSpPr>
            <p:nvPr/>
          </p:nvCxnSpPr>
          <p:spPr bwMode="auto">
            <a:xfrm>
              <a:off x="4862" y="2071"/>
              <a:ext cx="257" cy="32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4" name="AutoShape 17"/>
            <p:cNvCxnSpPr>
              <a:cxnSpLocks noChangeShapeType="1"/>
              <a:stCxn id="8205" idx="2"/>
              <a:endCxn id="8206" idx="0"/>
            </p:cNvCxnSpPr>
            <p:nvPr/>
          </p:nvCxnSpPr>
          <p:spPr bwMode="auto">
            <a:xfrm flipH="1">
              <a:off x="4606" y="2071"/>
              <a:ext cx="256" cy="32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5" name="AutoShape 18"/>
            <p:cNvCxnSpPr>
              <a:cxnSpLocks noChangeShapeType="1"/>
              <a:stCxn id="8203" idx="2"/>
              <a:endCxn id="8209" idx="0"/>
            </p:cNvCxnSpPr>
            <p:nvPr/>
          </p:nvCxnSpPr>
          <p:spPr bwMode="auto">
            <a:xfrm>
              <a:off x="3491" y="2070"/>
              <a:ext cx="250" cy="32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6" name="AutoShape 19"/>
            <p:cNvCxnSpPr>
              <a:cxnSpLocks noChangeShapeType="1"/>
              <a:stCxn id="8203" idx="2"/>
              <a:endCxn id="8208" idx="0"/>
            </p:cNvCxnSpPr>
            <p:nvPr/>
          </p:nvCxnSpPr>
          <p:spPr bwMode="auto">
            <a:xfrm flipH="1">
              <a:off x="3239" y="2070"/>
              <a:ext cx="252" cy="32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17" name="AutoShape 20"/>
            <p:cNvSpPr>
              <a:spLocks noChangeAspect="1" noChangeArrowheads="1"/>
            </p:cNvSpPr>
            <p:nvPr/>
          </p:nvSpPr>
          <p:spPr bwMode="auto">
            <a:xfrm>
              <a:off x="3289" y="2985"/>
              <a:ext cx="181" cy="22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sz="1600" b="0" i="0">
                  <a:solidFill>
                    <a:schemeClr val="tx1"/>
                  </a:solidFill>
                  <a:latin typeface="Tahoma" pitchFamily="34" charset="0"/>
                </a:rPr>
                <a:t>I</a:t>
              </a:r>
            </a:p>
          </p:txBody>
        </p:sp>
        <p:sp>
          <p:nvSpPr>
            <p:cNvPr id="8218" name="AutoShape 21"/>
            <p:cNvSpPr>
              <a:spLocks noChangeAspect="1" noChangeArrowheads="1"/>
            </p:cNvSpPr>
            <p:nvPr/>
          </p:nvSpPr>
          <p:spPr bwMode="auto">
            <a:xfrm>
              <a:off x="3655" y="2985"/>
              <a:ext cx="187" cy="23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sz="1600" b="0" i="0">
                  <a:solidFill>
                    <a:schemeClr val="tx1"/>
                  </a:solidFill>
                  <a:latin typeface="Tahoma" pitchFamily="34" charset="0"/>
                </a:rPr>
                <a:t>J</a:t>
              </a:r>
            </a:p>
          </p:txBody>
        </p:sp>
        <p:cxnSp>
          <p:nvCxnSpPr>
            <p:cNvPr id="8219" name="AutoShape 22"/>
            <p:cNvCxnSpPr>
              <a:cxnSpLocks noChangeShapeType="1"/>
              <a:stCxn id="8209" idx="2"/>
              <a:endCxn id="8218" idx="0"/>
            </p:cNvCxnSpPr>
            <p:nvPr/>
          </p:nvCxnSpPr>
          <p:spPr bwMode="auto">
            <a:xfrm>
              <a:off x="3741" y="2646"/>
              <a:ext cx="8" cy="32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0" name="AutoShape 23"/>
            <p:cNvCxnSpPr>
              <a:cxnSpLocks noChangeShapeType="1"/>
              <a:stCxn id="8209" idx="2"/>
              <a:endCxn id="8217" idx="0"/>
            </p:cNvCxnSpPr>
            <p:nvPr/>
          </p:nvCxnSpPr>
          <p:spPr bwMode="auto">
            <a:xfrm flipH="1">
              <a:off x="3380" y="2646"/>
              <a:ext cx="361" cy="329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21" name="AutoShape 24"/>
            <p:cNvSpPr>
              <a:spLocks noChangeAspect="1" noChangeArrowheads="1"/>
            </p:cNvSpPr>
            <p:nvPr/>
          </p:nvSpPr>
          <p:spPr bwMode="auto">
            <a:xfrm>
              <a:off x="4027" y="2984"/>
              <a:ext cx="211" cy="23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sz="1600" b="0" i="0">
                  <a:solidFill>
                    <a:schemeClr val="tx1"/>
                  </a:solidFill>
                  <a:latin typeface="Tahoma" pitchFamily="34" charset="0"/>
                </a:rPr>
                <a:t>K</a:t>
              </a:r>
            </a:p>
          </p:txBody>
        </p:sp>
        <p:cxnSp>
          <p:nvCxnSpPr>
            <p:cNvPr id="8222" name="AutoShape 25"/>
            <p:cNvCxnSpPr>
              <a:cxnSpLocks noChangeShapeType="1"/>
              <a:stCxn id="8209" idx="2"/>
              <a:endCxn id="8221" idx="0"/>
            </p:cNvCxnSpPr>
            <p:nvPr/>
          </p:nvCxnSpPr>
          <p:spPr bwMode="auto">
            <a:xfrm>
              <a:off x="3741" y="2646"/>
              <a:ext cx="392" cy="32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199" name="Rectangle 28"/>
          <p:cNvSpPr>
            <a:spLocks noChangeArrowheads="1"/>
          </p:cNvSpPr>
          <p:nvPr/>
        </p:nvSpPr>
        <p:spPr bwMode="auto">
          <a:xfrm>
            <a:off x="6553200" y="3962400"/>
            <a:ext cx="784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sz="1600" b="0">
                <a:solidFill>
                  <a:schemeClr val="tx1"/>
                </a:solidFill>
                <a:cs typeface="Times New Roman" pitchFamily="18" charset="0"/>
              </a:rPr>
              <a:t>subtree</a:t>
            </a:r>
          </a:p>
        </p:txBody>
      </p:sp>
      <p:sp>
        <p:nvSpPr>
          <p:cNvPr id="8200" name="Text Box 29"/>
          <p:cNvSpPr txBox="1">
            <a:spLocks noChangeArrowheads="1"/>
          </p:cNvSpPr>
          <p:nvPr/>
        </p:nvSpPr>
        <p:spPr bwMode="auto">
          <a:xfrm>
            <a:off x="533400" y="1020763"/>
            <a:ext cx="28956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0975" indent="-180975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An example of a tree T: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T </a:t>
            </a:r>
            <a:r>
              <a:rPr lang="en-US" sz="1600" b="0">
                <a:cs typeface="Times New Roman" pitchFamily="18" charset="0"/>
              </a:rPr>
              <a:t>root</a:t>
            </a: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 is node A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600" b="0">
                <a:cs typeface="Times New Roman" pitchFamily="18" charset="0"/>
              </a:rPr>
              <a:t>Internal</a:t>
            </a: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 (branch) nodes are nodes A, B, C, F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600" b="0">
                <a:cs typeface="Times New Roman" pitchFamily="18" charset="0"/>
              </a:rPr>
              <a:t>External</a:t>
            </a: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 nodes (</a:t>
            </a:r>
            <a:r>
              <a:rPr lang="en-US" sz="1600" b="0">
                <a:solidFill>
                  <a:schemeClr val="tx1"/>
                </a:solidFill>
                <a:cs typeface="Times New Roman" pitchFamily="18" charset="0"/>
              </a:rPr>
              <a:t>leaves</a:t>
            </a: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) are nodes E, I, J, K, G, H, D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600" b="0">
                <a:cs typeface="Times New Roman" pitchFamily="18" charset="0"/>
              </a:rPr>
              <a:t>Depth</a:t>
            </a: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 of node F is 2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600" b="0">
                <a:cs typeface="Times New Roman" pitchFamily="18" charset="0"/>
              </a:rPr>
              <a:t>Height</a:t>
            </a: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 of T is 3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600" b="0">
                <a:cs typeface="Times New Roman" pitchFamily="18" charset="0"/>
              </a:rPr>
              <a:t>Ancestors</a:t>
            </a: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 of node H are C and A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600" b="0">
                <a:cs typeface="Times New Roman" pitchFamily="18" charset="0"/>
              </a:rPr>
              <a:t>Children</a:t>
            </a: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 of node A are B, C and D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Nodes B, C and D are </a:t>
            </a:r>
            <a:r>
              <a:rPr lang="en-US" sz="1600" b="0">
                <a:cs typeface="Times New Roman" pitchFamily="18" charset="0"/>
              </a:rPr>
              <a:t>siblings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600" b="0">
                <a:cs typeface="Times New Roman" pitchFamily="18" charset="0"/>
              </a:rPr>
              <a:t>Descendants</a:t>
            </a: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 of node B are E, F, I, J and K</a:t>
            </a:r>
          </a:p>
          <a:p>
            <a:pPr eaLnBrk="1" hangingPunct="1">
              <a:spcBef>
                <a:spcPct val="50000"/>
              </a:spcBef>
            </a:pPr>
            <a:endParaRPr lang="en-US" sz="1600" b="0" i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8201" name="Text Box 31"/>
          <p:cNvSpPr txBox="1">
            <a:spLocks noChangeArrowheads="1"/>
          </p:cNvSpPr>
          <p:nvPr/>
        </p:nvSpPr>
        <p:spPr bwMode="auto">
          <a:xfrm>
            <a:off x="4953000" y="4953000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Example of </a:t>
            </a:r>
            <a:r>
              <a:rPr lang="en-US" sz="1600" b="0">
                <a:solidFill>
                  <a:schemeClr val="tx1"/>
                </a:solidFill>
                <a:cs typeface="Times New Roman" pitchFamily="18" charset="0"/>
              </a:rPr>
              <a:t>Tree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01EB5-64DE-40F2-A394-542E95EEFB39}" type="slidenum">
              <a:rPr lang="ar-SA"/>
              <a:pPr>
                <a:defRPr/>
              </a:pPr>
              <a:t>6</a:t>
            </a:fld>
            <a:endParaRPr lang="en-US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09600"/>
          </a:xfrm>
        </p:spPr>
        <p:txBody>
          <a:bodyPr/>
          <a:lstStyle/>
          <a:p>
            <a:pPr eaLnBrk="1" hangingPunct="1"/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  Formal Definition of a Tree</a:t>
            </a:r>
          </a:p>
        </p:txBody>
      </p:sp>
      <p:sp>
        <p:nvSpPr>
          <p:cNvPr id="922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4876800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sz="2300" smtClean="0">
                <a:latin typeface="Times New Roman" pitchFamily="18" charset="0"/>
                <a:cs typeface="Times New Roman" pitchFamily="18" charset="0"/>
              </a:rPr>
              <a:t>Formally, we define a </a:t>
            </a:r>
            <a:r>
              <a:rPr lang="en-US" sz="23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z="2300" smtClean="0">
                <a:latin typeface="Times New Roman" pitchFamily="18" charset="0"/>
                <a:cs typeface="Times New Roman" pitchFamily="18" charset="0"/>
              </a:rPr>
              <a:t> T as a </a:t>
            </a:r>
            <a:r>
              <a:rPr lang="en-US" sz="2300" i="1" smtClean="0">
                <a:latin typeface="Times New Roman" pitchFamily="18" charset="0"/>
                <a:cs typeface="Times New Roman" pitchFamily="18" charset="0"/>
              </a:rPr>
              <a:t>finite</a:t>
            </a:r>
            <a:r>
              <a:rPr lang="en-US" sz="2300" smtClean="0">
                <a:latin typeface="Times New Roman" pitchFamily="18" charset="0"/>
                <a:cs typeface="Times New Roman" pitchFamily="18" charset="0"/>
              </a:rPr>
              <a:t> set of </a:t>
            </a:r>
            <a:r>
              <a:rPr lang="en-US" sz="23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nodes</a:t>
            </a:r>
            <a:r>
              <a:rPr lang="en-US" sz="2300" smtClean="0">
                <a:latin typeface="Times New Roman" pitchFamily="18" charset="0"/>
                <a:cs typeface="Times New Roman" pitchFamily="18" charset="0"/>
              </a:rPr>
              <a:t> storing elements such that the nodes have a </a:t>
            </a:r>
            <a:r>
              <a:rPr lang="en-US" sz="23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parent-child</a:t>
            </a:r>
            <a:r>
              <a:rPr lang="en-US" sz="2300" smtClean="0">
                <a:latin typeface="Times New Roman" pitchFamily="18" charset="0"/>
                <a:cs typeface="Times New Roman" pitchFamily="18" charset="0"/>
              </a:rPr>
              <a:t> relationship, that satisfies the following properties: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US" sz="2300" smtClean="0">
              <a:latin typeface="Times New Roman" pitchFamily="18" charset="0"/>
              <a:cs typeface="Times New Roman" pitchFamily="18" charset="0"/>
            </a:endParaRPr>
          </a:p>
          <a:p>
            <a:pPr marL="542925" lvl="1" indent="-363538" eaLnBrk="1" hangingPunct="1">
              <a:lnSpc>
                <a:spcPct val="115000"/>
              </a:lnSpc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If T is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nonempty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, it has a specially designated node, called the </a:t>
            </a:r>
            <a:r>
              <a:rPr lang="en-US" sz="24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of T, that has no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parent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42925" lvl="1" indent="-363538" eaLnBrk="1" hangingPunct="1">
              <a:lnSpc>
                <a:spcPct val="115000"/>
              </a:lnSpc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Each node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of  T other than the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has a unique </a:t>
            </a:r>
            <a:r>
              <a:rPr lang="en-US" sz="24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parent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node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42925" lvl="1" indent="-363538" eaLnBrk="1" hangingPunct="1">
              <a:lnSpc>
                <a:spcPct val="115000"/>
              </a:lnSpc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Every node with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parent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is a </a:t>
            </a:r>
            <a:r>
              <a:rPr lang="en-US" sz="24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child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42925" lvl="1" indent="-363538" eaLnBrk="1" hangingPunct="1">
              <a:lnSpc>
                <a:spcPct val="115000"/>
              </a:lnSpc>
              <a:buFont typeface="Wingdings" pitchFamily="2" charset="2"/>
              <a:buNone/>
            </a:pPr>
            <a:endParaRPr lang="en-US" sz="2400" smtClean="0">
              <a:latin typeface="Times New Roman" pitchFamily="18" charset="0"/>
              <a:cs typeface="Times New Roman" pitchFamily="18" charset="0"/>
            </a:endParaRPr>
          </a:p>
          <a:p>
            <a:pPr marL="542925" lvl="1" indent="-363538" eaLnBrk="1" hangingPunct="1">
              <a:buFont typeface="Wingdings" pitchFamily="2" charset="2"/>
              <a:buNone/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Note that a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may be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empty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7F9B86-A3D0-4501-9E09-8F55AAFC343E}" type="slidenum">
              <a:rPr lang="ar-SA"/>
              <a:pPr>
                <a:defRPr/>
              </a:pPr>
              <a:t>7</a:t>
            </a:fld>
            <a:endParaRPr lang="en-US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84213"/>
            <a:ext cx="7772400" cy="763587"/>
          </a:xfrm>
        </p:spPr>
        <p:txBody>
          <a:bodyPr/>
          <a:lstStyle/>
          <a:p>
            <a:pPr eaLnBrk="1" hangingPunct="1"/>
            <a:r>
              <a:rPr lang="en-US" sz="3200" smtClean="0">
                <a:latin typeface="Times New Roman" pitchFamily="18" charset="0"/>
                <a:cs typeface="Times New Roman" pitchFamily="18" charset="0"/>
              </a:rPr>
              <a:t>Recursive Definition of a Tree:</a:t>
            </a:r>
          </a:p>
        </p:txBody>
      </p:sp>
      <p:sp>
        <p:nvSpPr>
          <p:cNvPr id="1024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054100" y="1676400"/>
            <a:ext cx="7340600" cy="4316413"/>
          </a:xfrm>
        </p:spPr>
        <p:txBody>
          <a:bodyPr/>
          <a:lstStyle/>
          <a:p>
            <a:pPr marL="542925" lvl="1" indent="-363538" eaLnBrk="1" hangingPunct="1">
              <a:lnSpc>
                <a:spcPct val="90000"/>
              </a:lnSpc>
              <a:buFont typeface="Wingdings" pitchFamily="2" charset="2"/>
              <a:buNone/>
              <a:tabLst>
                <a:tab pos="447675" algn="l"/>
              </a:tabLst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is either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empty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, or has a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finite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set of one or more nodes such that:</a:t>
            </a:r>
          </a:p>
          <a:p>
            <a:pPr marL="542925" lvl="1" indent="-363538"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AutoNum type="romanLcPeriod"/>
              <a:tabLst>
                <a:tab pos="447675" algn="l"/>
              </a:tabLst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There is one specially designated node, called the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, and</a:t>
            </a:r>
          </a:p>
          <a:p>
            <a:pPr marL="542925" lvl="1" indent="-363538"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AutoNum type="romanLcPeriod"/>
              <a:tabLst>
                <a:tab pos="447675" algn="l"/>
              </a:tabLst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The remaining nodes, (excluding the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), are partitioned into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m ≥ 0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disjoint sets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 baseline="-2500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, T</a:t>
            </a:r>
            <a:r>
              <a:rPr lang="en-US" i="1" baseline="-2500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, …, T</a:t>
            </a:r>
            <a:r>
              <a:rPr lang="en-US" i="1" baseline="-2500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, and each of these is in turn a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42925" lvl="1" indent="-363538"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AutoNum type="romanLcPeriod"/>
              <a:tabLst>
                <a:tab pos="447675" algn="l"/>
              </a:tabLst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trees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Ti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i = 1, 2, …, m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) are called the </a:t>
            </a:r>
            <a:r>
              <a:rPr lang="en-US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sub-trees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of the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28934D-F25C-4E28-AB7D-6066A0CAD992}" type="slidenum">
              <a:rPr lang="ar-SA"/>
              <a:pPr>
                <a:defRPr/>
              </a:pPr>
              <a:t>8</a:t>
            </a:fld>
            <a:endParaRPr lang="en-US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8013"/>
            <a:ext cx="7772400" cy="839787"/>
          </a:xfrm>
        </p:spPr>
        <p:txBody>
          <a:bodyPr/>
          <a:lstStyle/>
          <a:p>
            <a:pPr eaLnBrk="1" hangingPunct="1"/>
            <a:r>
              <a:rPr lang="en-US" sz="3200" smtClean="0">
                <a:latin typeface="Times New Roman" pitchFamily="18" charset="0"/>
                <a:cs typeface="Times New Roman" pitchFamily="18" charset="0"/>
              </a:rPr>
              <a:t>Subtree of  Tree T</a:t>
            </a:r>
          </a:p>
        </p:txBody>
      </p:sp>
      <p:sp>
        <p:nvSpPr>
          <p:cNvPr id="1126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7772400" cy="4648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	The </a:t>
            </a:r>
            <a:r>
              <a:rPr lang="en-US" sz="2800" i="1" smtClean="0">
                <a:latin typeface="Times New Roman" pitchFamily="18" charset="0"/>
                <a:cs typeface="Times New Roman" pitchFamily="18" charset="0"/>
              </a:rPr>
              <a:t>subtree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 of a tree </a:t>
            </a:r>
            <a:r>
              <a:rPr lang="en-US" sz="28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smtClean="0">
                <a:latin typeface="Times New Roman" pitchFamily="18" charset="0"/>
                <a:cs typeface="Times New Roman" pitchFamily="18" charset="0"/>
              </a:rPr>
              <a:t>rooted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 at node </a:t>
            </a:r>
            <a:r>
              <a:rPr lang="en-US" sz="2800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 is the </a:t>
            </a:r>
            <a:r>
              <a:rPr lang="en-US" sz="2800" i="1" smtClean="0"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 consisting all the </a:t>
            </a:r>
            <a:r>
              <a:rPr lang="en-US" sz="2800" i="1" smtClean="0">
                <a:latin typeface="Times New Roman" pitchFamily="18" charset="0"/>
                <a:cs typeface="Times New Roman" pitchFamily="18" charset="0"/>
              </a:rPr>
              <a:t>descendants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800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US" sz="28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 (including </a:t>
            </a:r>
            <a:r>
              <a:rPr lang="en-US" sz="2800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 itself).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Edges and Paths in Trees:</a:t>
            </a:r>
          </a:p>
          <a:p>
            <a:pPr lvl="1" eaLnBrk="1" hangingPunct="1"/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edge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is a pair of nodes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(u,v),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such that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is the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parent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, or vice versa.</a:t>
            </a:r>
          </a:p>
          <a:p>
            <a:pPr lvl="1" eaLnBrk="1" hangingPunct="1"/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path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is a sequence of nodes such that any two consecutive nodes in the sequence form an edge.</a:t>
            </a:r>
          </a:p>
          <a:p>
            <a:pPr lvl="1" eaLnBrk="1" hangingPunct="1"/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As an example of a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path,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(Figure 7.2), is the sequence A, B, F, K. where (A , B) or (B , A) is an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edge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eaLnBrk="1" hangingPunct="1">
              <a:buFont typeface="Wingdings" pitchFamily="2" charset="2"/>
              <a:buNone/>
            </a:pPr>
            <a:endParaRPr lang="en-US" sz="280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68A10F-DED5-48A5-8B80-AB0ECCB6A87A}" type="slidenum">
              <a:rPr lang="ar-SA"/>
              <a:pPr>
                <a:defRPr/>
              </a:pPr>
              <a:t>9</a:t>
            </a:fld>
            <a:endParaRPr lang="en-US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762000"/>
          </a:xfrm>
        </p:spPr>
        <p:txBody>
          <a:bodyPr/>
          <a:lstStyle/>
          <a:p>
            <a:pPr eaLnBrk="1" hangingPunct="1"/>
            <a:r>
              <a:rPr lang="en-US" sz="3200" smtClean="0"/>
              <a:t>Ordered Trees</a:t>
            </a:r>
          </a:p>
        </p:txBody>
      </p:sp>
      <p:sp>
        <p:nvSpPr>
          <p:cNvPr id="1229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990600"/>
            <a:ext cx="7772400" cy="5257800"/>
          </a:xfrm>
        </p:spPr>
        <p:txBody>
          <a:bodyPr/>
          <a:lstStyle/>
          <a:p>
            <a:pPr marL="447675" indent="-447675" eaLnBrk="1" hangingPunct="1">
              <a:tabLst>
                <a:tab pos="542925" algn="l"/>
              </a:tabLst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It is a binary tree – each internal node has atmost two children. </a:t>
            </a:r>
          </a:p>
          <a:p>
            <a:pPr marL="447675" indent="-447675" eaLnBrk="1" hangingPunct="1">
              <a:tabLst>
                <a:tab pos="542925" algn="l"/>
              </a:tabLst>
            </a:pP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Proper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binary tree – each internal node has two children. </a:t>
            </a:r>
          </a:p>
          <a:p>
            <a:pPr marL="447675" indent="-447675" eaLnBrk="1" hangingPunct="1">
              <a:tabLst>
                <a:tab pos="542925" algn="l"/>
              </a:tabLst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ordered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if there is a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linear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ordering defined for the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children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of each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node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447675" indent="-447675" eaLnBrk="1" hangingPunct="1">
              <a:tabLst>
                <a:tab pos="542925" algn="l"/>
              </a:tabLst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That’s, we can identify the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children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of a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node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as being the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first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second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third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, and so on.</a:t>
            </a:r>
          </a:p>
          <a:p>
            <a:pPr marL="447675" indent="-447675" eaLnBrk="1" hangingPunct="1">
              <a:tabLst>
                <a:tab pos="542925" algn="l"/>
              </a:tabLst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Such an ordering is usually shown by arranging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siblings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left to right, according to their ordering.</a:t>
            </a:r>
          </a:p>
          <a:p>
            <a:pPr marL="447675" indent="-447675" eaLnBrk="1" hangingPunct="1">
              <a:tabLst>
                <a:tab pos="542925" algn="l"/>
              </a:tabLst>
            </a:pP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Ordered trees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typically indicate the linear order among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siblings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by listing them in the correct order.</a:t>
            </a:r>
          </a:p>
          <a:p>
            <a:pPr marL="447675" indent="-447675" eaLnBrk="1" hangingPunct="1">
              <a:tabLst>
                <a:tab pos="542925" algn="l"/>
              </a:tabLst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A famous example of 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ordered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trees is the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family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tree.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9BD93-444C-48D4-8851-CBA3FC57F352}" type="slidenum">
              <a:rPr lang="ar-SA"/>
              <a:pPr>
                <a:defRPr/>
              </a:pPr>
              <a:t>10</a:t>
            </a:fld>
            <a:endParaRPr lang="en-US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8788"/>
            <a:ext cx="7772400" cy="757237"/>
          </a:xfrm>
        </p:spPr>
        <p:txBody>
          <a:bodyPr/>
          <a:lstStyle/>
          <a:p>
            <a:pPr eaLnBrk="1" hangingPunct="1"/>
            <a:r>
              <a:rPr lang="en-US" sz="3600" smtClean="0">
                <a:latin typeface="Times New Roman" pitchFamily="18" charset="0"/>
                <a:cs typeface="Times New Roman" pitchFamily="18" charset="0"/>
              </a:rPr>
              <a:t>2.3.1   Tree ADT</a:t>
            </a:r>
          </a:p>
        </p:txBody>
      </p:sp>
      <p:sp>
        <p:nvSpPr>
          <p:cNvPr id="1331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7772400" cy="4572000"/>
          </a:xfrm>
        </p:spPr>
        <p:txBody>
          <a:bodyPr/>
          <a:lstStyle/>
          <a:p>
            <a:pPr marL="447675" indent="-447675"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70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z="2700" smtClean="0">
                <a:latin typeface="Times New Roman" pitchFamily="18" charset="0"/>
                <a:cs typeface="Times New Roman" pitchFamily="18" charset="0"/>
              </a:rPr>
              <a:t> ADT stores elements at 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positions</a:t>
            </a:r>
            <a:r>
              <a:rPr lang="en-US" sz="2700" smtClean="0">
                <a:latin typeface="Times New Roman" pitchFamily="18" charset="0"/>
                <a:cs typeface="Times New Roman" pitchFamily="18" charset="0"/>
              </a:rPr>
              <a:t>, which are defined relative to neighboring 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positions</a:t>
            </a:r>
            <a:r>
              <a:rPr lang="en-US" sz="27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47675" indent="-447675"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Positions</a:t>
            </a:r>
            <a:r>
              <a:rPr lang="en-US" sz="2700" smtClean="0">
                <a:latin typeface="Times New Roman" pitchFamily="18" charset="0"/>
                <a:cs typeface="Times New Roman" pitchFamily="18" charset="0"/>
              </a:rPr>
              <a:t> in a 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z="2700" smtClean="0">
                <a:latin typeface="Times New Roman" pitchFamily="18" charset="0"/>
                <a:cs typeface="Times New Roman" pitchFamily="18" charset="0"/>
              </a:rPr>
              <a:t> are its 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nodes</a:t>
            </a:r>
            <a:r>
              <a:rPr lang="en-US" sz="2700" smtClean="0">
                <a:latin typeface="Times New Roman" pitchFamily="18" charset="0"/>
                <a:cs typeface="Times New Roman" pitchFamily="18" charset="0"/>
              </a:rPr>
              <a:t>, and the neighboring 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positions</a:t>
            </a:r>
            <a:r>
              <a:rPr lang="en-US" sz="2700" smtClean="0">
                <a:latin typeface="Times New Roman" pitchFamily="18" charset="0"/>
                <a:cs typeface="Times New Roman" pitchFamily="18" charset="0"/>
              </a:rPr>
              <a:t> satisfy the 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parent-child</a:t>
            </a:r>
            <a:r>
              <a:rPr lang="en-US" sz="2700" smtClean="0">
                <a:latin typeface="Times New Roman" pitchFamily="18" charset="0"/>
                <a:cs typeface="Times New Roman" pitchFamily="18" charset="0"/>
              </a:rPr>
              <a:t> relationships that define a 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valid tree</a:t>
            </a:r>
            <a:r>
              <a:rPr lang="en-US" sz="27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47675" indent="-447675"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700" smtClean="0">
                <a:latin typeface="Times New Roman" pitchFamily="18" charset="0"/>
                <a:cs typeface="Times New Roman" pitchFamily="18" charset="0"/>
              </a:rPr>
              <a:t>Tree 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nodes</a:t>
            </a:r>
            <a:r>
              <a:rPr lang="en-US" sz="2700" smtClean="0">
                <a:latin typeface="Times New Roman" pitchFamily="18" charset="0"/>
                <a:cs typeface="Times New Roman" pitchFamily="18" charset="0"/>
              </a:rPr>
              <a:t> may store arbitrary objects.</a:t>
            </a:r>
          </a:p>
          <a:p>
            <a:pPr marL="447675" indent="-447675"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70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position</a:t>
            </a:r>
            <a:r>
              <a:rPr lang="en-US" sz="2700" smtClean="0">
                <a:latin typeface="Times New Roman" pitchFamily="18" charset="0"/>
                <a:cs typeface="Times New Roman" pitchFamily="18" charset="0"/>
              </a:rPr>
              <a:t> object for a 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z="2700" smtClean="0">
                <a:latin typeface="Times New Roman" pitchFamily="18" charset="0"/>
                <a:cs typeface="Times New Roman" pitchFamily="18" charset="0"/>
              </a:rPr>
              <a:t> supports the method:  </a:t>
            </a:r>
            <a:r>
              <a:rPr lang="en-US" sz="23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element()</a:t>
            </a:r>
            <a:r>
              <a:rPr lang="en-US" sz="2300" smtClean="0"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that returns the object stored at this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position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(or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node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sz="2300" smtClean="0">
              <a:latin typeface="Times New Roman" pitchFamily="18" charset="0"/>
              <a:cs typeface="Times New Roman" pitchFamily="18" charset="0"/>
            </a:endParaRPr>
          </a:p>
          <a:p>
            <a:pPr marL="447675" indent="-447675"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30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700" i="1" smtClean="0"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z="2700" smtClean="0">
                <a:latin typeface="Times New Roman" pitchFamily="18" charset="0"/>
                <a:cs typeface="Times New Roman" pitchFamily="18" charset="0"/>
              </a:rPr>
              <a:t> ADT supports </a:t>
            </a:r>
            <a:r>
              <a:rPr lang="en-US" sz="2700" i="1" u="sng" smtClean="0">
                <a:latin typeface="Times New Roman" pitchFamily="18" charset="0"/>
                <a:cs typeface="Times New Roman" pitchFamily="18" charset="0"/>
              </a:rPr>
              <a:t>four</a:t>
            </a:r>
            <a:r>
              <a:rPr lang="en-US" sz="2700" smtClean="0">
                <a:latin typeface="Times New Roman" pitchFamily="18" charset="0"/>
                <a:cs typeface="Times New Roman" pitchFamily="18" charset="0"/>
              </a:rPr>
              <a:t> types of methods, as follows. </a:t>
            </a:r>
            <a:endParaRPr lang="en-US" sz="2300" smtClean="0">
              <a:latin typeface="Times New Roman" pitchFamily="18" charset="0"/>
              <a:cs typeface="Times New Roman" pitchFamily="18" charset="0"/>
            </a:endParaRPr>
          </a:p>
          <a:p>
            <a:pPr marL="447675" indent="-447675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30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0F2C9C-A45C-48D0-90E3-76F7D90D966D}" type="slidenum">
              <a:rPr lang="ar-SA"/>
              <a:pPr>
                <a:defRPr/>
              </a:pPr>
              <a:t>11</a:t>
            </a:fld>
            <a:endParaRPr lang="en-US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825500" y="377825"/>
            <a:ext cx="7340600" cy="566738"/>
          </a:xfrm>
        </p:spPr>
        <p:txBody>
          <a:bodyPr/>
          <a:lstStyle/>
          <a:p>
            <a:pPr eaLnBrk="1" hangingPunct="1"/>
            <a:r>
              <a:rPr lang="en-US" sz="3600" smtClean="0"/>
              <a:t>Methods of a Tree ADT</a:t>
            </a:r>
          </a:p>
        </p:txBody>
      </p:sp>
      <p:sp>
        <p:nvSpPr>
          <p:cNvPr id="1434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153400" cy="4953000"/>
          </a:xfrm>
        </p:spPr>
        <p:txBody>
          <a:bodyPr/>
          <a:lstStyle/>
          <a:p>
            <a:pPr marL="609600" indent="-609600" eaLnBrk="1" hangingPunct="1">
              <a:buClr>
                <a:schemeClr val="tx2"/>
              </a:buClr>
              <a:buFont typeface="Wingdings" pitchFamily="2" charset="2"/>
              <a:buAutoNum type="arabicPeriod"/>
            </a:pPr>
            <a:r>
              <a:rPr lang="en-US" smtClean="0">
                <a:solidFill>
                  <a:schemeClr val="tx2"/>
                </a:solidFill>
              </a:rPr>
              <a:t>Accessor Methods</a:t>
            </a:r>
          </a:p>
          <a:p>
            <a:pPr marL="609600" indent="-609600" eaLnBrk="1" hangingPunct="1"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	 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These methods return and accept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positions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, such as the following:</a:t>
            </a:r>
          </a:p>
          <a:p>
            <a:pPr marL="990600" lvl="1" indent="-533400" eaLnBrk="1" hangingPunct="1"/>
            <a:r>
              <a:rPr lang="en-US" sz="24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(): 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Return the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position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of the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tree’s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; an error occurs if the tree is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empty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i="1" smtClean="0">
              <a:latin typeface="Times New Roman" pitchFamily="18" charset="0"/>
              <a:cs typeface="Times New Roman" pitchFamily="18" charset="0"/>
            </a:endParaRPr>
          </a:p>
          <a:p>
            <a:pPr marL="990600" lvl="1" indent="-533400" eaLnBrk="1" hangingPunct="1"/>
            <a:r>
              <a:rPr lang="en-US" sz="24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parent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(p): 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Return the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position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of the </a:t>
            </a:r>
            <a:r>
              <a:rPr lang="en-US" sz="24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parent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; an error occurs if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is the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i="1" smtClean="0">
              <a:latin typeface="Times New Roman" pitchFamily="18" charset="0"/>
              <a:cs typeface="Times New Roman" pitchFamily="18" charset="0"/>
            </a:endParaRPr>
          </a:p>
          <a:p>
            <a:pPr marL="990600" lvl="1" indent="-533400" eaLnBrk="1" hangingPunct="1"/>
            <a:r>
              <a:rPr lang="en-US" sz="24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children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(p): 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Return an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iterable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collection containing the </a:t>
            </a:r>
            <a:r>
              <a:rPr lang="en-US" sz="24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children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node p.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5D3DB2-5363-4F42-AA87-48229E4003C8}" type="slidenum">
              <a:rPr lang="ar-SA"/>
              <a:pPr>
                <a:defRPr/>
              </a:pPr>
              <a:t>12</a:t>
            </a:fld>
            <a:endParaRPr lang="en-US"/>
          </a:p>
        </p:txBody>
      </p:sp>
      <p:sp>
        <p:nvSpPr>
          <p:cNvPr id="15364" name="Text Box 5"/>
          <p:cNvSpPr txBox="1">
            <a:spLocks noChangeArrowheads="1"/>
          </p:cNvSpPr>
          <p:nvPr/>
        </p:nvSpPr>
        <p:spPr bwMode="auto">
          <a:xfrm>
            <a:off x="609600" y="533400"/>
            <a:ext cx="8001000" cy="506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1950" indent="-3619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 b="0" i="0">
                <a:cs typeface="Times New Roman" pitchFamily="18" charset="0"/>
              </a:rPr>
              <a:t>Notice that:</a:t>
            </a:r>
          </a:p>
          <a:p>
            <a:pPr eaLnBrk="1" hangingPunct="1"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800" b="0" i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3200" b="0" i="0">
                <a:solidFill>
                  <a:schemeClr val="tx1"/>
                </a:solidFill>
                <a:cs typeface="Times New Roman" pitchFamily="18" charset="0"/>
              </a:rPr>
              <a:t>If a </a:t>
            </a:r>
            <a:r>
              <a:rPr lang="en-US" sz="3200" b="0">
                <a:solidFill>
                  <a:schemeClr val="tx1"/>
                </a:solidFill>
                <a:cs typeface="Times New Roman" pitchFamily="18" charset="0"/>
              </a:rPr>
              <a:t>tree</a:t>
            </a:r>
            <a:r>
              <a:rPr lang="en-US" sz="3200" b="0" i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3200" b="0">
                <a:solidFill>
                  <a:schemeClr val="tx1"/>
                </a:solidFill>
                <a:cs typeface="Times New Roman" pitchFamily="18" charset="0"/>
              </a:rPr>
              <a:t>T</a:t>
            </a:r>
            <a:r>
              <a:rPr lang="en-US" sz="3200" b="0" i="0">
                <a:solidFill>
                  <a:schemeClr val="tx1"/>
                </a:solidFill>
                <a:cs typeface="Times New Roman" pitchFamily="18" charset="0"/>
              </a:rPr>
              <a:t> is </a:t>
            </a:r>
            <a:r>
              <a:rPr lang="en-US" sz="3200" b="0">
                <a:solidFill>
                  <a:schemeClr val="tx1"/>
                </a:solidFill>
                <a:cs typeface="Times New Roman" pitchFamily="18" charset="0"/>
              </a:rPr>
              <a:t>ordered</a:t>
            </a:r>
            <a:r>
              <a:rPr lang="en-US" sz="3200" b="0" i="0">
                <a:solidFill>
                  <a:schemeClr val="tx1"/>
                </a:solidFill>
                <a:cs typeface="Times New Roman" pitchFamily="18" charset="0"/>
              </a:rPr>
              <a:t>, then the </a:t>
            </a:r>
            <a:r>
              <a:rPr lang="en-US" sz="3200" b="0">
                <a:solidFill>
                  <a:schemeClr val="tx1"/>
                </a:solidFill>
                <a:cs typeface="Times New Roman" pitchFamily="18" charset="0"/>
              </a:rPr>
              <a:t>iterable</a:t>
            </a:r>
            <a:r>
              <a:rPr lang="en-US" sz="3200" b="0" i="0">
                <a:solidFill>
                  <a:schemeClr val="tx1"/>
                </a:solidFill>
                <a:cs typeface="Times New Roman" pitchFamily="18" charset="0"/>
              </a:rPr>
              <a:t> collection, </a:t>
            </a:r>
            <a:r>
              <a:rPr lang="en-US" sz="3200" b="0">
                <a:solidFill>
                  <a:schemeClr val="tx1"/>
                </a:solidFill>
                <a:cs typeface="Times New Roman" pitchFamily="18" charset="0"/>
              </a:rPr>
              <a:t>children(p),</a:t>
            </a:r>
            <a:r>
              <a:rPr lang="en-US" sz="3200" b="0" i="0">
                <a:solidFill>
                  <a:schemeClr val="tx1"/>
                </a:solidFill>
                <a:cs typeface="Times New Roman" pitchFamily="18" charset="0"/>
              </a:rPr>
              <a:t> stores the </a:t>
            </a:r>
            <a:r>
              <a:rPr lang="en-US" sz="3200" b="0">
                <a:solidFill>
                  <a:schemeClr val="tx1"/>
                </a:solidFill>
                <a:cs typeface="Times New Roman" pitchFamily="18" charset="0"/>
              </a:rPr>
              <a:t>children</a:t>
            </a:r>
            <a:r>
              <a:rPr lang="en-US" sz="3200" b="0" i="0">
                <a:solidFill>
                  <a:schemeClr val="tx1"/>
                </a:solidFill>
                <a:cs typeface="Times New Roman" pitchFamily="18" charset="0"/>
              </a:rPr>
              <a:t> of </a:t>
            </a:r>
            <a:r>
              <a:rPr lang="en-US" sz="3200" b="0">
                <a:solidFill>
                  <a:schemeClr val="tx1"/>
                </a:solidFill>
                <a:cs typeface="Times New Roman" pitchFamily="18" charset="0"/>
              </a:rPr>
              <a:t>p</a:t>
            </a:r>
            <a:r>
              <a:rPr lang="en-US" sz="3200" b="0" i="0">
                <a:solidFill>
                  <a:schemeClr val="tx1"/>
                </a:solidFill>
                <a:cs typeface="Times New Roman" pitchFamily="18" charset="0"/>
              </a:rPr>
              <a:t> in their </a:t>
            </a:r>
            <a:r>
              <a:rPr lang="en-US" sz="3200" b="0">
                <a:solidFill>
                  <a:schemeClr val="tx1"/>
                </a:solidFill>
                <a:cs typeface="Times New Roman" pitchFamily="18" charset="0"/>
              </a:rPr>
              <a:t>linear</a:t>
            </a:r>
            <a:r>
              <a:rPr lang="en-US" sz="3200" b="0" i="0">
                <a:solidFill>
                  <a:schemeClr val="tx1"/>
                </a:solidFill>
                <a:cs typeface="Times New Roman" pitchFamily="18" charset="0"/>
              </a:rPr>
              <a:t> order.</a:t>
            </a:r>
          </a:p>
          <a:p>
            <a:pPr eaLnBrk="1" hangingPunct="1"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3200" b="0" i="0">
                <a:solidFill>
                  <a:schemeClr val="tx1"/>
                </a:solidFill>
                <a:cs typeface="Times New Roman" pitchFamily="18" charset="0"/>
              </a:rPr>
              <a:t> If </a:t>
            </a:r>
            <a:r>
              <a:rPr lang="en-US" sz="3200" b="0">
                <a:solidFill>
                  <a:schemeClr val="tx1"/>
                </a:solidFill>
                <a:cs typeface="Times New Roman" pitchFamily="18" charset="0"/>
              </a:rPr>
              <a:t>p</a:t>
            </a:r>
            <a:r>
              <a:rPr lang="en-US" sz="3200" b="0" i="0">
                <a:solidFill>
                  <a:schemeClr val="tx1"/>
                </a:solidFill>
                <a:cs typeface="Times New Roman" pitchFamily="18" charset="0"/>
              </a:rPr>
              <a:t> is an </a:t>
            </a:r>
            <a:r>
              <a:rPr lang="en-US" sz="3200" b="0">
                <a:solidFill>
                  <a:schemeClr val="tx1"/>
                </a:solidFill>
                <a:cs typeface="Times New Roman" pitchFamily="18" charset="0"/>
              </a:rPr>
              <a:t>external</a:t>
            </a:r>
            <a:r>
              <a:rPr lang="en-US" sz="3200" b="0" i="0">
                <a:solidFill>
                  <a:schemeClr val="tx1"/>
                </a:solidFill>
                <a:cs typeface="Times New Roman" pitchFamily="18" charset="0"/>
              </a:rPr>
              <a:t> node, then </a:t>
            </a:r>
            <a:r>
              <a:rPr lang="en-US" sz="3200" b="0">
                <a:solidFill>
                  <a:schemeClr val="tx1"/>
                </a:solidFill>
                <a:cs typeface="Times New Roman" pitchFamily="18" charset="0"/>
              </a:rPr>
              <a:t>children(p)</a:t>
            </a:r>
            <a:r>
              <a:rPr lang="en-US" sz="3200" b="0" i="0">
                <a:solidFill>
                  <a:schemeClr val="tx1"/>
                </a:solidFill>
                <a:cs typeface="Times New Roman" pitchFamily="18" charset="0"/>
              </a:rPr>
              <a:t> is </a:t>
            </a:r>
            <a:r>
              <a:rPr lang="en-US" sz="3200" b="0">
                <a:solidFill>
                  <a:schemeClr val="tx1"/>
                </a:solidFill>
                <a:cs typeface="Times New Roman" pitchFamily="18" charset="0"/>
              </a:rPr>
              <a:t>empty</a:t>
            </a:r>
            <a:r>
              <a:rPr lang="en-US" sz="3200" b="0" i="0">
                <a:solidFill>
                  <a:schemeClr val="tx1"/>
                </a:solidFill>
                <a:cs typeface="Times New Roman" pitchFamily="18" charset="0"/>
              </a:rPr>
              <a:t>.</a:t>
            </a:r>
          </a:p>
          <a:p>
            <a:pPr eaLnBrk="1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3200" b="0" i="0">
                <a:solidFill>
                  <a:schemeClr val="tx1"/>
                </a:solidFill>
                <a:cs typeface="Times New Roman" pitchFamily="18" charset="0"/>
              </a:rPr>
              <a:t>Any method that takes a </a:t>
            </a:r>
            <a:r>
              <a:rPr lang="en-US" sz="3200" b="0">
                <a:solidFill>
                  <a:schemeClr val="tx1"/>
                </a:solidFill>
                <a:cs typeface="Times New Roman" pitchFamily="18" charset="0"/>
              </a:rPr>
              <a:t>position</a:t>
            </a:r>
            <a:r>
              <a:rPr lang="en-US" sz="3200" b="0" i="0">
                <a:solidFill>
                  <a:schemeClr val="tx1"/>
                </a:solidFill>
                <a:cs typeface="Times New Roman" pitchFamily="18" charset="0"/>
              </a:rPr>
              <a:t> as argument should generate an </a:t>
            </a:r>
            <a:r>
              <a:rPr lang="en-US" sz="3200" b="0">
                <a:solidFill>
                  <a:schemeClr val="tx1"/>
                </a:solidFill>
                <a:cs typeface="Times New Roman" pitchFamily="18" charset="0"/>
              </a:rPr>
              <a:t>error</a:t>
            </a:r>
            <a:r>
              <a:rPr lang="en-US" sz="3200" b="0" i="0">
                <a:solidFill>
                  <a:schemeClr val="tx1"/>
                </a:solidFill>
                <a:cs typeface="Times New Roman" pitchFamily="18" charset="0"/>
              </a:rPr>
              <a:t> condition if that </a:t>
            </a:r>
            <a:r>
              <a:rPr lang="en-US" sz="3200" b="0">
                <a:solidFill>
                  <a:schemeClr val="tx1"/>
                </a:solidFill>
                <a:cs typeface="Times New Roman" pitchFamily="18" charset="0"/>
              </a:rPr>
              <a:t>position</a:t>
            </a:r>
            <a:r>
              <a:rPr lang="en-US" sz="3200" b="0" i="0">
                <a:solidFill>
                  <a:schemeClr val="tx1"/>
                </a:solidFill>
                <a:cs typeface="Times New Roman" pitchFamily="18" charset="0"/>
              </a:rPr>
              <a:t> is </a:t>
            </a:r>
            <a:r>
              <a:rPr lang="en-US" sz="3200" b="0">
                <a:solidFill>
                  <a:schemeClr val="tx1"/>
                </a:solidFill>
                <a:cs typeface="Times New Roman" pitchFamily="18" charset="0"/>
              </a:rPr>
              <a:t>invalid</a:t>
            </a:r>
            <a:r>
              <a:rPr lang="en-US" sz="3200" b="0" i="0">
                <a:solidFill>
                  <a:schemeClr val="tx1"/>
                </a:solidFill>
                <a:cs typeface="Times New Roman" pitchFamily="18" charset="0"/>
              </a:rPr>
              <a:t>.</a:t>
            </a:r>
            <a:endParaRPr lang="en-US" sz="2800" b="0" i="0">
              <a:solidFill>
                <a:schemeClr val="tx1"/>
              </a:solidFill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82DDC9-D6E0-448F-8094-EFE79C93466D}" type="slidenum">
              <a:rPr lang="ar-SA"/>
              <a:pPr>
                <a:defRPr/>
              </a:pPr>
              <a:t>13</a:t>
            </a:fld>
            <a:endParaRPr lang="en-US"/>
          </a:p>
        </p:txBody>
      </p:sp>
      <p:sp>
        <p:nvSpPr>
          <p:cNvPr id="1638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772400" cy="5562600"/>
          </a:xfrm>
        </p:spPr>
        <p:txBody>
          <a:bodyPr/>
          <a:lstStyle/>
          <a:p>
            <a:pPr marL="268288" indent="-247650" eaLnBrk="1" hangingPunct="1">
              <a:buClr>
                <a:schemeClr val="tx2"/>
              </a:buClr>
              <a:buFont typeface="Wingdings" pitchFamily="2" charset="2"/>
              <a:buAutoNum type="arabicPeriod" startAt="2"/>
            </a:pPr>
            <a:r>
              <a:rPr lang="en-US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 Generic methods</a:t>
            </a:r>
          </a:p>
          <a:p>
            <a:pPr marL="895350" lvl="1" indent="-447675" eaLnBrk="1" hangingPunct="1">
              <a:buClr>
                <a:schemeClr val="tx2"/>
              </a:buClr>
            </a:pPr>
            <a:r>
              <a:rPr lang="en-US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size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: Return the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number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nodes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in the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895350" lvl="1" indent="-447675" eaLnBrk="1" hangingPunct="1">
              <a:buClr>
                <a:schemeClr val="tx2"/>
              </a:buClr>
            </a:pPr>
            <a:r>
              <a:rPr lang="en-US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isEmpty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():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Test whether the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has any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nodes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or not.</a:t>
            </a:r>
          </a:p>
          <a:p>
            <a:pPr marL="895350" lvl="1" indent="-447675" eaLnBrk="1" hangingPunct="1">
              <a:buClr>
                <a:schemeClr val="tx2"/>
              </a:buClr>
            </a:pPr>
            <a:r>
              <a:rPr lang="en-US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Iterator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():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Return an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iterator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of all the </a:t>
            </a:r>
            <a:r>
              <a:rPr lang="en-US" i="1" smtClean="0">
                <a:solidFill>
                  <a:srgbClr val="2C61F6"/>
                </a:solidFill>
                <a:latin typeface="Times New Roman" pitchFamily="18" charset="0"/>
                <a:cs typeface="Times New Roman" pitchFamily="18" charset="0"/>
              </a:rPr>
              <a:t>elements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stored at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nodes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of the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895350" lvl="1" indent="-447675" eaLnBrk="1" hangingPunct="1">
              <a:buClr>
                <a:schemeClr val="tx2"/>
              </a:buClr>
            </a:pPr>
            <a:r>
              <a:rPr lang="en-US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positions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():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Return an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iterable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collection of all the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nodes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of the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tree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895350" lvl="1" indent="-447675" eaLnBrk="1" hangingPunct="1">
              <a:buClr>
                <a:schemeClr val="tx2"/>
              </a:buClr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swapElements(v,w): swap the elements stored at nodes v and w.</a:t>
            </a:r>
          </a:p>
          <a:p>
            <a:pPr marL="895350" lvl="1" indent="-447675" eaLnBrk="1" hangingPunct="1">
              <a:buClr>
                <a:schemeClr val="tx2"/>
              </a:buClr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replaceElement(v,e): replace with e and return the element stored at node v.</a:t>
            </a:r>
          </a:p>
          <a:p>
            <a:pPr marL="268288" indent="-247650" eaLnBrk="1" hangingPunct="1">
              <a:buFont typeface="Wingdings" pitchFamily="2" charset="2"/>
              <a:buNone/>
            </a:pPr>
            <a:endParaRPr 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914400" y="228600"/>
            <a:ext cx="7010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 b="0" i="0">
                <a:latin typeface="Tahoma" pitchFamily="34" charset="0"/>
              </a:rPr>
              <a:t>Methods of a Tree ADT (Cont.)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43CC33-A4E8-4696-AC5A-EF4B539B9710}" type="slidenum">
              <a:rPr lang="ar-SA"/>
              <a:pPr>
                <a:defRPr/>
              </a:pPr>
              <a:t>14</a:t>
            </a:fld>
            <a:endParaRPr lang="en-US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09600"/>
          </a:xfrm>
        </p:spPr>
        <p:txBody>
          <a:bodyPr/>
          <a:lstStyle/>
          <a:p>
            <a:pPr eaLnBrk="1" hangingPunct="1"/>
            <a:r>
              <a:rPr lang="en-US" sz="3200" b="1" smtClean="0">
                <a:latin typeface="Times New Roman" pitchFamily="18" charset="0"/>
                <a:cs typeface="Times New Roman" pitchFamily="18" charset="0"/>
              </a:rPr>
              <a:t>Methods of a Tree ADT (Cont.)</a:t>
            </a:r>
          </a:p>
        </p:txBody>
      </p:sp>
      <p:sp>
        <p:nvSpPr>
          <p:cNvPr id="17413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09600" y="990600"/>
            <a:ext cx="82296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80975" indent="-180975" eaLnBrk="1" hangingPunct="1">
              <a:spcBef>
                <a:spcPct val="20000"/>
              </a:spcBef>
              <a:buClr>
                <a:schemeClr val="tx2"/>
              </a:buClr>
              <a:buSzPct val="110000"/>
              <a:buFont typeface="Wingdings" pitchFamily="2" charset="2"/>
              <a:buAutoNum type="arabicPeriod" startAt="3"/>
            </a:pPr>
            <a:r>
              <a:rPr lang="en-US" sz="2800" b="0" i="0">
                <a:latin typeface="Tahoma" pitchFamily="34" charset="0"/>
              </a:rPr>
              <a:t>  </a:t>
            </a:r>
            <a:r>
              <a:rPr lang="en-US" sz="2800" i="0">
                <a:cs typeface="Times New Roman" pitchFamily="18" charset="0"/>
              </a:rPr>
              <a:t>Query methods</a:t>
            </a:r>
          </a:p>
          <a:p>
            <a:pPr marL="180975" indent="-180975" eaLnBrk="1" hangingPunct="1">
              <a:spcBef>
                <a:spcPct val="20000"/>
              </a:spcBef>
              <a:buClr>
                <a:schemeClr val="tx2"/>
              </a:buClr>
              <a:buSzPct val="110000"/>
              <a:buFont typeface="Wingdings" pitchFamily="2" charset="2"/>
              <a:buNone/>
            </a:pPr>
            <a:endParaRPr lang="en-US" sz="1000" b="0" i="0">
              <a:latin typeface="Tahoma" pitchFamily="34" charset="0"/>
            </a:endParaRPr>
          </a:p>
          <a:p>
            <a:pPr marL="180975" indent="-180975" eaLnBrk="1" hangingPunct="1">
              <a:spcBef>
                <a:spcPct val="20000"/>
              </a:spcBef>
              <a:buClr>
                <a:schemeClr val="tx2"/>
              </a:buClr>
              <a:buSzPct val="110000"/>
              <a:buFont typeface="Wingdings" pitchFamily="2" charset="2"/>
              <a:buNone/>
            </a:pPr>
            <a:r>
              <a:rPr lang="en-US" b="0" i="0">
                <a:latin typeface="Tahoma" pitchFamily="34" charset="0"/>
              </a:rPr>
              <a:t>  </a:t>
            </a:r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In addition to the above fundamental </a:t>
            </a:r>
            <a:r>
              <a:rPr lang="en-US" b="0">
                <a:solidFill>
                  <a:schemeClr val="tx1"/>
                </a:solidFill>
                <a:cs typeface="Times New Roman" pitchFamily="18" charset="0"/>
              </a:rPr>
              <a:t>accessor</a:t>
            </a:r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 methods, the </a:t>
            </a:r>
            <a:r>
              <a:rPr lang="en-US" sz="3200" b="0">
                <a:solidFill>
                  <a:schemeClr val="tx1"/>
                </a:solidFill>
                <a:cs typeface="Times New Roman" pitchFamily="18" charset="0"/>
              </a:rPr>
              <a:t>tree</a:t>
            </a:r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 ADT also supports the following Boolean </a:t>
            </a:r>
            <a:r>
              <a:rPr lang="en-US" b="0">
                <a:solidFill>
                  <a:schemeClr val="tx1"/>
                </a:solidFill>
                <a:cs typeface="Times New Roman" pitchFamily="18" charset="0"/>
              </a:rPr>
              <a:t>query</a:t>
            </a:r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 methods:</a:t>
            </a:r>
          </a:p>
          <a:p>
            <a:pPr marL="180975" indent="-180975" eaLnBrk="1" hangingPunct="1">
              <a:spcBef>
                <a:spcPct val="20000"/>
              </a:spcBef>
              <a:buClr>
                <a:schemeClr val="tx2"/>
              </a:buClr>
              <a:buSzPct val="110000"/>
              <a:buFont typeface="Wingdings" pitchFamily="2" charset="2"/>
              <a:buNone/>
            </a:pPr>
            <a:endParaRPr lang="en-US" sz="1000" b="0" i="0">
              <a:solidFill>
                <a:schemeClr val="tx1"/>
              </a:solidFill>
              <a:latin typeface="Tahoma" pitchFamily="34" charset="0"/>
            </a:endParaRPr>
          </a:p>
          <a:p>
            <a:pPr marL="809625" lvl="1" indent="-449263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n"/>
            </a:pPr>
            <a:r>
              <a:rPr lang="en-US" b="0">
                <a:cs typeface="Times New Roman" pitchFamily="18" charset="0"/>
              </a:rPr>
              <a:t>isInternal</a:t>
            </a:r>
            <a:r>
              <a:rPr lang="en-US" b="0">
                <a:solidFill>
                  <a:schemeClr val="tx1"/>
                </a:solidFill>
                <a:cs typeface="Times New Roman" pitchFamily="18" charset="0"/>
              </a:rPr>
              <a:t>(p):</a:t>
            </a:r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 Test whether </a:t>
            </a:r>
            <a:r>
              <a:rPr lang="en-US" b="0">
                <a:solidFill>
                  <a:schemeClr val="tx1"/>
                </a:solidFill>
                <a:cs typeface="Times New Roman" pitchFamily="18" charset="0"/>
              </a:rPr>
              <a:t>node p</a:t>
            </a:r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 is an </a:t>
            </a:r>
            <a:r>
              <a:rPr lang="en-US" b="0">
                <a:solidFill>
                  <a:schemeClr val="tx1"/>
                </a:solidFill>
                <a:cs typeface="Times New Roman" pitchFamily="18" charset="0"/>
              </a:rPr>
              <a:t>internal</a:t>
            </a:r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 node</a:t>
            </a:r>
          </a:p>
          <a:p>
            <a:pPr marL="809625" lvl="1" indent="-449263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n"/>
            </a:pPr>
            <a:r>
              <a:rPr lang="en-US" b="0">
                <a:cs typeface="Times New Roman" pitchFamily="18" charset="0"/>
              </a:rPr>
              <a:t>isExternal</a:t>
            </a:r>
            <a:r>
              <a:rPr lang="en-US" b="0">
                <a:solidFill>
                  <a:schemeClr val="tx1"/>
                </a:solidFill>
                <a:cs typeface="Times New Roman" pitchFamily="18" charset="0"/>
              </a:rPr>
              <a:t>(p):</a:t>
            </a:r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 Test whether </a:t>
            </a:r>
            <a:r>
              <a:rPr lang="en-US" b="0">
                <a:solidFill>
                  <a:schemeClr val="tx1"/>
                </a:solidFill>
                <a:cs typeface="Times New Roman" pitchFamily="18" charset="0"/>
              </a:rPr>
              <a:t>node p</a:t>
            </a:r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 is an </a:t>
            </a:r>
            <a:r>
              <a:rPr lang="en-US" b="0">
                <a:solidFill>
                  <a:schemeClr val="tx1"/>
                </a:solidFill>
                <a:cs typeface="Times New Roman" pitchFamily="18" charset="0"/>
              </a:rPr>
              <a:t>external</a:t>
            </a:r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 node</a:t>
            </a:r>
          </a:p>
          <a:p>
            <a:pPr marL="809625" lvl="1" indent="-449263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n"/>
            </a:pPr>
            <a:r>
              <a:rPr lang="en-US" b="0">
                <a:cs typeface="Times New Roman" pitchFamily="18" charset="0"/>
              </a:rPr>
              <a:t>isRoot</a:t>
            </a:r>
            <a:r>
              <a:rPr lang="en-US" b="0">
                <a:solidFill>
                  <a:schemeClr val="tx1"/>
                </a:solidFill>
                <a:cs typeface="Times New Roman" pitchFamily="18" charset="0"/>
              </a:rPr>
              <a:t>(p):</a:t>
            </a:r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 Test whether </a:t>
            </a:r>
            <a:r>
              <a:rPr lang="en-US" b="0">
                <a:solidFill>
                  <a:schemeClr val="tx1"/>
                </a:solidFill>
                <a:cs typeface="Times New Roman" pitchFamily="18" charset="0"/>
              </a:rPr>
              <a:t>node p</a:t>
            </a:r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 is the </a:t>
            </a:r>
            <a:r>
              <a:rPr lang="en-US" b="0">
                <a:solidFill>
                  <a:schemeClr val="tx1"/>
                </a:solidFill>
                <a:cs typeface="Times New Roman" pitchFamily="18" charset="0"/>
              </a:rPr>
              <a:t>root</a:t>
            </a:r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 node</a:t>
            </a:r>
          </a:p>
          <a:p>
            <a:pPr marL="180975" indent="-180975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b="0" i="0">
                <a:solidFill>
                  <a:schemeClr val="tx1"/>
                </a:solidFill>
                <a:latin typeface="Tahoma" pitchFamily="34" charset="0"/>
              </a:rPr>
              <a:t>  These methods make programming with </a:t>
            </a:r>
            <a:r>
              <a:rPr lang="en-US" b="0">
                <a:solidFill>
                  <a:schemeClr val="tx1"/>
                </a:solidFill>
                <a:cs typeface="Times New Roman" pitchFamily="18" charset="0"/>
              </a:rPr>
              <a:t>tree</a:t>
            </a:r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 </a:t>
            </a:r>
            <a:r>
              <a:rPr lang="en-US" sz="2000" b="0" i="0">
                <a:solidFill>
                  <a:schemeClr val="tx1"/>
                </a:solidFill>
                <a:latin typeface="Tahoma" pitchFamily="34" charset="0"/>
              </a:rPr>
              <a:t>easier and more readable, since we can use them in the conditions of </a:t>
            </a:r>
            <a:r>
              <a:rPr lang="en-US" sz="2000">
                <a:cs typeface="Times New Roman" pitchFamily="18" charset="0"/>
              </a:rPr>
              <a:t>if</a:t>
            </a:r>
            <a:r>
              <a:rPr lang="en-US" sz="2000" b="0" i="0">
                <a:solidFill>
                  <a:schemeClr val="tx1"/>
                </a:solidFill>
                <a:latin typeface="Tahoma" pitchFamily="34" charset="0"/>
              </a:rPr>
              <a:t> -statements and </a:t>
            </a:r>
            <a:r>
              <a:rPr lang="en-US" sz="2000">
                <a:cs typeface="Times New Roman" pitchFamily="18" charset="0"/>
              </a:rPr>
              <a:t>while</a:t>
            </a:r>
            <a:r>
              <a:rPr lang="en-US" sz="2000" b="0" i="0">
                <a:solidFill>
                  <a:schemeClr val="tx1"/>
                </a:solidFill>
                <a:latin typeface="Tahoma" pitchFamily="34" charset="0"/>
              </a:rPr>
              <a:t> -loops, rather than using a non-intuitive conditional.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685800"/>
          </a:xfrm>
        </p:spPr>
        <p:txBody>
          <a:bodyPr/>
          <a:lstStyle/>
          <a:p>
            <a:r>
              <a:rPr lang="en-US" smtClean="0"/>
              <a:t>Example  </a:t>
            </a:r>
          </a:p>
        </p:txBody>
      </p:sp>
      <p:sp>
        <p:nvSpPr>
          <p:cNvPr id="18435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838200" y="990600"/>
            <a:ext cx="7772400" cy="5029200"/>
          </a:xfrm>
        </p:spPr>
        <p:txBody>
          <a:bodyPr/>
          <a:lstStyle/>
          <a:p>
            <a:r>
              <a:rPr lang="en-US" smtClean="0"/>
              <a:t> An arithmetic expression represented by a tree.</a:t>
            </a:r>
          </a:p>
          <a:p>
            <a:r>
              <a:rPr lang="en-US" smtClean="0"/>
              <a:t> external nodes – variables/constants</a:t>
            </a:r>
          </a:p>
          <a:p>
            <a:r>
              <a:rPr lang="en-US" smtClean="0"/>
              <a:t>Internal nodes – one of the operators + -  x and /</a:t>
            </a:r>
          </a:p>
          <a:p>
            <a:r>
              <a:rPr lang="en-US" smtClean="0"/>
              <a:t>Each node has a value.</a:t>
            </a:r>
          </a:p>
          <a:p>
            <a:r>
              <a:rPr lang="en-US" smtClean="0"/>
              <a:t> external node – variable/constant</a:t>
            </a:r>
          </a:p>
          <a:p>
            <a:r>
              <a:rPr lang="en-US" smtClean="0"/>
              <a:t> internal node – result of applying its operation on its child nodes.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Trees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F1304E-B18D-47C2-8943-E4B4E4DD9BEF}" type="slidenum">
              <a:rPr lang="ar-SA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971DF2-93E5-46E7-B3FD-8A7367F787F8}" type="slidenum">
              <a:rPr lang="ar-SA"/>
              <a:pPr>
                <a:defRPr/>
              </a:pPr>
              <a:t>16</a:t>
            </a:fld>
            <a:endParaRPr lang="en-US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84213"/>
          </a:xfrm>
        </p:spPr>
        <p:txBody>
          <a:bodyPr/>
          <a:lstStyle/>
          <a:p>
            <a:pPr eaLnBrk="1" hangingPunct="1"/>
            <a:r>
              <a:rPr lang="en-US" sz="3600" smtClean="0"/>
              <a:t>2.3.2  Tree Traversal Algorithms</a:t>
            </a:r>
          </a:p>
        </p:txBody>
      </p:sp>
      <p:sp>
        <p:nvSpPr>
          <p:cNvPr id="1946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219200"/>
            <a:ext cx="7772400" cy="5105400"/>
          </a:xfrm>
        </p:spPr>
        <p:txBody>
          <a:bodyPr/>
          <a:lstStyle/>
          <a:p>
            <a:pPr marL="266700" indent="-266700" eaLnBrk="1" hangingPunct="1">
              <a:buFont typeface="Wingdings" pitchFamily="2" charset="2"/>
              <a:buNone/>
            </a:pPr>
            <a:r>
              <a:rPr lang="en-US" sz="240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Depth and Height</a:t>
            </a:r>
          </a:p>
          <a:p>
            <a:pPr marL="266700" indent="-266700" eaLnBrk="1" hangingPunct="1">
              <a:buFont typeface="Arial" charset="0"/>
              <a:buChar char="•"/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depth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of a node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in tree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, is the number of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ancestors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, excluding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itself. </a:t>
            </a:r>
          </a:p>
          <a:p>
            <a:pPr marL="266700" indent="-266700" eaLnBrk="1" hangingPunct="1">
              <a:buFont typeface="Arial" charset="0"/>
              <a:buChar char="•"/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 the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depth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of the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is 0.</a:t>
            </a:r>
          </a:p>
          <a:p>
            <a:pPr marL="266700" indent="-266700" eaLnBrk="1" hangingPunct="1">
              <a:buFont typeface="Wingdings" pitchFamily="2" charset="2"/>
              <a:buNone/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Recursive definition of the </a:t>
            </a:r>
            <a:r>
              <a:rPr lang="en-US" sz="2400" i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depth</a:t>
            </a:r>
            <a:r>
              <a:rPr lang="en-US" sz="24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of node </a:t>
            </a:r>
            <a:r>
              <a:rPr lang="en-US" sz="2400" i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827088" lvl="1" eaLnBrk="1" hangingPunct="1"/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is the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, then the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depth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is 0.	(Base Case)</a:t>
            </a:r>
          </a:p>
          <a:p>
            <a:pPr marL="827088" lvl="1" eaLnBrk="1" hangingPunct="1"/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Otherwise, the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depth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is one plus the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depth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of the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parent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19462" name="Text Box 4"/>
          <p:cNvSpPr txBox="1">
            <a:spLocks noChangeArrowheads="1"/>
          </p:cNvSpPr>
          <p:nvPr/>
        </p:nvSpPr>
        <p:spPr bwMode="auto">
          <a:xfrm>
            <a:off x="1828800" y="4114800"/>
            <a:ext cx="5029200" cy="147796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indent="-276225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lvl="1" eaLnBrk="1" hangingPunct="1"/>
            <a:r>
              <a:rPr lang="en-US" sz="1800" b="0" i="0">
                <a:cs typeface="Times New Roman" pitchFamily="18" charset="0"/>
              </a:rPr>
              <a:t>Algorithm</a:t>
            </a:r>
            <a:r>
              <a:rPr lang="en-US" sz="1800" b="0" i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1800" b="0">
                <a:solidFill>
                  <a:schemeClr val="tx1"/>
                </a:solidFill>
                <a:cs typeface="Times New Roman" pitchFamily="18" charset="0"/>
              </a:rPr>
              <a:t>depth(T,v) :</a:t>
            </a:r>
          </a:p>
          <a:p>
            <a:pPr lvl="1" eaLnBrk="1" hangingPunct="1"/>
            <a:r>
              <a:rPr lang="en-US" sz="1800" b="0" i="0">
                <a:solidFill>
                  <a:schemeClr val="tx1"/>
                </a:solidFill>
                <a:cs typeface="Times New Roman" pitchFamily="18" charset="0"/>
              </a:rPr>
              <a:t>   </a:t>
            </a:r>
            <a:r>
              <a:rPr lang="en-US" sz="1800">
                <a:solidFill>
                  <a:schemeClr val="tx1"/>
                </a:solidFill>
                <a:cs typeface="Times New Roman" pitchFamily="18" charset="0"/>
              </a:rPr>
              <a:t>if</a:t>
            </a:r>
            <a:r>
              <a:rPr lang="en-US" sz="1800" b="0" i="0">
                <a:solidFill>
                  <a:schemeClr val="tx1"/>
                </a:solidFill>
                <a:cs typeface="Times New Roman" pitchFamily="18" charset="0"/>
              </a:rPr>
              <a:t>  </a:t>
            </a:r>
            <a:r>
              <a:rPr lang="en-US" sz="1800" b="0">
                <a:solidFill>
                  <a:schemeClr val="tx1"/>
                </a:solidFill>
                <a:cs typeface="Times New Roman" pitchFamily="18" charset="0"/>
              </a:rPr>
              <a:t>T</a:t>
            </a:r>
            <a:r>
              <a:rPr lang="en-US" sz="1800" b="0" i="0">
                <a:solidFill>
                  <a:schemeClr val="tx1"/>
                </a:solidFill>
                <a:cs typeface="Times New Roman" pitchFamily="18" charset="0"/>
              </a:rPr>
              <a:t>.isRoot(</a:t>
            </a:r>
            <a:r>
              <a:rPr lang="en-US" sz="1800" b="0">
                <a:solidFill>
                  <a:schemeClr val="tx1"/>
                </a:solidFill>
                <a:cs typeface="Times New Roman" pitchFamily="18" charset="0"/>
              </a:rPr>
              <a:t>v)</a:t>
            </a:r>
            <a:r>
              <a:rPr lang="en-US" sz="1800" b="0" i="0">
                <a:solidFill>
                  <a:schemeClr val="tx1"/>
                </a:solidFill>
                <a:cs typeface="Times New Roman" pitchFamily="18" charset="0"/>
              </a:rPr>
              <a:t>  </a:t>
            </a:r>
            <a:r>
              <a:rPr lang="en-US" sz="1800">
                <a:solidFill>
                  <a:schemeClr val="tx1"/>
                </a:solidFill>
                <a:cs typeface="Times New Roman" pitchFamily="18" charset="0"/>
              </a:rPr>
              <a:t>then</a:t>
            </a:r>
          </a:p>
          <a:p>
            <a:pPr lvl="1" eaLnBrk="1" hangingPunct="1"/>
            <a:r>
              <a:rPr lang="en-US" sz="1800" b="0" i="0">
                <a:solidFill>
                  <a:schemeClr val="tx1"/>
                </a:solidFill>
                <a:cs typeface="Times New Roman" pitchFamily="18" charset="0"/>
              </a:rPr>
              <a:t>        </a:t>
            </a:r>
            <a:r>
              <a:rPr lang="en-US" sz="1800">
                <a:solidFill>
                  <a:schemeClr val="tx1"/>
                </a:solidFill>
                <a:cs typeface="Times New Roman" pitchFamily="18" charset="0"/>
              </a:rPr>
              <a:t>return</a:t>
            </a:r>
            <a:r>
              <a:rPr lang="en-US" sz="1800" b="0" i="0">
                <a:solidFill>
                  <a:schemeClr val="tx1"/>
                </a:solidFill>
                <a:cs typeface="Times New Roman" pitchFamily="18" charset="0"/>
              </a:rPr>
              <a:t> 0</a:t>
            </a:r>
          </a:p>
          <a:p>
            <a:pPr lvl="1" eaLnBrk="1" hangingPunct="1"/>
            <a:r>
              <a:rPr lang="en-US" sz="1800" b="0" i="0">
                <a:solidFill>
                  <a:schemeClr val="tx1"/>
                </a:solidFill>
                <a:cs typeface="Times New Roman" pitchFamily="18" charset="0"/>
              </a:rPr>
              <a:t>   </a:t>
            </a:r>
            <a:r>
              <a:rPr lang="en-US" sz="1800">
                <a:solidFill>
                  <a:schemeClr val="tx1"/>
                </a:solidFill>
                <a:cs typeface="Times New Roman" pitchFamily="18" charset="0"/>
              </a:rPr>
              <a:t>else</a:t>
            </a:r>
            <a:r>
              <a:rPr lang="en-US" sz="1800" b="0" i="0">
                <a:solidFill>
                  <a:schemeClr val="tx1"/>
                </a:solidFill>
                <a:cs typeface="Times New Roman" pitchFamily="18" charset="0"/>
              </a:rPr>
              <a:t> </a:t>
            </a:r>
          </a:p>
          <a:p>
            <a:pPr lvl="1" algn="ctr" eaLnBrk="1" hangingPunct="1"/>
            <a:r>
              <a:rPr lang="en-US" sz="1800">
                <a:solidFill>
                  <a:schemeClr val="tx1"/>
                </a:solidFill>
                <a:cs typeface="Times New Roman" pitchFamily="18" charset="0"/>
              </a:rPr>
              <a:t>return</a:t>
            </a:r>
            <a:r>
              <a:rPr lang="en-US" sz="1800" b="0" i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1800" b="0">
                <a:solidFill>
                  <a:schemeClr val="tx1"/>
                </a:solidFill>
                <a:cs typeface="Times New Roman" pitchFamily="18" charset="0"/>
              </a:rPr>
              <a:t>1 +</a:t>
            </a:r>
            <a:r>
              <a:rPr lang="en-US" sz="1800" b="0" i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1800" b="0">
                <a:solidFill>
                  <a:schemeClr val="tx1"/>
                </a:solidFill>
                <a:cs typeface="Times New Roman" pitchFamily="18" charset="0"/>
              </a:rPr>
              <a:t>depth(T,T.parent(v))</a:t>
            </a:r>
            <a:r>
              <a:rPr lang="en-US" sz="1800" b="0" i="0">
                <a:solidFill>
                  <a:schemeClr val="tx1"/>
                </a:solidFill>
                <a:cs typeface="Times New Roman" pitchFamily="18" charset="0"/>
              </a:rPr>
              <a:t> </a:t>
            </a:r>
            <a:endParaRPr lang="en-US" sz="1800" b="0">
              <a:solidFill>
                <a:schemeClr val="tx1"/>
              </a:solidFill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3F8586-EC85-4FA1-8AB2-39DB1824C42C}" type="slidenum">
              <a:rPr lang="ar-SA"/>
              <a:pPr>
                <a:defRPr/>
              </a:pPr>
              <a:t>17</a:t>
            </a:fld>
            <a:endParaRPr lang="en-US"/>
          </a:p>
        </p:txBody>
      </p:sp>
      <p:sp>
        <p:nvSpPr>
          <p:cNvPr id="2048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762000"/>
            <a:ext cx="7772400" cy="4572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4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Analysis of </a:t>
            </a:r>
            <a:r>
              <a:rPr lang="en-US" sz="2400" i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depth</a:t>
            </a:r>
            <a:r>
              <a:rPr lang="en-US" sz="2400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algorithm:</a:t>
            </a:r>
          </a:p>
          <a:p>
            <a:pPr eaLnBrk="1" hangingPunct="1">
              <a:buFont typeface="Wingdings" pitchFamily="2" charset="2"/>
              <a:buNone/>
            </a:pPr>
            <a:endParaRPr lang="en-US" sz="2400" dirty="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8038" lvl="1" eaLnBrk="1" hangingPunct="1">
              <a:buClr>
                <a:schemeClr val="tx2"/>
              </a:buClr>
              <a:buSzTx/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unning time of algorithm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depth(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T,v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O(1 + d</a:t>
            </a:r>
            <a:r>
              <a:rPr lang="en-US" sz="2400" i="1" baseline="-25000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where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i="1" baseline="-25000" dirty="0" smtClean="0">
                <a:latin typeface="Times New Roman" pitchFamily="18" charset="0"/>
                <a:cs typeface="Times New Roman" pitchFamily="18" charset="0"/>
              </a:rPr>
              <a:t>v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denotes the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depth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of node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 the tree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because the algorithm performs a constant-time recursive step for each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ancestor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808038" lvl="1" eaLnBrk="1" hangingPunct="1">
              <a:buClr>
                <a:schemeClr val="tx2"/>
              </a:buClr>
              <a:buSzTx/>
              <a:buFont typeface="Wingdings" pitchFamily="2" charset="2"/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808038" lvl="1" eaLnBrk="1" hangingPunct="1">
              <a:buClr>
                <a:schemeClr val="tx2"/>
              </a:buClr>
              <a:buSzTx/>
              <a:buFont typeface="Wingdings" pitchFamily="2" charset="2"/>
              <a:buChar char="§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Worst case running time -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O(n),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where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the total number of nodes of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since a node of T may have depth </a:t>
            </a:r>
            <a:r>
              <a:rPr lang="en-US" sz="2400" b="1" i="1" dirty="0" smtClean="0">
                <a:latin typeface="Times New Roman" pitchFamily="18" charset="0"/>
                <a:cs typeface="Times New Roman" pitchFamily="18" charset="0"/>
              </a:rPr>
              <a:t>n-1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 the worst case.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8B9F12-7749-41C3-A05F-DC7DF1C12284}" type="slidenum">
              <a:rPr lang="ar-SA"/>
              <a:pPr>
                <a:defRPr/>
              </a:pPr>
              <a:t>18</a:t>
            </a:fld>
            <a:endParaRPr lang="en-US"/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36575"/>
            <a:ext cx="7772400" cy="608013"/>
          </a:xfrm>
        </p:spPr>
        <p:txBody>
          <a:bodyPr/>
          <a:lstStyle/>
          <a:p>
            <a:pPr eaLnBrk="1" hangingPunct="1"/>
            <a:r>
              <a:rPr lang="en-US" sz="2800" smtClean="0"/>
              <a:t>Height</a:t>
            </a:r>
          </a:p>
        </p:txBody>
      </p:sp>
      <p:sp>
        <p:nvSpPr>
          <p:cNvPr id="2150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219200"/>
            <a:ext cx="7772400" cy="4114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  <a:tabLst>
                <a:tab pos="0" algn="l"/>
                <a:tab pos="542925" algn="l"/>
              </a:tabLst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 The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height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of node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in a tree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is also defined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recursively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266700" lvl="1" indent="-87313" eaLnBrk="1" hangingPunct="1">
              <a:lnSpc>
                <a:spcPct val="90000"/>
              </a:lnSpc>
              <a:buClr>
                <a:schemeClr val="tx2"/>
              </a:buClr>
              <a:buSzPct val="70000"/>
              <a:tabLst>
                <a:tab pos="0" algn="l"/>
                <a:tab pos="542925" algn="l"/>
              </a:tabLst>
            </a:pP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 If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is an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external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node, then the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height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is 0.</a:t>
            </a:r>
          </a:p>
          <a:p>
            <a:pPr marL="266700" lvl="1" indent="-87313" eaLnBrk="1" hangingPunct="1">
              <a:lnSpc>
                <a:spcPct val="90000"/>
              </a:lnSpc>
              <a:buClr>
                <a:schemeClr val="tx2"/>
              </a:buClr>
              <a:buSzPct val="70000"/>
              <a:tabLst>
                <a:tab pos="0" algn="l"/>
                <a:tab pos="542925" algn="l"/>
              </a:tabLst>
            </a:pP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 Otherwise, the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height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is one plus the maximum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height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of a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child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	of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66700" lvl="1" indent="-87313" eaLnBrk="1" hangingPunct="1">
              <a:lnSpc>
                <a:spcPct val="90000"/>
              </a:lnSpc>
              <a:tabLst>
                <a:tab pos="0" algn="l"/>
                <a:tab pos="542925" algn="l"/>
              </a:tabLst>
            </a:pP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 The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height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of a non-empty tree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is the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height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of the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66700" lvl="1" indent="-87313" eaLnBrk="1" hangingPunct="1">
              <a:lnSpc>
                <a:spcPct val="90000"/>
              </a:lnSpc>
              <a:buFont typeface="Wingdings" pitchFamily="2" charset="2"/>
              <a:buNone/>
              <a:tabLst>
                <a:tab pos="0" algn="l"/>
                <a:tab pos="542925" algn="l"/>
              </a:tabLst>
            </a:pP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266700" lvl="1" indent="-87313" eaLnBrk="1" hangingPunct="1">
              <a:lnSpc>
                <a:spcPct val="90000"/>
              </a:lnSpc>
              <a:buFont typeface="Wingdings" pitchFamily="2" charset="2"/>
              <a:buNone/>
              <a:tabLst>
                <a:tab pos="0" algn="l"/>
                <a:tab pos="542925" algn="l"/>
              </a:tabLst>
            </a:pPr>
            <a:endParaRPr lang="en-US" sz="2000" smtClean="0">
              <a:latin typeface="Times New Roman" pitchFamily="18" charset="0"/>
              <a:cs typeface="Times New Roman" pitchFamily="18" charset="0"/>
            </a:endParaRPr>
          </a:p>
          <a:p>
            <a:pPr marL="266700" lvl="1" indent="-87313" eaLnBrk="1" hangingPunct="1">
              <a:lnSpc>
                <a:spcPct val="90000"/>
              </a:lnSpc>
              <a:buFont typeface="Wingdings" pitchFamily="2" charset="2"/>
              <a:buNone/>
              <a:tabLst>
                <a:tab pos="0" algn="l"/>
                <a:tab pos="542925" algn="l"/>
              </a:tabLst>
            </a:pPr>
            <a:endParaRPr lang="en-US" sz="2000" smtClean="0">
              <a:latin typeface="Times New Roman" pitchFamily="18" charset="0"/>
              <a:cs typeface="Times New Roman" pitchFamily="18" charset="0"/>
            </a:endParaRPr>
          </a:p>
          <a:p>
            <a:pPr marL="266700" lvl="1" indent="-87313" eaLnBrk="1" hangingPunct="1">
              <a:lnSpc>
                <a:spcPct val="90000"/>
              </a:lnSpc>
              <a:buFont typeface="Wingdings" pitchFamily="2" charset="2"/>
              <a:buNone/>
              <a:tabLst>
                <a:tab pos="0" algn="l"/>
                <a:tab pos="542925" algn="l"/>
              </a:tabLst>
            </a:pPr>
            <a:endParaRPr lang="en-US" sz="200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10" name="Text Box 4"/>
          <p:cNvSpPr txBox="1">
            <a:spLocks noChangeArrowheads="1"/>
          </p:cNvSpPr>
          <p:nvPr/>
        </p:nvSpPr>
        <p:spPr bwMode="auto">
          <a:xfrm>
            <a:off x="1981200" y="3276600"/>
            <a:ext cx="4572000" cy="2501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65000"/>
              </a:lnSpc>
              <a:spcBef>
                <a:spcPct val="50000"/>
              </a:spcBef>
            </a:pPr>
            <a:r>
              <a:rPr lang="en-US" sz="1800" b="0" i="0">
                <a:cs typeface="Times New Roman" pitchFamily="18" charset="0"/>
              </a:rPr>
              <a:t>Algorithm</a:t>
            </a:r>
            <a:r>
              <a:rPr lang="en-US" sz="1800" b="0" i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sz="1800" b="0">
                <a:solidFill>
                  <a:srgbClr val="000000"/>
                </a:solidFill>
                <a:cs typeface="Times New Roman" pitchFamily="18" charset="0"/>
              </a:rPr>
              <a:t>height(T,v)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solidFill>
                  <a:srgbClr val="000000"/>
                </a:solidFill>
                <a:cs typeface="Times New Roman" pitchFamily="18" charset="0"/>
              </a:rPr>
              <a:t>  if</a:t>
            </a:r>
            <a:r>
              <a:rPr lang="en-US" sz="1800" b="0" i="0">
                <a:solidFill>
                  <a:srgbClr val="000000"/>
                </a:solidFill>
                <a:cs typeface="Times New Roman" pitchFamily="18" charset="0"/>
              </a:rPr>
              <a:t>  </a:t>
            </a:r>
            <a:r>
              <a:rPr lang="en-US" sz="1800" b="0">
                <a:solidFill>
                  <a:srgbClr val="000000"/>
                </a:solidFill>
                <a:cs typeface="Times New Roman" pitchFamily="18" charset="0"/>
              </a:rPr>
              <a:t>T.isExternal(v)  </a:t>
            </a:r>
            <a:r>
              <a:rPr lang="en-US" sz="1800">
                <a:solidFill>
                  <a:srgbClr val="000000"/>
                </a:solidFill>
                <a:cs typeface="Times New Roman" pitchFamily="18" charset="0"/>
              </a:rPr>
              <a:t>then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</a:pPr>
            <a:r>
              <a:rPr lang="en-US" sz="1800" b="0" i="0">
                <a:solidFill>
                  <a:srgbClr val="000000"/>
                </a:solidFill>
                <a:cs typeface="Times New Roman" pitchFamily="18" charset="0"/>
              </a:rPr>
              <a:t>     </a:t>
            </a:r>
            <a:r>
              <a:rPr lang="en-US" sz="1800">
                <a:solidFill>
                  <a:srgbClr val="000000"/>
                </a:solidFill>
                <a:cs typeface="Times New Roman" pitchFamily="18" charset="0"/>
              </a:rPr>
              <a:t>return</a:t>
            </a:r>
            <a:r>
              <a:rPr lang="en-US" sz="1800" b="0" i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sz="1800" b="0">
                <a:solidFill>
                  <a:srgbClr val="000000"/>
                </a:solidFill>
                <a:cs typeface="Times New Roman" pitchFamily="18" charset="0"/>
              </a:rPr>
              <a:t>0            </a:t>
            </a:r>
            <a:r>
              <a:rPr lang="en-US" sz="1800" b="0">
                <a:solidFill>
                  <a:schemeClr val="tx1"/>
                </a:solidFill>
                <a:cs typeface="Times New Roman" pitchFamily="18" charset="0"/>
              </a:rPr>
              <a:t>// base case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</a:pPr>
            <a:r>
              <a:rPr lang="en-US" sz="1800" b="0" i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sz="1800">
                <a:solidFill>
                  <a:srgbClr val="000000"/>
                </a:solidFill>
                <a:cs typeface="Times New Roman" pitchFamily="18" charset="0"/>
              </a:rPr>
              <a:t>else</a:t>
            </a:r>
            <a:r>
              <a:rPr lang="en-US" sz="1800" b="0" i="0">
                <a:solidFill>
                  <a:srgbClr val="000000"/>
                </a:solidFill>
                <a:cs typeface="Times New Roman" pitchFamily="18" charset="0"/>
              </a:rPr>
              <a:t>  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</a:pPr>
            <a:r>
              <a:rPr lang="en-US" sz="1800" b="0" i="0">
                <a:solidFill>
                  <a:srgbClr val="000000"/>
                </a:solidFill>
                <a:cs typeface="Times New Roman" pitchFamily="18" charset="0"/>
              </a:rPr>
              <a:t>    </a:t>
            </a:r>
            <a:r>
              <a:rPr lang="en-US" sz="1800" b="0">
                <a:solidFill>
                  <a:srgbClr val="000000"/>
                </a:solidFill>
                <a:cs typeface="Times New Roman" pitchFamily="18" charset="0"/>
              </a:rPr>
              <a:t>h ← 0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solidFill>
                  <a:srgbClr val="000000"/>
                </a:solidFill>
                <a:cs typeface="Times New Roman" pitchFamily="18" charset="0"/>
              </a:rPr>
              <a:t>    for</a:t>
            </a:r>
            <a:r>
              <a:rPr lang="en-US" sz="1800" b="0" i="0">
                <a:solidFill>
                  <a:srgbClr val="000000"/>
                </a:solidFill>
                <a:cs typeface="Times New Roman" pitchFamily="18" charset="0"/>
              </a:rPr>
              <a:t> each </a:t>
            </a:r>
            <a:r>
              <a:rPr lang="en-US" sz="1800" b="0">
                <a:solidFill>
                  <a:srgbClr val="000000"/>
                </a:solidFill>
                <a:cs typeface="Times New Roman" pitchFamily="18" charset="0"/>
              </a:rPr>
              <a:t>w</a:t>
            </a:r>
            <a:r>
              <a:rPr lang="en-US" sz="1800" b="0" i="0">
                <a:solidFill>
                  <a:srgbClr val="000000"/>
                </a:solidFill>
                <a:cs typeface="Times New Roman" pitchFamily="18" charset="0"/>
              </a:rPr>
              <a:t> in T.children(v) </a:t>
            </a:r>
            <a:r>
              <a:rPr lang="en-US" sz="1800">
                <a:solidFill>
                  <a:srgbClr val="000000"/>
                </a:solidFill>
                <a:cs typeface="Times New Roman" pitchFamily="18" charset="0"/>
              </a:rPr>
              <a:t>do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</a:pPr>
            <a:r>
              <a:rPr lang="en-US" sz="1800" b="0">
                <a:solidFill>
                  <a:srgbClr val="000000"/>
                </a:solidFill>
                <a:cs typeface="Times New Roman" pitchFamily="18" charset="0"/>
              </a:rPr>
              <a:t>          h </a:t>
            </a:r>
            <a:r>
              <a:rPr lang="en-US" sz="1800" b="0">
                <a:solidFill>
                  <a:srgbClr val="000000"/>
                </a:solidFill>
                <a:latin typeface="Tahoma" pitchFamily="34" charset="0"/>
              </a:rPr>
              <a:t>← </a:t>
            </a:r>
            <a:r>
              <a:rPr lang="en-US" sz="1800" b="0">
                <a:solidFill>
                  <a:srgbClr val="000000"/>
                </a:solidFill>
                <a:cs typeface="Times New Roman" pitchFamily="18" charset="0"/>
              </a:rPr>
              <a:t>max(h,height(T,w))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</a:pPr>
            <a:r>
              <a:rPr lang="en-US" sz="1800">
                <a:solidFill>
                  <a:srgbClr val="000000"/>
                </a:solidFill>
                <a:cs typeface="Times New Roman" pitchFamily="18" charset="0"/>
              </a:rPr>
              <a:t>return</a:t>
            </a:r>
            <a:r>
              <a:rPr lang="en-US" sz="1800" b="0" i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sz="1800" b="0">
                <a:solidFill>
                  <a:srgbClr val="000000"/>
                </a:solidFill>
                <a:cs typeface="Times New Roman" pitchFamily="18" charset="0"/>
              </a:rPr>
              <a:t>1 + h</a:t>
            </a:r>
            <a:r>
              <a:rPr lang="en-US" sz="1800" b="0" i="0">
                <a:solidFill>
                  <a:srgbClr val="000000"/>
                </a:solidFill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8E6A10-788A-4093-94F1-E7E342285E84}" type="slidenum">
              <a:rPr lang="ar-SA"/>
              <a:pPr>
                <a:defRPr/>
              </a:pPr>
              <a:t>19</a:t>
            </a:fld>
            <a:endParaRPr lang="en-US"/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Performance Analysis of </a:t>
            </a:r>
            <a:r>
              <a:rPr lang="en-US" sz="2800" i="1" smtClean="0">
                <a:latin typeface="Times New Roman" pitchFamily="18" charset="0"/>
                <a:cs typeface="Times New Roman" pitchFamily="18" charset="0"/>
              </a:rPr>
              <a:t>height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 Algorithm</a:t>
            </a:r>
          </a:p>
        </p:txBody>
      </p:sp>
      <p:sp>
        <p:nvSpPr>
          <p:cNvPr id="2253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772400" cy="4419600"/>
          </a:xfrm>
        </p:spPr>
        <p:txBody>
          <a:bodyPr/>
          <a:lstStyle/>
          <a:p>
            <a:pPr lvl="1" eaLnBrk="1" hangingPunct="1">
              <a:lnSpc>
                <a:spcPct val="80000"/>
              </a:lnSpc>
              <a:buClr>
                <a:schemeClr val="tx2"/>
              </a:buClr>
              <a:buSzPct val="75000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algorithm is recursive.</a:t>
            </a:r>
          </a:p>
          <a:p>
            <a:pPr lvl="1" eaLnBrk="1" hangingPunct="1">
              <a:lnSpc>
                <a:spcPct val="80000"/>
              </a:lnSpc>
              <a:buClr>
                <a:schemeClr val="tx2"/>
              </a:buClr>
              <a:buSzPct val="75000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initially called on the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and eventually called on for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each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node of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eaLnBrk="1" hangingPunct="1">
              <a:lnSpc>
                <a:spcPct val="80000"/>
              </a:lnSpc>
              <a:buClr>
                <a:schemeClr val="tx2"/>
              </a:buClr>
              <a:buSzPct val="75000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determine the runtime of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height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algorithm:</a:t>
            </a:r>
          </a:p>
          <a:p>
            <a:pPr lvl="2" eaLnBrk="1" hangingPunct="1">
              <a:lnSpc>
                <a:spcPct val="80000"/>
              </a:lnSpc>
              <a:buClr>
                <a:schemeClr val="tx2"/>
              </a:buClr>
              <a:buSzPct val="75000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Sum the amount of time spent at each node.</a:t>
            </a:r>
          </a:p>
          <a:p>
            <a:pPr lvl="2" eaLnBrk="1" hangingPunct="1">
              <a:lnSpc>
                <a:spcPct val="80000"/>
              </a:lnSpc>
              <a:buClr>
                <a:schemeClr val="tx2"/>
              </a:buClr>
              <a:buSzPct val="75000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Processing each node in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children(v)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takes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O(c</a:t>
            </a:r>
            <a:r>
              <a:rPr lang="en-US" sz="2000" i="1" baseline="-25000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time, where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i="1" baseline="-25000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is the number of children of node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2" eaLnBrk="1" hangingPunct="1">
              <a:lnSpc>
                <a:spcPct val="80000"/>
              </a:lnSpc>
              <a:buClr>
                <a:schemeClr val="tx2"/>
              </a:buClr>
              <a:buSzPct val="75000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loop has 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i="1" baseline="-25000" dirty="0" smtClean="0">
                <a:latin typeface="Times New Roman" pitchFamily="18" charset="0"/>
                <a:cs typeface="Times New Roman" pitchFamily="18" charset="0"/>
              </a:rPr>
              <a:t>v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iterations, and each iteration takes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O(1)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time, plus the time for the recursive call on a child of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2" eaLnBrk="1" hangingPunct="1">
              <a:lnSpc>
                <a:spcPct val="80000"/>
              </a:lnSpc>
              <a:buClr>
                <a:schemeClr val="tx2"/>
              </a:buClr>
              <a:buSzPct val="75000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Thus, for each node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height spends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O(1+c</a:t>
            </a:r>
            <a:r>
              <a:rPr lang="en-US" sz="2000" i="1" baseline="-25000" dirty="0" smtClean="0">
                <a:latin typeface="Times New Roman" pitchFamily="18" charset="0"/>
                <a:cs typeface="Times New Roman" pitchFamily="18" charset="0"/>
              </a:rPr>
              <a:t>v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time, and its runtime is 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(1+c</a:t>
            </a:r>
            <a:r>
              <a:rPr lang="en-US" i="1" baseline="-25000" dirty="0" smtClean="0">
                <a:latin typeface="Times New Roman" pitchFamily="18" charset="0"/>
                <a:cs typeface="Times New Roman" pitchFamily="18" charset="0"/>
              </a:rPr>
              <a:t>v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)),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which is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O(n).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995040-223F-44C7-97AC-638F41F3AA0C}" type="slidenum">
              <a:rPr lang="ar-SA"/>
              <a:pPr>
                <a:defRPr/>
              </a:pPr>
              <a:t>20</a:t>
            </a:fld>
            <a:endParaRPr lang="en-US"/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sz="3200" smtClean="0"/>
              <a:t>Proposition 7.5</a:t>
            </a:r>
          </a:p>
        </p:txBody>
      </p:sp>
      <p:sp>
        <p:nvSpPr>
          <p:cNvPr id="2355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	Let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be a tree with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nodes, and let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i="1" baseline="-2500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be the number of children of 	a node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. Then, summing over all vertices in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en-US" sz="2400" i="1" baseline="-2500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 </a:t>
            </a:r>
            <a:r>
              <a:rPr lang="en-US" sz="24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i="1" baseline="-2500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 </a:t>
            </a:r>
            <a:r>
              <a:rPr lang="en-US" sz="24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= n-1.</a:t>
            </a:r>
          </a:p>
          <a:p>
            <a:pPr eaLnBrk="1" hangingPunct="1">
              <a:buFont typeface="Wingdings" pitchFamily="2" charset="2"/>
              <a:buNone/>
            </a:pPr>
            <a:endParaRPr lang="en-US" sz="2400" i="1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24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Justification: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	Since each node of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 T, 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except the root, is a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child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of another unique node, and thus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∑</a:t>
            </a:r>
            <a:r>
              <a:rPr lang="en-US" sz="2400" i="1" baseline="-2500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 c</a:t>
            </a:r>
            <a:r>
              <a:rPr lang="en-US" sz="2400" i="1" baseline="-25000" smtClean="0">
                <a:latin typeface="Times New Roman" pitchFamily="18" charset="0"/>
                <a:cs typeface="Times New Roman" pitchFamily="18" charset="0"/>
              </a:rPr>
              <a:t>v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= n</a:t>
            </a:r>
            <a:r>
              <a:rPr lang="en-US" sz="2400" i="1" baseline="-25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- 1.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D74A17-D743-4D41-9F80-F843F9F922C9}" type="slidenum">
              <a:rPr lang="ar-SA"/>
              <a:pPr>
                <a:defRPr/>
              </a:pPr>
              <a:t>21</a:t>
            </a:fld>
            <a:endParaRPr lang="en-US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>
                <a:latin typeface="Times New Roman" pitchFamily="18" charset="0"/>
                <a:cs typeface="Times New Roman" pitchFamily="18" charset="0"/>
              </a:rPr>
              <a:t>2.3.2 Tree Traversal</a:t>
            </a:r>
          </a:p>
        </p:txBody>
      </p:sp>
      <p:sp>
        <p:nvSpPr>
          <p:cNvPr id="2458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a systematic way of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accessing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, or “</a:t>
            </a:r>
            <a:r>
              <a:rPr lang="en-US" sz="24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visiting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” all the nodes of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, such that each node is visited once.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None/>
            </a:pPr>
            <a:endParaRPr lang="en-US" sz="24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The specific action associated with the “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visit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” of a node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depends on the application of this traversal, for example: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Increment a counter,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Update content of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v,</a:t>
            </a:r>
            <a:endParaRPr lang="en-US" sz="2000" smtClean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Perform some computation for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v, … 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etc.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None/>
            </a:pPr>
            <a:endParaRPr lang="en-US" sz="20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There are many types of tree traversals.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Trees</a:t>
            </a:r>
          </a:p>
        </p:txBody>
      </p:sp>
      <p:sp>
        <p:nvSpPr>
          <p:cNvPr id="2560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sz="1400" b="0" i="0" smtClean="0">
                <a:solidFill>
                  <a:schemeClr val="tx1"/>
                </a:solidFill>
                <a:latin typeface="Arial" charset="0"/>
              </a:rPr>
              <a:t>30</a:t>
            </a: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Preorder Traversal</a:t>
            </a:r>
          </a:p>
        </p:txBody>
      </p:sp>
      <p:sp>
        <p:nvSpPr>
          <p:cNvPr id="2560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77724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Visit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each node </a:t>
            </a: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before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recursively visiting its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children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descendants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, from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left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right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(ordered tree)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is visited first.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None/>
            </a:pPr>
            <a:endParaRPr lang="en-US" sz="20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Each node is visited only once.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None/>
            </a:pPr>
            <a:endParaRPr lang="en-US" sz="20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It takes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O(n)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time, where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is the number of nodes in tree, assuming that visiting a node takes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O(1)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. That’s,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preorder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traversal is a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linear time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algorithm.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§"/>
            </a:pPr>
            <a:endParaRPr lang="en-US" sz="20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preorder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traversal is useful to get a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linear ordering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of nodes of a tree.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None/>
            </a:pPr>
            <a:endParaRPr lang="en-US" sz="20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000" u="sng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Application: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It is a natural way to print the structure of directories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3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EE2C22-578F-427B-A2C8-8E6D51152210}" type="slidenum">
              <a:rPr lang="ar-SA"/>
              <a:pPr>
                <a:defRPr/>
              </a:pPr>
              <a:t>23</a:t>
            </a:fld>
            <a:endParaRPr lang="en-US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772400" cy="609600"/>
          </a:xfrm>
        </p:spPr>
        <p:txBody>
          <a:bodyPr/>
          <a:lstStyle/>
          <a:p>
            <a:pPr eaLnBrk="1" hangingPunct="1"/>
            <a:r>
              <a:rPr lang="en-US" sz="3200" smtClean="0"/>
              <a:t> Preorder Traversal</a:t>
            </a:r>
          </a:p>
        </p:txBody>
      </p:sp>
      <p:sp>
        <p:nvSpPr>
          <p:cNvPr id="26629" name="AutoShape 5"/>
          <p:cNvSpPr>
            <a:spLocks noChangeAspect="1" noChangeArrowheads="1"/>
          </p:cNvSpPr>
          <p:nvPr/>
        </p:nvSpPr>
        <p:spPr bwMode="auto">
          <a:xfrm>
            <a:off x="3889375" y="2971800"/>
            <a:ext cx="1857375" cy="3825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Make Money Fast!</a:t>
            </a:r>
          </a:p>
        </p:txBody>
      </p:sp>
      <p:sp>
        <p:nvSpPr>
          <p:cNvPr id="26630" name="AutoShape 6"/>
          <p:cNvSpPr>
            <a:spLocks noChangeAspect="1" noChangeArrowheads="1"/>
          </p:cNvSpPr>
          <p:nvPr/>
        </p:nvSpPr>
        <p:spPr bwMode="auto">
          <a:xfrm>
            <a:off x="1235075" y="3886200"/>
            <a:ext cx="1485900" cy="3825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1. Motivations</a:t>
            </a:r>
          </a:p>
        </p:txBody>
      </p:sp>
      <p:sp>
        <p:nvSpPr>
          <p:cNvPr id="26631" name="AutoShape 7"/>
          <p:cNvSpPr>
            <a:spLocks noChangeAspect="1" noChangeArrowheads="1"/>
          </p:cNvSpPr>
          <p:nvPr/>
        </p:nvSpPr>
        <p:spPr bwMode="auto">
          <a:xfrm>
            <a:off x="7472363" y="3886200"/>
            <a:ext cx="1216025" cy="3825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References</a:t>
            </a:r>
          </a:p>
        </p:txBody>
      </p:sp>
      <p:sp>
        <p:nvSpPr>
          <p:cNvPr id="26632" name="AutoShape 8"/>
          <p:cNvSpPr>
            <a:spLocks noChangeAspect="1" noChangeArrowheads="1"/>
          </p:cNvSpPr>
          <p:nvPr/>
        </p:nvSpPr>
        <p:spPr bwMode="auto">
          <a:xfrm>
            <a:off x="5297488" y="3886200"/>
            <a:ext cx="1225550" cy="3825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2. Methods</a:t>
            </a:r>
          </a:p>
        </p:txBody>
      </p:sp>
      <p:sp>
        <p:nvSpPr>
          <p:cNvPr id="26633" name="AutoShape 9"/>
          <p:cNvSpPr>
            <a:spLocks noChangeAspect="1" noChangeArrowheads="1"/>
          </p:cNvSpPr>
          <p:nvPr/>
        </p:nvSpPr>
        <p:spPr bwMode="auto">
          <a:xfrm>
            <a:off x="3811588" y="4657725"/>
            <a:ext cx="1092200" cy="6540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2.1 Stock</a:t>
            </a:r>
            <a:br>
              <a:rPr lang="en-US" sz="1600" b="0" i="0">
                <a:solidFill>
                  <a:schemeClr val="tx1"/>
                </a:solidFill>
                <a:latin typeface="Tahoma" pitchFamily="34" charset="0"/>
              </a:rPr>
            </a:b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Fraud</a:t>
            </a:r>
          </a:p>
        </p:txBody>
      </p:sp>
      <p:sp>
        <p:nvSpPr>
          <p:cNvPr id="26634" name="AutoShape 10"/>
          <p:cNvSpPr>
            <a:spLocks noChangeAspect="1" noChangeArrowheads="1"/>
          </p:cNvSpPr>
          <p:nvPr/>
        </p:nvSpPr>
        <p:spPr bwMode="auto">
          <a:xfrm>
            <a:off x="5376863" y="4657725"/>
            <a:ext cx="1077912" cy="6540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2.2 Ponzi</a:t>
            </a:r>
            <a:br>
              <a:rPr lang="en-US" sz="1600" b="0" i="0">
                <a:solidFill>
                  <a:schemeClr val="tx1"/>
                </a:solidFill>
                <a:latin typeface="Tahoma" pitchFamily="34" charset="0"/>
              </a:rPr>
            </a:b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Scheme</a:t>
            </a:r>
          </a:p>
        </p:txBody>
      </p:sp>
      <p:sp>
        <p:nvSpPr>
          <p:cNvPr id="26635" name="AutoShape 11"/>
          <p:cNvSpPr>
            <a:spLocks noChangeAspect="1" noChangeArrowheads="1"/>
          </p:cNvSpPr>
          <p:nvPr/>
        </p:nvSpPr>
        <p:spPr bwMode="auto">
          <a:xfrm>
            <a:off x="690563" y="4792663"/>
            <a:ext cx="1111250" cy="3825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1.1 Greed</a:t>
            </a:r>
          </a:p>
        </p:txBody>
      </p:sp>
      <p:sp>
        <p:nvSpPr>
          <p:cNvPr id="26636" name="AutoShape 12"/>
          <p:cNvSpPr>
            <a:spLocks noChangeAspect="1" noChangeArrowheads="1"/>
          </p:cNvSpPr>
          <p:nvPr/>
        </p:nvSpPr>
        <p:spPr bwMode="auto">
          <a:xfrm>
            <a:off x="2195513" y="4792663"/>
            <a:ext cx="1176337" cy="3825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1.2 Avidity</a:t>
            </a:r>
          </a:p>
        </p:txBody>
      </p:sp>
      <p:cxnSp>
        <p:nvCxnSpPr>
          <p:cNvPr id="26637" name="AutoShape 13"/>
          <p:cNvCxnSpPr>
            <a:cxnSpLocks noChangeShapeType="1"/>
            <a:stCxn id="26629" idx="2"/>
            <a:endCxn id="26630" idx="0"/>
          </p:cNvCxnSpPr>
          <p:nvPr/>
        </p:nvCxnSpPr>
        <p:spPr bwMode="auto">
          <a:xfrm flipH="1">
            <a:off x="1978025" y="3363913"/>
            <a:ext cx="2840038" cy="5127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8" name="AutoShape 14"/>
          <p:cNvCxnSpPr>
            <a:cxnSpLocks noChangeShapeType="1"/>
            <a:stCxn id="26629" idx="2"/>
            <a:endCxn id="26632" idx="0"/>
          </p:cNvCxnSpPr>
          <p:nvPr/>
        </p:nvCxnSpPr>
        <p:spPr bwMode="auto">
          <a:xfrm>
            <a:off x="4818063" y="3363913"/>
            <a:ext cx="1092200" cy="5127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9" name="AutoShape 15"/>
          <p:cNvCxnSpPr>
            <a:cxnSpLocks noChangeShapeType="1"/>
            <a:stCxn id="26629" idx="2"/>
            <a:endCxn id="26631" idx="0"/>
          </p:cNvCxnSpPr>
          <p:nvPr/>
        </p:nvCxnSpPr>
        <p:spPr bwMode="auto">
          <a:xfrm>
            <a:off x="4818063" y="3363913"/>
            <a:ext cx="3262312" cy="5127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0" name="AutoShape 16"/>
          <p:cNvCxnSpPr>
            <a:cxnSpLocks noChangeShapeType="1"/>
            <a:stCxn id="26632" idx="2"/>
            <a:endCxn id="26634" idx="0"/>
          </p:cNvCxnSpPr>
          <p:nvPr/>
        </p:nvCxnSpPr>
        <p:spPr bwMode="auto">
          <a:xfrm>
            <a:off x="5910263" y="4278313"/>
            <a:ext cx="6350" cy="3698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1" name="AutoShape 17"/>
          <p:cNvCxnSpPr>
            <a:cxnSpLocks noChangeShapeType="1"/>
            <a:stCxn id="26632" idx="2"/>
            <a:endCxn id="26633" idx="0"/>
          </p:cNvCxnSpPr>
          <p:nvPr/>
        </p:nvCxnSpPr>
        <p:spPr bwMode="auto">
          <a:xfrm flipH="1">
            <a:off x="4357688" y="4278313"/>
            <a:ext cx="1552575" cy="3698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2" name="AutoShape 18"/>
          <p:cNvCxnSpPr>
            <a:cxnSpLocks noChangeShapeType="1"/>
            <a:stCxn id="26630" idx="2"/>
            <a:endCxn id="26636" idx="0"/>
          </p:cNvCxnSpPr>
          <p:nvPr/>
        </p:nvCxnSpPr>
        <p:spPr bwMode="auto">
          <a:xfrm>
            <a:off x="1978025" y="4278313"/>
            <a:ext cx="806450" cy="504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3" name="AutoShape 19"/>
          <p:cNvCxnSpPr>
            <a:cxnSpLocks noChangeShapeType="1"/>
            <a:stCxn id="26630" idx="2"/>
            <a:endCxn id="26635" idx="0"/>
          </p:cNvCxnSpPr>
          <p:nvPr/>
        </p:nvCxnSpPr>
        <p:spPr bwMode="auto">
          <a:xfrm flipH="1">
            <a:off x="1246188" y="4278313"/>
            <a:ext cx="731837" cy="5048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4" name="AutoShape 27"/>
          <p:cNvSpPr>
            <a:spLocks noChangeAspect="1" noChangeArrowheads="1"/>
          </p:cNvSpPr>
          <p:nvPr/>
        </p:nvSpPr>
        <p:spPr bwMode="auto">
          <a:xfrm>
            <a:off x="6764338" y="4656138"/>
            <a:ext cx="1044575" cy="6540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2.3 Bank</a:t>
            </a:r>
            <a:br>
              <a:rPr lang="en-US" sz="1600" b="0" i="0">
                <a:solidFill>
                  <a:schemeClr val="tx1"/>
                </a:solidFill>
                <a:latin typeface="Tahoma" pitchFamily="34" charset="0"/>
              </a:rPr>
            </a:b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Robbery</a:t>
            </a:r>
          </a:p>
        </p:txBody>
      </p:sp>
      <p:cxnSp>
        <p:nvCxnSpPr>
          <p:cNvPr id="26645" name="AutoShape 28"/>
          <p:cNvCxnSpPr>
            <a:cxnSpLocks noChangeShapeType="1"/>
            <a:stCxn id="26632" idx="2"/>
            <a:endCxn id="26644" idx="0"/>
          </p:cNvCxnSpPr>
          <p:nvPr/>
        </p:nvCxnSpPr>
        <p:spPr bwMode="auto">
          <a:xfrm>
            <a:off x="5910263" y="4278313"/>
            <a:ext cx="1376362" cy="3683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6" name="Text Box 29"/>
          <p:cNvSpPr txBox="1">
            <a:spLocks noChangeArrowheads="1"/>
          </p:cNvSpPr>
          <p:nvPr/>
        </p:nvSpPr>
        <p:spPr bwMode="auto">
          <a:xfrm>
            <a:off x="3506788" y="27432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1</a:t>
            </a:r>
          </a:p>
        </p:txBody>
      </p:sp>
      <p:sp>
        <p:nvSpPr>
          <p:cNvPr id="26647" name="Text Box 30"/>
          <p:cNvSpPr txBox="1">
            <a:spLocks noChangeArrowheads="1"/>
          </p:cNvSpPr>
          <p:nvPr/>
        </p:nvSpPr>
        <p:spPr bwMode="auto">
          <a:xfrm>
            <a:off x="1784350" y="35560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2</a:t>
            </a:r>
          </a:p>
        </p:txBody>
      </p:sp>
      <p:sp>
        <p:nvSpPr>
          <p:cNvPr id="26648" name="Text Box 31"/>
          <p:cNvSpPr txBox="1">
            <a:spLocks noChangeArrowheads="1"/>
          </p:cNvSpPr>
          <p:nvPr/>
        </p:nvSpPr>
        <p:spPr bwMode="auto">
          <a:xfrm>
            <a:off x="1050925" y="44323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3</a:t>
            </a:r>
          </a:p>
        </p:txBody>
      </p:sp>
      <p:sp>
        <p:nvSpPr>
          <p:cNvPr id="26649" name="Text Box 32"/>
          <p:cNvSpPr txBox="1">
            <a:spLocks noChangeArrowheads="1"/>
          </p:cNvSpPr>
          <p:nvPr/>
        </p:nvSpPr>
        <p:spPr bwMode="auto">
          <a:xfrm>
            <a:off x="5060950" y="35560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5</a:t>
            </a:r>
          </a:p>
        </p:txBody>
      </p:sp>
      <p:sp>
        <p:nvSpPr>
          <p:cNvPr id="26650" name="Text Box 33"/>
          <p:cNvSpPr txBox="1">
            <a:spLocks noChangeArrowheads="1"/>
          </p:cNvSpPr>
          <p:nvPr/>
        </p:nvSpPr>
        <p:spPr bwMode="auto">
          <a:xfrm>
            <a:off x="2651125" y="44323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4</a:t>
            </a:r>
          </a:p>
        </p:txBody>
      </p:sp>
      <p:sp>
        <p:nvSpPr>
          <p:cNvPr id="26651" name="Text Box 34"/>
          <p:cNvSpPr txBox="1">
            <a:spLocks noChangeArrowheads="1"/>
          </p:cNvSpPr>
          <p:nvPr/>
        </p:nvSpPr>
        <p:spPr bwMode="auto">
          <a:xfrm>
            <a:off x="3886200" y="42672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6</a:t>
            </a:r>
          </a:p>
        </p:txBody>
      </p:sp>
      <p:sp>
        <p:nvSpPr>
          <p:cNvPr id="26652" name="Text Box 35"/>
          <p:cNvSpPr txBox="1">
            <a:spLocks noChangeArrowheads="1"/>
          </p:cNvSpPr>
          <p:nvPr/>
        </p:nvSpPr>
        <p:spPr bwMode="auto">
          <a:xfrm>
            <a:off x="5556250" y="429895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7</a:t>
            </a:r>
          </a:p>
        </p:txBody>
      </p:sp>
      <p:sp>
        <p:nvSpPr>
          <p:cNvPr id="26653" name="Text Box 36"/>
          <p:cNvSpPr txBox="1">
            <a:spLocks noChangeArrowheads="1"/>
          </p:cNvSpPr>
          <p:nvPr/>
        </p:nvSpPr>
        <p:spPr bwMode="auto">
          <a:xfrm>
            <a:off x="7156450" y="429895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8</a:t>
            </a:r>
          </a:p>
        </p:txBody>
      </p:sp>
      <p:sp>
        <p:nvSpPr>
          <p:cNvPr id="26654" name="Text Box 37"/>
          <p:cNvSpPr txBox="1">
            <a:spLocks noChangeArrowheads="1"/>
          </p:cNvSpPr>
          <p:nvPr/>
        </p:nvSpPr>
        <p:spPr bwMode="auto">
          <a:xfrm>
            <a:off x="7956550" y="35560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9</a:t>
            </a:r>
          </a:p>
        </p:txBody>
      </p:sp>
      <p:sp>
        <p:nvSpPr>
          <p:cNvPr id="26655" name="Text Box 38"/>
          <p:cNvSpPr txBox="1">
            <a:spLocks noChangeArrowheads="1"/>
          </p:cNvSpPr>
          <p:nvPr/>
        </p:nvSpPr>
        <p:spPr bwMode="auto">
          <a:xfrm>
            <a:off x="1752600" y="1066800"/>
            <a:ext cx="3810000" cy="1381125"/>
          </a:xfrm>
          <a:prstGeom prst="rect">
            <a:avLst/>
          </a:prstGeom>
          <a:solidFill>
            <a:schemeClr val="folHlink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i="0">
                <a:solidFill>
                  <a:srgbClr val="000000"/>
                </a:solidFill>
              </a:rPr>
              <a:t>Algorithm</a:t>
            </a:r>
            <a:r>
              <a:rPr lang="en-US" sz="2000" b="0" i="0">
                <a:solidFill>
                  <a:schemeClr val="tx1"/>
                </a:solidFill>
              </a:rPr>
              <a:t> </a:t>
            </a:r>
            <a:r>
              <a:rPr lang="en-US" sz="2000"/>
              <a:t>preOrder</a:t>
            </a:r>
            <a:r>
              <a:rPr lang="en-US" sz="2000" b="0" i="0"/>
              <a:t>(</a:t>
            </a:r>
            <a:r>
              <a:rPr lang="en-US" sz="2000"/>
              <a:t>T</a:t>
            </a:r>
            <a:r>
              <a:rPr lang="en-US" sz="2000" b="0" i="0"/>
              <a:t>,</a:t>
            </a:r>
            <a:r>
              <a:rPr lang="en-US" sz="2000"/>
              <a:t>v</a:t>
            </a:r>
            <a:r>
              <a:rPr lang="en-US" sz="2000" b="0" i="0"/>
              <a:t>)</a:t>
            </a:r>
            <a:endParaRPr lang="en-US" sz="2000" b="0" i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b="0" i="0">
                <a:solidFill>
                  <a:schemeClr val="tx1"/>
                </a:solidFill>
              </a:rPr>
              <a:t>     </a:t>
            </a:r>
            <a:r>
              <a:rPr lang="en-US" sz="2000">
                <a:solidFill>
                  <a:schemeClr val="accent2"/>
                </a:solidFill>
              </a:rPr>
              <a:t>visit</a:t>
            </a:r>
            <a:r>
              <a:rPr lang="en-US" sz="2000" b="0" i="0">
                <a:solidFill>
                  <a:schemeClr val="accent2"/>
                </a:solidFill>
              </a:rPr>
              <a:t>(</a:t>
            </a:r>
            <a:r>
              <a:rPr lang="en-US" sz="2000">
                <a:solidFill>
                  <a:schemeClr val="accent2"/>
                </a:solidFill>
              </a:rPr>
              <a:t>v</a:t>
            </a:r>
            <a:r>
              <a:rPr lang="en-US" sz="2000" b="0" i="0">
                <a:solidFill>
                  <a:schemeClr val="accent2"/>
                </a:solidFill>
              </a:rPr>
              <a:t>)</a:t>
            </a:r>
            <a:endParaRPr lang="en-US" sz="2000">
              <a:solidFill>
                <a:schemeClr val="accent2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>
                <a:solidFill>
                  <a:schemeClr val="accent2"/>
                </a:solidFill>
              </a:rPr>
              <a:t>     </a:t>
            </a:r>
            <a:r>
              <a:rPr lang="en-US" sz="2000" i="0">
                <a:solidFill>
                  <a:srgbClr val="000000"/>
                </a:solidFill>
              </a:rPr>
              <a:t>for</a:t>
            </a:r>
            <a:r>
              <a:rPr lang="en-US" sz="2000" b="0" i="0">
                <a:solidFill>
                  <a:srgbClr val="000000"/>
                </a:solidFill>
              </a:rPr>
              <a:t> </a:t>
            </a:r>
            <a:r>
              <a:rPr lang="en-US" sz="2000" i="0">
                <a:solidFill>
                  <a:srgbClr val="000000"/>
                </a:solidFill>
              </a:rPr>
              <a:t>each</a:t>
            </a:r>
            <a:r>
              <a:rPr lang="en-US" sz="2000" b="0" i="0">
                <a:solidFill>
                  <a:schemeClr val="tx1"/>
                </a:solidFill>
              </a:rPr>
              <a:t> </a:t>
            </a:r>
            <a:r>
              <a:rPr lang="en-US" sz="2000" b="0" i="0">
                <a:solidFill>
                  <a:schemeClr val="accent2"/>
                </a:solidFill>
              </a:rPr>
              <a:t>child </a:t>
            </a:r>
            <a:r>
              <a:rPr lang="en-US" sz="2000">
                <a:solidFill>
                  <a:schemeClr val="accent2"/>
                </a:solidFill>
              </a:rPr>
              <a:t>w</a:t>
            </a:r>
            <a:r>
              <a:rPr lang="en-US" sz="2000" b="0" i="0">
                <a:solidFill>
                  <a:schemeClr val="accent2"/>
                </a:solidFill>
              </a:rPr>
              <a:t> of </a:t>
            </a:r>
            <a:r>
              <a:rPr lang="en-US" sz="2000">
                <a:solidFill>
                  <a:schemeClr val="accent2"/>
                </a:solidFill>
              </a:rPr>
              <a:t>v in T </a:t>
            </a:r>
            <a:r>
              <a:rPr lang="en-US" sz="2000" i="0">
                <a:solidFill>
                  <a:srgbClr val="000000"/>
                </a:solidFill>
              </a:rPr>
              <a:t>do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>
                <a:solidFill>
                  <a:schemeClr val="accent2"/>
                </a:solidFill>
              </a:rPr>
              <a:t>  preOrder</a:t>
            </a:r>
            <a:r>
              <a:rPr lang="en-US" sz="2000" b="0" i="0">
                <a:solidFill>
                  <a:schemeClr val="accent2"/>
                </a:solidFill>
              </a:rPr>
              <a:t> (</a:t>
            </a:r>
            <a:r>
              <a:rPr lang="en-US" sz="2000" b="0">
                <a:solidFill>
                  <a:schemeClr val="accent2"/>
                </a:solidFill>
              </a:rPr>
              <a:t>T</a:t>
            </a:r>
            <a:r>
              <a:rPr lang="en-US" sz="2000" b="0" i="0">
                <a:solidFill>
                  <a:schemeClr val="accent2"/>
                </a:solidFill>
              </a:rPr>
              <a:t>,</a:t>
            </a:r>
            <a:r>
              <a:rPr lang="en-US" sz="2000">
                <a:solidFill>
                  <a:schemeClr val="accent2"/>
                </a:solidFill>
              </a:rPr>
              <a:t>w</a:t>
            </a:r>
            <a:r>
              <a:rPr lang="en-US" sz="2000" b="0" i="0">
                <a:solidFill>
                  <a:schemeClr val="accent2"/>
                </a:solidFill>
              </a:rPr>
              <a:t>)  //Recursion</a:t>
            </a:r>
          </a:p>
        </p:txBody>
      </p:sp>
      <p:cxnSp>
        <p:nvCxnSpPr>
          <p:cNvPr id="26656" name="AutoShape 41"/>
          <p:cNvCxnSpPr>
            <a:cxnSpLocks noChangeShapeType="1"/>
            <a:stCxn id="26629" idx="1"/>
            <a:endCxn id="26630" idx="1"/>
          </p:cNvCxnSpPr>
          <p:nvPr/>
        </p:nvCxnSpPr>
        <p:spPr bwMode="auto">
          <a:xfrm rot="10800000" flipV="1">
            <a:off x="1225550" y="3163888"/>
            <a:ext cx="2654300" cy="914400"/>
          </a:xfrm>
          <a:prstGeom prst="curvedConnector3">
            <a:avLst>
              <a:gd name="adj1" fmla="val 108255"/>
            </a:avLst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7" name="AutoShape 43"/>
          <p:cNvCxnSpPr>
            <a:cxnSpLocks noChangeShapeType="1"/>
            <a:stCxn id="26635" idx="2"/>
            <a:endCxn id="26636" idx="1"/>
          </p:cNvCxnSpPr>
          <p:nvPr/>
        </p:nvCxnSpPr>
        <p:spPr bwMode="auto">
          <a:xfrm rot="5400000" flipH="1" flipV="1">
            <a:off x="1616075" y="4614863"/>
            <a:ext cx="200025" cy="939800"/>
          </a:xfrm>
          <a:prstGeom prst="curvedConnector4">
            <a:avLst>
              <a:gd name="adj1" fmla="val -108731"/>
              <a:gd name="adj2" fmla="val 80069"/>
            </a:avLst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8" name="AutoShape 44"/>
          <p:cNvCxnSpPr>
            <a:cxnSpLocks noChangeShapeType="1"/>
            <a:stCxn id="26636" idx="2"/>
            <a:endCxn id="26632" idx="1"/>
          </p:cNvCxnSpPr>
          <p:nvPr/>
        </p:nvCxnSpPr>
        <p:spPr bwMode="auto">
          <a:xfrm rot="5400000" flipH="1" flipV="1">
            <a:off x="3482975" y="3379788"/>
            <a:ext cx="1106487" cy="2503488"/>
          </a:xfrm>
          <a:prstGeom prst="curvedConnector4">
            <a:avLst>
              <a:gd name="adj1" fmla="val -19657"/>
              <a:gd name="adj2" fmla="val 32972"/>
            </a:avLst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59" name="AutoShape 45"/>
          <p:cNvCxnSpPr>
            <a:cxnSpLocks noChangeShapeType="1"/>
            <a:stCxn id="26630" idx="1"/>
            <a:endCxn id="26635" idx="1"/>
          </p:cNvCxnSpPr>
          <p:nvPr/>
        </p:nvCxnSpPr>
        <p:spPr bwMode="auto">
          <a:xfrm rot="10800000" flipV="1">
            <a:off x="681038" y="4078288"/>
            <a:ext cx="544512" cy="906462"/>
          </a:xfrm>
          <a:prstGeom prst="curvedConnector3">
            <a:avLst>
              <a:gd name="adj1" fmla="val 140231"/>
            </a:avLst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0" name="AutoShape 46"/>
          <p:cNvCxnSpPr>
            <a:cxnSpLocks noChangeShapeType="1"/>
            <a:endCxn id="26633" idx="0"/>
          </p:cNvCxnSpPr>
          <p:nvPr/>
        </p:nvCxnSpPr>
        <p:spPr bwMode="auto">
          <a:xfrm rot="10800000" flipV="1">
            <a:off x="4357688" y="4235450"/>
            <a:ext cx="930275" cy="412750"/>
          </a:xfrm>
          <a:prstGeom prst="curvedConnector2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1" name="AutoShape 48"/>
          <p:cNvCxnSpPr>
            <a:cxnSpLocks noChangeShapeType="1"/>
            <a:stCxn id="26633" idx="2"/>
            <a:endCxn id="26634" idx="1"/>
          </p:cNvCxnSpPr>
          <p:nvPr/>
        </p:nvCxnSpPr>
        <p:spPr bwMode="auto">
          <a:xfrm rot="5400000" flipH="1" flipV="1">
            <a:off x="4694238" y="4648200"/>
            <a:ext cx="336550" cy="1009650"/>
          </a:xfrm>
          <a:prstGeom prst="curvedConnector4">
            <a:avLst>
              <a:gd name="adj1" fmla="val -65093"/>
              <a:gd name="adj2" fmla="val 77514"/>
            </a:avLst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2" name="AutoShape 49"/>
          <p:cNvCxnSpPr>
            <a:cxnSpLocks noChangeShapeType="1"/>
            <a:stCxn id="26634" idx="2"/>
            <a:endCxn id="26644" idx="2"/>
          </p:cNvCxnSpPr>
          <p:nvPr/>
        </p:nvCxnSpPr>
        <p:spPr bwMode="auto">
          <a:xfrm rot="5400000" flipH="1" flipV="1">
            <a:off x="6600825" y="4635501"/>
            <a:ext cx="1587" cy="1370012"/>
          </a:xfrm>
          <a:prstGeom prst="curvedConnector3">
            <a:avLst>
              <a:gd name="adj1" fmla="val -13800005"/>
            </a:avLst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63" name="AutoShape 50"/>
          <p:cNvCxnSpPr>
            <a:cxnSpLocks noChangeShapeType="1"/>
            <a:stCxn id="26644" idx="3"/>
            <a:endCxn id="26631" idx="2"/>
          </p:cNvCxnSpPr>
          <p:nvPr/>
        </p:nvCxnSpPr>
        <p:spPr bwMode="auto">
          <a:xfrm flipV="1">
            <a:off x="7818438" y="4278313"/>
            <a:ext cx="261937" cy="704850"/>
          </a:xfrm>
          <a:prstGeom prst="curvedConnector2">
            <a:avLst/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8CAF4-246C-40A6-8DBA-D2AA578608A3}" type="slidenum">
              <a:rPr lang="ar-SA"/>
              <a:pPr>
                <a:defRPr/>
              </a:pPr>
              <a:t>24</a:t>
            </a:fld>
            <a:endParaRPr lang="en-US"/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762000"/>
          </a:xfrm>
        </p:spPr>
        <p:txBody>
          <a:bodyPr/>
          <a:lstStyle/>
          <a:p>
            <a:pPr eaLnBrk="1" hangingPunct="1"/>
            <a:r>
              <a:rPr lang="en-US" sz="3600" smtClean="0"/>
              <a:t>Postorder Traversal</a:t>
            </a:r>
          </a:p>
        </p:txBody>
      </p:sp>
      <p:sp>
        <p:nvSpPr>
          <p:cNvPr id="2765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295400"/>
            <a:ext cx="77724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The </a:t>
            </a:r>
            <a:r>
              <a:rPr lang="en-US" sz="2000" i="1" smtClean="0">
                <a:latin typeface="Times New Roman" pitchFamily="18" charset="0"/>
              </a:rPr>
              <a:t>postorder</a:t>
            </a:r>
            <a:r>
              <a:rPr lang="en-US" sz="2000" smtClean="0">
                <a:latin typeface="Times New Roman" pitchFamily="18" charset="0"/>
              </a:rPr>
              <a:t> traversal can be viewed as the opposite of </a:t>
            </a:r>
            <a:r>
              <a:rPr lang="en-US" sz="2000" i="1" smtClean="0">
                <a:latin typeface="Times New Roman" pitchFamily="18" charset="0"/>
              </a:rPr>
              <a:t>preorder </a:t>
            </a:r>
            <a:r>
              <a:rPr lang="en-US" sz="2000" smtClean="0">
                <a:latin typeface="Times New Roman" pitchFamily="18" charset="0"/>
              </a:rPr>
              <a:t>traversal.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None/>
            </a:pPr>
            <a:endParaRPr lang="en-US" sz="20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It recursively traverses  the children of the root first, from </a:t>
            </a:r>
            <a:r>
              <a:rPr lang="en-US" sz="2000" i="1" smtClean="0">
                <a:latin typeface="Times New Roman" pitchFamily="18" charset="0"/>
              </a:rPr>
              <a:t>left</a:t>
            </a:r>
            <a:r>
              <a:rPr lang="en-US" sz="2000" smtClean="0">
                <a:latin typeface="Times New Roman" pitchFamily="18" charset="0"/>
              </a:rPr>
              <a:t> to </a:t>
            </a:r>
            <a:r>
              <a:rPr lang="en-US" sz="2000" i="1" smtClean="0">
                <a:latin typeface="Times New Roman" pitchFamily="18" charset="0"/>
              </a:rPr>
              <a:t>right</a:t>
            </a:r>
            <a:r>
              <a:rPr lang="en-US" sz="2000" smtClean="0">
                <a:latin typeface="Times New Roman" pitchFamily="18" charset="0"/>
              </a:rPr>
              <a:t>, </a:t>
            </a:r>
            <a:r>
              <a:rPr lang="en-US" sz="2000" i="1" smtClean="0">
                <a:latin typeface="Times New Roman" pitchFamily="18" charset="0"/>
              </a:rPr>
              <a:t>after </a:t>
            </a:r>
            <a:r>
              <a:rPr lang="en-US" sz="2000" smtClean="0">
                <a:latin typeface="Times New Roman" pitchFamily="18" charset="0"/>
              </a:rPr>
              <a:t>that, it visits the </a:t>
            </a:r>
            <a:r>
              <a:rPr lang="en-US" sz="2000" i="1" smtClean="0">
                <a:latin typeface="Times New Roman" pitchFamily="18" charset="0"/>
              </a:rPr>
              <a:t>root</a:t>
            </a:r>
            <a:r>
              <a:rPr lang="en-US" sz="2000" smtClean="0">
                <a:latin typeface="Times New Roman" pitchFamily="18" charset="0"/>
              </a:rPr>
              <a:t> node itself.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§"/>
            </a:pPr>
            <a:endParaRPr lang="en-US" sz="20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As with </a:t>
            </a:r>
            <a:r>
              <a:rPr lang="en-US" sz="2000" i="1" smtClean="0">
                <a:latin typeface="Times New Roman" pitchFamily="18" charset="0"/>
              </a:rPr>
              <a:t>preorder</a:t>
            </a:r>
            <a:r>
              <a:rPr lang="en-US" sz="2000" smtClean="0">
                <a:latin typeface="Times New Roman" pitchFamily="18" charset="0"/>
              </a:rPr>
              <a:t>, it gives a </a:t>
            </a:r>
            <a:r>
              <a:rPr lang="en-US" sz="2000" i="1" smtClean="0">
                <a:latin typeface="Times New Roman" pitchFamily="18" charset="0"/>
              </a:rPr>
              <a:t>linear ordering</a:t>
            </a:r>
            <a:r>
              <a:rPr lang="en-US" sz="2000" smtClean="0">
                <a:latin typeface="Times New Roman" pitchFamily="18" charset="0"/>
              </a:rPr>
              <a:t> of the nodes of an ordered tree.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None/>
            </a:pPr>
            <a:endParaRPr lang="en-US" sz="20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000" smtClean="0">
                <a:latin typeface="Times New Roman" pitchFamily="18" charset="0"/>
              </a:rPr>
              <a:t>The </a:t>
            </a:r>
            <a:r>
              <a:rPr lang="en-US" sz="2000" i="1" smtClean="0">
                <a:latin typeface="Times New Roman" pitchFamily="18" charset="0"/>
              </a:rPr>
              <a:t>postorder</a:t>
            </a:r>
            <a:r>
              <a:rPr lang="en-US" sz="2000" smtClean="0">
                <a:latin typeface="Times New Roman" pitchFamily="18" charset="0"/>
              </a:rPr>
              <a:t> traversal of a tree </a:t>
            </a:r>
            <a:r>
              <a:rPr lang="en-US" sz="2000" i="1" smtClean="0">
                <a:latin typeface="Times New Roman" pitchFamily="18" charset="0"/>
              </a:rPr>
              <a:t>T </a:t>
            </a:r>
            <a:r>
              <a:rPr lang="en-US" sz="2000" smtClean="0">
                <a:latin typeface="Times New Roman" pitchFamily="18" charset="0"/>
              </a:rPr>
              <a:t>with </a:t>
            </a:r>
            <a:r>
              <a:rPr lang="en-US" sz="2000" i="1" smtClean="0">
                <a:latin typeface="Times New Roman" pitchFamily="18" charset="0"/>
              </a:rPr>
              <a:t>n</a:t>
            </a:r>
            <a:r>
              <a:rPr lang="en-US" sz="2000" smtClean="0">
                <a:latin typeface="Times New Roman" pitchFamily="18" charset="0"/>
              </a:rPr>
              <a:t> nodes takes </a:t>
            </a:r>
            <a:r>
              <a:rPr lang="en-US" sz="2000" i="1" smtClean="0">
                <a:latin typeface="Times New Roman" pitchFamily="18" charset="0"/>
              </a:rPr>
              <a:t>O(n)</a:t>
            </a:r>
            <a:r>
              <a:rPr lang="en-US" sz="2000" smtClean="0">
                <a:latin typeface="Times New Roman" pitchFamily="18" charset="0"/>
              </a:rPr>
              <a:t> time, assuming that visiting each node takes </a:t>
            </a:r>
            <a:r>
              <a:rPr lang="en-US" sz="2000" i="1" smtClean="0">
                <a:latin typeface="Times New Roman" pitchFamily="18" charset="0"/>
              </a:rPr>
              <a:t>O(1)</a:t>
            </a:r>
            <a:r>
              <a:rPr lang="en-US" sz="2000" smtClean="0">
                <a:latin typeface="Times New Roman" pitchFamily="18" charset="0"/>
              </a:rPr>
              <a:t> time</a:t>
            </a:r>
            <a:r>
              <a:rPr lang="en-US" sz="2000" i="1" smtClean="0">
                <a:latin typeface="Times New Roman" pitchFamily="18" charset="0"/>
              </a:rPr>
              <a:t>. 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That’s,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postorder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traversal is a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linear time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algorithm.</a:t>
            </a:r>
            <a:endParaRPr lang="en-US" sz="18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None/>
            </a:pPr>
            <a:endParaRPr lang="en-US" sz="14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000" u="sng" smtClean="0">
                <a:solidFill>
                  <a:schemeClr val="tx2"/>
                </a:solidFill>
                <a:latin typeface="Times New Roman" pitchFamily="18" charset="0"/>
              </a:rPr>
              <a:t>Application</a:t>
            </a:r>
            <a:r>
              <a:rPr lang="en-US" sz="2000" smtClean="0">
                <a:solidFill>
                  <a:schemeClr val="tx2"/>
                </a:solidFill>
                <a:latin typeface="Times New Roman" pitchFamily="18" charset="0"/>
              </a:rPr>
              <a:t>:</a:t>
            </a:r>
            <a:r>
              <a:rPr lang="en-US" sz="2000" smtClean="0">
                <a:latin typeface="Times New Roman" pitchFamily="18" charset="0"/>
              </a:rPr>
              <a:t> compute disk space used by files in a directory and its subdirectories.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000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33F465-92F8-459A-AB5D-10AEF5C33B5C}" type="slidenum">
              <a:rPr lang="ar-SA"/>
              <a:pPr>
                <a:defRPr/>
              </a:pPr>
              <a:t>25</a:t>
            </a:fld>
            <a:endParaRPr lang="en-US"/>
          </a:p>
        </p:txBody>
      </p:sp>
      <p:sp>
        <p:nvSpPr>
          <p:cNvPr id="2867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-152400" y="228600"/>
            <a:ext cx="7772400" cy="609600"/>
          </a:xfrm>
        </p:spPr>
        <p:txBody>
          <a:bodyPr/>
          <a:lstStyle/>
          <a:p>
            <a:pPr eaLnBrk="1" hangingPunct="1"/>
            <a:r>
              <a:rPr lang="en-US" sz="2800" smtClean="0"/>
              <a:t>   Postorder Traversal</a:t>
            </a:r>
          </a:p>
        </p:txBody>
      </p:sp>
      <p:sp>
        <p:nvSpPr>
          <p:cNvPr id="28677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3813175" cy="12954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In a </a:t>
            </a:r>
            <a:r>
              <a:rPr lang="en-US" sz="2800" i="1" smtClean="0">
                <a:latin typeface="Times New Roman" pitchFamily="18" charset="0"/>
                <a:cs typeface="Times New Roman" pitchFamily="18" charset="0"/>
              </a:rPr>
              <a:t>postorder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 traversal, a node is visited </a:t>
            </a:r>
            <a:r>
              <a:rPr lang="en-US" sz="28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after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 its </a:t>
            </a:r>
            <a:r>
              <a:rPr lang="en-US" sz="2800" i="1" smtClean="0">
                <a:latin typeface="Times New Roman" pitchFamily="18" charset="0"/>
                <a:cs typeface="Times New Roman" pitchFamily="18" charset="0"/>
              </a:rPr>
              <a:t>descendants.</a:t>
            </a:r>
            <a:endParaRPr lang="en-US" sz="280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678" name="Text Box 1028"/>
          <p:cNvSpPr txBox="1">
            <a:spLocks noChangeArrowheads="1"/>
          </p:cNvSpPr>
          <p:nvPr/>
        </p:nvSpPr>
        <p:spPr bwMode="auto">
          <a:xfrm>
            <a:off x="4343400" y="457200"/>
            <a:ext cx="3657600" cy="1381125"/>
          </a:xfrm>
          <a:prstGeom prst="rect">
            <a:avLst/>
          </a:prstGeom>
          <a:solidFill>
            <a:schemeClr val="folHlink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i="0">
                <a:solidFill>
                  <a:srgbClr val="000000"/>
                </a:solidFill>
              </a:rPr>
              <a:t>Algorithm</a:t>
            </a:r>
            <a:r>
              <a:rPr lang="en-US" sz="2000" b="0" i="0">
                <a:solidFill>
                  <a:schemeClr val="tx1"/>
                </a:solidFill>
              </a:rPr>
              <a:t> </a:t>
            </a:r>
            <a:r>
              <a:rPr lang="en-US" sz="2000"/>
              <a:t>postOrder</a:t>
            </a:r>
            <a:r>
              <a:rPr lang="en-US" sz="2000" b="0" i="0"/>
              <a:t>(</a:t>
            </a:r>
            <a:r>
              <a:rPr lang="en-US" sz="2000"/>
              <a:t>T</a:t>
            </a:r>
            <a:r>
              <a:rPr lang="en-US" sz="2000" b="0" i="0"/>
              <a:t>,</a:t>
            </a:r>
            <a:r>
              <a:rPr lang="en-US" sz="2000"/>
              <a:t>v</a:t>
            </a:r>
            <a:r>
              <a:rPr lang="en-US" sz="2000" b="0" i="0"/>
              <a:t>)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i="0">
                <a:solidFill>
                  <a:srgbClr val="000000"/>
                </a:solidFill>
              </a:rPr>
              <a:t>for</a:t>
            </a:r>
            <a:r>
              <a:rPr lang="en-US" sz="2000" b="0" i="0">
                <a:solidFill>
                  <a:srgbClr val="000000"/>
                </a:solidFill>
              </a:rPr>
              <a:t> </a:t>
            </a:r>
            <a:r>
              <a:rPr lang="en-US" sz="2000" i="0">
                <a:solidFill>
                  <a:srgbClr val="000000"/>
                </a:solidFill>
              </a:rPr>
              <a:t>each</a:t>
            </a:r>
            <a:r>
              <a:rPr lang="en-US" sz="2000" b="0" i="0">
                <a:solidFill>
                  <a:schemeClr val="tx1"/>
                </a:solidFill>
              </a:rPr>
              <a:t> </a:t>
            </a:r>
            <a:r>
              <a:rPr lang="en-US" sz="2000" b="0" i="0">
                <a:solidFill>
                  <a:schemeClr val="accent2"/>
                </a:solidFill>
              </a:rPr>
              <a:t>child </a:t>
            </a:r>
            <a:r>
              <a:rPr lang="en-US" sz="2000">
                <a:solidFill>
                  <a:schemeClr val="accent2"/>
                </a:solidFill>
              </a:rPr>
              <a:t>w</a:t>
            </a:r>
            <a:r>
              <a:rPr lang="en-US" sz="2000" b="0" i="0">
                <a:solidFill>
                  <a:schemeClr val="accent2"/>
                </a:solidFill>
              </a:rPr>
              <a:t> of </a:t>
            </a:r>
            <a:r>
              <a:rPr lang="en-US" sz="2000">
                <a:solidFill>
                  <a:schemeClr val="accent2"/>
                </a:solidFill>
              </a:rPr>
              <a:t>v in T </a:t>
            </a:r>
            <a:r>
              <a:rPr lang="en-US" sz="2000" i="0">
                <a:solidFill>
                  <a:srgbClr val="000000"/>
                </a:solidFill>
              </a:rPr>
              <a:t>do</a:t>
            </a:r>
            <a:r>
              <a:rPr lang="en-US" sz="2000">
                <a:solidFill>
                  <a:schemeClr val="accent2"/>
                </a:solidFill>
              </a:rPr>
              <a:t> 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>
                <a:solidFill>
                  <a:schemeClr val="accent2"/>
                </a:solidFill>
              </a:rPr>
              <a:t>	postOrder</a:t>
            </a:r>
            <a:r>
              <a:rPr lang="en-US" sz="2000" b="0" i="0">
                <a:solidFill>
                  <a:schemeClr val="accent2"/>
                </a:solidFill>
              </a:rPr>
              <a:t>(</a:t>
            </a:r>
            <a:r>
              <a:rPr lang="en-US" sz="2000" b="0">
                <a:solidFill>
                  <a:schemeClr val="accent2"/>
                </a:solidFill>
              </a:rPr>
              <a:t>T</a:t>
            </a:r>
            <a:r>
              <a:rPr lang="en-US" sz="2000" b="0" i="0">
                <a:solidFill>
                  <a:schemeClr val="accent2"/>
                </a:solidFill>
              </a:rPr>
              <a:t>,</a:t>
            </a:r>
            <a:r>
              <a:rPr lang="en-US" sz="2000">
                <a:solidFill>
                  <a:schemeClr val="accent2"/>
                </a:solidFill>
              </a:rPr>
              <a:t>w</a:t>
            </a:r>
            <a:r>
              <a:rPr lang="en-US" sz="2000" b="0" i="0">
                <a:solidFill>
                  <a:schemeClr val="accent2"/>
                </a:solidFill>
              </a:rPr>
              <a:t>)</a:t>
            </a:r>
            <a:endParaRPr lang="en-US" sz="2000" b="0" i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sz="2000">
                <a:solidFill>
                  <a:schemeClr val="accent2"/>
                </a:solidFill>
              </a:rPr>
              <a:t>visit</a:t>
            </a:r>
            <a:r>
              <a:rPr lang="en-US" sz="2000" b="0" i="0">
                <a:solidFill>
                  <a:schemeClr val="accent2"/>
                </a:solidFill>
              </a:rPr>
              <a:t>(</a:t>
            </a:r>
            <a:r>
              <a:rPr lang="en-US" sz="2000">
                <a:solidFill>
                  <a:schemeClr val="accent2"/>
                </a:solidFill>
              </a:rPr>
              <a:t>v</a:t>
            </a:r>
            <a:r>
              <a:rPr lang="en-US" sz="2000" b="0" i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28679" name="AutoShape 1029"/>
          <p:cNvSpPr>
            <a:spLocks noChangeAspect="1" noChangeArrowheads="1"/>
          </p:cNvSpPr>
          <p:nvPr/>
        </p:nvSpPr>
        <p:spPr bwMode="auto">
          <a:xfrm>
            <a:off x="4006850" y="2133600"/>
            <a:ext cx="715963" cy="3841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cs16/</a:t>
            </a:r>
          </a:p>
        </p:txBody>
      </p:sp>
      <p:sp>
        <p:nvSpPr>
          <p:cNvPr id="28680" name="AutoShape 1030"/>
          <p:cNvSpPr>
            <a:spLocks noChangeAspect="1" noChangeArrowheads="1"/>
          </p:cNvSpPr>
          <p:nvPr/>
        </p:nvSpPr>
        <p:spPr bwMode="auto">
          <a:xfrm>
            <a:off x="854075" y="3048000"/>
            <a:ext cx="1336675" cy="3825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homeworks/</a:t>
            </a:r>
          </a:p>
        </p:txBody>
      </p:sp>
      <p:sp>
        <p:nvSpPr>
          <p:cNvPr id="28681" name="AutoShape 1031"/>
          <p:cNvSpPr>
            <a:spLocks noChangeAspect="1" noChangeArrowheads="1"/>
          </p:cNvSpPr>
          <p:nvPr/>
        </p:nvSpPr>
        <p:spPr bwMode="auto">
          <a:xfrm>
            <a:off x="7146925" y="2913063"/>
            <a:ext cx="958850" cy="65405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todo.txt</a:t>
            </a:r>
            <a:br>
              <a:rPr lang="en-US" sz="1600" b="0" i="0">
                <a:solidFill>
                  <a:schemeClr val="tx1"/>
                </a:solidFill>
                <a:latin typeface="Tahoma" pitchFamily="34" charset="0"/>
              </a:rPr>
            </a:b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1K</a:t>
            </a:r>
          </a:p>
        </p:txBody>
      </p:sp>
      <p:sp>
        <p:nvSpPr>
          <p:cNvPr id="28682" name="AutoShape 1032"/>
          <p:cNvSpPr>
            <a:spLocks noChangeAspect="1" noChangeArrowheads="1"/>
          </p:cNvSpPr>
          <p:nvPr/>
        </p:nvSpPr>
        <p:spPr bwMode="auto">
          <a:xfrm>
            <a:off x="4875213" y="3048000"/>
            <a:ext cx="1158875" cy="3825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programs/</a:t>
            </a:r>
          </a:p>
        </p:txBody>
      </p:sp>
      <p:sp>
        <p:nvSpPr>
          <p:cNvPr id="28683" name="AutoShape 1033"/>
          <p:cNvSpPr>
            <a:spLocks noChangeAspect="1" noChangeArrowheads="1"/>
          </p:cNvSpPr>
          <p:nvPr/>
        </p:nvSpPr>
        <p:spPr bwMode="auto">
          <a:xfrm>
            <a:off x="3355975" y="3963988"/>
            <a:ext cx="1090613" cy="652462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DDR.java</a:t>
            </a:r>
            <a:br>
              <a:rPr lang="en-US" sz="1600" b="0" i="0">
                <a:solidFill>
                  <a:schemeClr val="tx1"/>
                </a:solidFill>
                <a:latin typeface="Tahoma" pitchFamily="34" charset="0"/>
              </a:rPr>
            </a:b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10K</a:t>
            </a:r>
          </a:p>
        </p:txBody>
      </p:sp>
      <p:sp>
        <p:nvSpPr>
          <p:cNvPr id="28684" name="AutoShape 1034"/>
          <p:cNvSpPr>
            <a:spLocks noChangeAspect="1" noChangeArrowheads="1"/>
          </p:cNvSpPr>
          <p:nvPr/>
        </p:nvSpPr>
        <p:spPr bwMode="auto">
          <a:xfrm>
            <a:off x="4829175" y="3963988"/>
            <a:ext cx="1266825" cy="652462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Stocks.java</a:t>
            </a:r>
            <a:br>
              <a:rPr lang="en-US" sz="1600" b="0" i="0">
                <a:solidFill>
                  <a:schemeClr val="tx1"/>
                </a:solidFill>
                <a:latin typeface="Tahoma" pitchFamily="34" charset="0"/>
              </a:rPr>
            </a:b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25K</a:t>
            </a:r>
          </a:p>
        </p:txBody>
      </p:sp>
      <p:sp>
        <p:nvSpPr>
          <p:cNvPr id="28685" name="AutoShape 1035"/>
          <p:cNvSpPr>
            <a:spLocks noChangeAspect="1" noChangeArrowheads="1"/>
          </p:cNvSpPr>
          <p:nvPr/>
        </p:nvSpPr>
        <p:spPr bwMode="auto">
          <a:xfrm>
            <a:off x="314325" y="3963988"/>
            <a:ext cx="952500" cy="652462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h1c.doc</a:t>
            </a:r>
            <a:br>
              <a:rPr lang="en-US" sz="1600" b="0" i="0">
                <a:solidFill>
                  <a:schemeClr val="tx1"/>
                </a:solidFill>
                <a:latin typeface="Tahoma" pitchFamily="34" charset="0"/>
              </a:rPr>
            </a:b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3K</a:t>
            </a:r>
          </a:p>
        </p:txBody>
      </p:sp>
      <p:sp>
        <p:nvSpPr>
          <p:cNvPr id="28686" name="AutoShape 1036"/>
          <p:cNvSpPr>
            <a:spLocks noChangeAspect="1" noChangeArrowheads="1"/>
          </p:cNvSpPr>
          <p:nvPr/>
        </p:nvSpPr>
        <p:spPr bwMode="auto">
          <a:xfrm>
            <a:off x="1795463" y="3963988"/>
            <a:ext cx="1065212" cy="652462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h1nc.doc</a:t>
            </a:r>
            <a:br>
              <a:rPr lang="en-US" sz="1600" b="0" i="0">
                <a:solidFill>
                  <a:schemeClr val="tx1"/>
                </a:solidFill>
                <a:latin typeface="Tahoma" pitchFamily="34" charset="0"/>
              </a:rPr>
            </a:b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2K</a:t>
            </a:r>
          </a:p>
        </p:txBody>
      </p:sp>
      <p:cxnSp>
        <p:nvCxnSpPr>
          <p:cNvPr id="28687" name="AutoShape 1037"/>
          <p:cNvCxnSpPr>
            <a:cxnSpLocks noChangeShapeType="1"/>
            <a:stCxn id="28679" idx="2"/>
            <a:endCxn id="28680" idx="0"/>
          </p:cNvCxnSpPr>
          <p:nvPr/>
        </p:nvCxnSpPr>
        <p:spPr bwMode="auto">
          <a:xfrm flipH="1">
            <a:off x="1522413" y="2527300"/>
            <a:ext cx="2843212" cy="511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8" name="AutoShape 1038"/>
          <p:cNvCxnSpPr>
            <a:cxnSpLocks noChangeShapeType="1"/>
            <a:stCxn id="28679" idx="2"/>
            <a:endCxn id="28682" idx="0"/>
          </p:cNvCxnSpPr>
          <p:nvPr/>
        </p:nvCxnSpPr>
        <p:spPr bwMode="auto">
          <a:xfrm>
            <a:off x="4365625" y="2527300"/>
            <a:ext cx="1089025" cy="5111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9" name="AutoShape 1039"/>
          <p:cNvCxnSpPr>
            <a:cxnSpLocks noChangeShapeType="1"/>
            <a:stCxn id="28679" idx="2"/>
            <a:endCxn id="28681" idx="0"/>
          </p:cNvCxnSpPr>
          <p:nvPr/>
        </p:nvCxnSpPr>
        <p:spPr bwMode="auto">
          <a:xfrm>
            <a:off x="4365625" y="2527300"/>
            <a:ext cx="3260725" cy="3762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0" name="AutoShape 1040"/>
          <p:cNvCxnSpPr>
            <a:cxnSpLocks noChangeShapeType="1"/>
            <a:stCxn id="28682" idx="2"/>
            <a:endCxn id="28684" idx="0"/>
          </p:cNvCxnSpPr>
          <p:nvPr/>
        </p:nvCxnSpPr>
        <p:spPr bwMode="auto">
          <a:xfrm>
            <a:off x="5454650" y="3440113"/>
            <a:ext cx="7938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1" name="AutoShape 1041"/>
          <p:cNvCxnSpPr>
            <a:cxnSpLocks noChangeShapeType="1"/>
            <a:stCxn id="28682" idx="2"/>
            <a:endCxn id="28683" idx="0"/>
          </p:cNvCxnSpPr>
          <p:nvPr/>
        </p:nvCxnSpPr>
        <p:spPr bwMode="auto">
          <a:xfrm flipH="1">
            <a:off x="3902075" y="3440113"/>
            <a:ext cx="1552575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2" name="AutoShape 1042"/>
          <p:cNvCxnSpPr>
            <a:cxnSpLocks noChangeShapeType="1"/>
            <a:stCxn id="28680" idx="2"/>
            <a:endCxn id="28686" idx="0"/>
          </p:cNvCxnSpPr>
          <p:nvPr/>
        </p:nvCxnSpPr>
        <p:spPr bwMode="auto">
          <a:xfrm>
            <a:off x="1522413" y="3440113"/>
            <a:ext cx="806450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3" name="AutoShape 1043"/>
          <p:cNvCxnSpPr>
            <a:cxnSpLocks noChangeShapeType="1"/>
            <a:stCxn id="28680" idx="2"/>
            <a:endCxn id="28685" idx="0"/>
          </p:cNvCxnSpPr>
          <p:nvPr/>
        </p:nvCxnSpPr>
        <p:spPr bwMode="auto">
          <a:xfrm flipH="1">
            <a:off x="790575" y="3440113"/>
            <a:ext cx="731838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94" name="AutoShape 1044"/>
          <p:cNvSpPr>
            <a:spLocks noChangeAspect="1" noChangeArrowheads="1"/>
          </p:cNvSpPr>
          <p:nvPr/>
        </p:nvSpPr>
        <p:spPr bwMode="auto">
          <a:xfrm>
            <a:off x="6477000" y="3962400"/>
            <a:ext cx="1219200" cy="65405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Robot.java</a:t>
            </a:r>
            <a:br>
              <a:rPr lang="en-US" sz="1600" b="0" i="0">
                <a:solidFill>
                  <a:schemeClr val="tx1"/>
                </a:solidFill>
                <a:latin typeface="Tahoma" pitchFamily="34" charset="0"/>
              </a:rPr>
            </a:br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20K</a:t>
            </a:r>
          </a:p>
        </p:txBody>
      </p:sp>
      <p:cxnSp>
        <p:nvCxnSpPr>
          <p:cNvPr id="28695" name="AutoShape 1045"/>
          <p:cNvCxnSpPr>
            <a:cxnSpLocks noChangeShapeType="1"/>
            <a:stCxn id="28682" idx="2"/>
            <a:endCxn id="28694" idx="0"/>
          </p:cNvCxnSpPr>
          <p:nvPr/>
        </p:nvCxnSpPr>
        <p:spPr bwMode="auto">
          <a:xfrm>
            <a:off x="5454650" y="3440113"/>
            <a:ext cx="1631950" cy="5127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96" name="Text Box 1046"/>
          <p:cNvSpPr txBox="1">
            <a:spLocks noChangeArrowheads="1"/>
          </p:cNvSpPr>
          <p:nvPr/>
        </p:nvSpPr>
        <p:spPr bwMode="auto">
          <a:xfrm>
            <a:off x="3657600" y="19050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9</a:t>
            </a:r>
          </a:p>
        </p:txBody>
      </p:sp>
      <p:sp>
        <p:nvSpPr>
          <p:cNvPr id="28697" name="Text Box 1047"/>
          <p:cNvSpPr txBox="1">
            <a:spLocks noChangeArrowheads="1"/>
          </p:cNvSpPr>
          <p:nvPr/>
        </p:nvSpPr>
        <p:spPr bwMode="auto">
          <a:xfrm>
            <a:off x="1325563" y="27178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3</a:t>
            </a:r>
          </a:p>
        </p:txBody>
      </p:sp>
      <p:sp>
        <p:nvSpPr>
          <p:cNvPr id="28698" name="Text Box 1048"/>
          <p:cNvSpPr txBox="1">
            <a:spLocks noChangeArrowheads="1"/>
          </p:cNvSpPr>
          <p:nvPr/>
        </p:nvSpPr>
        <p:spPr bwMode="auto">
          <a:xfrm>
            <a:off x="592138" y="35941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1</a:t>
            </a:r>
          </a:p>
        </p:txBody>
      </p:sp>
      <p:sp>
        <p:nvSpPr>
          <p:cNvPr id="28699" name="Text Box 1049"/>
          <p:cNvSpPr txBox="1">
            <a:spLocks noChangeArrowheads="1"/>
          </p:cNvSpPr>
          <p:nvPr/>
        </p:nvSpPr>
        <p:spPr bwMode="auto">
          <a:xfrm>
            <a:off x="4648200" y="27178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7</a:t>
            </a:r>
          </a:p>
        </p:txBody>
      </p:sp>
      <p:sp>
        <p:nvSpPr>
          <p:cNvPr id="28700" name="Text Box 1050"/>
          <p:cNvSpPr txBox="1">
            <a:spLocks noChangeArrowheads="1"/>
          </p:cNvSpPr>
          <p:nvPr/>
        </p:nvSpPr>
        <p:spPr bwMode="auto">
          <a:xfrm>
            <a:off x="2192338" y="35941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2</a:t>
            </a:r>
          </a:p>
        </p:txBody>
      </p:sp>
      <p:sp>
        <p:nvSpPr>
          <p:cNvPr id="28701" name="Text Box 1051"/>
          <p:cNvSpPr txBox="1">
            <a:spLocks noChangeArrowheads="1"/>
          </p:cNvSpPr>
          <p:nvPr/>
        </p:nvSpPr>
        <p:spPr bwMode="auto">
          <a:xfrm>
            <a:off x="3378200" y="3581400"/>
            <a:ext cx="5603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   4</a:t>
            </a:r>
          </a:p>
        </p:txBody>
      </p:sp>
      <p:sp>
        <p:nvSpPr>
          <p:cNvPr id="28702" name="Text Box 1052"/>
          <p:cNvSpPr txBox="1">
            <a:spLocks noChangeArrowheads="1"/>
          </p:cNvSpPr>
          <p:nvPr/>
        </p:nvSpPr>
        <p:spPr bwMode="auto">
          <a:xfrm>
            <a:off x="5097463" y="35814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5</a:t>
            </a:r>
          </a:p>
        </p:txBody>
      </p:sp>
      <p:sp>
        <p:nvSpPr>
          <p:cNvPr id="28703" name="Text Box 1053"/>
          <p:cNvSpPr txBox="1">
            <a:spLocks noChangeArrowheads="1"/>
          </p:cNvSpPr>
          <p:nvPr/>
        </p:nvSpPr>
        <p:spPr bwMode="auto">
          <a:xfrm>
            <a:off x="6953250" y="35814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6</a:t>
            </a:r>
          </a:p>
        </p:txBody>
      </p:sp>
      <p:sp>
        <p:nvSpPr>
          <p:cNvPr id="28704" name="Text Box 1054"/>
          <p:cNvSpPr txBox="1">
            <a:spLocks noChangeArrowheads="1"/>
          </p:cNvSpPr>
          <p:nvPr/>
        </p:nvSpPr>
        <p:spPr bwMode="auto">
          <a:xfrm>
            <a:off x="7497763" y="25146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8</a:t>
            </a:r>
          </a:p>
        </p:txBody>
      </p:sp>
      <p:cxnSp>
        <p:nvCxnSpPr>
          <p:cNvPr id="28705" name="AutoShape 1055"/>
          <p:cNvCxnSpPr>
            <a:cxnSpLocks noChangeShapeType="1"/>
            <a:stCxn id="28685" idx="2"/>
            <a:endCxn id="28686" idx="2"/>
          </p:cNvCxnSpPr>
          <p:nvPr/>
        </p:nvCxnSpPr>
        <p:spPr bwMode="auto">
          <a:xfrm rot="16200000" flipH="1">
            <a:off x="1558925" y="3857625"/>
            <a:ext cx="1588" cy="1538288"/>
          </a:xfrm>
          <a:prstGeom prst="curvedConnector3">
            <a:avLst>
              <a:gd name="adj1" fmla="val 45600014"/>
            </a:avLst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6" name="AutoShape 1056"/>
          <p:cNvCxnSpPr>
            <a:cxnSpLocks noChangeShapeType="1"/>
          </p:cNvCxnSpPr>
          <p:nvPr/>
        </p:nvCxnSpPr>
        <p:spPr bwMode="auto">
          <a:xfrm flipH="1" flipV="1">
            <a:off x="2209800" y="3429000"/>
            <a:ext cx="669925" cy="1050925"/>
          </a:xfrm>
          <a:prstGeom prst="curvedConnector3">
            <a:avLst>
              <a:gd name="adj1" fmla="val -32463"/>
            </a:avLst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7" name="AutoShape 1058"/>
          <p:cNvCxnSpPr>
            <a:cxnSpLocks noChangeShapeType="1"/>
            <a:stCxn id="28680" idx="3"/>
            <a:endCxn id="28701" idx="2"/>
          </p:cNvCxnSpPr>
          <p:nvPr/>
        </p:nvCxnSpPr>
        <p:spPr bwMode="auto">
          <a:xfrm>
            <a:off x="2200275" y="3240088"/>
            <a:ext cx="1458913" cy="738187"/>
          </a:xfrm>
          <a:prstGeom prst="curvedConnector4">
            <a:avLst>
              <a:gd name="adj1" fmla="val 40042"/>
              <a:gd name="adj2" fmla="val -644"/>
            </a:avLst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8" name="AutoShape 1059"/>
          <p:cNvCxnSpPr>
            <a:cxnSpLocks noChangeShapeType="1"/>
            <a:stCxn id="28683" idx="2"/>
            <a:endCxn id="28684" idx="2"/>
          </p:cNvCxnSpPr>
          <p:nvPr/>
        </p:nvCxnSpPr>
        <p:spPr bwMode="auto">
          <a:xfrm rot="16200000" flipH="1">
            <a:off x="4681538" y="3846512"/>
            <a:ext cx="1588" cy="1560513"/>
          </a:xfrm>
          <a:prstGeom prst="curvedConnector3">
            <a:avLst>
              <a:gd name="adj1" fmla="val 46200014"/>
            </a:avLst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09" name="AutoShape 1060"/>
          <p:cNvCxnSpPr>
            <a:cxnSpLocks noChangeShapeType="1"/>
          </p:cNvCxnSpPr>
          <p:nvPr/>
        </p:nvCxnSpPr>
        <p:spPr bwMode="auto">
          <a:xfrm rot="16200000" flipH="1">
            <a:off x="6450013" y="3836987"/>
            <a:ext cx="1588" cy="1624013"/>
          </a:xfrm>
          <a:prstGeom prst="curvedConnector3">
            <a:avLst>
              <a:gd name="adj1" fmla="val 45700014"/>
            </a:avLst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10" name="AutoShape 1061"/>
          <p:cNvCxnSpPr>
            <a:cxnSpLocks noChangeShapeType="1"/>
            <a:stCxn id="28703" idx="2"/>
          </p:cNvCxnSpPr>
          <p:nvPr/>
        </p:nvCxnSpPr>
        <p:spPr bwMode="auto">
          <a:xfrm rot="16200000" flipV="1">
            <a:off x="6254750" y="3117850"/>
            <a:ext cx="625475" cy="1095375"/>
          </a:xfrm>
          <a:prstGeom prst="curvedConnector4">
            <a:avLst>
              <a:gd name="adj1" fmla="val 45935"/>
              <a:gd name="adj2" fmla="val 57394"/>
            </a:avLst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11" name="AutoShape 1062"/>
          <p:cNvCxnSpPr>
            <a:cxnSpLocks noChangeShapeType="1"/>
          </p:cNvCxnSpPr>
          <p:nvPr/>
        </p:nvCxnSpPr>
        <p:spPr bwMode="auto">
          <a:xfrm>
            <a:off x="6019800" y="3200400"/>
            <a:ext cx="1582738" cy="336550"/>
          </a:xfrm>
          <a:prstGeom prst="curvedConnector4">
            <a:avLst>
              <a:gd name="adj1" fmla="val 64593"/>
              <a:gd name="adj2" fmla="val 165093"/>
            </a:avLst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712" name="AutoShape 1063"/>
          <p:cNvCxnSpPr>
            <a:cxnSpLocks noChangeShapeType="1"/>
            <a:stCxn id="28681" idx="3"/>
            <a:endCxn id="28679" idx="3"/>
          </p:cNvCxnSpPr>
          <p:nvPr/>
        </p:nvCxnSpPr>
        <p:spPr bwMode="auto">
          <a:xfrm flipH="1" flipV="1">
            <a:off x="4732338" y="2325688"/>
            <a:ext cx="3382962" cy="914400"/>
          </a:xfrm>
          <a:prstGeom prst="curvedConnector3">
            <a:avLst>
              <a:gd name="adj1" fmla="val -6477"/>
            </a:avLst>
          </a:prstGeom>
          <a:noFill/>
          <a:ln w="254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998942-6124-400C-A780-0F36F9DA98F7}" type="slidenum">
              <a:rPr lang="ar-SA"/>
              <a:pPr>
                <a:defRPr/>
              </a:pPr>
              <a:t>26</a:t>
            </a:fld>
            <a:endParaRPr lang="en-US"/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>
                <a:latin typeface="Times New Roman" pitchFamily="18" charset="0"/>
                <a:cs typeface="Times New Roman" pitchFamily="18" charset="0"/>
              </a:rPr>
              <a:t>Other Kinds of Traversals</a:t>
            </a:r>
            <a:br>
              <a:rPr lang="en-US" sz="3200" smtClean="0">
                <a:latin typeface="Times New Roman" pitchFamily="18" charset="0"/>
                <a:cs typeface="Times New Roman" pitchFamily="18" charset="0"/>
              </a:rPr>
            </a:br>
            <a:endParaRPr lang="en-US" sz="320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0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7772400" cy="4495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800" smtClean="0">
                <a:latin typeface="Times New Roman" pitchFamily="18" charset="0"/>
              </a:rPr>
              <a:t> </a:t>
            </a:r>
            <a:r>
              <a:rPr lang="en-US" sz="2800" i="1" smtClean="0">
                <a:solidFill>
                  <a:schemeClr val="tx2"/>
                </a:solidFill>
                <a:latin typeface="Times New Roman" pitchFamily="18" charset="0"/>
              </a:rPr>
              <a:t>Inorder</a:t>
            </a:r>
            <a:r>
              <a:rPr lang="en-US" sz="2800" smtClean="0">
                <a:solidFill>
                  <a:schemeClr val="tx2"/>
                </a:solidFill>
                <a:latin typeface="Times New Roman" pitchFamily="18" charset="0"/>
              </a:rPr>
              <a:t> Traversal</a:t>
            </a:r>
            <a:r>
              <a:rPr lang="en-US" sz="2800" smtClean="0">
                <a:latin typeface="Times New Roman" pitchFamily="18" charset="0"/>
              </a:rPr>
              <a:t>, applied only for </a:t>
            </a:r>
            <a:r>
              <a:rPr lang="en-US" sz="2800" i="1" smtClean="0">
                <a:latin typeface="Times New Roman" pitchFamily="18" charset="0"/>
              </a:rPr>
              <a:t>Binary</a:t>
            </a:r>
            <a:r>
              <a:rPr lang="en-US" sz="2800" smtClean="0">
                <a:latin typeface="Times New Roman" pitchFamily="18" charset="0"/>
              </a:rPr>
              <a:t> trees, where the node is visited </a:t>
            </a:r>
            <a:r>
              <a:rPr lang="en-US" sz="2800" i="1" smtClean="0">
                <a:latin typeface="Times New Roman" pitchFamily="18" charset="0"/>
              </a:rPr>
              <a:t>in-between</a:t>
            </a:r>
            <a:r>
              <a:rPr lang="en-US" sz="2800" smtClean="0">
                <a:latin typeface="Times New Roman" pitchFamily="18" charset="0"/>
              </a:rPr>
              <a:t> its </a:t>
            </a:r>
            <a:r>
              <a:rPr lang="en-US" sz="2800" i="1" smtClean="0">
                <a:latin typeface="Times New Roman" pitchFamily="18" charset="0"/>
              </a:rPr>
              <a:t>left</a:t>
            </a:r>
            <a:r>
              <a:rPr lang="en-US" sz="2800" smtClean="0">
                <a:latin typeface="Times New Roman" pitchFamily="18" charset="0"/>
              </a:rPr>
              <a:t> child and its </a:t>
            </a:r>
            <a:r>
              <a:rPr lang="en-US" sz="2800" i="1" smtClean="0">
                <a:latin typeface="Times New Roman" pitchFamily="18" charset="0"/>
              </a:rPr>
              <a:t>right</a:t>
            </a:r>
            <a:r>
              <a:rPr lang="en-US" sz="2800" smtClean="0">
                <a:latin typeface="Times New Roman" pitchFamily="18" charset="0"/>
              </a:rPr>
              <a:t> child. 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None/>
            </a:pPr>
            <a:endParaRPr lang="en-US" sz="280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800" smtClean="0">
                <a:latin typeface="Times New Roman" pitchFamily="18" charset="0"/>
              </a:rPr>
              <a:t> </a:t>
            </a:r>
            <a:r>
              <a:rPr lang="en-US" sz="2800" i="1" smtClean="0">
                <a:solidFill>
                  <a:schemeClr val="tx2"/>
                </a:solidFill>
                <a:latin typeface="Times New Roman" pitchFamily="18" charset="0"/>
              </a:rPr>
              <a:t>Constant-Depth</a:t>
            </a:r>
            <a:r>
              <a:rPr lang="en-US" sz="2800" smtClean="0">
                <a:latin typeface="Times New Roman" pitchFamily="18" charset="0"/>
              </a:rPr>
              <a:t> traversal, where we visit all nodes at </a:t>
            </a:r>
            <a:r>
              <a:rPr lang="en-US" sz="2800" i="1" smtClean="0">
                <a:latin typeface="Times New Roman" pitchFamily="18" charset="0"/>
              </a:rPr>
              <a:t>depth d</a:t>
            </a:r>
            <a:r>
              <a:rPr lang="en-US" sz="2800" smtClean="0">
                <a:latin typeface="Times New Roman" pitchFamily="18" charset="0"/>
              </a:rPr>
              <a:t>, from </a:t>
            </a:r>
            <a:r>
              <a:rPr lang="en-US" sz="2800" i="1" smtClean="0">
                <a:latin typeface="Times New Roman" pitchFamily="18" charset="0"/>
              </a:rPr>
              <a:t>left</a:t>
            </a:r>
            <a:r>
              <a:rPr lang="en-US" sz="2800" smtClean="0">
                <a:latin typeface="Times New Roman" pitchFamily="18" charset="0"/>
              </a:rPr>
              <a:t> to </a:t>
            </a:r>
            <a:r>
              <a:rPr lang="en-US" sz="2800" i="1" smtClean="0">
                <a:latin typeface="Times New Roman" pitchFamily="18" charset="0"/>
              </a:rPr>
              <a:t>right</a:t>
            </a:r>
            <a:r>
              <a:rPr lang="en-US" sz="2800" smtClean="0">
                <a:latin typeface="Times New Roman" pitchFamily="18" charset="0"/>
              </a:rPr>
              <a:t>, before we visit the nodes at </a:t>
            </a:r>
            <a:r>
              <a:rPr lang="en-US" sz="2800" i="1" smtClean="0">
                <a:latin typeface="Times New Roman" pitchFamily="18" charset="0"/>
              </a:rPr>
              <a:t>depth d+1</a:t>
            </a:r>
            <a:r>
              <a:rPr lang="en-US" sz="2800" smtClean="0">
                <a:latin typeface="Times New Roman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None/>
            </a:pPr>
            <a:r>
              <a:rPr lang="en-US" sz="2800" smtClean="0">
                <a:latin typeface="Times New Roman" pitchFamily="18" charset="0"/>
              </a:rPr>
              <a:t> 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800" smtClean="0">
                <a:latin typeface="Times New Roman" pitchFamily="18" charset="0"/>
              </a:rPr>
              <a:t>Thus, numbering the nodes of a tree T as we visit them in this way, is called the </a:t>
            </a:r>
            <a:r>
              <a:rPr lang="en-US" sz="2800" i="1" smtClean="0">
                <a:latin typeface="Times New Roman" pitchFamily="18" charset="0"/>
              </a:rPr>
              <a:t>level numbering</a:t>
            </a:r>
            <a:r>
              <a:rPr lang="en-US" sz="2800" smtClean="0">
                <a:latin typeface="Times New Roman" pitchFamily="18" charset="0"/>
              </a:rPr>
              <a:t> of nodes of </a:t>
            </a:r>
            <a:r>
              <a:rPr lang="en-US" sz="2800" i="1" smtClean="0">
                <a:latin typeface="Times New Roman" pitchFamily="18" charset="0"/>
              </a:rPr>
              <a:t>T</a:t>
            </a:r>
            <a:r>
              <a:rPr lang="en-US" sz="2800" smtClean="0">
                <a:latin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C1D68E-ADAD-4D94-BA58-0FD94A4DBD80}" type="slidenum">
              <a:rPr lang="ar-SA"/>
              <a:pPr>
                <a:defRPr/>
              </a:pPr>
              <a:t>27</a:t>
            </a:fld>
            <a:endParaRPr lang="en-US"/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762000"/>
          </a:xfrm>
        </p:spPr>
        <p:txBody>
          <a:bodyPr/>
          <a:lstStyle/>
          <a:p>
            <a:pPr eaLnBrk="1" hangingPunct="1"/>
            <a:r>
              <a:rPr lang="en-US" sz="3600" smtClean="0"/>
              <a:t>2.3.3 Binary Trees</a:t>
            </a:r>
          </a:p>
        </p:txBody>
      </p:sp>
      <p:sp>
        <p:nvSpPr>
          <p:cNvPr id="3072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295400"/>
            <a:ext cx="7772400" cy="4724400"/>
          </a:xfrm>
        </p:spPr>
        <p:txBody>
          <a:bodyPr/>
          <a:lstStyle/>
          <a:p>
            <a:pPr marL="790575" indent="-609600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A B</a:t>
            </a:r>
            <a:r>
              <a:rPr lang="en-US" sz="2400" i="1" smtClean="0">
                <a:latin typeface="Times New Roman" pitchFamily="18" charset="0"/>
              </a:rPr>
              <a:t>inary</a:t>
            </a:r>
            <a:r>
              <a:rPr lang="en-US" sz="2400" smtClean="0">
                <a:latin typeface="Times New Roman" pitchFamily="18" charset="0"/>
              </a:rPr>
              <a:t> tree is an </a:t>
            </a:r>
            <a:r>
              <a:rPr lang="en-US" sz="2400" i="1" smtClean="0">
                <a:latin typeface="Times New Roman" pitchFamily="18" charset="0"/>
              </a:rPr>
              <a:t>ordered</a:t>
            </a:r>
            <a:r>
              <a:rPr lang="en-US" sz="2400" smtClean="0">
                <a:latin typeface="Times New Roman" pitchFamily="18" charset="0"/>
              </a:rPr>
              <a:t> tree with the following properties:</a:t>
            </a:r>
          </a:p>
          <a:p>
            <a:pPr marL="790575" indent="-609600" eaLnBrk="1" hangingPunct="1">
              <a:buFont typeface="Wingdings" pitchFamily="2" charset="2"/>
              <a:buNone/>
            </a:pPr>
            <a:endParaRPr lang="en-US" sz="1000" smtClean="0">
              <a:latin typeface="Times New Roman" pitchFamily="18" charset="0"/>
            </a:endParaRPr>
          </a:p>
          <a:p>
            <a:pPr marL="790575" indent="-609600" eaLnBrk="1" hangingPunct="1">
              <a:buClr>
                <a:schemeClr val="tx2"/>
              </a:buClr>
              <a:buFont typeface="Wingdings" pitchFamily="2" charset="2"/>
              <a:buAutoNum type="arabicPeriod"/>
            </a:pPr>
            <a:r>
              <a:rPr lang="en-US" sz="2400" smtClean="0">
                <a:latin typeface="Times New Roman" pitchFamily="18" charset="0"/>
              </a:rPr>
              <a:t>Every node has </a:t>
            </a:r>
            <a:r>
              <a:rPr lang="en-US" sz="2400" i="1" smtClean="0">
                <a:latin typeface="Times New Roman" pitchFamily="18" charset="0"/>
              </a:rPr>
              <a:t>at most</a:t>
            </a:r>
            <a:r>
              <a:rPr lang="en-US" sz="2400" smtClean="0">
                <a:latin typeface="Times New Roman" pitchFamily="18" charset="0"/>
              </a:rPr>
              <a:t> </a:t>
            </a:r>
            <a:r>
              <a:rPr lang="en-US" sz="2400" b="1" smtClean="0">
                <a:solidFill>
                  <a:schemeClr val="tx2"/>
                </a:solidFill>
                <a:latin typeface="Times New Roman" pitchFamily="18" charset="0"/>
              </a:rPr>
              <a:t>two</a:t>
            </a:r>
            <a:r>
              <a:rPr lang="en-US" sz="2400" smtClean="0">
                <a:latin typeface="Times New Roman" pitchFamily="18" charset="0"/>
              </a:rPr>
              <a:t> </a:t>
            </a:r>
            <a:r>
              <a:rPr lang="en-US" sz="2400" i="1" smtClean="0">
                <a:latin typeface="Times New Roman" pitchFamily="18" charset="0"/>
              </a:rPr>
              <a:t>children</a:t>
            </a:r>
            <a:r>
              <a:rPr lang="en-US" sz="2400" smtClean="0">
                <a:latin typeface="Times New Roman" pitchFamily="18" charset="0"/>
              </a:rPr>
              <a:t> </a:t>
            </a:r>
          </a:p>
          <a:p>
            <a:pPr marL="790575" indent="-609600" eaLnBrk="1" hangingPunct="1">
              <a:buClr>
                <a:schemeClr val="tx2"/>
              </a:buClr>
              <a:buFont typeface="Wingdings" pitchFamily="2" charset="2"/>
              <a:buAutoNum type="arabicPeriod"/>
            </a:pPr>
            <a:r>
              <a:rPr lang="en-US" sz="2400" smtClean="0">
                <a:latin typeface="Times New Roman" pitchFamily="18" charset="0"/>
              </a:rPr>
              <a:t>Each </a:t>
            </a:r>
            <a:r>
              <a:rPr lang="en-US" sz="2400" i="1" smtClean="0">
                <a:latin typeface="Times New Roman" pitchFamily="18" charset="0"/>
              </a:rPr>
              <a:t>child</a:t>
            </a:r>
            <a:r>
              <a:rPr lang="en-US" sz="2400" smtClean="0">
                <a:latin typeface="Times New Roman" pitchFamily="18" charset="0"/>
              </a:rPr>
              <a:t> node is labeled as being either a </a:t>
            </a:r>
            <a:r>
              <a:rPr lang="en-US" sz="2400" b="1" i="1" smtClean="0">
                <a:latin typeface="Times New Roman" pitchFamily="18" charset="0"/>
              </a:rPr>
              <a:t>left child</a:t>
            </a:r>
            <a:r>
              <a:rPr lang="en-US" sz="2400" smtClean="0">
                <a:latin typeface="Times New Roman" pitchFamily="18" charset="0"/>
              </a:rPr>
              <a:t> or a </a:t>
            </a:r>
            <a:r>
              <a:rPr lang="en-US" sz="2400" b="1" i="1" smtClean="0">
                <a:latin typeface="Times New Roman" pitchFamily="18" charset="0"/>
              </a:rPr>
              <a:t>right child</a:t>
            </a:r>
            <a:r>
              <a:rPr lang="en-US" sz="2400" smtClean="0">
                <a:latin typeface="Times New Roman" pitchFamily="18" charset="0"/>
              </a:rPr>
              <a:t>.</a:t>
            </a:r>
          </a:p>
          <a:p>
            <a:pPr marL="790575" indent="-609600" eaLnBrk="1" hangingPunct="1">
              <a:buClr>
                <a:schemeClr val="tx2"/>
              </a:buClr>
              <a:buFont typeface="Wingdings" pitchFamily="2" charset="2"/>
              <a:buAutoNum type="arabicPeriod"/>
            </a:pPr>
            <a:r>
              <a:rPr lang="en-US" sz="2400" smtClean="0">
                <a:latin typeface="Times New Roman" pitchFamily="18" charset="0"/>
              </a:rPr>
              <a:t>A </a:t>
            </a:r>
            <a:r>
              <a:rPr lang="en-US" sz="2400" b="1" i="1" smtClean="0">
                <a:latin typeface="Times New Roman" pitchFamily="18" charset="0"/>
              </a:rPr>
              <a:t>left child</a:t>
            </a:r>
            <a:r>
              <a:rPr lang="en-US" sz="2400" smtClean="0">
                <a:latin typeface="Times New Roman" pitchFamily="18" charset="0"/>
              </a:rPr>
              <a:t> precedes a </a:t>
            </a:r>
            <a:r>
              <a:rPr lang="en-US" sz="2400" b="1" i="1" smtClean="0">
                <a:latin typeface="Times New Roman" pitchFamily="18" charset="0"/>
              </a:rPr>
              <a:t>right child</a:t>
            </a:r>
            <a:r>
              <a:rPr lang="en-US" sz="2400" smtClean="0">
                <a:latin typeface="Times New Roman" pitchFamily="18" charset="0"/>
              </a:rPr>
              <a:t> in the ordering of children of a node, (Children form an </a:t>
            </a:r>
            <a:r>
              <a:rPr lang="en-US" sz="2400" i="1" smtClean="0">
                <a:latin typeface="Times New Roman" pitchFamily="18" charset="0"/>
              </a:rPr>
              <a:t>ordered</a:t>
            </a:r>
            <a:r>
              <a:rPr lang="en-US" sz="2400" smtClean="0">
                <a:latin typeface="Times New Roman" pitchFamily="18" charset="0"/>
              </a:rPr>
              <a:t> </a:t>
            </a:r>
            <a:r>
              <a:rPr lang="en-US" sz="2400" i="1" smtClean="0">
                <a:latin typeface="Times New Roman" pitchFamily="18" charset="0"/>
              </a:rPr>
              <a:t>pair</a:t>
            </a:r>
            <a:r>
              <a:rPr lang="en-US" sz="2400" smtClean="0">
                <a:latin typeface="Times New Roman" pitchFamily="18" charset="0"/>
              </a:rPr>
              <a:t>).</a:t>
            </a:r>
          </a:p>
          <a:p>
            <a:pPr marL="790575" indent="-609600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A  </a:t>
            </a:r>
            <a:r>
              <a:rPr lang="en-US" sz="2400" i="1" smtClean="0">
                <a:latin typeface="Times New Roman" pitchFamily="18" charset="0"/>
              </a:rPr>
              <a:t>Binary</a:t>
            </a:r>
            <a:r>
              <a:rPr lang="en-US" sz="2400" smtClean="0">
                <a:latin typeface="Times New Roman" pitchFamily="18" charset="0"/>
              </a:rPr>
              <a:t> tree is called </a:t>
            </a:r>
            <a:r>
              <a:rPr lang="en-US" sz="2400" b="1" i="1" smtClean="0">
                <a:solidFill>
                  <a:schemeClr val="tx2"/>
                </a:solidFill>
                <a:latin typeface="Times New Roman" pitchFamily="18" charset="0"/>
              </a:rPr>
              <a:t>proper</a:t>
            </a:r>
            <a:r>
              <a:rPr lang="en-US" sz="2400" smtClean="0">
                <a:latin typeface="Times New Roman" pitchFamily="18" charset="0"/>
              </a:rPr>
              <a:t> if  each node has either 0 or 2 children. (also, called </a:t>
            </a:r>
            <a:r>
              <a:rPr lang="en-US" sz="2400" i="1" smtClean="0">
                <a:latin typeface="Times New Roman" pitchFamily="18" charset="0"/>
              </a:rPr>
              <a:t>full</a:t>
            </a:r>
            <a:r>
              <a:rPr lang="en-US" sz="2400" smtClean="0">
                <a:latin typeface="Times New Roman" pitchFamily="18" charset="0"/>
              </a:rPr>
              <a:t> Binary tree)</a:t>
            </a:r>
          </a:p>
          <a:p>
            <a:pPr marL="790575" indent="-609600"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</a:rPr>
              <a:t>A Binary tree that is not proper, is </a:t>
            </a:r>
            <a:r>
              <a:rPr lang="en-US" sz="2400" b="1" i="1" smtClean="0">
                <a:solidFill>
                  <a:schemeClr val="tx2"/>
                </a:solidFill>
                <a:latin typeface="Times New Roman" pitchFamily="18" charset="0"/>
              </a:rPr>
              <a:t>improper</a:t>
            </a:r>
            <a:r>
              <a:rPr lang="en-US" sz="2400" smtClean="0">
                <a:latin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3D985D-4CC6-4EE8-92C5-5CF5EB5095CC}" type="slidenum">
              <a:rPr lang="ar-SA"/>
              <a:pPr>
                <a:defRPr/>
              </a:pPr>
              <a:t>28</a:t>
            </a:fld>
            <a:endParaRPr lang="en-US"/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7772400" cy="685800"/>
          </a:xfrm>
        </p:spPr>
        <p:txBody>
          <a:bodyPr/>
          <a:lstStyle/>
          <a:p>
            <a:pPr eaLnBrk="1" hangingPunct="1"/>
            <a:r>
              <a:rPr lang="en-US" sz="3200" smtClean="0">
                <a:latin typeface="Times New Roman" pitchFamily="18" charset="0"/>
                <a:cs typeface="Times New Roman" pitchFamily="18" charset="0"/>
              </a:rPr>
              <a:t>   Binary Trees</a:t>
            </a:r>
          </a:p>
        </p:txBody>
      </p:sp>
      <p:sp>
        <p:nvSpPr>
          <p:cNvPr id="3174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914400" y="1447800"/>
            <a:ext cx="4387850" cy="38798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Recursive definition: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 a Binary tree is either: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a tree consisting of a single node, 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a tree whose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has an ordered pair of children, each of which is a Binary tree</a:t>
            </a:r>
          </a:p>
        </p:txBody>
      </p:sp>
      <p:sp>
        <p:nvSpPr>
          <p:cNvPr id="31750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5105400" y="1447800"/>
            <a:ext cx="3276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800" b="0" i="0"/>
              <a:t>Applications: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n"/>
            </a:pPr>
            <a:r>
              <a:rPr lang="en-US" sz="1800" b="0" i="0">
                <a:solidFill>
                  <a:schemeClr val="tx1"/>
                </a:solidFill>
                <a:latin typeface="Tahoma" pitchFamily="34" charset="0"/>
              </a:rPr>
              <a:t>arithmetic expressions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n"/>
            </a:pPr>
            <a:r>
              <a:rPr lang="en-US" sz="1800" b="0" i="0">
                <a:solidFill>
                  <a:schemeClr val="tx1"/>
                </a:solidFill>
                <a:latin typeface="Tahoma" pitchFamily="34" charset="0"/>
              </a:rPr>
              <a:t>decision processes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n"/>
            </a:pPr>
            <a:r>
              <a:rPr lang="en-US" sz="1800" b="0" i="0">
                <a:solidFill>
                  <a:schemeClr val="tx1"/>
                </a:solidFill>
                <a:latin typeface="Tahoma" pitchFamily="34" charset="0"/>
              </a:rPr>
              <a:t>searching</a:t>
            </a:r>
          </a:p>
        </p:txBody>
      </p:sp>
      <p:sp>
        <p:nvSpPr>
          <p:cNvPr id="31751" name="AutoShape 7"/>
          <p:cNvSpPr>
            <a:spLocks noChangeAspect="1" noChangeArrowheads="1"/>
          </p:cNvSpPr>
          <p:nvPr/>
        </p:nvSpPr>
        <p:spPr bwMode="auto">
          <a:xfrm>
            <a:off x="6924675" y="3117850"/>
            <a:ext cx="341313" cy="377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A</a:t>
            </a:r>
          </a:p>
        </p:txBody>
      </p:sp>
      <p:sp>
        <p:nvSpPr>
          <p:cNvPr id="31752" name="AutoShape 8"/>
          <p:cNvSpPr>
            <a:spLocks noChangeAspect="1" noChangeArrowheads="1"/>
          </p:cNvSpPr>
          <p:nvPr/>
        </p:nvSpPr>
        <p:spPr bwMode="auto">
          <a:xfrm>
            <a:off x="5938838" y="4032250"/>
            <a:ext cx="338137" cy="377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B</a:t>
            </a:r>
          </a:p>
        </p:txBody>
      </p:sp>
      <p:sp>
        <p:nvSpPr>
          <p:cNvPr id="31753" name="AutoShape 10"/>
          <p:cNvSpPr>
            <a:spLocks noChangeAspect="1" noChangeArrowheads="1"/>
          </p:cNvSpPr>
          <p:nvPr/>
        </p:nvSpPr>
        <p:spPr bwMode="auto">
          <a:xfrm>
            <a:off x="7905750" y="4030663"/>
            <a:ext cx="341313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C</a:t>
            </a:r>
          </a:p>
        </p:txBody>
      </p:sp>
      <p:sp>
        <p:nvSpPr>
          <p:cNvPr id="31754" name="AutoShape 11"/>
          <p:cNvSpPr>
            <a:spLocks noChangeAspect="1" noChangeArrowheads="1"/>
          </p:cNvSpPr>
          <p:nvPr/>
        </p:nvSpPr>
        <p:spPr bwMode="auto">
          <a:xfrm>
            <a:off x="7424738" y="4945063"/>
            <a:ext cx="322262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F</a:t>
            </a:r>
          </a:p>
        </p:txBody>
      </p:sp>
      <p:sp>
        <p:nvSpPr>
          <p:cNvPr id="31755" name="AutoShape 12"/>
          <p:cNvSpPr>
            <a:spLocks noChangeAspect="1" noChangeArrowheads="1"/>
          </p:cNvSpPr>
          <p:nvPr/>
        </p:nvSpPr>
        <p:spPr bwMode="auto">
          <a:xfrm>
            <a:off x="8407400" y="4945063"/>
            <a:ext cx="355600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G</a:t>
            </a:r>
          </a:p>
        </p:txBody>
      </p:sp>
      <p:sp>
        <p:nvSpPr>
          <p:cNvPr id="31756" name="AutoShape 13"/>
          <p:cNvSpPr>
            <a:spLocks noChangeAspect="1" noChangeArrowheads="1"/>
          </p:cNvSpPr>
          <p:nvPr/>
        </p:nvSpPr>
        <p:spPr bwMode="auto">
          <a:xfrm>
            <a:off x="5422900" y="4943475"/>
            <a:ext cx="357188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D</a:t>
            </a:r>
          </a:p>
        </p:txBody>
      </p:sp>
      <p:sp>
        <p:nvSpPr>
          <p:cNvPr id="31757" name="AutoShape 14"/>
          <p:cNvSpPr>
            <a:spLocks noChangeAspect="1" noChangeArrowheads="1"/>
          </p:cNvSpPr>
          <p:nvPr/>
        </p:nvSpPr>
        <p:spPr bwMode="auto">
          <a:xfrm>
            <a:off x="6450013" y="4945063"/>
            <a:ext cx="330200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E</a:t>
            </a:r>
          </a:p>
        </p:txBody>
      </p:sp>
      <p:cxnSp>
        <p:nvCxnSpPr>
          <p:cNvPr id="31758" name="AutoShape 15"/>
          <p:cNvCxnSpPr>
            <a:cxnSpLocks noChangeShapeType="1"/>
            <a:stCxn id="31751" idx="2"/>
            <a:endCxn id="31752" idx="0"/>
          </p:cNvCxnSpPr>
          <p:nvPr/>
        </p:nvCxnSpPr>
        <p:spPr bwMode="auto">
          <a:xfrm flipH="1">
            <a:off x="6108700" y="3505200"/>
            <a:ext cx="987425" cy="5175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9" name="AutoShape 16"/>
          <p:cNvCxnSpPr>
            <a:cxnSpLocks noChangeShapeType="1"/>
            <a:stCxn id="31751" idx="2"/>
            <a:endCxn id="31753" idx="0"/>
          </p:cNvCxnSpPr>
          <p:nvPr/>
        </p:nvCxnSpPr>
        <p:spPr bwMode="auto">
          <a:xfrm>
            <a:off x="7096125" y="3505200"/>
            <a:ext cx="981075" cy="515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60" name="AutoShape 18"/>
          <p:cNvCxnSpPr>
            <a:cxnSpLocks noChangeShapeType="1"/>
            <a:stCxn id="31753" idx="2"/>
            <a:endCxn id="31755" idx="0"/>
          </p:cNvCxnSpPr>
          <p:nvPr/>
        </p:nvCxnSpPr>
        <p:spPr bwMode="auto">
          <a:xfrm>
            <a:off x="8077200" y="4421188"/>
            <a:ext cx="508000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61" name="AutoShape 19"/>
          <p:cNvCxnSpPr>
            <a:cxnSpLocks noChangeShapeType="1"/>
            <a:stCxn id="31753" idx="2"/>
            <a:endCxn id="31754" idx="0"/>
          </p:cNvCxnSpPr>
          <p:nvPr/>
        </p:nvCxnSpPr>
        <p:spPr bwMode="auto">
          <a:xfrm flipH="1">
            <a:off x="7586663" y="4421188"/>
            <a:ext cx="490537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62" name="AutoShape 20"/>
          <p:cNvCxnSpPr>
            <a:cxnSpLocks noChangeShapeType="1"/>
            <a:stCxn id="31752" idx="2"/>
            <a:endCxn id="31757" idx="0"/>
          </p:cNvCxnSpPr>
          <p:nvPr/>
        </p:nvCxnSpPr>
        <p:spPr bwMode="auto">
          <a:xfrm>
            <a:off x="6108700" y="4419600"/>
            <a:ext cx="506413" cy="5159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63" name="AutoShape 21"/>
          <p:cNvCxnSpPr>
            <a:cxnSpLocks noChangeShapeType="1"/>
            <a:stCxn id="31752" idx="2"/>
            <a:endCxn id="31756" idx="0"/>
          </p:cNvCxnSpPr>
          <p:nvPr/>
        </p:nvCxnSpPr>
        <p:spPr bwMode="auto">
          <a:xfrm flipH="1">
            <a:off x="5602288" y="4419600"/>
            <a:ext cx="506412" cy="5143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64" name="AutoShape 22"/>
          <p:cNvSpPr>
            <a:spLocks noChangeAspect="1" noChangeArrowheads="1"/>
          </p:cNvSpPr>
          <p:nvPr/>
        </p:nvSpPr>
        <p:spPr bwMode="auto">
          <a:xfrm>
            <a:off x="6069013" y="5865813"/>
            <a:ext cx="355600" cy="3778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H</a:t>
            </a:r>
          </a:p>
        </p:txBody>
      </p:sp>
      <p:cxnSp>
        <p:nvCxnSpPr>
          <p:cNvPr id="31765" name="AutoShape 25"/>
          <p:cNvCxnSpPr>
            <a:cxnSpLocks noChangeShapeType="1"/>
            <a:stCxn id="31757" idx="2"/>
            <a:endCxn id="31764" idx="0"/>
          </p:cNvCxnSpPr>
          <p:nvPr/>
        </p:nvCxnSpPr>
        <p:spPr bwMode="auto">
          <a:xfrm flipH="1">
            <a:off x="6246813" y="5335588"/>
            <a:ext cx="368300" cy="52070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766" name="AutoShape 26"/>
          <p:cNvSpPr>
            <a:spLocks noChangeAspect="1" noChangeArrowheads="1"/>
          </p:cNvSpPr>
          <p:nvPr/>
        </p:nvSpPr>
        <p:spPr bwMode="auto">
          <a:xfrm>
            <a:off x="6805613" y="5864225"/>
            <a:ext cx="288925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sz="1600" b="0" i="0">
                <a:solidFill>
                  <a:schemeClr val="tx1"/>
                </a:solidFill>
                <a:latin typeface="Tahoma" pitchFamily="34" charset="0"/>
              </a:rPr>
              <a:t>I</a:t>
            </a:r>
          </a:p>
        </p:txBody>
      </p:sp>
      <p:cxnSp>
        <p:nvCxnSpPr>
          <p:cNvPr id="31767" name="AutoShape 27"/>
          <p:cNvCxnSpPr>
            <a:cxnSpLocks noChangeShapeType="1"/>
            <a:stCxn id="31757" idx="2"/>
            <a:endCxn id="31766" idx="0"/>
          </p:cNvCxnSpPr>
          <p:nvPr/>
        </p:nvCxnSpPr>
        <p:spPr bwMode="auto">
          <a:xfrm>
            <a:off x="6615113" y="5335588"/>
            <a:ext cx="334962" cy="519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9890A9-8018-4073-915F-DADDB660EDCE}" type="slidenum">
              <a:rPr lang="ar-SA"/>
              <a:pPr>
                <a:defRPr/>
              </a:pPr>
              <a:t>29</a:t>
            </a:fld>
            <a:endParaRPr lang="en-US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Arithmetic Expression Tree</a:t>
            </a:r>
          </a:p>
        </p:txBody>
      </p:sp>
      <p:sp>
        <p:nvSpPr>
          <p:cNvPr id="3277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196975" y="1600200"/>
            <a:ext cx="7343775" cy="2108200"/>
          </a:xfrm>
        </p:spPr>
        <p:txBody>
          <a:bodyPr/>
          <a:lstStyle/>
          <a:p>
            <a:pPr eaLnBrk="1" hangingPunct="1">
              <a:buClr>
                <a:schemeClr val="tx2"/>
              </a:buClr>
              <a:buSzTx/>
              <a:buFont typeface="Wingdings" pitchFamily="2" charset="2"/>
              <a:buChar char="v"/>
            </a:pP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Binary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tree associated with an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arithmetic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expression</a:t>
            </a:r>
          </a:p>
          <a:p>
            <a:pPr lvl="1" eaLnBrk="1" hangingPunct="1">
              <a:buClr>
                <a:schemeClr val="tx2"/>
              </a:buClr>
              <a:buSzTx/>
              <a:buFontTx/>
              <a:buChar char="•"/>
            </a:pPr>
            <a:r>
              <a:rPr lang="en-US" sz="2000" b="1" i="1" smtClean="0">
                <a:latin typeface="Times New Roman" pitchFamily="18" charset="0"/>
                <a:cs typeface="Times New Roman" pitchFamily="18" charset="0"/>
              </a:rPr>
              <a:t>internal</a:t>
            </a:r>
            <a:r>
              <a:rPr lang="en-US" sz="2000" b="1" smtClean="0">
                <a:latin typeface="Times New Roman" pitchFamily="18" charset="0"/>
                <a:cs typeface="Times New Roman" pitchFamily="18" charset="0"/>
              </a:rPr>
              <a:t> nodes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: contain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operators 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(+, -, *, /, log, … etc.)</a:t>
            </a:r>
          </a:p>
          <a:p>
            <a:pPr lvl="1" eaLnBrk="1" hangingPunct="1">
              <a:buClr>
                <a:schemeClr val="tx2"/>
              </a:buClr>
              <a:buSzTx/>
              <a:buFontTx/>
              <a:buChar char="•"/>
            </a:pPr>
            <a:r>
              <a:rPr lang="en-US" sz="2000" b="1" i="1" smtClean="0">
                <a:latin typeface="Times New Roman" pitchFamily="18" charset="0"/>
                <a:cs typeface="Times New Roman" pitchFamily="18" charset="0"/>
              </a:rPr>
              <a:t>external</a:t>
            </a:r>
            <a:r>
              <a:rPr lang="en-US" sz="2000" b="1" smtClean="0">
                <a:latin typeface="Times New Roman" pitchFamily="18" charset="0"/>
                <a:cs typeface="Times New Roman" pitchFamily="18" charset="0"/>
              </a:rPr>
              <a:t> nodes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: contain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operands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(variables or constants)</a:t>
            </a:r>
          </a:p>
          <a:p>
            <a:pPr eaLnBrk="1" hangingPunct="1">
              <a:buClr>
                <a:schemeClr val="tx2"/>
              </a:buClr>
              <a:buSzTx/>
              <a:buFont typeface="Wingdings" pitchFamily="2" charset="2"/>
              <a:buChar char="v"/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Example: arithmetic expression tree for the expression 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SzTx/>
              <a:buFont typeface="Wingdings" pitchFamily="2" charset="2"/>
              <a:buNone/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   (2 </a:t>
            </a:r>
            <a:r>
              <a:rPr lang="en-US" sz="240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 (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a - 1) + (3 </a:t>
            </a:r>
            <a:r>
              <a:rPr lang="en-US" sz="240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 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b))</a:t>
            </a:r>
          </a:p>
        </p:txBody>
      </p:sp>
      <p:grpSp>
        <p:nvGrpSpPr>
          <p:cNvPr id="32774" name="Group 21"/>
          <p:cNvGrpSpPr>
            <a:grpSpLocks/>
          </p:cNvGrpSpPr>
          <p:nvPr/>
        </p:nvGrpSpPr>
        <p:grpSpPr bwMode="auto">
          <a:xfrm>
            <a:off x="2819400" y="3733800"/>
            <a:ext cx="3429000" cy="2286000"/>
            <a:chOff x="2928" y="2256"/>
            <a:chExt cx="2160" cy="1440"/>
          </a:xfrm>
        </p:grpSpPr>
        <p:sp>
          <p:nvSpPr>
            <p:cNvPr id="32775" name="Oval 4"/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Symbol" pitchFamily="18" charset="2"/>
                </a:rPr>
                <a:t>+</a:t>
              </a:r>
            </a:p>
          </p:txBody>
        </p:sp>
        <p:sp>
          <p:nvSpPr>
            <p:cNvPr id="32776" name="Oval 5"/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Symbol" pitchFamily="18" charset="2"/>
                  <a:sym typeface="Symbol" pitchFamily="18" charset="2"/>
                </a:rPr>
                <a:t></a:t>
              </a:r>
            </a:p>
          </p:txBody>
        </p:sp>
        <p:sp>
          <p:nvSpPr>
            <p:cNvPr id="32777" name="Oval 6"/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Symbol" pitchFamily="18" charset="2"/>
                  <a:sym typeface="Symbol" pitchFamily="18" charset="2"/>
                </a:rPr>
                <a:t></a:t>
              </a:r>
              <a:endParaRPr lang="en-US" b="0" i="0">
                <a:solidFill>
                  <a:schemeClr val="tx1"/>
                </a:solidFill>
                <a:latin typeface="Symbol" pitchFamily="18" charset="2"/>
              </a:endParaRPr>
            </a:p>
          </p:txBody>
        </p:sp>
        <p:sp>
          <p:nvSpPr>
            <p:cNvPr id="32778" name="Oval 7"/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Symbol" pitchFamily="18" charset="2"/>
                </a:rPr>
                <a:t>-</a:t>
              </a:r>
            </a:p>
          </p:txBody>
        </p:sp>
        <p:sp>
          <p:nvSpPr>
            <p:cNvPr id="32779" name="Rectangle 8"/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</a:rPr>
                <a:t>2</a:t>
              </a:r>
            </a:p>
          </p:txBody>
        </p:sp>
        <p:sp>
          <p:nvSpPr>
            <p:cNvPr id="32780" name="Rectangle 9"/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</a:rPr>
                <a:t>a</a:t>
              </a:r>
            </a:p>
          </p:txBody>
        </p:sp>
        <p:sp>
          <p:nvSpPr>
            <p:cNvPr id="32781" name="Rectangle 10"/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</a:rPr>
                <a:t>1</a:t>
              </a:r>
            </a:p>
          </p:txBody>
        </p:sp>
        <p:sp>
          <p:nvSpPr>
            <p:cNvPr id="32782" name="Rectangle 11"/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</a:rPr>
                <a:t>3</a:t>
              </a:r>
            </a:p>
          </p:txBody>
        </p:sp>
        <p:sp>
          <p:nvSpPr>
            <p:cNvPr id="32783" name="Rectangle 12"/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</a:rPr>
                <a:t>b</a:t>
              </a:r>
            </a:p>
          </p:txBody>
        </p:sp>
        <p:cxnSp>
          <p:nvCxnSpPr>
            <p:cNvPr id="32784" name="AutoShape 13"/>
            <p:cNvCxnSpPr>
              <a:cxnSpLocks noChangeShapeType="1"/>
              <a:stCxn id="32775" idx="3"/>
              <a:endCxn id="32777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85" name="AutoShape 14"/>
            <p:cNvCxnSpPr>
              <a:cxnSpLocks noChangeShapeType="1"/>
              <a:stCxn id="32776" idx="1"/>
              <a:endCxn id="32775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86" name="AutoShape 15"/>
            <p:cNvCxnSpPr>
              <a:cxnSpLocks noChangeShapeType="1"/>
              <a:stCxn id="32783" idx="0"/>
              <a:endCxn id="32776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87" name="AutoShape 16"/>
            <p:cNvCxnSpPr>
              <a:cxnSpLocks noChangeShapeType="1"/>
              <a:stCxn id="32782" idx="0"/>
              <a:endCxn id="32776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88" name="AutoShape 17"/>
            <p:cNvCxnSpPr>
              <a:cxnSpLocks noChangeShapeType="1"/>
              <a:stCxn id="32781" idx="0"/>
              <a:endCxn id="32778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89" name="AutoShape 18"/>
            <p:cNvCxnSpPr>
              <a:cxnSpLocks noChangeShapeType="1"/>
              <a:stCxn id="32780" idx="0"/>
              <a:endCxn id="32778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90" name="AutoShape 19"/>
            <p:cNvCxnSpPr>
              <a:cxnSpLocks noChangeShapeType="1"/>
              <a:stCxn id="32779" idx="0"/>
              <a:endCxn id="32777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91" name="AutoShape 20"/>
            <p:cNvCxnSpPr>
              <a:cxnSpLocks noChangeShapeType="1"/>
              <a:stCxn id="32778" idx="1"/>
              <a:endCxn id="32777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55B174-71C7-48AE-A5EB-CF8E691A1259}" type="slidenum">
              <a:rPr lang="ar-SA"/>
              <a:pPr>
                <a:defRPr/>
              </a:pPr>
              <a:t>30</a:t>
            </a:fld>
            <a:endParaRPr lang="en-US"/>
          </a:p>
        </p:txBody>
      </p:sp>
      <p:sp>
        <p:nvSpPr>
          <p:cNvPr id="3379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Decision Tree</a:t>
            </a:r>
          </a:p>
        </p:txBody>
      </p:sp>
      <p:sp>
        <p:nvSpPr>
          <p:cNvPr id="33797" name="Rectangle 102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219200" y="1676400"/>
            <a:ext cx="7343775" cy="1666875"/>
          </a:xfrm>
        </p:spPr>
        <p:txBody>
          <a:bodyPr/>
          <a:lstStyle/>
          <a:p>
            <a:pPr eaLnBrk="1" hangingPunct="1">
              <a:buClr>
                <a:schemeClr val="tx2"/>
              </a:buClr>
              <a:buSzTx/>
              <a:buFont typeface="Wingdings" pitchFamily="2" charset="2"/>
              <a:buChar char="v"/>
            </a:pP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Binary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tree associated with a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decision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process</a:t>
            </a:r>
          </a:p>
          <a:p>
            <a:pPr lvl="1" eaLnBrk="1" hangingPunct="1">
              <a:buClr>
                <a:schemeClr val="tx2"/>
              </a:buClr>
              <a:buSzTx/>
              <a:buFontTx/>
              <a:buChar char="•"/>
            </a:pPr>
            <a:r>
              <a:rPr lang="en-US" sz="2000" b="1" i="1" smtClean="0">
                <a:latin typeface="Times New Roman" pitchFamily="18" charset="0"/>
                <a:cs typeface="Times New Roman" pitchFamily="18" charset="0"/>
              </a:rPr>
              <a:t>internal</a:t>
            </a:r>
            <a:r>
              <a:rPr lang="en-US" sz="2000" b="1" smtClean="0">
                <a:latin typeface="Times New Roman" pitchFamily="18" charset="0"/>
                <a:cs typeface="Times New Roman" pitchFamily="18" charset="0"/>
              </a:rPr>
              <a:t> nodes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: questions with yes/no answer</a:t>
            </a:r>
          </a:p>
          <a:p>
            <a:pPr lvl="1" eaLnBrk="1" hangingPunct="1">
              <a:buClr>
                <a:schemeClr val="tx2"/>
              </a:buClr>
              <a:buSzTx/>
              <a:buFontTx/>
              <a:buChar char="•"/>
            </a:pPr>
            <a:r>
              <a:rPr lang="en-US" sz="2000" b="1" i="1" smtClean="0">
                <a:latin typeface="Times New Roman" pitchFamily="18" charset="0"/>
                <a:cs typeface="Times New Roman" pitchFamily="18" charset="0"/>
              </a:rPr>
              <a:t>external</a:t>
            </a:r>
            <a:r>
              <a:rPr lang="en-US" sz="2000" b="1" smtClean="0">
                <a:latin typeface="Times New Roman" pitchFamily="18" charset="0"/>
                <a:cs typeface="Times New Roman" pitchFamily="18" charset="0"/>
              </a:rPr>
              <a:t> nodes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: decisions</a:t>
            </a:r>
          </a:p>
          <a:p>
            <a:pPr eaLnBrk="1" hangingPunct="1">
              <a:buClr>
                <a:schemeClr val="tx2"/>
              </a:buClr>
              <a:buSzTx/>
              <a:buFont typeface="Wingdings" pitchFamily="2" charset="2"/>
              <a:buChar char="v"/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Example: dining decision</a:t>
            </a:r>
          </a:p>
        </p:txBody>
      </p:sp>
      <p:sp>
        <p:nvSpPr>
          <p:cNvPr id="33798" name="AutoShape 1029"/>
          <p:cNvSpPr>
            <a:spLocks noChangeArrowheads="1"/>
          </p:cNvSpPr>
          <p:nvPr/>
        </p:nvSpPr>
        <p:spPr bwMode="auto">
          <a:xfrm>
            <a:off x="3273425" y="3557588"/>
            <a:ext cx="2689225" cy="5175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Want a fast meal?</a:t>
            </a:r>
          </a:p>
        </p:txBody>
      </p:sp>
      <p:sp>
        <p:nvSpPr>
          <p:cNvPr id="33799" name="AutoShape 1030"/>
          <p:cNvSpPr>
            <a:spLocks noChangeArrowheads="1"/>
          </p:cNvSpPr>
          <p:nvPr/>
        </p:nvSpPr>
        <p:spPr bwMode="auto">
          <a:xfrm>
            <a:off x="1444625" y="4587875"/>
            <a:ext cx="2770188" cy="5175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How about coffee?</a:t>
            </a:r>
          </a:p>
        </p:txBody>
      </p:sp>
      <p:sp>
        <p:nvSpPr>
          <p:cNvPr id="33800" name="AutoShape 1031"/>
          <p:cNvSpPr>
            <a:spLocks noChangeArrowheads="1"/>
          </p:cNvSpPr>
          <p:nvPr/>
        </p:nvSpPr>
        <p:spPr bwMode="auto">
          <a:xfrm>
            <a:off x="4876800" y="4587875"/>
            <a:ext cx="3127375" cy="5175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On expense account?</a:t>
            </a:r>
          </a:p>
        </p:txBody>
      </p:sp>
      <p:sp>
        <p:nvSpPr>
          <p:cNvPr id="33801" name="Rectangle 1033"/>
          <p:cNvSpPr>
            <a:spLocks noChangeArrowheads="1"/>
          </p:cNvSpPr>
          <p:nvPr/>
        </p:nvSpPr>
        <p:spPr bwMode="auto">
          <a:xfrm>
            <a:off x="1290638" y="5653088"/>
            <a:ext cx="1512887" cy="4762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Starbucks</a:t>
            </a:r>
          </a:p>
        </p:txBody>
      </p:sp>
      <p:sp>
        <p:nvSpPr>
          <p:cNvPr id="33802" name="Rectangle 1034"/>
          <p:cNvSpPr>
            <a:spLocks noChangeArrowheads="1"/>
          </p:cNvSpPr>
          <p:nvPr/>
        </p:nvSpPr>
        <p:spPr bwMode="auto">
          <a:xfrm>
            <a:off x="3200400" y="5653088"/>
            <a:ext cx="1125538" cy="4762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Spike’s</a:t>
            </a:r>
          </a:p>
        </p:txBody>
      </p:sp>
      <p:sp>
        <p:nvSpPr>
          <p:cNvPr id="33803" name="Rectangle 1035"/>
          <p:cNvSpPr>
            <a:spLocks noChangeArrowheads="1"/>
          </p:cNvSpPr>
          <p:nvPr/>
        </p:nvSpPr>
        <p:spPr bwMode="auto">
          <a:xfrm>
            <a:off x="4724400" y="5653088"/>
            <a:ext cx="1319213" cy="4762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Al Forno</a:t>
            </a:r>
          </a:p>
        </p:txBody>
      </p:sp>
      <p:sp>
        <p:nvSpPr>
          <p:cNvPr id="33804" name="Rectangle 1036"/>
          <p:cNvSpPr>
            <a:spLocks noChangeArrowheads="1"/>
          </p:cNvSpPr>
          <p:nvPr/>
        </p:nvSpPr>
        <p:spPr bwMode="auto">
          <a:xfrm>
            <a:off x="6442075" y="5653088"/>
            <a:ext cx="2000250" cy="4762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Café Paragon</a:t>
            </a:r>
          </a:p>
        </p:txBody>
      </p:sp>
      <p:cxnSp>
        <p:nvCxnSpPr>
          <p:cNvPr id="33805" name="AutoShape 1037"/>
          <p:cNvCxnSpPr>
            <a:cxnSpLocks noChangeShapeType="1"/>
            <a:stCxn id="33798" idx="2"/>
            <a:endCxn id="33799" idx="0"/>
          </p:cNvCxnSpPr>
          <p:nvPr/>
        </p:nvCxnSpPr>
        <p:spPr bwMode="auto">
          <a:xfrm flipH="1">
            <a:off x="2830513" y="4084638"/>
            <a:ext cx="1787525" cy="4937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6" name="AutoShape 1038"/>
          <p:cNvCxnSpPr>
            <a:cxnSpLocks noChangeShapeType="1"/>
            <a:stCxn id="33798" idx="2"/>
            <a:endCxn id="33800" idx="0"/>
          </p:cNvCxnSpPr>
          <p:nvPr/>
        </p:nvCxnSpPr>
        <p:spPr bwMode="auto">
          <a:xfrm>
            <a:off x="4618038" y="4084638"/>
            <a:ext cx="1822450" cy="4937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7" name="AutoShape 1039"/>
          <p:cNvCxnSpPr>
            <a:cxnSpLocks noChangeShapeType="1"/>
            <a:stCxn id="33801" idx="0"/>
            <a:endCxn id="33799" idx="2"/>
          </p:cNvCxnSpPr>
          <p:nvPr/>
        </p:nvCxnSpPr>
        <p:spPr bwMode="auto">
          <a:xfrm flipV="1">
            <a:off x="2047875" y="5114925"/>
            <a:ext cx="782638" cy="5286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8" name="AutoShape 1040"/>
          <p:cNvCxnSpPr>
            <a:cxnSpLocks noChangeShapeType="1"/>
            <a:stCxn id="33802" idx="0"/>
            <a:endCxn id="33799" idx="2"/>
          </p:cNvCxnSpPr>
          <p:nvPr/>
        </p:nvCxnSpPr>
        <p:spPr bwMode="auto">
          <a:xfrm flipH="1" flipV="1">
            <a:off x="2830513" y="5114925"/>
            <a:ext cx="933450" cy="5286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9" name="AutoShape 1041"/>
          <p:cNvCxnSpPr>
            <a:cxnSpLocks noChangeShapeType="1"/>
            <a:stCxn id="33803" idx="0"/>
            <a:endCxn id="33800" idx="2"/>
          </p:cNvCxnSpPr>
          <p:nvPr/>
        </p:nvCxnSpPr>
        <p:spPr bwMode="auto">
          <a:xfrm flipV="1">
            <a:off x="5384800" y="5114925"/>
            <a:ext cx="1055688" cy="5286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0" name="AutoShape 1042"/>
          <p:cNvCxnSpPr>
            <a:cxnSpLocks noChangeShapeType="1"/>
            <a:stCxn id="33804" idx="0"/>
            <a:endCxn id="33800" idx="2"/>
          </p:cNvCxnSpPr>
          <p:nvPr/>
        </p:nvCxnSpPr>
        <p:spPr bwMode="auto">
          <a:xfrm flipH="1" flipV="1">
            <a:off x="6440488" y="5114925"/>
            <a:ext cx="1001712" cy="5286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811" name="Text Box 1043"/>
          <p:cNvSpPr txBox="1">
            <a:spLocks noChangeArrowheads="1"/>
          </p:cNvSpPr>
          <p:nvPr/>
        </p:nvSpPr>
        <p:spPr bwMode="auto">
          <a:xfrm>
            <a:off x="2859088" y="4098925"/>
            <a:ext cx="576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Yes</a:t>
            </a:r>
          </a:p>
        </p:txBody>
      </p:sp>
      <p:sp>
        <p:nvSpPr>
          <p:cNvPr id="33812" name="Text Box 1044"/>
          <p:cNvSpPr txBox="1">
            <a:spLocks noChangeArrowheads="1"/>
          </p:cNvSpPr>
          <p:nvPr/>
        </p:nvSpPr>
        <p:spPr bwMode="auto">
          <a:xfrm>
            <a:off x="5986463" y="4097338"/>
            <a:ext cx="492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No</a:t>
            </a:r>
          </a:p>
        </p:txBody>
      </p:sp>
      <p:sp>
        <p:nvSpPr>
          <p:cNvPr id="33813" name="Text Box 1045"/>
          <p:cNvSpPr txBox="1">
            <a:spLocks noChangeArrowheads="1"/>
          </p:cNvSpPr>
          <p:nvPr/>
        </p:nvSpPr>
        <p:spPr bwMode="auto">
          <a:xfrm>
            <a:off x="1752600" y="5181600"/>
            <a:ext cx="576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Yes</a:t>
            </a:r>
          </a:p>
        </p:txBody>
      </p:sp>
      <p:sp>
        <p:nvSpPr>
          <p:cNvPr id="33814" name="Text Box 1046"/>
          <p:cNvSpPr txBox="1">
            <a:spLocks noChangeArrowheads="1"/>
          </p:cNvSpPr>
          <p:nvPr/>
        </p:nvSpPr>
        <p:spPr bwMode="auto">
          <a:xfrm>
            <a:off x="3505200" y="5181600"/>
            <a:ext cx="492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No</a:t>
            </a:r>
          </a:p>
        </p:txBody>
      </p:sp>
      <p:sp>
        <p:nvSpPr>
          <p:cNvPr id="33815" name="Text Box 1047"/>
          <p:cNvSpPr txBox="1">
            <a:spLocks noChangeArrowheads="1"/>
          </p:cNvSpPr>
          <p:nvPr/>
        </p:nvSpPr>
        <p:spPr bwMode="auto">
          <a:xfrm>
            <a:off x="5105400" y="5181600"/>
            <a:ext cx="576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Yes</a:t>
            </a:r>
          </a:p>
        </p:txBody>
      </p:sp>
      <p:sp>
        <p:nvSpPr>
          <p:cNvPr id="33816" name="Text Box 1048"/>
          <p:cNvSpPr txBox="1">
            <a:spLocks noChangeArrowheads="1"/>
          </p:cNvSpPr>
          <p:nvPr/>
        </p:nvSpPr>
        <p:spPr bwMode="auto">
          <a:xfrm>
            <a:off x="7127875" y="5181600"/>
            <a:ext cx="492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No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7C9B52-E8EF-45E7-8C44-B9DC34473911}" type="slidenum">
              <a:rPr lang="ar-SA"/>
              <a:pPr>
                <a:defRPr/>
              </a:pPr>
              <a:t>31</a:t>
            </a:fld>
            <a:endParaRPr lang="en-US"/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09600"/>
          </a:xfrm>
        </p:spPr>
        <p:txBody>
          <a:bodyPr/>
          <a:lstStyle/>
          <a:p>
            <a:pPr eaLnBrk="1" hangingPunct="1"/>
            <a:r>
              <a:rPr lang="en-US" sz="3200" smtClean="0"/>
              <a:t>2.3.3 Binary Tree ADT</a:t>
            </a:r>
          </a:p>
        </p:txBody>
      </p:sp>
      <p:sp>
        <p:nvSpPr>
          <p:cNvPr id="3482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990600"/>
            <a:ext cx="7467600" cy="5638800"/>
          </a:xfrm>
        </p:spPr>
        <p:txBody>
          <a:bodyPr/>
          <a:lstStyle/>
          <a:p>
            <a:pPr eaLnBrk="1" hangingPunct="1">
              <a:buClr>
                <a:schemeClr val="tx2"/>
              </a:buClr>
              <a:buFont typeface="Wingdings" pitchFamily="2" charset="2"/>
              <a:buChar char="v"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Binary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Tree ADT extends the Tree ADT, i.e., it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inherits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all the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methods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of the Tree ADT, </a:t>
            </a:r>
          </a:p>
          <a:p>
            <a:pPr eaLnBrk="1" hangingPunct="1">
              <a:buClr>
                <a:schemeClr val="tx2"/>
              </a:buClr>
              <a:buFont typeface="Wingdings" pitchFamily="2" charset="2"/>
              <a:buChar char="v"/>
            </a:pPr>
            <a:r>
              <a:rPr lang="en-US" smtClean="0">
                <a:latin typeface="Times New Roman" pitchFamily="18" charset="0"/>
                <a:cs typeface="Times New Roman" pitchFamily="18" charset="0"/>
              </a:rPr>
              <a:t>Binary tree ADT supports the following additional </a:t>
            </a:r>
            <a:r>
              <a:rPr lang="en-US" b="1" i="1" smtClean="0">
                <a:latin typeface="Times New Roman" pitchFamily="18" charset="0"/>
                <a:cs typeface="Times New Roman" pitchFamily="18" charset="0"/>
              </a:rPr>
              <a:t>accessor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methods:</a:t>
            </a:r>
          </a:p>
          <a:p>
            <a:pPr lvl="1" eaLnBrk="1" hangingPunct="1"/>
            <a:r>
              <a:rPr lang="en-US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leftChild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(p)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: return the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left child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, an error condition occurs if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is an external node/no left child.</a:t>
            </a:r>
          </a:p>
          <a:p>
            <a:pPr lvl="1" eaLnBrk="1" hangingPunct="1"/>
            <a:r>
              <a:rPr lang="en-US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rightChild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(p)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: return the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right child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, an error condition occurs if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is an external node/no right child.</a:t>
            </a:r>
          </a:p>
          <a:p>
            <a:pPr lvl="1" eaLnBrk="1" hangingPunct="1"/>
            <a:r>
              <a:rPr lang="en-US" smtClean="0">
                <a:latin typeface="Times New Roman" pitchFamily="18" charset="0"/>
                <a:cs typeface="Times New Roman" pitchFamily="18" charset="0"/>
              </a:rPr>
              <a:t>boolean </a:t>
            </a:r>
            <a:r>
              <a:rPr lang="en-US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hasLeft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(p)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: test whether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has a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left child</a:t>
            </a:r>
          </a:p>
          <a:p>
            <a:pPr lvl="1" eaLnBrk="1" hangingPunct="1"/>
            <a:r>
              <a:rPr lang="en-US" smtClean="0">
                <a:latin typeface="Times New Roman" pitchFamily="18" charset="0"/>
                <a:cs typeface="Times New Roman" pitchFamily="18" charset="0"/>
              </a:rPr>
              <a:t>boolean </a:t>
            </a:r>
            <a:r>
              <a:rPr lang="en-US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hasRight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(p)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: test whether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has a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right child</a:t>
            </a:r>
          </a:p>
          <a:p>
            <a:pPr lvl="1" eaLnBrk="1" hangingPunct="1"/>
            <a:r>
              <a:rPr 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Sibling(p) </a:t>
            </a:r>
            <a:r>
              <a:rPr lang="en-US" i="1" smtClean="0">
                <a:latin typeface="Times New Roman" pitchFamily="18" charset="0"/>
                <a:cs typeface="Times New Roman" pitchFamily="18" charset="0"/>
              </a:rPr>
              <a:t>: returns the siblings of p, but null if p is root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712A8B-F2BB-4C42-B982-7A3B3AEFA6AF}" type="slidenum">
              <a:rPr lang="ar-SA"/>
              <a:pPr>
                <a:defRPr/>
              </a:pPr>
              <a:t>32</a:t>
            </a:fld>
            <a:endParaRPr lang="en-US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685800"/>
          </a:xfrm>
        </p:spPr>
        <p:txBody>
          <a:bodyPr/>
          <a:lstStyle/>
          <a:p>
            <a:pPr eaLnBrk="1" hangingPunct="1"/>
            <a:r>
              <a:rPr lang="en-US" sz="3200" smtClean="0"/>
              <a:t>Properties of Proper Binary Trees</a:t>
            </a:r>
          </a:p>
        </p:txBody>
      </p:sp>
      <p:sp>
        <p:nvSpPr>
          <p:cNvPr id="3584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066800" y="1219200"/>
            <a:ext cx="3886200" cy="2209800"/>
          </a:xfrm>
          <a:solidFill>
            <a:schemeClr val="bg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v"/>
            </a:pPr>
            <a:r>
              <a:rPr lang="en-US" sz="2400" smtClean="0">
                <a:solidFill>
                  <a:srgbClr val="000000"/>
                </a:solidFill>
              </a:rPr>
              <a:t>Notation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i="1" smtClean="0">
                <a:latin typeface="Times New Roman" pitchFamily="18" charset="0"/>
              </a:rPr>
              <a:t>n	</a:t>
            </a:r>
            <a:r>
              <a:rPr lang="en-US" sz="2000" smtClean="0"/>
              <a:t>number of nodes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i="1" smtClean="0">
                <a:latin typeface="Times New Roman" pitchFamily="18" charset="0"/>
              </a:rPr>
              <a:t>e	</a:t>
            </a:r>
            <a:r>
              <a:rPr lang="en-US" sz="2000" smtClean="0"/>
              <a:t>number of external nodes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i="1" smtClean="0">
                <a:latin typeface="Times New Roman" pitchFamily="18" charset="0"/>
              </a:rPr>
              <a:t>i	</a:t>
            </a:r>
            <a:r>
              <a:rPr lang="en-US" sz="2000" smtClean="0"/>
              <a:t>number of internal nodes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i="1" smtClean="0">
                <a:latin typeface="Times New Roman" pitchFamily="18" charset="0"/>
              </a:rPr>
              <a:t>h	</a:t>
            </a:r>
            <a:r>
              <a:rPr lang="en-US" sz="2000" smtClean="0"/>
              <a:t>height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i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smtClean="0"/>
              <a:t>	number of branches (edges)</a:t>
            </a:r>
          </a:p>
        </p:txBody>
      </p:sp>
      <p:sp>
        <p:nvSpPr>
          <p:cNvPr id="35846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5334000" y="1295400"/>
            <a:ext cx="34290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110000"/>
              <a:buFont typeface="Wingdings" pitchFamily="2" charset="2"/>
              <a:buChar char="v"/>
            </a:pPr>
            <a:r>
              <a:rPr lang="en-US" b="0" i="0">
                <a:solidFill>
                  <a:srgbClr val="000000"/>
                </a:solidFill>
                <a:latin typeface="Tahoma" pitchFamily="34" charset="0"/>
              </a:rPr>
              <a:t>Properties</a:t>
            </a:r>
            <a:endParaRPr lang="en-US" b="0" i="0">
              <a:solidFill>
                <a:schemeClr val="tx1"/>
              </a:solidFill>
              <a:latin typeface="Tahoma" pitchFamily="34" charset="0"/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§"/>
            </a:pPr>
            <a:r>
              <a:rPr lang="en-US">
                <a:solidFill>
                  <a:schemeClr val="tx1"/>
                </a:solidFill>
              </a:rPr>
              <a:t>e </a:t>
            </a:r>
            <a:r>
              <a:rPr lang="en-US" i="0">
                <a:solidFill>
                  <a:schemeClr val="tx1"/>
                </a:solidFill>
                <a:latin typeface="Symbol" pitchFamily="18" charset="2"/>
              </a:rPr>
              <a:t>=</a:t>
            </a:r>
            <a:r>
              <a:rPr lang="en-US">
                <a:solidFill>
                  <a:schemeClr val="tx1"/>
                </a:solidFill>
              </a:rPr>
              <a:t> i </a:t>
            </a:r>
            <a:r>
              <a:rPr lang="en-US" i="0">
                <a:solidFill>
                  <a:schemeClr val="tx1"/>
                </a:solidFill>
                <a:latin typeface="Symbol" pitchFamily="18" charset="2"/>
              </a:rPr>
              <a:t>+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b="0" i="0">
                <a:solidFill>
                  <a:schemeClr val="tx1"/>
                </a:solidFill>
              </a:rPr>
              <a:t>1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§"/>
            </a:pPr>
            <a:r>
              <a:rPr lang="en-US">
                <a:solidFill>
                  <a:schemeClr val="tx1"/>
                </a:solidFill>
              </a:rPr>
              <a:t>n </a:t>
            </a:r>
            <a:r>
              <a:rPr lang="en-US" i="0">
                <a:solidFill>
                  <a:schemeClr val="tx1"/>
                </a:solidFill>
                <a:latin typeface="Symbol" pitchFamily="18" charset="2"/>
              </a:rPr>
              <a:t>=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b="0" i="0">
                <a:solidFill>
                  <a:schemeClr val="tx1"/>
                </a:solidFill>
              </a:rPr>
              <a:t>2</a:t>
            </a:r>
            <a:r>
              <a:rPr lang="en-US">
                <a:solidFill>
                  <a:schemeClr val="tx1"/>
                </a:solidFill>
              </a:rPr>
              <a:t>e </a:t>
            </a:r>
            <a:r>
              <a:rPr lang="en-US" i="0">
                <a:solidFill>
                  <a:schemeClr val="tx1"/>
                </a:solidFill>
                <a:latin typeface="Symbol" pitchFamily="18" charset="2"/>
              </a:rPr>
              <a:t>-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b="0" i="0">
                <a:solidFill>
                  <a:schemeClr val="tx1"/>
                </a:solidFill>
              </a:rPr>
              <a:t>1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§"/>
            </a:pPr>
            <a:r>
              <a:rPr lang="en-US">
                <a:solidFill>
                  <a:schemeClr val="tx1"/>
                </a:solidFill>
              </a:rPr>
              <a:t>h </a:t>
            </a:r>
            <a:r>
              <a:rPr lang="en-US" i="0">
                <a:solidFill>
                  <a:schemeClr val="tx1"/>
                </a:solidFill>
                <a:latin typeface="Symbol" pitchFamily="18" charset="2"/>
                <a:sym typeface="Symbol" pitchFamily="18" charset="2"/>
              </a:rPr>
              <a:t> </a:t>
            </a:r>
            <a:r>
              <a:rPr lang="en-US">
                <a:solidFill>
                  <a:schemeClr val="tx1"/>
                </a:solidFill>
              </a:rPr>
              <a:t>i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§"/>
            </a:pPr>
            <a:r>
              <a:rPr lang="en-US">
                <a:solidFill>
                  <a:schemeClr val="tx1"/>
                </a:solidFill>
              </a:rPr>
              <a:t>h </a:t>
            </a:r>
            <a:r>
              <a:rPr lang="en-US" i="0">
                <a:solidFill>
                  <a:schemeClr val="tx1"/>
                </a:solidFill>
                <a:latin typeface="Symbol" pitchFamily="18" charset="2"/>
                <a:sym typeface="Symbol" pitchFamily="18" charset="2"/>
              </a:rPr>
              <a:t> </a:t>
            </a:r>
            <a:r>
              <a:rPr lang="en-US" b="0" i="0">
                <a:solidFill>
                  <a:schemeClr val="tx1"/>
                </a:solidFill>
              </a:rPr>
              <a:t>(</a:t>
            </a:r>
            <a:r>
              <a:rPr lang="en-US">
                <a:solidFill>
                  <a:schemeClr val="tx1"/>
                </a:solidFill>
              </a:rPr>
              <a:t>n </a:t>
            </a:r>
            <a:r>
              <a:rPr lang="en-US" i="0">
                <a:solidFill>
                  <a:schemeClr val="tx1"/>
                </a:solidFill>
                <a:latin typeface="Symbol" pitchFamily="18" charset="2"/>
              </a:rPr>
              <a:t>-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b="0" i="0">
                <a:solidFill>
                  <a:schemeClr val="tx1"/>
                </a:solidFill>
              </a:rPr>
              <a:t>1)</a:t>
            </a:r>
            <a:r>
              <a:rPr lang="en-US" i="0">
                <a:solidFill>
                  <a:schemeClr val="tx1"/>
                </a:solidFill>
                <a:latin typeface="Symbol" pitchFamily="18" charset="2"/>
              </a:rPr>
              <a:t>/</a:t>
            </a:r>
            <a:r>
              <a:rPr lang="en-US" b="0" i="0">
                <a:solidFill>
                  <a:schemeClr val="tx1"/>
                </a:solidFill>
              </a:rPr>
              <a:t>2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§"/>
            </a:pPr>
            <a:r>
              <a:rPr lang="en-US">
                <a:solidFill>
                  <a:schemeClr val="tx1"/>
                </a:solidFill>
              </a:rPr>
              <a:t>e </a:t>
            </a:r>
            <a:r>
              <a:rPr lang="en-US" i="0">
                <a:solidFill>
                  <a:schemeClr val="tx1"/>
                </a:solidFill>
                <a:latin typeface="Symbol" pitchFamily="18" charset="2"/>
                <a:sym typeface="Symbol" pitchFamily="18" charset="2"/>
              </a:rPr>
              <a:t>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b="0" i="0">
                <a:solidFill>
                  <a:schemeClr val="tx1"/>
                </a:solidFill>
              </a:rPr>
              <a:t>2</a:t>
            </a:r>
            <a:r>
              <a:rPr lang="en-US" baseline="30000">
                <a:solidFill>
                  <a:schemeClr val="tx1"/>
                </a:solidFill>
              </a:rPr>
              <a:t>h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§"/>
            </a:pPr>
            <a:r>
              <a:rPr lang="en-US">
                <a:solidFill>
                  <a:schemeClr val="tx1"/>
                </a:solidFill>
              </a:rPr>
              <a:t>h </a:t>
            </a:r>
            <a:r>
              <a:rPr lang="en-US" i="0">
                <a:solidFill>
                  <a:schemeClr val="tx1"/>
                </a:solidFill>
                <a:latin typeface="Symbol" pitchFamily="18" charset="2"/>
                <a:sym typeface="Symbol" pitchFamily="18" charset="2"/>
              </a:rPr>
              <a:t>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b="0" i="0">
                <a:solidFill>
                  <a:schemeClr val="tx1"/>
                </a:solidFill>
              </a:rPr>
              <a:t>log</a:t>
            </a:r>
            <a:r>
              <a:rPr lang="en-US" b="0" i="0" baseline="-25000">
                <a:solidFill>
                  <a:schemeClr val="tx1"/>
                </a:solidFill>
              </a:rPr>
              <a:t>2</a:t>
            </a:r>
            <a:r>
              <a:rPr lang="en-US" b="0" i="0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e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§"/>
            </a:pPr>
            <a:r>
              <a:rPr lang="en-US">
                <a:solidFill>
                  <a:schemeClr val="tx1"/>
                </a:solidFill>
              </a:rPr>
              <a:t>h </a:t>
            </a:r>
            <a:r>
              <a:rPr lang="en-US" i="0">
                <a:solidFill>
                  <a:schemeClr val="tx1"/>
                </a:solidFill>
                <a:latin typeface="Symbol" pitchFamily="18" charset="2"/>
                <a:sym typeface="Symbol" pitchFamily="18" charset="2"/>
              </a:rPr>
              <a:t>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b="0" i="0">
                <a:solidFill>
                  <a:schemeClr val="tx1"/>
                </a:solidFill>
              </a:rPr>
              <a:t>log</a:t>
            </a:r>
            <a:r>
              <a:rPr lang="en-US" b="0" i="0" baseline="-25000">
                <a:solidFill>
                  <a:schemeClr val="tx1"/>
                </a:solidFill>
              </a:rPr>
              <a:t>2</a:t>
            </a:r>
            <a:r>
              <a:rPr lang="en-US" b="0" i="0">
                <a:solidFill>
                  <a:schemeClr val="tx1"/>
                </a:solidFill>
              </a:rPr>
              <a:t> (</a:t>
            </a:r>
            <a:r>
              <a:rPr lang="en-US">
                <a:solidFill>
                  <a:schemeClr val="tx1"/>
                </a:solidFill>
              </a:rPr>
              <a:t>n </a:t>
            </a:r>
            <a:r>
              <a:rPr lang="en-US" i="0">
                <a:solidFill>
                  <a:schemeClr val="tx1"/>
                </a:solidFill>
                <a:latin typeface="Symbol" pitchFamily="18" charset="2"/>
              </a:rPr>
              <a:t>+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b="0" i="0">
                <a:solidFill>
                  <a:schemeClr val="tx1"/>
                </a:solidFill>
              </a:rPr>
              <a:t>1)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i="0">
                <a:solidFill>
                  <a:schemeClr val="tx1"/>
                </a:solidFill>
                <a:latin typeface="Symbol" pitchFamily="18" charset="2"/>
              </a:rPr>
              <a:t>-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b="0" i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5847" name="Oval 6"/>
          <p:cNvSpPr>
            <a:spLocks noChangeArrowheads="1"/>
          </p:cNvSpPr>
          <p:nvPr/>
        </p:nvSpPr>
        <p:spPr bwMode="auto">
          <a:xfrm>
            <a:off x="2133600" y="4419600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pPr algn="ctr" eaLnBrk="1" hangingPunct="1"/>
            <a:endParaRPr lang="en-US" b="0" i="0">
              <a:solidFill>
                <a:schemeClr val="tx1"/>
              </a:solidFill>
              <a:latin typeface="Symbol" pitchFamily="18" charset="2"/>
            </a:endParaRPr>
          </a:p>
        </p:txBody>
      </p:sp>
      <p:sp>
        <p:nvSpPr>
          <p:cNvPr id="35848" name="Oval 7"/>
          <p:cNvSpPr>
            <a:spLocks noChangeArrowheads="1"/>
          </p:cNvSpPr>
          <p:nvPr/>
        </p:nvSpPr>
        <p:spPr bwMode="auto">
          <a:xfrm>
            <a:off x="2895600" y="5029200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pPr algn="ctr" eaLnBrk="1" hangingPunct="1"/>
            <a:endParaRPr lang="en-US" b="0" i="0">
              <a:solidFill>
                <a:schemeClr val="tx1"/>
              </a:solidFill>
              <a:latin typeface="Symbol" pitchFamily="18" charset="2"/>
              <a:sym typeface="Symbol" pitchFamily="18" charset="2"/>
            </a:endParaRPr>
          </a:p>
        </p:txBody>
      </p:sp>
      <p:sp>
        <p:nvSpPr>
          <p:cNvPr id="35849" name="Oval 8"/>
          <p:cNvSpPr>
            <a:spLocks noChangeArrowheads="1"/>
          </p:cNvSpPr>
          <p:nvPr/>
        </p:nvSpPr>
        <p:spPr bwMode="auto">
          <a:xfrm>
            <a:off x="1371600" y="5029200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pPr algn="ctr" eaLnBrk="1" hangingPunct="1"/>
            <a:endParaRPr lang="en-US" b="0" i="0">
              <a:solidFill>
                <a:schemeClr val="tx1"/>
              </a:solidFill>
              <a:latin typeface="Symbol" pitchFamily="18" charset="2"/>
            </a:endParaRPr>
          </a:p>
        </p:txBody>
      </p:sp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990600" y="5638800"/>
            <a:ext cx="381000" cy="3810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 b="0" i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35851" name="Rectangle 13"/>
          <p:cNvSpPr>
            <a:spLocks noChangeArrowheads="1"/>
          </p:cNvSpPr>
          <p:nvPr/>
        </p:nvSpPr>
        <p:spPr bwMode="auto">
          <a:xfrm>
            <a:off x="2514600" y="5638800"/>
            <a:ext cx="381000" cy="3810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 b="0" i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35852" name="Rectangle 14"/>
          <p:cNvSpPr>
            <a:spLocks noChangeArrowheads="1"/>
          </p:cNvSpPr>
          <p:nvPr/>
        </p:nvSpPr>
        <p:spPr bwMode="auto">
          <a:xfrm>
            <a:off x="3276600" y="5638800"/>
            <a:ext cx="381000" cy="3810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 b="0" i="0">
              <a:solidFill>
                <a:schemeClr val="tx1"/>
              </a:solidFill>
              <a:latin typeface="Tahoma" pitchFamily="34" charset="0"/>
            </a:endParaRPr>
          </a:p>
        </p:txBody>
      </p:sp>
      <p:cxnSp>
        <p:nvCxnSpPr>
          <p:cNvPr id="35853" name="AutoShape 15"/>
          <p:cNvCxnSpPr>
            <a:cxnSpLocks noChangeShapeType="1"/>
            <a:stCxn id="35847" idx="3"/>
            <a:endCxn id="35849" idx="7"/>
          </p:cNvCxnSpPr>
          <p:nvPr/>
        </p:nvCxnSpPr>
        <p:spPr bwMode="auto">
          <a:xfrm flipH="1">
            <a:off x="1697038" y="4754563"/>
            <a:ext cx="492125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4" name="AutoShape 16"/>
          <p:cNvCxnSpPr>
            <a:cxnSpLocks noChangeShapeType="1"/>
            <a:stCxn id="35848" idx="1"/>
            <a:endCxn id="35847" idx="5"/>
          </p:cNvCxnSpPr>
          <p:nvPr/>
        </p:nvCxnSpPr>
        <p:spPr bwMode="auto">
          <a:xfrm flipH="1" flipV="1">
            <a:off x="2459038" y="4754563"/>
            <a:ext cx="492125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5" name="AutoShape 17"/>
          <p:cNvCxnSpPr>
            <a:cxnSpLocks noChangeShapeType="1"/>
            <a:stCxn id="35852" idx="0"/>
            <a:endCxn id="35848" idx="5"/>
          </p:cNvCxnSpPr>
          <p:nvPr/>
        </p:nvCxnSpPr>
        <p:spPr bwMode="auto">
          <a:xfrm flipH="1" flipV="1">
            <a:off x="3221038" y="5364163"/>
            <a:ext cx="246062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6" name="AutoShape 18"/>
          <p:cNvCxnSpPr>
            <a:cxnSpLocks noChangeShapeType="1"/>
            <a:stCxn id="35851" idx="0"/>
            <a:endCxn id="35848" idx="3"/>
          </p:cNvCxnSpPr>
          <p:nvPr/>
        </p:nvCxnSpPr>
        <p:spPr bwMode="auto">
          <a:xfrm flipV="1">
            <a:off x="2705100" y="5364163"/>
            <a:ext cx="24606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7" name="AutoShape 21"/>
          <p:cNvCxnSpPr>
            <a:cxnSpLocks noChangeShapeType="1"/>
            <a:stCxn id="35850" idx="0"/>
            <a:endCxn id="35849" idx="3"/>
          </p:cNvCxnSpPr>
          <p:nvPr/>
        </p:nvCxnSpPr>
        <p:spPr bwMode="auto">
          <a:xfrm flipV="1">
            <a:off x="1181100" y="5364163"/>
            <a:ext cx="246063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8" name="AutoShape 22"/>
          <p:cNvCxnSpPr>
            <a:cxnSpLocks noChangeShapeType="1"/>
            <a:stCxn id="35859" idx="0"/>
            <a:endCxn id="35849" idx="5"/>
          </p:cNvCxnSpPr>
          <p:nvPr/>
        </p:nvCxnSpPr>
        <p:spPr bwMode="auto">
          <a:xfrm flipH="1" flipV="1">
            <a:off x="1697038" y="5364163"/>
            <a:ext cx="246062" cy="2651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9" name="Rectangle 23"/>
          <p:cNvSpPr>
            <a:spLocks noChangeArrowheads="1"/>
          </p:cNvSpPr>
          <p:nvPr/>
        </p:nvSpPr>
        <p:spPr bwMode="auto">
          <a:xfrm>
            <a:off x="1752600" y="5638800"/>
            <a:ext cx="381000" cy="3810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 b="0" i="0">
              <a:solidFill>
                <a:schemeClr val="tx1"/>
              </a:solidFill>
              <a:latin typeface="Tahoma" pitchFamily="34" charset="0"/>
            </a:endParaRPr>
          </a:p>
        </p:txBody>
      </p:sp>
      <p:grpSp>
        <p:nvGrpSpPr>
          <p:cNvPr id="35860" name="Group 38"/>
          <p:cNvGrpSpPr>
            <a:grpSpLocks/>
          </p:cNvGrpSpPr>
          <p:nvPr/>
        </p:nvGrpSpPr>
        <p:grpSpPr bwMode="auto">
          <a:xfrm>
            <a:off x="3810000" y="3581400"/>
            <a:ext cx="2311400" cy="2286000"/>
            <a:chOff x="2064" y="2256"/>
            <a:chExt cx="1456" cy="1440"/>
          </a:xfrm>
        </p:grpSpPr>
        <p:sp>
          <p:nvSpPr>
            <p:cNvPr id="35861" name="Oval 24"/>
            <p:cNvSpPr>
              <a:spLocks noChangeArrowheads="1"/>
            </p:cNvSpPr>
            <p:nvPr/>
          </p:nvSpPr>
          <p:spPr bwMode="auto">
            <a:xfrm>
              <a:off x="2352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</a:endParaRPr>
            </a:p>
          </p:txBody>
        </p:sp>
        <p:sp>
          <p:nvSpPr>
            <p:cNvPr id="35862" name="Oval 25"/>
            <p:cNvSpPr>
              <a:spLocks noChangeArrowheads="1"/>
            </p:cNvSpPr>
            <p:nvPr/>
          </p:nvSpPr>
          <p:spPr bwMode="auto">
            <a:xfrm>
              <a:off x="2688" y="2688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  <a:sym typeface="Symbol" pitchFamily="18" charset="2"/>
              </a:endParaRPr>
            </a:p>
          </p:txBody>
        </p:sp>
        <p:sp>
          <p:nvSpPr>
            <p:cNvPr id="35863" name="Rectangle 26"/>
            <p:cNvSpPr>
              <a:spLocks noChangeArrowheads="1"/>
            </p:cNvSpPr>
            <p:nvPr/>
          </p:nvSpPr>
          <p:spPr bwMode="auto">
            <a:xfrm>
              <a:off x="2448" y="3072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cxnSp>
          <p:nvCxnSpPr>
            <p:cNvPr id="35864" name="AutoShape 28"/>
            <p:cNvCxnSpPr>
              <a:cxnSpLocks noChangeShapeType="1"/>
              <a:stCxn id="35862" idx="1"/>
              <a:endCxn id="35861" idx="5"/>
            </p:cNvCxnSpPr>
            <p:nvPr/>
          </p:nvCxnSpPr>
          <p:spPr bwMode="auto">
            <a:xfrm flipH="1" flipV="1">
              <a:off x="2557" y="2467"/>
              <a:ext cx="166" cy="25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65" name="AutoShape 29"/>
            <p:cNvCxnSpPr>
              <a:cxnSpLocks noChangeShapeType="1"/>
              <a:stCxn id="35869" idx="1"/>
              <a:endCxn id="35862" idx="5"/>
            </p:cNvCxnSpPr>
            <p:nvPr/>
          </p:nvCxnSpPr>
          <p:spPr bwMode="auto">
            <a:xfrm flipH="1" flipV="1">
              <a:off x="2893" y="2899"/>
              <a:ext cx="158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66" name="AutoShape 30"/>
            <p:cNvCxnSpPr>
              <a:cxnSpLocks noChangeShapeType="1"/>
              <a:stCxn id="35863" idx="0"/>
              <a:endCxn id="35862" idx="3"/>
            </p:cNvCxnSpPr>
            <p:nvPr/>
          </p:nvCxnSpPr>
          <p:spPr bwMode="auto">
            <a:xfrm flipV="1">
              <a:off x="2568" y="2899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67" name="Rectangle 31"/>
            <p:cNvSpPr>
              <a:spLocks noChangeArrowheads="1"/>
            </p:cNvSpPr>
            <p:nvPr/>
          </p:nvSpPr>
          <p:spPr bwMode="auto">
            <a:xfrm>
              <a:off x="2064" y="2688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cxnSp>
          <p:nvCxnSpPr>
            <p:cNvPr id="35868" name="AutoShape 32"/>
            <p:cNvCxnSpPr>
              <a:cxnSpLocks noChangeShapeType="1"/>
              <a:stCxn id="35867" idx="0"/>
              <a:endCxn id="35861" idx="3"/>
            </p:cNvCxnSpPr>
            <p:nvPr/>
          </p:nvCxnSpPr>
          <p:spPr bwMode="auto">
            <a:xfrm flipV="1">
              <a:off x="2184" y="2467"/>
              <a:ext cx="203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69" name="Oval 33"/>
            <p:cNvSpPr>
              <a:spLocks noChangeArrowheads="1"/>
            </p:cNvSpPr>
            <p:nvPr/>
          </p:nvSpPr>
          <p:spPr bwMode="auto">
            <a:xfrm>
              <a:off x="3016" y="3072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  <a:sym typeface="Symbol" pitchFamily="18" charset="2"/>
              </a:endParaRPr>
            </a:p>
          </p:txBody>
        </p:sp>
        <p:sp>
          <p:nvSpPr>
            <p:cNvPr id="35870" name="Rectangle 34"/>
            <p:cNvSpPr>
              <a:spLocks noChangeArrowheads="1"/>
            </p:cNvSpPr>
            <p:nvPr/>
          </p:nvSpPr>
          <p:spPr bwMode="auto">
            <a:xfrm>
              <a:off x="2784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35871" name="Rectangle 35"/>
            <p:cNvSpPr>
              <a:spLocks noChangeArrowheads="1"/>
            </p:cNvSpPr>
            <p:nvPr/>
          </p:nvSpPr>
          <p:spPr bwMode="auto">
            <a:xfrm>
              <a:off x="3280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cxnSp>
          <p:nvCxnSpPr>
            <p:cNvPr id="35872" name="AutoShape 36"/>
            <p:cNvCxnSpPr>
              <a:cxnSpLocks noChangeShapeType="1"/>
              <a:stCxn id="35871" idx="0"/>
              <a:endCxn id="35869" idx="5"/>
            </p:cNvCxnSpPr>
            <p:nvPr/>
          </p:nvCxnSpPr>
          <p:spPr bwMode="auto">
            <a:xfrm flipH="1" flipV="1">
              <a:off x="3221" y="3283"/>
              <a:ext cx="179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73" name="AutoShape 37"/>
            <p:cNvCxnSpPr>
              <a:cxnSpLocks noChangeShapeType="1"/>
              <a:stCxn id="35870" idx="0"/>
              <a:endCxn id="35869" idx="3"/>
            </p:cNvCxnSpPr>
            <p:nvPr/>
          </p:nvCxnSpPr>
          <p:spPr bwMode="auto">
            <a:xfrm flipV="1">
              <a:off x="2904" y="3283"/>
              <a:ext cx="147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6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540E0E-E854-4761-B2CB-47B4E1C93326}" type="slidenum">
              <a:rPr lang="ar-SA"/>
              <a:pPr>
                <a:defRPr/>
              </a:pPr>
              <a:t>33</a:t>
            </a:fld>
            <a:endParaRPr lang="en-US"/>
          </a:p>
        </p:txBody>
      </p:sp>
      <p:sp>
        <p:nvSpPr>
          <p:cNvPr id="36868" name="AutoShape 61"/>
          <p:cNvSpPr>
            <a:spLocks noChangeArrowheads="1"/>
          </p:cNvSpPr>
          <p:nvPr/>
        </p:nvSpPr>
        <p:spPr bwMode="auto">
          <a:xfrm>
            <a:off x="838200" y="2362200"/>
            <a:ext cx="6781800" cy="5334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400" b="0" i="0">
                <a:solidFill>
                  <a:schemeClr val="tx1"/>
                </a:solidFill>
                <a:latin typeface="Arial" charset="0"/>
              </a:rPr>
              <a:t>Level 1						        2 nodes</a:t>
            </a:r>
          </a:p>
        </p:txBody>
      </p:sp>
      <p:sp>
        <p:nvSpPr>
          <p:cNvPr id="36869" name="AutoShape 62"/>
          <p:cNvSpPr>
            <a:spLocks noChangeArrowheads="1"/>
          </p:cNvSpPr>
          <p:nvPr/>
        </p:nvSpPr>
        <p:spPr bwMode="auto">
          <a:xfrm>
            <a:off x="381000" y="3352800"/>
            <a:ext cx="7239000" cy="5334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400" b="0" i="0">
                <a:solidFill>
                  <a:schemeClr val="tx1"/>
                </a:solidFill>
                <a:latin typeface="Arial" charset="0"/>
              </a:rPr>
              <a:t>Level 2							4 nodes</a:t>
            </a:r>
          </a:p>
        </p:txBody>
      </p:sp>
      <p:sp>
        <p:nvSpPr>
          <p:cNvPr id="36870" name="AutoShape 63"/>
          <p:cNvSpPr>
            <a:spLocks noChangeArrowheads="1"/>
          </p:cNvSpPr>
          <p:nvPr/>
        </p:nvSpPr>
        <p:spPr bwMode="auto">
          <a:xfrm>
            <a:off x="0" y="4114800"/>
            <a:ext cx="7924800" cy="5334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400" b="0" i="0">
                <a:solidFill>
                  <a:schemeClr val="tx1"/>
                </a:solidFill>
                <a:latin typeface="Arial" charset="0"/>
              </a:rPr>
              <a:t>Level 3							             8 nodes</a:t>
            </a:r>
          </a:p>
        </p:txBody>
      </p:sp>
      <p:sp>
        <p:nvSpPr>
          <p:cNvPr id="36871" name="AutoShape 60"/>
          <p:cNvSpPr>
            <a:spLocks noChangeArrowheads="1"/>
          </p:cNvSpPr>
          <p:nvPr/>
        </p:nvSpPr>
        <p:spPr bwMode="auto">
          <a:xfrm>
            <a:off x="838200" y="1295400"/>
            <a:ext cx="6781800" cy="5334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r>
              <a:rPr lang="en-US" sz="1400" b="0" i="0">
                <a:solidFill>
                  <a:schemeClr val="tx1"/>
                </a:solidFill>
                <a:latin typeface="Arial" charset="0"/>
              </a:rPr>
              <a:t>Level 0						         1 node</a:t>
            </a:r>
          </a:p>
        </p:txBody>
      </p:sp>
      <p:sp>
        <p:nvSpPr>
          <p:cNvPr id="3687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838200"/>
          </a:xfrm>
        </p:spPr>
        <p:txBody>
          <a:bodyPr/>
          <a:lstStyle/>
          <a:p>
            <a:pPr eaLnBrk="1" hangingPunct="1"/>
            <a:r>
              <a:rPr lang="en-US" sz="3600" smtClean="0"/>
              <a:t>Maximum Number Of Nodes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219200" y="2667000"/>
            <a:ext cx="5486400" cy="1219200"/>
            <a:chOff x="768" y="2208"/>
            <a:chExt cx="3456" cy="768"/>
          </a:xfrm>
        </p:grpSpPr>
        <p:sp>
          <p:nvSpPr>
            <p:cNvPr id="36920" name="Oval 4"/>
            <p:cNvSpPr>
              <a:spLocks noChangeArrowheads="1"/>
            </p:cNvSpPr>
            <p:nvPr/>
          </p:nvSpPr>
          <p:spPr bwMode="auto">
            <a:xfrm>
              <a:off x="768" y="2688"/>
              <a:ext cx="240" cy="24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1" name="Oval 5"/>
            <p:cNvSpPr>
              <a:spLocks noChangeArrowheads="1"/>
            </p:cNvSpPr>
            <p:nvPr/>
          </p:nvSpPr>
          <p:spPr bwMode="auto">
            <a:xfrm>
              <a:off x="2064" y="2736"/>
              <a:ext cx="240" cy="24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2" name="Oval 6"/>
            <p:cNvSpPr>
              <a:spLocks noChangeArrowheads="1"/>
            </p:cNvSpPr>
            <p:nvPr/>
          </p:nvSpPr>
          <p:spPr bwMode="auto">
            <a:xfrm>
              <a:off x="3168" y="2688"/>
              <a:ext cx="240" cy="24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3" name="Oval 7"/>
            <p:cNvSpPr>
              <a:spLocks noChangeArrowheads="1"/>
            </p:cNvSpPr>
            <p:nvPr/>
          </p:nvSpPr>
          <p:spPr bwMode="auto">
            <a:xfrm>
              <a:off x="3984" y="2736"/>
              <a:ext cx="240" cy="24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24" name="Line 8"/>
            <p:cNvSpPr>
              <a:spLocks noChangeShapeType="1"/>
            </p:cNvSpPr>
            <p:nvPr/>
          </p:nvSpPr>
          <p:spPr bwMode="auto">
            <a:xfrm flipH="1">
              <a:off x="3312" y="2256"/>
              <a:ext cx="24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5" name="Line 9"/>
            <p:cNvSpPr>
              <a:spLocks noChangeShapeType="1"/>
            </p:cNvSpPr>
            <p:nvPr/>
          </p:nvSpPr>
          <p:spPr bwMode="auto">
            <a:xfrm>
              <a:off x="3744" y="2208"/>
              <a:ext cx="336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6" name="Line 10"/>
            <p:cNvSpPr>
              <a:spLocks noChangeShapeType="1"/>
            </p:cNvSpPr>
            <p:nvPr/>
          </p:nvSpPr>
          <p:spPr bwMode="auto">
            <a:xfrm flipH="1">
              <a:off x="960" y="2208"/>
              <a:ext cx="528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27" name="Line 11"/>
            <p:cNvSpPr>
              <a:spLocks noChangeShapeType="1"/>
            </p:cNvSpPr>
            <p:nvPr/>
          </p:nvSpPr>
          <p:spPr bwMode="auto">
            <a:xfrm>
              <a:off x="1728" y="2208"/>
              <a:ext cx="384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4038600" y="1295400"/>
            <a:ext cx="381000" cy="579438"/>
            <a:chOff x="4176" y="1104"/>
            <a:chExt cx="240" cy="365"/>
          </a:xfrm>
        </p:grpSpPr>
        <p:sp>
          <p:nvSpPr>
            <p:cNvPr id="36918" name="Oval 13"/>
            <p:cNvSpPr>
              <a:spLocks noChangeArrowheads="1"/>
            </p:cNvSpPr>
            <p:nvPr/>
          </p:nvSpPr>
          <p:spPr bwMode="auto">
            <a:xfrm>
              <a:off x="4176" y="1152"/>
              <a:ext cx="240" cy="24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19" name="Text Box 14"/>
            <p:cNvSpPr txBox="1">
              <a:spLocks noChangeArrowheads="1"/>
            </p:cNvSpPr>
            <p:nvPr/>
          </p:nvSpPr>
          <p:spPr bwMode="auto">
            <a:xfrm>
              <a:off x="4176" y="1104"/>
              <a:ext cx="2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sz="3200" b="0" i="0">
                <a:solidFill>
                  <a:schemeClr val="hlink"/>
                </a:solidFill>
              </a:endParaRPr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2362200" y="1600200"/>
            <a:ext cx="3581400" cy="1341438"/>
            <a:chOff x="1488" y="1536"/>
            <a:chExt cx="2256" cy="845"/>
          </a:xfrm>
        </p:grpSpPr>
        <p:grpSp>
          <p:nvGrpSpPr>
            <p:cNvPr id="36910" name="Group 16"/>
            <p:cNvGrpSpPr>
              <a:grpSpLocks/>
            </p:cNvGrpSpPr>
            <p:nvPr/>
          </p:nvGrpSpPr>
          <p:grpSpPr bwMode="auto">
            <a:xfrm>
              <a:off x="3504" y="2016"/>
              <a:ext cx="240" cy="365"/>
              <a:chOff x="4176" y="1104"/>
              <a:chExt cx="240" cy="365"/>
            </a:xfrm>
          </p:grpSpPr>
          <p:sp>
            <p:nvSpPr>
              <p:cNvPr id="36916" name="Oval 17"/>
              <p:cNvSpPr>
                <a:spLocks noChangeArrowheads="1"/>
              </p:cNvSpPr>
              <p:nvPr/>
            </p:nvSpPr>
            <p:spPr bwMode="auto"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17" name="Text Box 18"/>
              <p:cNvSpPr txBox="1">
                <a:spLocks noChangeArrowheads="1"/>
              </p:cNvSpPr>
              <p:nvPr/>
            </p:nvSpPr>
            <p:spPr bwMode="auto">
              <a:xfrm>
                <a:off x="4176" y="1104"/>
                <a:ext cx="240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en-US" sz="3200" b="0" i="0">
                  <a:solidFill>
                    <a:schemeClr val="hlink"/>
                  </a:solidFill>
                </a:endParaRPr>
              </a:p>
            </p:txBody>
          </p:sp>
        </p:grpSp>
        <p:grpSp>
          <p:nvGrpSpPr>
            <p:cNvPr id="36911" name="Group 19"/>
            <p:cNvGrpSpPr>
              <a:grpSpLocks/>
            </p:cNvGrpSpPr>
            <p:nvPr/>
          </p:nvGrpSpPr>
          <p:grpSpPr bwMode="auto">
            <a:xfrm>
              <a:off x="1488" y="2016"/>
              <a:ext cx="240" cy="365"/>
              <a:chOff x="4176" y="1104"/>
              <a:chExt cx="240" cy="365"/>
            </a:xfrm>
          </p:grpSpPr>
          <p:sp>
            <p:nvSpPr>
              <p:cNvPr id="36914" name="Oval 20"/>
              <p:cNvSpPr>
                <a:spLocks noChangeArrowheads="1"/>
              </p:cNvSpPr>
              <p:nvPr/>
            </p:nvSpPr>
            <p:spPr bwMode="auto"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15" name="Text Box 21"/>
              <p:cNvSpPr txBox="1">
                <a:spLocks noChangeArrowheads="1"/>
              </p:cNvSpPr>
              <p:nvPr/>
            </p:nvSpPr>
            <p:spPr bwMode="auto">
              <a:xfrm>
                <a:off x="4176" y="1104"/>
                <a:ext cx="240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en-US" sz="3200" b="0" i="0">
                  <a:solidFill>
                    <a:schemeClr val="hlink"/>
                  </a:solidFill>
                </a:endParaRPr>
              </a:p>
            </p:txBody>
          </p:sp>
        </p:grpSp>
        <p:sp>
          <p:nvSpPr>
            <p:cNvPr id="36912" name="Line 22"/>
            <p:cNvSpPr>
              <a:spLocks noChangeShapeType="1"/>
            </p:cNvSpPr>
            <p:nvPr/>
          </p:nvSpPr>
          <p:spPr bwMode="auto">
            <a:xfrm flipH="1">
              <a:off x="1680" y="1536"/>
              <a:ext cx="864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13" name="Line 23"/>
            <p:cNvSpPr>
              <a:spLocks noChangeShapeType="1"/>
            </p:cNvSpPr>
            <p:nvPr/>
          </p:nvSpPr>
          <p:spPr bwMode="auto">
            <a:xfrm>
              <a:off x="2736" y="1584"/>
              <a:ext cx="816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24"/>
          <p:cNvGrpSpPr>
            <a:grpSpLocks/>
          </p:cNvGrpSpPr>
          <p:nvPr/>
        </p:nvGrpSpPr>
        <p:grpSpPr bwMode="auto">
          <a:xfrm>
            <a:off x="762000" y="3657600"/>
            <a:ext cx="6324600" cy="1036638"/>
            <a:chOff x="480" y="2832"/>
            <a:chExt cx="3984" cy="653"/>
          </a:xfrm>
        </p:grpSpPr>
        <p:grpSp>
          <p:nvGrpSpPr>
            <p:cNvPr id="36878" name="Group 25"/>
            <p:cNvGrpSpPr>
              <a:grpSpLocks/>
            </p:cNvGrpSpPr>
            <p:nvPr/>
          </p:nvGrpSpPr>
          <p:grpSpPr bwMode="auto">
            <a:xfrm>
              <a:off x="480" y="3072"/>
              <a:ext cx="240" cy="365"/>
              <a:chOff x="4176" y="1104"/>
              <a:chExt cx="240" cy="365"/>
            </a:xfrm>
          </p:grpSpPr>
          <p:sp>
            <p:nvSpPr>
              <p:cNvPr id="36908" name="Oval 26"/>
              <p:cNvSpPr>
                <a:spLocks noChangeArrowheads="1"/>
              </p:cNvSpPr>
              <p:nvPr/>
            </p:nvSpPr>
            <p:spPr bwMode="auto"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9" name="Text Box 27"/>
              <p:cNvSpPr txBox="1">
                <a:spLocks noChangeArrowheads="1"/>
              </p:cNvSpPr>
              <p:nvPr/>
            </p:nvSpPr>
            <p:spPr bwMode="auto">
              <a:xfrm>
                <a:off x="4176" y="1104"/>
                <a:ext cx="240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en-US" sz="3200" b="0" i="0">
                  <a:solidFill>
                    <a:schemeClr val="hlink"/>
                  </a:solidFill>
                </a:endParaRPr>
              </a:p>
            </p:txBody>
          </p:sp>
        </p:grpSp>
        <p:grpSp>
          <p:nvGrpSpPr>
            <p:cNvPr id="36879" name="Group 28"/>
            <p:cNvGrpSpPr>
              <a:grpSpLocks/>
            </p:cNvGrpSpPr>
            <p:nvPr/>
          </p:nvGrpSpPr>
          <p:grpSpPr bwMode="auto">
            <a:xfrm>
              <a:off x="1104" y="3072"/>
              <a:ext cx="240" cy="365"/>
              <a:chOff x="4176" y="1104"/>
              <a:chExt cx="240" cy="365"/>
            </a:xfrm>
          </p:grpSpPr>
          <p:sp>
            <p:nvSpPr>
              <p:cNvPr id="36906" name="Oval 29"/>
              <p:cNvSpPr>
                <a:spLocks noChangeArrowheads="1"/>
              </p:cNvSpPr>
              <p:nvPr/>
            </p:nvSpPr>
            <p:spPr bwMode="auto"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7" name="Text Box 30"/>
              <p:cNvSpPr txBox="1">
                <a:spLocks noChangeArrowheads="1"/>
              </p:cNvSpPr>
              <p:nvPr/>
            </p:nvSpPr>
            <p:spPr bwMode="auto">
              <a:xfrm>
                <a:off x="4176" y="1104"/>
                <a:ext cx="240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en-US" sz="3200" b="0" i="0">
                  <a:solidFill>
                    <a:schemeClr val="hlink"/>
                  </a:solidFill>
                </a:endParaRPr>
              </a:p>
            </p:txBody>
          </p:sp>
        </p:grpSp>
        <p:sp>
          <p:nvSpPr>
            <p:cNvPr id="36880" name="Line 31"/>
            <p:cNvSpPr>
              <a:spLocks noChangeShapeType="1"/>
            </p:cNvSpPr>
            <p:nvPr/>
          </p:nvSpPr>
          <p:spPr bwMode="auto">
            <a:xfrm flipH="1">
              <a:off x="672" y="2880"/>
              <a:ext cx="144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1" name="Line 32"/>
            <p:cNvSpPr>
              <a:spLocks noChangeShapeType="1"/>
            </p:cNvSpPr>
            <p:nvPr/>
          </p:nvSpPr>
          <p:spPr bwMode="auto">
            <a:xfrm>
              <a:off x="1008" y="2832"/>
              <a:ext cx="192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6882" name="Group 33"/>
            <p:cNvGrpSpPr>
              <a:grpSpLocks/>
            </p:cNvGrpSpPr>
            <p:nvPr/>
          </p:nvGrpSpPr>
          <p:grpSpPr bwMode="auto">
            <a:xfrm>
              <a:off x="1776" y="3120"/>
              <a:ext cx="240" cy="365"/>
              <a:chOff x="4176" y="1104"/>
              <a:chExt cx="240" cy="365"/>
            </a:xfrm>
          </p:grpSpPr>
          <p:sp>
            <p:nvSpPr>
              <p:cNvPr id="36904" name="Oval 34"/>
              <p:cNvSpPr>
                <a:spLocks noChangeArrowheads="1"/>
              </p:cNvSpPr>
              <p:nvPr/>
            </p:nvSpPr>
            <p:spPr bwMode="auto"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5" name="Text Box 35"/>
              <p:cNvSpPr txBox="1">
                <a:spLocks noChangeArrowheads="1"/>
              </p:cNvSpPr>
              <p:nvPr/>
            </p:nvSpPr>
            <p:spPr bwMode="auto">
              <a:xfrm>
                <a:off x="4176" y="1104"/>
                <a:ext cx="240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en-US" sz="3200" b="0" i="0">
                  <a:solidFill>
                    <a:schemeClr val="hlink"/>
                  </a:solidFill>
                </a:endParaRPr>
              </a:p>
            </p:txBody>
          </p:sp>
        </p:grpSp>
        <p:grpSp>
          <p:nvGrpSpPr>
            <p:cNvPr id="36883" name="Group 36"/>
            <p:cNvGrpSpPr>
              <a:grpSpLocks/>
            </p:cNvGrpSpPr>
            <p:nvPr/>
          </p:nvGrpSpPr>
          <p:grpSpPr bwMode="auto">
            <a:xfrm>
              <a:off x="2400" y="3120"/>
              <a:ext cx="240" cy="365"/>
              <a:chOff x="4176" y="1104"/>
              <a:chExt cx="240" cy="365"/>
            </a:xfrm>
          </p:grpSpPr>
          <p:sp>
            <p:nvSpPr>
              <p:cNvPr id="36902" name="Oval 37"/>
              <p:cNvSpPr>
                <a:spLocks noChangeArrowheads="1"/>
              </p:cNvSpPr>
              <p:nvPr/>
            </p:nvSpPr>
            <p:spPr bwMode="auto"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3" name="Text Box 38"/>
              <p:cNvSpPr txBox="1">
                <a:spLocks noChangeArrowheads="1"/>
              </p:cNvSpPr>
              <p:nvPr/>
            </p:nvSpPr>
            <p:spPr bwMode="auto">
              <a:xfrm>
                <a:off x="4176" y="1104"/>
                <a:ext cx="240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en-US" sz="3200" b="0" i="0">
                  <a:solidFill>
                    <a:schemeClr val="hlink"/>
                  </a:solidFill>
                </a:endParaRPr>
              </a:p>
            </p:txBody>
          </p:sp>
        </p:grpSp>
        <p:sp>
          <p:nvSpPr>
            <p:cNvPr id="36884" name="Line 39"/>
            <p:cNvSpPr>
              <a:spLocks noChangeShapeType="1"/>
            </p:cNvSpPr>
            <p:nvPr/>
          </p:nvSpPr>
          <p:spPr bwMode="auto">
            <a:xfrm flipH="1">
              <a:off x="1968" y="2928"/>
              <a:ext cx="144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5" name="Line 40"/>
            <p:cNvSpPr>
              <a:spLocks noChangeShapeType="1"/>
            </p:cNvSpPr>
            <p:nvPr/>
          </p:nvSpPr>
          <p:spPr bwMode="auto">
            <a:xfrm>
              <a:off x="2304" y="2880"/>
              <a:ext cx="192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6886" name="Group 41"/>
            <p:cNvGrpSpPr>
              <a:grpSpLocks/>
            </p:cNvGrpSpPr>
            <p:nvPr/>
          </p:nvGrpSpPr>
          <p:grpSpPr bwMode="auto">
            <a:xfrm>
              <a:off x="2928" y="3120"/>
              <a:ext cx="240" cy="365"/>
              <a:chOff x="4176" y="1104"/>
              <a:chExt cx="240" cy="365"/>
            </a:xfrm>
          </p:grpSpPr>
          <p:sp>
            <p:nvSpPr>
              <p:cNvPr id="36900" name="Oval 42"/>
              <p:cNvSpPr>
                <a:spLocks noChangeArrowheads="1"/>
              </p:cNvSpPr>
              <p:nvPr/>
            </p:nvSpPr>
            <p:spPr bwMode="auto"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01" name="Text Box 43"/>
              <p:cNvSpPr txBox="1">
                <a:spLocks noChangeArrowheads="1"/>
              </p:cNvSpPr>
              <p:nvPr/>
            </p:nvSpPr>
            <p:spPr bwMode="auto">
              <a:xfrm>
                <a:off x="4176" y="1104"/>
                <a:ext cx="240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en-US" sz="3200" b="0" i="0">
                  <a:solidFill>
                    <a:schemeClr val="hlink"/>
                  </a:solidFill>
                </a:endParaRPr>
              </a:p>
            </p:txBody>
          </p:sp>
        </p:grpSp>
        <p:grpSp>
          <p:nvGrpSpPr>
            <p:cNvPr id="36887" name="Group 44"/>
            <p:cNvGrpSpPr>
              <a:grpSpLocks/>
            </p:cNvGrpSpPr>
            <p:nvPr/>
          </p:nvGrpSpPr>
          <p:grpSpPr bwMode="auto">
            <a:xfrm>
              <a:off x="3360" y="3120"/>
              <a:ext cx="240" cy="365"/>
              <a:chOff x="4176" y="1104"/>
              <a:chExt cx="240" cy="365"/>
            </a:xfrm>
          </p:grpSpPr>
          <p:sp>
            <p:nvSpPr>
              <p:cNvPr id="36898" name="Oval 45"/>
              <p:cNvSpPr>
                <a:spLocks noChangeArrowheads="1"/>
              </p:cNvSpPr>
              <p:nvPr/>
            </p:nvSpPr>
            <p:spPr bwMode="auto"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99" name="Text Box 46"/>
              <p:cNvSpPr txBox="1">
                <a:spLocks noChangeArrowheads="1"/>
              </p:cNvSpPr>
              <p:nvPr/>
            </p:nvSpPr>
            <p:spPr bwMode="auto">
              <a:xfrm>
                <a:off x="4176" y="1104"/>
                <a:ext cx="240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en-US" sz="3200" b="0" i="0">
                  <a:solidFill>
                    <a:schemeClr val="hlink"/>
                  </a:solidFill>
                </a:endParaRPr>
              </a:p>
            </p:txBody>
          </p:sp>
        </p:grpSp>
        <p:grpSp>
          <p:nvGrpSpPr>
            <p:cNvPr id="36888" name="Group 47"/>
            <p:cNvGrpSpPr>
              <a:grpSpLocks/>
            </p:cNvGrpSpPr>
            <p:nvPr/>
          </p:nvGrpSpPr>
          <p:grpSpPr bwMode="auto">
            <a:xfrm>
              <a:off x="3792" y="3120"/>
              <a:ext cx="240" cy="365"/>
              <a:chOff x="4176" y="1104"/>
              <a:chExt cx="240" cy="365"/>
            </a:xfrm>
          </p:grpSpPr>
          <p:sp>
            <p:nvSpPr>
              <p:cNvPr id="36896" name="Oval 48"/>
              <p:cNvSpPr>
                <a:spLocks noChangeArrowheads="1"/>
              </p:cNvSpPr>
              <p:nvPr/>
            </p:nvSpPr>
            <p:spPr bwMode="auto"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97" name="Text Box 49"/>
              <p:cNvSpPr txBox="1">
                <a:spLocks noChangeArrowheads="1"/>
              </p:cNvSpPr>
              <p:nvPr/>
            </p:nvSpPr>
            <p:spPr bwMode="auto">
              <a:xfrm>
                <a:off x="4176" y="1104"/>
                <a:ext cx="240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en-US" sz="3200" b="0" i="0">
                  <a:solidFill>
                    <a:schemeClr val="hlink"/>
                  </a:solidFill>
                </a:endParaRPr>
              </a:p>
            </p:txBody>
          </p:sp>
        </p:grpSp>
        <p:grpSp>
          <p:nvGrpSpPr>
            <p:cNvPr id="36889" name="Group 50"/>
            <p:cNvGrpSpPr>
              <a:grpSpLocks/>
            </p:cNvGrpSpPr>
            <p:nvPr/>
          </p:nvGrpSpPr>
          <p:grpSpPr bwMode="auto">
            <a:xfrm>
              <a:off x="4224" y="3120"/>
              <a:ext cx="240" cy="365"/>
              <a:chOff x="4176" y="1104"/>
              <a:chExt cx="240" cy="365"/>
            </a:xfrm>
          </p:grpSpPr>
          <p:sp>
            <p:nvSpPr>
              <p:cNvPr id="36894" name="Oval 51"/>
              <p:cNvSpPr>
                <a:spLocks noChangeArrowheads="1"/>
              </p:cNvSpPr>
              <p:nvPr/>
            </p:nvSpPr>
            <p:spPr bwMode="auto">
              <a:xfrm>
                <a:off x="4176" y="1152"/>
                <a:ext cx="240" cy="24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895" name="Text Box 52"/>
              <p:cNvSpPr txBox="1">
                <a:spLocks noChangeArrowheads="1"/>
              </p:cNvSpPr>
              <p:nvPr/>
            </p:nvSpPr>
            <p:spPr bwMode="auto">
              <a:xfrm>
                <a:off x="4176" y="1104"/>
                <a:ext cx="240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en-US" sz="3200" b="0" i="0">
                  <a:solidFill>
                    <a:schemeClr val="hlink"/>
                  </a:solidFill>
                </a:endParaRPr>
              </a:p>
            </p:txBody>
          </p:sp>
        </p:grpSp>
        <p:sp>
          <p:nvSpPr>
            <p:cNvPr id="36890" name="Line 53"/>
            <p:cNvSpPr>
              <a:spLocks noChangeShapeType="1"/>
            </p:cNvSpPr>
            <p:nvPr/>
          </p:nvSpPr>
          <p:spPr bwMode="auto">
            <a:xfrm flipH="1">
              <a:off x="3072" y="2928"/>
              <a:ext cx="192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1" name="Line 54"/>
            <p:cNvSpPr>
              <a:spLocks noChangeShapeType="1"/>
            </p:cNvSpPr>
            <p:nvPr/>
          </p:nvSpPr>
          <p:spPr bwMode="auto">
            <a:xfrm>
              <a:off x="3360" y="2928"/>
              <a:ext cx="9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2" name="Line 55"/>
            <p:cNvSpPr>
              <a:spLocks noChangeShapeType="1"/>
            </p:cNvSpPr>
            <p:nvPr/>
          </p:nvSpPr>
          <p:spPr bwMode="auto">
            <a:xfrm flipH="1">
              <a:off x="3936" y="2928"/>
              <a:ext cx="9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3" name="Line 56"/>
            <p:cNvSpPr>
              <a:spLocks noChangeShapeType="1"/>
            </p:cNvSpPr>
            <p:nvPr/>
          </p:nvSpPr>
          <p:spPr bwMode="auto">
            <a:xfrm>
              <a:off x="4176" y="2928"/>
              <a:ext cx="192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5097" name="Text Box 57"/>
          <p:cNvSpPr txBox="1">
            <a:spLocks noChangeArrowheads="1"/>
          </p:cNvSpPr>
          <p:nvPr/>
        </p:nvSpPr>
        <p:spPr bwMode="auto">
          <a:xfrm>
            <a:off x="1143000" y="5056188"/>
            <a:ext cx="5562600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>
                <a:solidFill>
                  <a:schemeClr val="tx1"/>
                </a:solidFill>
              </a:rPr>
              <a:t>Max. number of nodes =  </a:t>
            </a:r>
            <a:r>
              <a:rPr lang="en-US" sz="1800" b="0">
                <a:solidFill>
                  <a:schemeClr val="tx1"/>
                </a:solidFill>
              </a:rPr>
              <a:t>1 + 2 + 4 + 8 + … + 2</a:t>
            </a:r>
            <a:r>
              <a:rPr lang="en-US" sz="1800" b="0" baseline="30000">
                <a:solidFill>
                  <a:schemeClr val="tx1"/>
                </a:solidFill>
              </a:rPr>
              <a:t>h</a:t>
            </a:r>
            <a:endParaRPr lang="en-US" sz="1800" b="0">
              <a:solidFill>
                <a:schemeClr val="tx1"/>
              </a:solidFill>
            </a:endParaRPr>
          </a:p>
          <a:p>
            <a:pPr algn="ctr">
              <a:spcBef>
                <a:spcPct val="50000"/>
              </a:spcBef>
            </a:pPr>
            <a:r>
              <a:rPr lang="en-US"/>
              <a:t>n </a:t>
            </a:r>
            <a:r>
              <a:rPr lang="en-US" sz="1800">
                <a:latin typeface="Arial" charset="0"/>
              </a:rPr>
              <a:t>≤</a:t>
            </a:r>
            <a:r>
              <a:rPr lang="en-US"/>
              <a:t> 2</a:t>
            </a:r>
            <a:r>
              <a:rPr lang="en-US" baseline="30000"/>
              <a:t>h+1</a:t>
            </a:r>
            <a:r>
              <a:rPr lang="en-US"/>
              <a:t> - 1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7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735BAE-613A-4A49-AF12-39F2566EE908}" type="slidenum">
              <a:rPr lang="ar-SA"/>
              <a:pPr>
                <a:defRPr/>
              </a:pPr>
              <a:t>34</a:t>
            </a:fld>
            <a:endParaRPr lang="en-US"/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685800"/>
          </a:xfrm>
        </p:spPr>
        <p:txBody>
          <a:bodyPr/>
          <a:lstStyle/>
          <a:p>
            <a:pPr eaLnBrk="1" hangingPunct="1"/>
            <a:r>
              <a:rPr lang="en-US" sz="3600" smtClean="0">
                <a:latin typeface="Times New Roman" pitchFamily="18" charset="0"/>
              </a:rPr>
              <a:t>Full Binary Tree</a:t>
            </a:r>
          </a:p>
        </p:txBody>
      </p:sp>
      <p:sp>
        <p:nvSpPr>
          <p:cNvPr id="2160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05800" cy="762000"/>
          </a:xfrm>
        </p:spPr>
        <p:txBody>
          <a:bodyPr/>
          <a:lstStyle/>
          <a:p>
            <a:pPr marL="85725" indent="-85725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800" i="1" smtClean="0">
                <a:latin typeface="Times New Roman" pitchFamily="18" charset="0"/>
                <a:cs typeface="Times New Roman" pitchFamily="18" charset="0"/>
              </a:rPr>
              <a:t>full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 Binary tree of a given </a:t>
            </a:r>
            <a:r>
              <a:rPr lang="en-US" sz="2800" i="1" smtClean="0">
                <a:latin typeface="Times New Roman" pitchFamily="18" charset="0"/>
                <a:cs typeface="Times New Roman" pitchFamily="18" charset="0"/>
              </a:rPr>
              <a:t>height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 has </a:t>
            </a:r>
            <a:r>
              <a:rPr lang="en-US" sz="2800" b="1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b="1" i="1" baseline="3000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h+1</a:t>
            </a:r>
            <a:r>
              <a:rPr lang="en-US" sz="2800" b="1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– 1</a:t>
            </a:r>
            <a:r>
              <a:rPr lang="en-US" sz="2800" smtClean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nodes.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14400" y="2209800"/>
            <a:ext cx="7162800" cy="4038600"/>
            <a:chOff x="576" y="1488"/>
            <a:chExt cx="4512" cy="2544"/>
          </a:xfrm>
        </p:grpSpPr>
        <p:grpSp>
          <p:nvGrpSpPr>
            <p:cNvPr id="37895" name="Group 5"/>
            <p:cNvGrpSpPr>
              <a:grpSpLocks/>
            </p:cNvGrpSpPr>
            <p:nvPr/>
          </p:nvGrpSpPr>
          <p:grpSpPr bwMode="auto">
            <a:xfrm>
              <a:off x="576" y="1488"/>
              <a:ext cx="3984" cy="2141"/>
              <a:chOff x="576" y="1488"/>
              <a:chExt cx="3984" cy="2141"/>
            </a:xfrm>
          </p:grpSpPr>
          <p:grpSp>
            <p:nvGrpSpPr>
              <p:cNvPr id="37897" name="Group 6"/>
              <p:cNvGrpSpPr>
                <a:grpSpLocks/>
              </p:cNvGrpSpPr>
              <p:nvPr/>
            </p:nvGrpSpPr>
            <p:grpSpPr bwMode="auto">
              <a:xfrm>
                <a:off x="864" y="2352"/>
                <a:ext cx="3456" cy="768"/>
                <a:chOff x="768" y="2208"/>
                <a:chExt cx="3456" cy="768"/>
              </a:xfrm>
            </p:grpSpPr>
            <p:sp>
              <p:nvSpPr>
                <p:cNvPr id="37943" name="Oval 7"/>
                <p:cNvSpPr>
                  <a:spLocks noChangeArrowheads="1"/>
                </p:cNvSpPr>
                <p:nvPr/>
              </p:nvSpPr>
              <p:spPr bwMode="auto">
                <a:xfrm>
                  <a:off x="768" y="2688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944" name="Oval 8"/>
                <p:cNvSpPr>
                  <a:spLocks noChangeArrowheads="1"/>
                </p:cNvSpPr>
                <p:nvPr/>
              </p:nvSpPr>
              <p:spPr bwMode="auto">
                <a:xfrm>
                  <a:off x="2064" y="2736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945" name="Oval 9"/>
                <p:cNvSpPr>
                  <a:spLocks noChangeArrowheads="1"/>
                </p:cNvSpPr>
                <p:nvPr/>
              </p:nvSpPr>
              <p:spPr bwMode="auto">
                <a:xfrm>
                  <a:off x="3168" y="2688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946" name="Oval 10"/>
                <p:cNvSpPr>
                  <a:spLocks noChangeArrowheads="1"/>
                </p:cNvSpPr>
                <p:nvPr/>
              </p:nvSpPr>
              <p:spPr bwMode="auto">
                <a:xfrm>
                  <a:off x="3984" y="2736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947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3312" y="2256"/>
                  <a:ext cx="240" cy="4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48" name="Line 12"/>
                <p:cNvSpPr>
                  <a:spLocks noChangeShapeType="1"/>
                </p:cNvSpPr>
                <p:nvPr/>
              </p:nvSpPr>
              <p:spPr bwMode="auto">
                <a:xfrm>
                  <a:off x="3744" y="2208"/>
                  <a:ext cx="336" cy="5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49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960" y="2208"/>
                  <a:ext cx="528" cy="5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50" name="Line 14"/>
                <p:cNvSpPr>
                  <a:spLocks noChangeShapeType="1"/>
                </p:cNvSpPr>
                <p:nvPr/>
              </p:nvSpPr>
              <p:spPr bwMode="auto">
                <a:xfrm>
                  <a:off x="1728" y="2208"/>
                  <a:ext cx="384" cy="57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7898" name="Group 15"/>
              <p:cNvGrpSpPr>
                <a:grpSpLocks/>
              </p:cNvGrpSpPr>
              <p:nvPr/>
            </p:nvGrpSpPr>
            <p:grpSpPr bwMode="auto">
              <a:xfrm>
                <a:off x="2640" y="1488"/>
                <a:ext cx="240" cy="365"/>
                <a:chOff x="4176" y="1104"/>
                <a:chExt cx="240" cy="365"/>
              </a:xfrm>
            </p:grpSpPr>
            <p:sp>
              <p:nvSpPr>
                <p:cNvPr id="37941" name="Oval 16"/>
                <p:cNvSpPr>
                  <a:spLocks noChangeArrowheads="1"/>
                </p:cNvSpPr>
                <p:nvPr/>
              </p:nvSpPr>
              <p:spPr bwMode="auto">
                <a:xfrm>
                  <a:off x="4176" y="1152"/>
                  <a:ext cx="240" cy="240"/>
                </a:xfrm>
                <a:prstGeom prst="ellipse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942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176" y="1104"/>
                  <a:ext cx="240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 b="1" i="1">
                      <a:solidFill>
                        <a:schemeClr val="tx2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400" b="1" i="1">
                      <a:solidFill>
                        <a:schemeClr val="tx2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400" b="1" i="1">
                      <a:solidFill>
                        <a:schemeClr val="tx2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400" b="1" i="1">
                      <a:solidFill>
                        <a:schemeClr val="tx2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400" b="1" i="1">
                      <a:solidFill>
                        <a:schemeClr val="tx2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i="1">
                      <a:solidFill>
                        <a:schemeClr val="tx2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i="1">
                      <a:solidFill>
                        <a:schemeClr val="tx2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i="1">
                      <a:solidFill>
                        <a:schemeClr val="tx2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 i="1">
                      <a:solidFill>
                        <a:schemeClr val="tx2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sz="3200" b="0" i="0">
                    <a:solidFill>
                      <a:schemeClr val="hlink"/>
                    </a:solidFill>
                  </a:endParaRPr>
                </a:p>
              </p:txBody>
            </p:sp>
          </p:grpSp>
          <p:grpSp>
            <p:nvGrpSpPr>
              <p:cNvPr id="37899" name="Group 18"/>
              <p:cNvGrpSpPr>
                <a:grpSpLocks/>
              </p:cNvGrpSpPr>
              <p:nvPr/>
            </p:nvGrpSpPr>
            <p:grpSpPr bwMode="auto">
              <a:xfrm>
                <a:off x="1584" y="1680"/>
                <a:ext cx="2256" cy="845"/>
                <a:chOff x="1488" y="1536"/>
                <a:chExt cx="2256" cy="845"/>
              </a:xfrm>
            </p:grpSpPr>
            <p:grpSp>
              <p:nvGrpSpPr>
                <p:cNvPr id="37933" name="Group 19"/>
                <p:cNvGrpSpPr>
                  <a:grpSpLocks/>
                </p:cNvGrpSpPr>
                <p:nvPr/>
              </p:nvGrpSpPr>
              <p:grpSpPr bwMode="auto">
                <a:xfrm>
                  <a:off x="3504" y="2016"/>
                  <a:ext cx="240" cy="365"/>
                  <a:chOff x="4176" y="1104"/>
                  <a:chExt cx="240" cy="365"/>
                </a:xfrm>
              </p:grpSpPr>
              <p:sp>
                <p:nvSpPr>
                  <p:cNvPr id="37939" name="Oval 20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40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1pPr>
                    <a:lvl2pPr marL="742950" indent="-28575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2pPr>
                    <a:lvl3pPr marL="11430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3pPr>
                    <a:lvl4pPr marL="16002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en-US" sz="3200" b="0" i="0">
                      <a:solidFill>
                        <a:schemeClr val="hlink"/>
                      </a:solidFill>
                    </a:endParaRPr>
                  </a:p>
                </p:txBody>
              </p:sp>
            </p:grpSp>
            <p:grpSp>
              <p:nvGrpSpPr>
                <p:cNvPr id="37934" name="Group 22"/>
                <p:cNvGrpSpPr>
                  <a:grpSpLocks/>
                </p:cNvGrpSpPr>
                <p:nvPr/>
              </p:nvGrpSpPr>
              <p:grpSpPr bwMode="auto">
                <a:xfrm>
                  <a:off x="1488" y="2016"/>
                  <a:ext cx="240" cy="365"/>
                  <a:chOff x="4176" y="1104"/>
                  <a:chExt cx="240" cy="365"/>
                </a:xfrm>
              </p:grpSpPr>
              <p:sp>
                <p:nvSpPr>
                  <p:cNvPr id="37937" name="Oval 23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38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1pPr>
                    <a:lvl2pPr marL="742950" indent="-28575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2pPr>
                    <a:lvl3pPr marL="11430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3pPr>
                    <a:lvl4pPr marL="16002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en-US" sz="3200" b="0" i="0">
                      <a:solidFill>
                        <a:schemeClr val="hlink"/>
                      </a:solidFill>
                    </a:endParaRPr>
                  </a:p>
                </p:txBody>
              </p:sp>
            </p:grpSp>
            <p:sp>
              <p:nvSpPr>
                <p:cNvPr id="37935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1680" y="1536"/>
                  <a:ext cx="864" cy="5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36" name="Line 26"/>
                <p:cNvSpPr>
                  <a:spLocks noChangeShapeType="1"/>
                </p:cNvSpPr>
                <p:nvPr/>
              </p:nvSpPr>
              <p:spPr bwMode="auto">
                <a:xfrm>
                  <a:off x="2736" y="1584"/>
                  <a:ext cx="816" cy="5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37900" name="Group 27"/>
              <p:cNvGrpSpPr>
                <a:grpSpLocks/>
              </p:cNvGrpSpPr>
              <p:nvPr/>
            </p:nvGrpSpPr>
            <p:grpSpPr bwMode="auto">
              <a:xfrm>
                <a:off x="576" y="2976"/>
                <a:ext cx="3984" cy="653"/>
                <a:chOff x="480" y="2832"/>
                <a:chExt cx="3984" cy="653"/>
              </a:xfrm>
            </p:grpSpPr>
            <p:grpSp>
              <p:nvGrpSpPr>
                <p:cNvPr id="37901" name="Group 28"/>
                <p:cNvGrpSpPr>
                  <a:grpSpLocks/>
                </p:cNvGrpSpPr>
                <p:nvPr/>
              </p:nvGrpSpPr>
              <p:grpSpPr bwMode="auto">
                <a:xfrm>
                  <a:off x="480" y="3072"/>
                  <a:ext cx="240" cy="365"/>
                  <a:chOff x="4176" y="1104"/>
                  <a:chExt cx="240" cy="365"/>
                </a:xfrm>
              </p:grpSpPr>
              <p:sp>
                <p:nvSpPr>
                  <p:cNvPr id="37931" name="Oval 29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32" name="Text Box 3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1pPr>
                    <a:lvl2pPr marL="742950" indent="-28575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2pPr>
                    <a:lvl3pPr marL="11430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3pPr>
                    <a:lvl4pPr marL="16002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en-US" sz="3200" b="0" i="0">
                      <a:solidFill>
                        <a:schemeClr val="hlink"/>
                      </a:solidFill>
                    </a:endParaRPr>
                  </a:p>
                </p:txBody>
              </p:sp>
            </p:grpSp>
            <p:grpSp>
              <p:nvGrpSpPr>
                <p:cNvPr id="37902" name="Group 31"/>
                <p:cNvGrpSpPr>
                  <a:grpSpLocks/>
                </p:cNvGrpSpPr>
                <p:nvPr/>
              </p:nvGrpSpPr>
              <p:grpSpPr bwMode="auto">
                <a:xfrm>
                  <a:off x="1104" y="3072"/>
                  <a:ext cx="240" cy="365"/>
                  <a:chOff x="4176" y="1104"/>
                  <a:chExt cx="240" cy="365"/>
                </a:xfrm>
              </p:grpSpPr>
              <p:sp>
                <p:nvSpPr>
                  <p:cNvPr id="37929" name="Oval 32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30" name="Text Box 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1pPr>
                    <a:lvl2pPr marL="742950" indent="-28575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2pPr>
                    <a:lvl3pPr marL="11430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3pPr>
                    <a:lvl4pPr marL="16002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en-US" sz="3200" b="0" i="0">
                      <a:solidFill>
                        <a:schemeClr val="hlink"/>
                      </a:solidFill>
                    </a:endParaRPr>
                  </a:p>
                </p:txBody>
              </p:sp>
            </p:grpSp>
            <p:sp>
              <p:nvSpPr>
                <p:cNvPr id="37903" name="Line 34"/>
                <p:cNvSpPr>
                  <a:spLocks noChangeShapeType="1"/>
                </p:cNvSpPr>
                <p:nvPr/>
              </p:nvSpPr>
              <p:spPr bwMode="auto">
                <a:xfrm flipH="1">
                  <a:off x="672" y="2880"/>
                  <a:ext cx="144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04" name="Line 35"/>
                <p:cNvSpPr>
                  <a:spLocks noChangeShapeType="1"/>
                </p:cNvSpPr>
                <p:nvPr/>
              </p:nvSpPr>
              <p:spPr bwMode="auto">
                <a:xfrm>
                  <a:off x="1008" y="2832"/>
                  <a:ext cx="192" cy="28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37905" name="Group 36"/>
                <p:cNvGrpSpPr>
                  <a:grpSpLocks/>
                </p:cNvGrpSpPr>
                <p:nvPr/>
              </p:nvGrpSpPr>
              <p:grpSpPr bwMode="auto">
                <a:xfrm>
                  <a:off x="1776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7927" name="Oval 37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28" name="Text Box 3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1pPr>
                    <a:lvl2pPr marL="742950" indent="-28575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2pPr>
                    <a:lvl3pPr marL="11430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3pPr>
                    <a:lvl4pPr marL="16002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en-US" sz="3200" b="0" i="0">
                      <a:solidFill>
                        <a:schemeClr val="hlink"/>
                      </a:solidFill>
                    </a:endParaRPr>
                  </a:p>
                </p:txBody>
              </p:sp>
            </p:grpSp>
            <p:grpSp>
              <p:nvGrpSpPr>
                <p:cNvPr id="37906" name="Group 39"/>
                <p:cNvGrpSpPr>
                  <a:grpSpLocks/>
                </p:cNvGrpSpPr>
                <p:nvPr/>
              </p:nvGrpSpPr>
              <p:grpSpPr bwMode="auto">
                <a:xfrm>
                  <a:off x="2400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7925" name="Oval 40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26" name="Text Box 4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1pPr>
                    <a:lvl2pPr marL="742950" indent="-28575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2pPr>
                    <a:lvl3pPr marL="11430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3pPr>
                    <a:lvl4pPr marL="16002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en-US" sz="3200" b="0" i="0">
                      <a:solidFill>
                        <a:schemeClr val="hlink"/>
                      </a:solidFill>
                    </a:endParaRPr>
                  </a:p>
                </p:txBody>
              </p:sp>
            </p:grpSp>
            <p:sp>
              <p:nvSpPr>
                <p:cNvPr id="37907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1968" y="2928"/>
                  <a:ext cx="144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08" name="Line 43"/>
                <p:cNvSpPr>
                  <a:spLocks noChangeShapeType="1"/>
                </p:cNvSpPr>
                <p:nvPr/>
              </p:nvSpPr>
              <p:spPr bwMode="auto">
                <a:xfrm>
                  <a:off x="2304" y="2880"/>
                  <a:ext cx="192" cy="28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37909" name="Group 44"/>
                <p:cNvGrpSpPr>
                  <a:grpSpLocks/>
                </p:cNvGrpSpPr>
                <p:nvPr/>
              </p:nvGrpSpPr>
              <p:grpSpPr bwMode="auto">
                <a:xfrm>
                  <a:off x="2928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7923" name="Oval 45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24" name="Text Box 4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1pPr>
                    <a:lvl2pPr marL="742950" indent="-28575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2pPr>
                    <a:lvl3pPr marL="11430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3pPr>
                    <a:lvl4pPr marL="16002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en-US" sz="3200" b="0" i="0">
                      <a:solidFill>
                        <a:schemeClr val="hlink"/>
                      </a:solidFill>
                    </a:endParaRPr>
                  </a:p>
                </p:txBody>
              </p:sp>
            </p:grpSp>
            <p:grpSp>
              <p:nvGrpSpPr>
                <p:cNvPr id="37910" name="Group 47"/>
                <p:cNvGrpSpPr>
                  <a:grpSpLocks/>
                </p:cNvGrpSpPr>
                <p:nvPr/>
              </p:nvGrpSpPr>
              <p:grpSpPr bwMode="auto">
                <a:xfrm>
                  <a:off x="3360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7921" name="Oval 48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22" name="Text Box 4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1pPr>
                    <a:lvl2pPr marL="742950" indent="-28575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2pPr>
                    <a:lvl3pPr marL="11430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3pPr>
                    <a:lvl4pPr marL="16002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en-US" sz="3200" b="0" i="0">
                      <a:solidFill>
                        <a:schemeClr val="hlink"/>
                      </a:solidFill>
                    </a:endParaRPr>
                  </a:p>
                </p:txBody>
              </p:sp>
            </p:grpSp>
            <p:grpSp>
              <p:nvGrpSpPr>
                <p:cNvPr id="37911" name="Group 50"/>
                <p:cNvGrpSpPr>
                  <a:grpSpLocks/>
                </p:cNvGrpSpPr>
                <p:nvPr/>
              </p:nvGrpSpPr>
              <p:grpSpPr bwMode="auto">
                <a:xfrm>
                  <a:off x="3792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7919" name="Oval 51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20" name="Text Box 5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1pPr>
                    <a:lvl2pPr marL="742950" indent="-28575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2pPr>
                    <a:lvl3pPr marL="11430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3pPr>
                    <a:lvl4pPr marL="16002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en-US" sz="3200" b="0" i="0">
                      <a:solidFill>
                        <a:schemeClr val="hlink"/>
                      </a:solidFill>
                    </a:endParaRPr>
                  </a:p>
                </p:txBody>
              </p:sp>
            </p:grpSp>
            <p:grpSp>
              <p:nvGrpSpPr>
                <p:cNvPr id="37912" name="Group 53"/>
                <p:cNvGrpSpPr>
                  <a:grpSpLocks/>
                </p:cNvGrpSpPr>
                <p:nvPr/>
              </p:nvGrpSpPr>
              <p:grpSpPr bwMode="auto">
                <a:xfrm>
                  <a:off x="4224" y="3120"/>
                  <a:ext cx="240" cy="365"/>
                  <a:chOff x="4176" y="1104"/>
                  <a:chExt cx="240" cy="365"/>
                </a:xfrm>
              </p:grpSpPr>
              <p:sp>
                <p:nvSpPr>
                  <p:cNvPr id="37917" name="Oval 54"/>
                  <p:cNvSpPr>
                    <a:spLocks noChangeArrowheads="1"/>
                  </p:cNvSpPr>
                  <p:nvPr/>
                </p:nvSpPr>
                <p:spPr bwMode="auto">
                  <a:xfrm>
                    <a:off x="4176" y="1152"/>
                    <a:ext cx="240" cy="2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37918" name="Text Box 5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6" y="1104"/>
                    <a:ext cx="240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1pPr>
                    <a:lvl2pPr marL="742950" indent="-28575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2pPr>
                    <a:lvl3pPr marL="11430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3pPr>
                    <a:lvl4pPr marL="16002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 i="1">
                        <a:solidFill>
                          <a:schemeClr val="tx2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>
                      <a:spcBef>
                        <a:spcPct val="50000"/>
                      </a:spcBef>
                    </a:pPr>
                    <a:endParaRPr lang="en-US" sz="3200" b="0" i="0">
                      <a:solidFill>
                        <a:schemeClr val="hlink"/>
                      </a:solidFill>
                    </a:endParaRPr>
                  </a:p>
                </p:txBody>
              </p:sp>
            </p:grpSp>
            <p:sp>
              <p:nvSpPr>
                <p:cNvPr id="37913" name="Line 56"/>
                <p:cNvSpPr>
                  <a:spLocks noChangeShapeType="1"/>
                </p:cNvSpPr>
                <p:nvPr/>
              </p:nvSpPr>
              <p:spPr bwMode="auto">
                <a:xfrm flipH="1">
                  <a:off x="3072" y="2928"/>
                  <a:ext cx="192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14" name="Line 57"/>
                <p:cNvSpPr>
                  <a:spLocks noChangeShapeType="1"/>
                </p:cNvSpPr>
                <p:nvPr/>
              </p:nvSpPr>
              <p:spPr bwMode="auto">
                <a:xfrm>
                  <a:off x="3360" y="2928"/>
                  <a:ext cx="96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15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3936" y="2928"/>
                  <a:ext cx="96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16" name="Line 59"/>
                <p:cNvSpPr>
                  <a:spLocks noChangeShapeType="1"/>
                </p:cNvSpPr>
                <p:nvPr/>
              </p:nvSpPr>
              <p:spPr bwMode="auto">
                <a:xfrm>
                  <a:off x="4176" y="2928"/>
                  <a:ext cx="192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37896" name="Text Box 60"/>
            <p:cNvSpPr txBox="1">
              <a:spLocks noChangeArrowheads="1"/>
            </p:cNvSpPr>
            <p:nvPr/>
          </p:nvSpPr>
          <p:spPr bwMode="auto">
            <a:xfrm>
              <a:off x="960" y="3744"/>
              <a:ext cx="41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Height </a:t>
              </a:r>
              <a:r>
                <a:rPr lang="en-US"/>
                <a:t>3</a:t>
              </a:r>
              <a:r>
                <a:rPr lang="en-US">
                  <a:solidFill>
                    <a:srgbClr val="000000"/>
                  </a:solidFill>
                </a:rPr>
                <a:t> full Binary tree.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7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45A104-AC06-4687-8FDE-AA4CE40DDBBB}" type="slidenum">
              <a:rPr lang="ar-SA"/>
              <a:pPr>
                <a:defRPr/>
              </a:pPr>
              <a:t>35</a:t>
            </a:fld>
            <a:endParaRPr lang="en-US"/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893763" y="304800"/>
            <a:ext cx="7100887" cy="525463"/>
          </a:xfrm>
        </p:spPr>
        <p:txBody>
          <a:bodyPr/>
          <a:lstStyle/>
          <a:p>
            <a:pPr eaLnBrk="1" hangingPunct="1"/>
            <a:r>
              <a:rPr lang="en-US" sz="2800" smtClean="0"/>
              <a:t>Justification of Proposition 7.10</a:t>
            </a:r>
          </a:p>
        </p:txBody>
      </p:sp>
      <p:sp>
        <p:nvSpPr>
          <p:cNvPr id="3891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990600"/>
            <a:ext cx="7772400" cy="5029200"/>
          </a:xfrm>
        </p:spPr>
        <p:txBody>
          <a:bodyPr/>
          <a:lstStyle/>
          <a:p>
            <a:pPr marL="381000" indent="-3810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AutoNum type="arabicPeriod"/>
            </a:pP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 = i + 1</a:t>
            </a:r>
          </a:p>
          <a:p>
            <a:pPr marL="381000" indent="-3810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None/>
            </a:pP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	n = e + i = b + 1, where b = Number of branches of Tree</a:t>
            </a:r>
          </a:p>
          <a:p>
            <a:pPr marL="381000" indent="-3810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None/>
            </a:pP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	since b = 2*i, as two branches go out from each internal node i</a:t>
            </a:r>
          </a:p>
          <a:p>
            <a:pPr marL="381000" indent="-3810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None/>
            </a:pP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	n = e + i = 2*i +1	so,  e = i + 1</a:t>
            </a:r>
          </a:p>
          <a:p>
            <a:pPr marL="381000" indent="-3810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AutoNum type="arabicPeriod" startAt="2"/>
            </a:pP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 = 2e – 1</a:t>
            </a:r>
          </a:p>
          <a:p>
            <a:pPr marL="381000" indent="-3810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None/>
            </a:pP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	since n = e + i , e = i + 1, so, n = 2e -1</a:t>
            </a:r>
          </a:p>
          <a:p>
            <a:pPr marL="381000" indent="-3810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None/>
            </a:pP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	also </a:t>
            </a: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 = 2i + 1</a:t>
            </a:r>
          </a:p>
          <a:p>
            <a:pPr marL="381000" indent="-3810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None/>
            </a:pPr>
            <a:endParaRPr lang="en-US" sz="2000" i="1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381000" indent="-3810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AutoNum type="arabicPeriod" startAt="3"/>
            </a:pP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 ≤ 2</a:t>
            </a:r>
            <a:r>
              <a:rPr lang="en-US" sz="2000" i="1" baseline="3000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 marL="381000" indent="-3810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None/>
            </a:pP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	this is the </a:t>
            </a: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maximum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 number of external  nodes in a proper Binary Tree, this represents the leaf nodes in the </a:t>
            </a: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last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 level h of the tree,</a:t>
            </a:r>
          </a:p>
          <a:p>
            <a:pPr marL="381000" indent="-3810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None/>
            </a:pP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	 (where first level is 0, last level is h, number of levels is </a:t>
            </a: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h+1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81000" indent="-3810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AutoNum type="arabicPeriod" startAt="3"/>
            </a:pPr>
            <a:endParaRPr lang="en-US" sz="2000" i="1" smtClean="0">
              <a:latin typeface="Times New Roman" pitchFamily="18" charset="0"/>
              <a:cs typeface="Times New Roman" pitchFamily="18" charset="0"/>
            </a:endParaRPr>
          </a:p>
          <a:p>
            <a:pPr marL="381000" indent="-3810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AutoNum type="arabicPeriod" startAt="4"/>
            </a:pP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 ≥ h + 1 </a:t>
            </a:r>
          </a:p>
          <a:p>
            <a:pPr marL="381000" indent="-3810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None/>
            </a:pP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	this is the </a:t>
            </a: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minimum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 number of external  nodes in a proper B. Tree, where the root has one leaf node, and so each next level has a single leaf node also.</a:t>
            </a: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461386-1591-4537-B61C-FB2B3D339C28}" type="slidenum">
              <a:rPr lang="ar-SA"/>
              <a:pPr>
                <a:defRPr/>
              </a:pPr>
              <a:t>36</a:t>
            </a:fld>
            <a:endParaRPr lang="en-US"/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608013"/>
          </a:xfrm>
          <a:noFill/>
        </p:spPr>
        <p:txBody>
          <a:bodyPr/>
          <a:lstStyle/>
          <a:p>
            <a:pPr eaLnBrk="1" hangingPunct="1"/>
            <a:r>
              <a:rPr lang="en-US" sz="3200" smtClean="0"/>
              <a:t>Justification of Proposition 7.10 (Cont.)</a:t>
            </a:r>
          </a:p>
        </p:txBody>
      </p:sp>
      <p:sp>
        <p:nvSpPr>
          <p:cNvPr id="3994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143000"/>
            <a:ext cx="7772400" cy="42672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AutoNum type="arabicPeriod" startAt="5"/>
            </a:pP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 ≥ 2h + 1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609600" indent="-6096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None/>
            </a:pP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	this is the minimum number of nodes in a proper B. Tree, it’s true by </a:t>
            </a:r>
            <a:r>
              <a:rPr lang="en-US" sz="2000" i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 &amp; 4 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above.</a:t>
            </a:r>
          </a:p>
          <a:p>
            <a:pPr marL="609600" indent="-6096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AutoNum type="arabicPeriod" startAt="6"/>
            </a:pP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 ≥ h</a:t>
            </a:r>
          </a:p>
          <a:p>
            <a:pPr marL="609600" indent="-6096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None/>
            </a:pP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this is the minimum number of internal nodes in a proper B. Tree.</a:t>
            </a:r>
          </a:p>
          <a:p>
            <a:pPr marL="609600" indent="-6096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None/>
            </a:pP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	It’s true from </a:t>
            </a:r>
            <a:r>
              <a:rPr lang="en-US" sz="2000" i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1&amp;4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 above.</a:t>
            </a:r>
          </a:p>
          <a:p>
            <a:pPr marL="609600" indent="-6096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AutoNum type="arabicPeriod" startAt="7"/>
            </a:pP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i ≤ 2</a:t>
            </a:r>
            <a:r>
              <a:rPr lang="en-US" sz="2000" i="1" baseline="3000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- 1</a:t>
            </a:r>
            <a:endParaRPr lang="en-US" sz="2000" i="1" baseline="30000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marL="609600" indent="-6096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None/>
            </a:pP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	This is the maximum number of internal nodes, and comes from </a:t>
            </a:r>
            <a:r>
              <a:rPr lang="en-US" sz="2000" i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1&amp;3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609600" indent="-6096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AutoNum type="arabicPeriod" startAt="8"/>
            </a:pP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2h + 1 ≤ n ≤ 2</a:t>
            </a:r>
            <a:r>
              <a:rPr lang="en-US" sz="2000" i="1" baseline="3000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h+1</a:t>
            </a: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-1</a:t>
            </a:r>
          </a:p>
          <a:p>
            <a:pPr marL="609600" indent="-6096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None/>
            </a:pP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This comes by from </a:t>
            </a:r>
            <a:r>
              <a:rPr lang="en-US" sz="2000" i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6&amp;7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 and also from </a:t>
            </a:r>
            <a:r>
              <a:rPr lang="en-US" sz="2000" i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3&amp;4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609600" indent="-6096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AutoNum type="arabicPeriod" startAt="9"/>
            </a:pP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log</a:t>
            </a:r>
            <a:r>
              <a:rPr lang="en-US" sz="2000" i="1" baseline="-2500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(n+1) -1 ≤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h ≤ (n-1)/2</a:t>
            </a:r>
          </a:p>
          <a:p>
            <a:pPr marL="609600" indent="-609600" eaLnBrk="1" hangingPunct="1">
              <a:lnSpc>
                <a:spcPct val="80000"/>
              </a:lnSpc>
              <a:buClr>
                <a:srgbClr val="000000"/>
              </a:buClr>
              <a:buFont typeface="Wingdings" pitchFamily="2" charset="2"/>
              <a:buNone/>
            </a:pPr>
            <a:r>
              <a:rPr lang="en-US" sz="20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sz="2000" i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 above, by taking the log</a:t>
            </a:r>
            <a:r>
              <a:rPr lang="en-US" sz="2000" i="1" baseline="-2500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i="1" smtClean="0">
                <a:latin typeface="Times New Roman" pitchFamily="18" charset="0"/>
                <a:cs typeface="Times New Roman" pitchFamily="18" charset="0"/>
              </a:rPr>
              <a:t>  for both sides of inequalities.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609600"/>
            <a:ext cx="8458200" cy="762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z="2400" smtClean="0"/>
              <a:t>Internal Nodes &amp; External Nodes in a Proper Binary Tree</a:t>
            </a:r>
          </a:p>
        </p:txBody>
      </p:sp>
      <p:sp>
        <p:nvSpPr>
          <p:cNvPr id="2170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304800" y="1981200"/>
            <a:ext cx="8077200" cy="1752600"/>
          </a:xfrm>
          <a:noFill/>
        </p:spPr>
        <p:txBody>
          <a:bodyPr lIns="92075" tIns="46038" rIns="92075" bIns="46038"/>
          <a:lstStyle/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i="1" smtClean="0">
                <a:solidFill>
                  <a:schemeClr val="accent1"/>
                </a:solidFill>
              </a:rPr>
              <a:t/>
            </a:r>
            <a:br>
              <a:rPr lang="en-US" i="1" smtClean="0">
                <a:solidFill>
                  <a:schemeClr val="accent1"/>
                </a:solidFill>
              </a:rPr>
            </a:br>
            <a:r>
              <a:rPr lang="en-US" sz="2400" i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 = i + 1</a:t>
            </a:r>
            <a:r>
              <a:rPr lang="en-US" smtClean="0">
                <a:solidFill>
                  <a:schemeClr val="accent1"/>
                </a:solidFill>
              </a:rPr>
              <a:t> 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lang="en-US" b="1" i="1" smtClean="0"/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lang="en-US" b="1" i="1" smtClean="0"/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sz="2400" b="1" i="1" smtClean="0"/>
              <a:t>Case 1</a:t>
            </a:r>
            <a:r>
              <a:rPr lang="en-US" sz="2400" smtClean="0"/>
              <a:t>: If </a:t>
            </a:r>
            <a:r>
              <a:rPr lang="en-US" sz="2400" i="1" smtClean="0"/>
              <a:t>T</a:t>
            </a:r>
            <a:r>
              <a:rPr lang="en-US" sz="2400" smtClean="0"/>
              <a:t> has only one node </a:t>
            </a:r>
            <a:r>
              <a:rPr lang="en-US" sz="2400" i="1" smtClean="0"/>
              <a:t>v</a:t>
            </a:r>
            <a:r>
              <a:rPr lang="en-US" sz="2400" smtClean="0"/>
              <a:t> .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endParaRPr lang="en-US" sz="2400" b="1" i="1" smtClean="0"/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sz="2400" b="1" i="1" smtClean="0"/>
              <a:t>Case 2</a:t>
            </a:r>
            <a:r>
              <a:rPr lang="en-US" sz="2400" smtClean="0"/>
              <a:t>: Otherwise (</a:t>
            </a:r>
            <a:r>
              <a:rPr lang="en-US" sz="2400" i="1" smtClean="0"/>
              <a:t>T</a:t>
            </a:r>
            <a:r>
              <a:rPr lang="en-US" sz="2400" smtClean="0"/>
              <a:t> has more than one node).</a:t>
            </a:r>
            <a:endParaRPr lang="en-US" sz="2400" smtClean="0">
              <a:solidFill>
                <a:schemeClr val="accent1"/>
              </a:solidFill>
            </a:endParaRPr>
          </a:p>
          <a:p>
            <a:pPr eaLnBrk="1" hangingPunct="1"/>
            <a:endParaRPr lang="en-US" sz="2400" smtClean="0"/>
          </a:p>
        </p:txBody>
      </p:sp>
      <p:pic>
        <p:nvPicPr>
          <p:cNvPr id="2170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752600"/>
            <a:ext cx="6096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2000"/>
                                        <p:tgtEl>
                                          <p:spTgt spid="21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1" grpId="0" build="p" bldLvl="3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72F998-45EB-4520-86F6-5FB02292C11C}" type="slidenum">
              <a:rPr lang="ar-SA"/>
              <a:pPr>
                <a:defRPr/>
              </a:pPr>
              <a:t>38</a:t>
            </a:fld>
            <a:endParaRPr lang="en-US"/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457200"/>
            <a:ext cx="8077200" cy="1447800"/>
          </a:xfrm>
        </p:spPr>
        <p:txBody>
          <a:bodyPr/>
          <a:lstStyle/>
          <a:p>
            <a:pPr eaLnBrk="1" hangingPunct="1"/>
            <a:r>
              <a:rPr lang="en-US" smtClean="0"/>
              <a:t>   </a:t>
            </a:r>
            <a:r>
              <a:rPr lang="en-US" sz="3600" smtClean="0"/>
              <a:t>2.3.4  Binary Tree representation</a:t>
            </a:r>
          </a:p>
        </p:txBody>
      </p:sp>
      <p:sp>
        <p:nvSpPr>
          <p:cNvPr id="4198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838200" y="3581400"/>
            <a:ext cx="7010400" cy="1752600"/>
          </a:xfrm>
          <a:noFill/>
        </p:spPr>
        <p:txBody>
          <a:bodyPr lIns="92075" tIns="46038" rIns="92075" bIns="46038"/>
          <a:lstStyle/>
          <a:p>
            <a:pPr marL="609600" indent="-609600" algn="l" eaLnBrk="1" hangingPunct="1">
              <a:buClr>
                <a:schemeClr val="tx2"/>
              </a:buClr>
              <a:buFont typeface="Wingdings" pitchFamily="2" charset="2"/>
              <a:buAutoNum type="arabicPeriod"/>
            </a:pPr>
            <a:r>
              <a:rPr lang="en-US" b="1" smtClean="0"/>
              <a:t>Linked Structure</a:t>
            </a:r>
          </a:p>
          <a:p>
            <a:pPr marL="609600" indent="-609600" algn="l" eaLnBrk="1" hangingPunct="1">
              <a:buClr>
                <a:schemeClr val="tx2"/>
              </a:buClr>
              <a:buFont typeface="Wingdings" pitchFamily="2" charset="2"/>
              <a:buAutoNum type="arabicPeriod"/>
            </a:pPr>
            <a:r>
              <a:rPr lang="en-US" b="1" smtClean="0"/>
              <a:t>Array List</a:t>
            </a: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7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FABE16-3ED1-49A9-A535-83B43C8406DC}" type="slidenum">
              <a:rPr lang="ar-SA"/>
              <a:pPr>
                <a:defRPr/>
              </a:pPr>
              <a:t>39</a:t>
            </a:fld>
            <a:endParaRPr lang="en-US"/>
          </a:p>
        </p:txBody>
      </p:sp>
      <p:grpSp>
        <p:nvGrpSpPr>
          <p:cNvPr id="43012" name="Group 2"/>
          <p:cNvGrpSpPr>
            <a:grpSpLocks/>
          </p:cNvGrpSpPr>
          <p:nvPr/>
        </p:nvGrpSpPr>
        <p:grpSpPr bwMode="auto">
          <a:xfrm>
            <a:off x="4114800" y="1905000"/>
            <a:ext cx="1028700" cy="342900"/>
            <a:chOff x="2232" y="2244"/>
            <a:chExt cx="648" cy="216"/>
          </a:xfrm>
        </p:grpSpPr>
        <p:sp>
          <p:nvSpPr>
            <p:cNvPr id="43081" name="Rectangle 3"/>
            <p:cNvSpPr>
              <a:spLocks noChangeArrowheads="1"/>
            </p:cNvSpPr>
            <p:nvPr/>
          </p:nvSpPr>
          <p:spPr bwMode="auto">
            <a:xfrm>
              <a:off x="2232" y="2244"/>
              <a:ext cx="216" cy="21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82" name="Rectangle 4"/>
            <p:cNvSpPr>
              <a:spLocks noChangeArrowheads="1"/>
            </p:cNvSpPr>
            <p:nvPr/>
          </p:nvSpPr>
          <p:spPr bwMode="auto">
            <a:xfrm>
              <a:off x="2664" y="2244"/>
              <a:ext cx="216" cy="21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83" name="Rectangle 5"/>
            <p:cNvSpPr>
              <a:spLocks noChangeArrowheads="1"/>
            </p:cNvSpPr>
            <p:nvPr/>
          </p:nvSpPr>
          <p:spPr bwMode="auto">
            <a:xfrm>
              <a:off x="2448" y="2244"/>
              <a:ext cx="216" cy="216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  <a:sym typeface="Symbol" pitchFamily="18" charset="2"/>
                </a:rPr>
                <a:t></a:t>
              </a:r>
            </a:p>
          </p:txBody>
        </p:sp>
      </p:grpSp>
      <p:sp>
        <p:nvSpPr>
          <p:cNvPr id="43013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Linked Structure for Trees</a:t>
            </a:r>
          </a:p>
        </p:txBody>
      </p:sp>
      <p:sp>
        <p:nvSpPr>
          <p:cNvPr id="43014" name="Rectangle 7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3200400" cy="2133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1800" smtClean="0"/>
              <a:t>A node is represented by an object storing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600" smtClean="0"/>
              <a:t>Element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600" smtClean="0"/>
              <a:t>Parent node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600" smtClean="0"/>
              <a:t>Sequence of children nodes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smtClean="0"/>
              <a:t>Node objects implement the Position ADT</a:t>
            </a:r>
          </a:p>
        </p:txBody>
      </p:sp>
      <p:sp>
        <p:nvSpPr>
          <p:cNvPr id="43015" name="Oval 8"/>
          <p:cNvSpPr>
            <a:spLocks noChangeArrowheads="1"/>
          </p:cNvSpPr>
          <p:nvPr/>
        </p:nvSpPr>
        <p:spPr bwMode="auto">
          <a:xfrm>
            <a:off x="2271713" y="3962400"/>
            <a:ext cx="501650" cy="5000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pPr eaLnBrk="1" hangingPunct="1"/>
            <a:r>
              <a:rPr lang="en-US" b="0" i="0">
                <a:latin typeface="Tahoma" pitchFamily="34" charset="0"/>
                <a:sym typeface="Symbol" pitchFamily="18" charset="2"/>
              </a:rPr>
              <a:t>B</a:t>
            </a:r>
            <a:endParaRPr lang="en-US" b="0" i="0">
              <a:latin typeface="Tahoma" pitchFamily="34" charset="0"/>
            </a:endParaRPr>
          </a:p>
        </p:txBody>
      </p:sp>
      <p:sp>
        <p:nvSpPr>
          <p:cNvPr id="43016" name="Oval 9"/>
          <p:cNvSpPr>
            <a:spLocks noChangeArrowheads="1"/>
          </p:cNvSpPr>
          <p:nvPr/>
        </p:nvSpPr>
        <p:spPr bwMode="auto">
          <a:xfrm>
            <a:off x="2279650" y="4778375"/>
            <a:ext cx="501650" cy="5000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pPr algn="ctr" eaLnBrk="1" hangingPunct="1"/>
            <a:r>
              <a:rPr lang="en-US" b="0" i="0">
                <a:latin typeface="Tahoma" pitchFamily="34" charset="0"/>
              </a:rPr>
              <a:t>D</a:t>
            </a:r>
          </a:p>
        </p:txBody>
      </p:sp>
      <p:sp>
        <p:nvSpPr>
          <p:cNvPr id="43017" name="Rectangle 10"/>
          <p:cNvSpPr>
            <a:spLocks noChangeArrowheads="1"/>
          </p:cNvSpPr>
          <p:nvPr/>
        </p:nvSpPr>
        <p:spPr bwMode="auto">
          <a:xfrm>
            <a:off x="1133475" y="4778375"/>
            <a:ext cx="500063" cy="50006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b="0" i="0">
                <a:latin typeface="Tahoma" pitchFamily="34" charset="0"/>
              </a:rPr>
              <a:t>A</a:t>
            </a:r>
          </a:p>
        </p:txBody>
      </p:sp>
      <p:sp>
        <p:nvSpPr>
          <p:cNvPr id="43018" name="Rectangle 11"/>
          <p:cNvSpPr>
            <a:spLocks noChangeArrowheads="1"/>
          </p:cNvSpPr>
          <p:nvPr/>
        </p:nvSpPr>
        <p:spPr bwMode="auto">
          <a:xfrm>
            <a:off x="1797050" y="5638800"/>
            <a:ext cx="500063" cy="50006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b="0" i="0">
                <a:latin typeface="Tahoma" pitchFamily="34" charset="0"/>
              </a:rPr>
              <a:t>C</a:t>
            </a:r>
          </a:p>
        </p:txBody>
      </p:sp>
      <p:sp>
        <p:nvSpPr>
          <p:cNvPr id="43019" name="Rectangle 12"/>
          <p:cNvSpPr>
            <a:spLocks noChangeArrowheads="1"/>
          </p:cNvSpPr>
          <p:nvPr/>
        </p:nvSpPr>
        <p:spPr bwMode="auto">
          <a:xfrm>
            <a:off x="2798763" y="5638800"/>
            <a:ext cx="500062" cy="50006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b="0" i="0">
                <a:latin typeface="Tahoma" pitchFamily="34" charset="0"/>
              </a:rPr>
              <a:t>E</a:t>
            </a:r>
          </a:p>
        </p:txBody>
      </p:sp>
      <p:cxnSp>
        <p:nvCxnSpPr>
          <p:cNvPr id="43020" name="AutoShape 13"/>
          <p:cNvCxnSpPr>
            <a:cxnSpLocks noChangeShapeType="1"/>
            <a:stCxn id="43019" idx="0"/>
            <a:endCxn id="43016" idx="5"/>
          </p:cNvCxnSpPr>
          <p:nvPr/>
        </p:nvCxnSpPr>
        <p:spPr bwMode="auto">
          <a:xfrm flipH="1" flipV="1">
            <a:off x="2708275" y="5214938"/>
            <a:ext cx="341313" cy="4143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1" name="AutoShape 14"/>
          <p:cNvCxnSpPr>
            <a:cxnSpLocks noChangeShapeType="1"/>
            <a:stCxn id="43018" idx="0"/>
            <a:endCxn id="43016" idx="3"/>
          </p:cNvCxnSpPr>
          <p:nvPr/>
        </p:nvCxnSpPr>
        <p:spPr bwMode="auto">
          <a:xfrm flipV="1">
            <a:off x="2047875" y="5214938"/>
            <a:ext cx="304800" cy="4143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2" name="AutoShape 15"/>
          <p:cNvCxnSpPr>
            <a:cxnSpLocks noChangeShapeType="1"/>
            <a:stCxn id="43017" idx="0"/>
            <a:endCxn id="43015" idx="3"/>
          </p:cNvCxnSpPr>
          <p:nvPr/>
        </p:nvCxnSpPr>
        <p:spPr bwMode="auto">
          <a:xfrm flipV="1">
            <a:off x="1384300" y="4398963"/>
            <a:ext cx="960438" cy="3698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3" name="AutoShape 16"/>
          <p:cNvCxnSpPr>
            <a:cxnSpLocks noChangeShapeType="1"/>
            <a:stCxn id="43016" idx="0"/>
            <a:endCxn id="43015" idx="4"/>
          </p:cNvCxnSpPr>
          <p:nvPr/>
        </p:nvCxnSpPr>
        <p:spPr bwMode="auto">
          <a:xfrm flipH="1" flipV="1">
            <a:off x="2522538" y="4471988"/>
            <a:ext cx="7937" cy="2968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24" name="Rectangle 17"/>
          <p:cNvSpPr>
            <a:spLocks noChangeArrowheads="1"/>
          </p:cNvSpPr>
          <p:nvPr/>
        </p:nvSpPr>
        <p:spPr bwMode="auto">
          <a:xfrm>
            <a:off x="3386138" y="4779963"/>
            <a:ext cx="500062" cy="500062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b="0" i="0">
                <a:latin typeface="Tahoma" pitchFamily="34" charset="0"/>
              </a:rPr>
              <a:t>F</a:t>
            </a:r>
          </a:p>
        </p:txBody>
      </p:sp>
      <p:cxnSp>
        <p:nvCxnSpPr>
          <p:cNvPr id="43025" name="AutoShape 18"/>
          <p:cNvCxnSpPr>
            <a:cxnSpLocks noChangeShapeType="1"/>
            <a:stCxn id="43024" idx="0"/>
            <a:endCxn id="43015" idx="5"/>
          </p:cNvCxnSpPr>
          <p:nvPr/>
        </p:nvCxnSpPr>
        <p:spPr bwMode="auto">
          <a:xfrm flipH="1" flipV="1">
            <a:off x="2700338" y="4398963"/>
            <a:ext cx="936625" cy="3714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26" name="AutoShape 19"/>
          <p:cNvSpPr>
            <a:spLocks noChangeArrowheads="1"/>
          </p:cNvSpPr>
          <p:nvPr/>
        </p:nvSpPr>
        <p:spPr bwMode="auto">
          <a:xfrm>
            <a:off x="5448300" y="1978025"/>
            <a:ext cx="1371600" cy="415925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3027" name="AutoShape 20"/>
          <p:cNvCxnSpPr>
            <a:cxnSpLocks noChangeShapeType="1"/>
            <a:stCxn id="43030" idx="2"/>
            <a:endCxn id="43028" idx="6"/>
          </p:cNvCxnSpPr>
          <p:nvPr/>
        </p:nvCxnSpPr>
        <p:spPr bwMode="auto">
          <a:xfrm flipH="1">
            <a:off x="5830888" y="2185988"/>
            <a:ext cx="6064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28" name="Oval 21"/>
          <p:cNvSpPr>
            <a:spLocks noChangeArrowheads="1"/>
          </p:cNvSpPr>
          <p:nvPr/>
        </p:nvSpPr>
        <p:spPr bwMode="auto">
          <a:xfrm>
            <a:off x="5510213" y="2030413"/>
            <a:ext cx="312737" cy="3111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29" name="Oval 22"/>
          <p:cNvSpPr>
            <a:spLocks noChangeArrowheads="1"/>
          </p:cNvSpPr>
          <p:nvPr/>
        </p:nvSpPr>
        <p:spPr bwMode="auto">
          <a:xfrm>
            <a:off x="5978525" y="2030413"/>
            <a:ext cx="311150" cy="3111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30" name="Oval 23"/>
          <p:cNvSpPr>
            <a:spLocks noChangeArrowheads="1"/>
          </p:cNvSpPr>
          <p:nvPr/>
        </p:nvSpPr>
        <p:spPr bwMode="auto">
          <a:xfrm>
            <a:off x="6445250" y="2030413"/>
            <a:ext cx="312738" cy="31115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3031" name="Group 24"/>
          <p:cNvGrpSpPr>
            <a:grpSpLocks/>
          </p:cNvGrpSpPr>
          <p:nvPr/>
        </p:nvGrpSpPr>
        <p:grpSpPr bwMode="auto">
          <a:xfrm>
            <a:off x="6934200" y="4683125"/>
            <a:ext cx="914400" cy="498475"/>
            <a:chOff x="4560" y="3216"/>
            <a:chExt cx="576" cy="314"/>
          </a:xfrm>
        </p:grpSpPr>
        <p:sp>
          <p:nvSpPr>
            <p:cNvPr id="43077" name="AutoShape 25"/>
            <p:cNvSpPr>
              <a:spLocks noChangeArrowheads="1"/>
            </p:cNvSpPr>
            <p:nvPr/>
          </p:nvSpPr>
          <p:spPr bwMode="auto">
            <a:xfrm>
              <a:off x="4560" y="3216"/>
              <a:ext cx="576" cy="314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43078" name="AutoShape 26"/>
            <p:cNvCxnSpPr>
              <a:cxnSpLocks noChangeShapeType="1"/>
              <a:stCxn id="43080" idx="2"/>
              <a:endCxn id="43079" idx="6"/>
            </p:cNvCxnSpPr>
            <p:nvPr/>
          </p:nvCxnSpPr>
          <p:spPr bwMode="auto">
            <a:xfrm flipH="1">
              <a:off x="4802" y="3373"/>
              <a:ext cx="86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3079" name="Oval 27"/>
            <p:cNvSpPr>
              <a:spLocks noChangeArrowheads="1"/>
            </p:cNvSpPr>
            <p:nvPr/>
          </p:nvSpPr>
          <p:spPr bwMode="auto">
            <a:xfrm>
              <a:off x="4599" y="3275"/>
              <a:ext cx="197" cy="196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80" name="Oval 28"/>
            <p:cNvSpPr>
              <a:spLocks noChangeArrowheads="1"/>
            </p:cNvSpPr>
            <p:nvPr/>
          </p:nvSpPr>
          <p:spPr bwMode="auto">
            <a:xfrm>
              <a:off x="4894" y="3275"/>
              <a:ext cx="196" cy="196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43032" name="AutoShape 29"/>
          <p:cNvCxnSpPr>
            <a:cxnSpLocks noChangeShapeType="1"/>
            <a:endCxn id="43033" idx="0"/>
          </p:cNvCxnSpPr>
          <p:nvPr/>
        </p:nvCxnSpPr>
        <p:spPr bwMode="auto">
          <a:xfrm rot="16200000" flipH="1">
            <a:off x="4045744" y="2278856"/>
            <a:ext cx="457200" cy="14288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33" name="Text Box 30"/>
          <p:cNvSpPr txBox="1">
            <a:spLocks noChangeArrowheads="1"/>
          </p:cNvSpPr>
          <p:nvPr/>
        </p:nvSpPr>
        <p:spPr bwMode="auto">
          <a:xfrm>
            <a:off x="4114800" y="2514600"/>
            <a:ext cx="333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B</a:t>
            </a:r>
          </a:p>
        </p:txBody>
      </p:sp>
      <p:cxnSp>
        <p:nvCxnSpPr>
          <p:cNvPr id="43034" name="AutoShape 31"/>
          <p:cNvCxnSpPr>
            <a:cxnSpLocks noChangeShapeType="1"/>
          </p:cNvCxnSpPr>
          <p:nvPr/>
        </p:nvCxnSpPr>
        <p:spPr bwMode="auto">
          <a:xfrm>
            <a:off x="5000625" y="2079625"/>
            <a:ext cx="447675" cy="96838"/>
          </a:xfrm>
          <a:prstGeom prst="curvedConnector3">
            <a:avLst>
              <a:gd name="adj1" fmla="val 51065"/>
            </a:avLst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35" name="Oval 32"/>
          <p:cNvSpPr>
            <a:spLocks noChangeArrowheads="1"/>
          </p:cNvSpPr>
          <p:nvPr/>
        </p:nvSpPr>
        <p:spPr bwMode="auto">
          <a:xfrm>
            <a:off x="5619750" y="2108200"/>
            <a:ext cx="76200" cy="762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36" name="Oval 33"/>
          <p:cNvSpPr>
            <a:spLocks noChangeArrowheads="1"/>
          </p:cNvSpPr>
          <p:nvPr/>
        </p:nvSpPr>
        <p:spPr bwMode="auto">
          <a:xfrm>
            <a:off x="6091238" y="2108200"/>
            <a:ext cx="76200" cy="762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37" name="Oval 34"/>
          <p:cNvSpPr>
            <a:spLocks noChangeArrowheads="1"/>
          </p:cNvSpPr>
          <p:nvPr/>
        </p:nvSpPr>
        <p:spPr bwMode="auto">
          <a:xfrm>
            <a:off x="6562725" y="2108200"/>
            <a:ext cx="76200" cy="762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3038" name="AutoShape 35"/>
          <p:cNvCxnSpPr>
            <a:cxnSpLocks noChangeShapeType="1"/>
            <a:stCxn id="43036" idx="4"/>
            <a:endCxn id="43045" idx="0"/>
          </p:cNvCxnSpPr>
          <p:nvPr/>
        </p:nvCxnSpPr>
        <p:spPr bwMode="auto">
          <a:xfrm rot="16200000" flipH="1">
            <a:off x="6041231" y="2272507"/>
            <a:ext cx="987425" cy="811212"/>
          </a:xfrm>
          <a:prstGeom prst="curvedConnector3">
            <a:avLst>
              <a:gd name="adj1" fmla="val 50481"/>
            </a:avLst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39" name="AutoShape 36"/>
          <p:cNvCxnSpPr>
            <a:cxnSpLocks noChangeShapeType="1"/>
            <a:stCxn id="43037" idx="4"/>
            <a:endCxn id="43048" idx="0"/>
          </p:cNvCxnSpPr>
          <p:nvPr/>
        </p:nvCxnSpPr>
        <p:spPr bwMode="auto">
          <a:xfrm rot="16200000" flipH="1">
            <a:off x="6897687" y="1887538"/>
            <a:ext cx="987425" cy="1581150"/>
          </a:xfrm>
          <a:prstGeom prst="curvedConnector3">
            <a:avLst>
              <a:gd name="adj1" fmla="val 50481"/>
            </a:avLst>
          </a:prstGeom>
          <a:noFill/>
          <a:ln w="19050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40" name="Rectangle 37"/>
          <p:cNvSpPr>
            <a:spLocks noChangeArrowheads="1"/>
          </p:cNvSpPr>
          <p:nvPr/>
        </p:nvSpPr>
        <p:spPr bwMode="auto">
          <a:xfrm>
            <a:off x="5184775" y="3181350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41" name="Rectangle 38"/>
          <p:cNvSpPr>
            <a:spLocks noChangeArrowheads="1"/>
          </p:cNvSpPr>
          <p:nvPr/>
        </p:nvSpPr>
        <p:spPr bwMode="auto">
          <a:xfrm>
            <a:off x="5870575" y="3181350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b="0" i="0">
                <a:solidFill>
                  <a:schemeClr val="tx1"/>
                </a:solidFill>
                <a:latin typeface="Tahoma" pitchFamily="34" charset="0"/>
                <a:sym typeface="Symbol" pitchFamily="18" charset="2"/>
              </a:rPr>
              <a:t></a:t>
            </a:r>
          </a:p>
        </p:txBody>
      </p:sp>
      <p:sp>
        <p:nvSpPr>
          <p:cNvPr id="43042" name="Rectangle 39"/>
          <p:cNvSpPr>
            <a:spLocks noChangeArrowheads="1"/>
          </p:cNvSpPr>
          <p:nvPr/>
        </p:nvSpPr>
        <p:spPr bwMode="auto">
          <a:xfrm>
            <a:off x="5527675" y="3181350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 b="0" i="0">
              <a:solidFill>
                <a:schemeClr val="tx1"/>
              </a:solidFill>
              <a:latin typeface="Tahoma" pitchFamily="34" charset="0"/>
              <a:sym typeface="Symbol" pitchFamily="18" charset="2"/>
            </a:endParaRPr>
          </a:p>
        </p:txBody>
      </p:sp>
      <p:sp>
        <p:nvSpPr>
          <p:cNvPr id="43043" name="Rectangle 40"/>
          <p:cNvSpPr>
            <a:spLocks noChangeArrowheads="1"/>
          </p:cNvSpPr>
          <p:nvPr/>
        </p:nvSpPr>
        <p:spPr bwMode="auto">
          <a:xfrm>
            <a:off x="6426200" y="3181350"/>
            <a:ext cx="3429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44" name="Rectangle 41"/>
          <p:cNvSpPr>
            <a:spLocks noChangeArrowheads="1"/>
          </p:cNvSpPr>
          <p:nvPr/>
        </p:nvSpPr>
        <p:spPr bwMode="auto">
          <a:xfrm>
            <a:off x="7112000" y="3181350"/>
            <a:ext cx="3429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 b="0" i="0">
              <a:solidFill>
                <a:schemeClr val="tx1"/>
              </a:solidFill>
              <a:latin typeface="Tahoma" pitchFamily="34" charset="0"/>
              <a:sym typeface="Symbol" pitchFamily="18" charset="2"/>
            </a:endParaRPr>
          </a:p>
        </p:txBody>
      </p:sp>
      <p:sp>
        <p:nvSpPr>
          <p:cNvPr id="43045" name="Rectangle 42"/>
          <p:cNvSpPr>
            <a:spLocks noChangeArrowheads="1"/>
          </p:cNvSpPr>
          <p:nvPr/>
        </p:nvSpPr>
        <p:spPr bwMode="auto">
          <a:xfrm>
            <a:off x="6769100" y="3181350"/>
            <a:ext cx="3429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 b="0" i="0">
              <a:solidFill>
                <a:schemeClr val="tx1"/>
              </a:solidFill>
              <a:latin typeface="Tahoma" pitchFamily="34" charset="0"/>
              <a:sym typeface="Symbol" pitchFamily="18" charset="2"/>
            </a:endParaRPr>
          </a:p>
        </p:txBody>
      </p:sp>
      <p:sp>
        <p:nvSpPr>
          <p:cNvPr id="43046" name="Rectangle 43"/>
          <p:cNvSpPr>
            <a:spLocks noChangeArrowheads="1"/>
          </p:cNvSpPr>
          <p:nvPr/>
        </p:nvSpPr>
        <p:spPr bwMode="auto">
          <a:xfrm>
            <a:off x="7667625" y="3181350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47" name="Rectangle 44"/>
          <p:cNvSpPr>
            <a:spLocks noChangeArrowheads="1"/>
          </p:cNvSpPr>
          <p:nvPr/>
        </p:nvSpPr>
        <p:spPr bwMode="auto">
          <a:xfrm>
            <a:off x="8353425" y="3181350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b="0" i="0">
                <a:solidFill>
                  <a:schemeClr val="tx1"/>
                </a:solidFill>
                <a:latin typeface="Tahoma" pitchFamily="34" charset="0"/>
                <a:sym typeface="Symbol" pitchFamily="18" charset="2"/>
              </a:rPr>
              <a:t></a:t>
            </a:r>
          </a:p>
        </p:txBody>
      </p:sp>
      <p:sp>
        <p:nvSpPr>
          <p:cNvPr id="43048" name="Rectangle 45"/>
          <p:cNvSpPr>
            <a:spLocks noChangeArrowheads="1"/>
          </p:cNvSpPr>
          <p:nvPr/>
        </p:nvSpPr>
        <p:spPr bwMode="auto">
          <a:xfrm>
            <a:off x="8010525" y="3181350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 b="0" i="0">
              <a:solidFill>
                <a:schemeClr val="tx1"/>
              </a:solidFill>
              <a:latin typeface="Tahoma" pitchFamily="34" charset="0"/>
              <a:sym typeface="Symbol" pitchFamily="18" charset="2"/>
            </a:endParaRPr>
          </a:p>
        </p:txBody>
      </p:sp>
      <p:cxnSp>
        <p:nvCxnSpPr>
          <p:cNvPr id="43049" name="AutoShape 46"/>
          <p:cNvCxnSpPr>
            <a:cxnSpLocks noChangeShapeType="1"/>
            <a:endCxn id="43050" idx="0"/>
          </p:cNvCxnSpPr>
          <p:nvPr/>
        </p:nvCxnSpPr>
        <p:spPr bwMode="auto">
          <a:xfrm rot="16200000" flipH="1">
            <a:off x="5212557" y="3493293"/>
            <a:ext cx="438150" cy="138113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50" name="Text Box 47"/>
          <p:cNvSpPr txBox="1">
            <a:spLocks noChangeArrowheads="1"/>
          </p:cNvSpPr>
          <p:nvPr/>
        </p:nvSpPr>
        <p:spPr bwMode="auto">
          <a:xfrm>
            <a:off x="5334000" y="3781425"/>
            <a:ext cx="333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A</a:t>
            </a:r>
          </a:p>
        </p:txBody>
      </p:sp>
      <p:cxnSp>
        <p:nvCxnSpPr>
          <p:cNvPr id="43051" name="AutoShape 48"/>
          <p:cNvCxnSpPr>
            <a:cxnSpLocks noChangeShapeType="1"/>
            <a:endCxn id="43052" idx="0"/>
          </p:cNvCxnSpPr>
          <p:nvPr/>
        </p:nvCxnSpPr>
        <p:spPr bwMode="auto">
          <a:xfrm rot="16200000" flipH="1">
            <a:off x="6461919" y="3493294"/>
            <a:ext cx="438150" cy="138112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52" name="Text Box 49"/>
          <p:cNvSpPr txBox="1">
            <a:spLocks noChangeArrowheads="1"/>
          </p:cNvSpPr>
          <p:nvPr/>
        </p:nvSpPr>
        <p:spPr bwMode="auto">
          <a:xfrm>
            <a:off x="6570663" y="3781425"/>
            <a:ext cx="357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D</a:t>
            </a:r>
          </a:p>
        </p:txBody>
      </p:sp>
      <p:sp>
        <p:nvSpPr>
          <p:cNvPr id="43053" name="Text Box 50"/>
          <p:cNvSpPr txBox="1">
            <a:spLocks noChangeArrowheads="1"/>
          </p:cNvSpPr>
          <p:nvPr/>
        </p:nvSpPr>
        <p:spPr bwMode="auto">
          <a:xfrm>
            <a:off x="7818438" y="3781425"/>
            <a:ext cx="315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F</a:t>
            </a:r>
          </a:p>
        </p:txBody>
      </p:sp>
      <p:cxnSp>
        <p:nvCxnSpPr>
          <p:cNvPr id="43054" name="AutoShape 51"/>
          <p:cNvCxnSpPr>
            <a:cxnSpLocks noChangeShapeType="1"/>
            <a:endCxn id="43053" idx="0"/>
          </p:cNvCxnSpPr>
          <p:nvPr/>
        </p:nvCxnSpPr>
        <p:spPr bwMode="auto">
          <a:xfrm rot="16200000" flipH="1">
            <a:off x="7689057" y="3493293"/>
            <a:ext cx="438150" cy="138113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55" name="Oval 52"/>
          <p:cNvSpPr>
            <a:spLocks noChangeArrowheads="1"/>
          </p:cNvSpPr>
          <p:nvPr/>
        </p:nvSpPr>
        <p:spPr bwMode="auto">
          <a:xfrm>
            <a:off x="5695950" y="3309938"/>
            <a:ext cx="76200" cy="762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56" name="Oval 53"/>
          <p:cNvSpPr>
            <a:spLocks noChangeArrowheads="1"/>
          </p:cNvSpPr>
          <p:nvPr/>
        </p:nvSpPr>
        <p:spPr bwMode="auto">
          <a:xfrm>
            <a:off x="6927850" y="3309938"/>
            <a:ext cx="76200" cy="762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57" name="Oval 54"/>
          <p:cNvSpPr>
            <a:spLocks noChangeArrowheads="1"/>
          </p:cNvSpPr>
          <p:nvPr/>
        </p:nvSpPr>
        <p:spPr bwMode="auto">
          <a:xfrm>
            <a:off x="8159750" y="3309938"/>
            <a:ext cx="76200" cy="762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58" name="Freeform 55"/>
          <p:cNvSpPr>
            <a:spLocks/>
          </p:cNvSpPr>
          <p:nvPr/>
        </p:nvSpPr>
        <p:spPr bwMode="auto">
          <a:xfrm>
            <a:off x="4924425" y="2257425"/>
            <a:ext cx="917575" cy="1976438"/>
          </a:xfrm>
          <a:custGeom>
            <a:avLst/>
            <a:gdLst>
              <a:gd name="T0" fmla="*/ 2147483647 w 578"/>
              <a:gd name="T1" fmla="*/ 2147483647 h 1245"/>
              <a:gd name="T2" fmla="*/ 2147483647 w 578"/>
              <a:gd name="T3" fmla="*/ 2147483647 h 1245"/>
              <a:gd name="T4" fmla="*/ 2147483647 w 578"/>
              <a:gd name="T5" fmla="*/ 2147483647 h 1245"/>
              <a:gd name="T6" fmla="*/ 2147483647 w 578"/>
              <a:gd name="T7" fmla="*/ 2147483647 h 1245"/>
              <a:gd name="T8" fmla="*/ 2147483647 w 578"/>
              <a:gd name="T9" fmla="*/ 2147483647 h 1245"/>
              <a:gd name="T10" fmla="*/ 0 w 578"/>
              <a:gd name="T11" fmla="*/ 0 h 124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78"/>
              <a:gd name="T19" fmla="*/ 0 h 1245"/>
              <a:gd name="T20" fmla="*/ 578 w 578"/>
              <a:gd name="T21" fmla="*/ 1245 h 124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78" h="1245">
                <a:moveTo>
                  <a:pt x="486" y="684"/>
                </a:moveTo>
                <a:cubicBezTo>
                  <a:pt x="492" y="712"/>
                  <a:pt x="517" y="780"/>
                  <a:pt x="528" y="852"/>
                </a:cubicBezTo>
                <a:cubicBezTo>
                  <a:pt x="539" y="924"/>
                  <a:pt x="578" y="1057"/>
                  <a:pt x="552" y="1116"/>
                </a:cubicBezTo>
                <a:cubicBezTo>
                  <a:pt x="526" y="1175"/>
                  <a:pt x="435" y="1218"/>
                  <a:pt x="372" y="1206"/>
                </a:cubicBezTo>
                <a:cubicBezTo>
                  <a:pt x="309" y="1194"/>
                  <a:pt x="236" y="1245"/>
                  <a:pt x="174" y="1044"/>
                </a:cubicBezTo>
                <a:cubicBezTo>
                  <a:pt x="112" y="843"/>
                  <a:pt x="36" y="217"/>
                  <a:pt x="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59" name="Freeform 56"/>
          <p:cNvSpPr>
            <a:spLocks/>
          </p:cNvSpPr>
          <p:nvPr/>
        </p:nvSpPr>
        <p:spPr bwMode="auto">
          <a:xfrm>
            <a:off x="4733925" y="2257425"/>
            <a:ext cx="2405063" cy="2159000"/>
          </a:xfrm>
          <a:custGeom>
            <a:avLst/>
            <a:gdLst>
              <a:gd name="T0" fmla="*/ 2147483647 w 1515"/>
              <a:gd name="T1" fmla="*/ 2147483647 h 1360"/>
              <a:gd name="T2" fmla="*/ 2147483647 w 1515"/>
              <a:gd name="T3" fmla="*/ 2147483647 h 1360"/>
              <a:gd name="T4" fmla="*/ 2147483647 w 1515"/>
              <a:gd name="T5" fmla="*/ 2147483647 h 1360"/>
              <a:gd name="T6" fmla="*/ 2147483647 w 1515"/>
              <a:gd name="T7" fmla="*/ 2147483647 h 1360"/>
              <a:gd name="T8" fmla="*/ 0 w 1515"/>
              <a:gd name="T9" fmla="*/ 0 h 13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15"/>
              <a:gd name="T16" fmla="*/ 0 h 1360"/>
              <a:gd name="T17" fmla="*/ 1515 w 1515"/>
              <a:gd name="T18" fmla="*/ 1360 h 13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15" h="1360">
                <a:moveTo>
                  <a:pt x="1398" y="684"/>
                </a:moveTo>
                <a:cubicBezTo>
                  <a:pt x="1389" y="779"/>
                  <a:pt x="1515" y="1160"/>
                  <a:pt x="1344" y="1260"/>
                </a:cubicBezTo>
                <a:cubicBezTo>
                  <a:pt x="1173" y="1360"/>
                  <a:pt x="571" y="1350"/>
                  <a:pt x="372" y="1284"/>
                </a:cubicBezTo>
                <a:cubicBezTo>
                  <a:pt x="173" y="1218"/>
                  <a:pt x="212" y="1078"/>
                  <a:pt x="150" y="864"/>
                </a:cubicBezTo>
                <a:cubicBezTo>
                  <a:pt x="88" y="650"/>
                  <a:pt x="31" y="180"/>
                  <a:pt x="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60" name="Freeform 57"/>
          <p:cNvSpPr>
            <a:spLocks/>
          </p:cNvSpPr>
          <p:nvPr/>
        </p:nvSpPr>
        <p:spPr bwMode="auto">
          <a:xfrm>
            <a:off x="4516438" y="2266950"/>
            <a:ext cx="3824287" cy="2346325"/>
          </a:xfrm>
          <a:custGeom>
            <a:avLst/>
            <a:gdLst>
              <a:gd name="T0" fmla="*/ 2147483647 w 2409"/>
              <a:gd name="T1" fmla="*/ 2147483647 h 1478"/>
              <a:gd name="T2" fmla="*/ 2147483647 w 2409"/>
              <a:gd name="T3" fmla="*/ 2147483647 h 1478"/>
              <a:gd name="T4" fmla="*/ 2147483647 w 2409"/>
              <a:gd name="T5" fmla="*/ 2147483647 h 1478"/>
              <a:gd name="T6" fmla="*/ 2147483647 w 2409"/>
              <a:gd name="T7" fmla="*/ 2147483647 h 1478"/>
              <a:gd name="T8" fmla="*/ 2147483647 w 2409"/>
              <a:gd name="T9" fmla="*/ 0 h 14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09"/>
              <a:gd name="T16" fmla="*/ 0 h 1478"/>
              <a:gd name="T17" fmla="*/ 2409 w 2409"/>
              <a:gd name="T18" fmla="*/ 1478 h 14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09" h="1478">
                <a:moveTo>
                  <a:pt x="2309" y="684"/>
                </a:moveTo>
                <a:cubicBezTo>
                  <a:pt x="2306" y="765"/>
                  <a:pt x="2409" y="1054"/>
                  <a:pt x="2291" y="1170"/>
                </a:cubicBezTo>
                <a:cubicBezTo>
                  <a:pt x="2173" y="1286"/>
                  <a:pt x="1939" y="1367"/>
                  <a:pt x="1601" y="1380"/>
                </a:cubicBezTo>
                <a:cubicBezTo>
                  <a:pt x="1263" y="1393"/>
                  <a:pt x="526" y="1478"/>
                  <a:pt x="263" y="1248"/>
                </a:cubicBezTo>
                <a:cubicBezTo>
                  <a:pt x="0" y="1018"/>
                  <a:pt x="73" y="260"/>
                  <a:pt x="23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61" name="Rectangle 58"/>
          <p:cNvSpPr>
            <a:spLocks noChangeArrowheads="1"/>
          </p:cNvSpPr>
          <p:nvPr/>
        </p:nvSpPr>
        <p:spPr bwMode="auto">
          <a:xfrm>
            <a:off x="6191250" y="5572125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62" name="Rectangle 59"/>
          <p:cNvSpPr>
            <a:spLocks noChangeArrowheads="1"/>
          </p:cNvSpPr>
          <p:nvPr/>
        </p:nvSpPr>
        <p:spPr bwMode="auto">
          <a:xfrm>
            <a:off x="6877050" y="5572125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b="0" i="0">
                <a:solidFill>
                  <a:schemeClr val="tx1"/>
                </a:solidFill>
                <a:latin typeface="Tahoma" pitchFamily="34" charset="0"/>
                <a:sym typeface="Symbol" pitchFamily="18" charset="2"/>
              </a:rPr>
              <a:t></a:t>
            </a:r>
          </a:p>
        </p:txBody>
      </p:sp>
      <p:sp>
        <p:nvSpPr>
          <p:cNvPr id="43063" name="Rectangle 60"/>
          <p:cNvSpPr>
            <a:spLocks noChangeArrowheads="1"/>
          </p:cNvSpPr>
          <p:nvPr/>
        </p:nvSpPr>
        <p:spPr bwMode="auto">
          <a:xfrm>
            <a:off x="6534150" y="5572125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 b="0" i="0">
              <a:solidFill>
                <a:schemeClr val="tx1"/>
              </a:solidFill>
              <a:latin typeface="Tahoma" pitchFamily="34" charset="0"/>
              <a:sym typeface="Symbol" pitchFamily="18" charset="2"/>
            </a:endParaRPr>
          </a:p>
        </p:txBody>
      </p:sp>
      <p:sp>
        <p:nvSpPr>
          <p:cNvPr id="43064" name="Text Box 61"/>
          <p:cNvSpPr txBox="1">
            <a:spLocks noChangeArrowheads="1"/>
          </p:cNvSpPr>
          <p:nvPr/>
        </p:nvSpPr>
        <p:spPr bwMode="auto">
          <a:xfrm>
            <a:off x="6324600" y="603885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C</a:t>
            </a:r>
          </a:p>
        </p:txBody>
      </p:sp>
      <p:cxnSp>
        <p:nvCxnSpPr>
          <p:cNvPr id="43065" name="AutoShape 62"/>
          <p:cNvCxnSpPr>
            <a:cxnSpLocks noChangeShapeType="1"/>
          </p:cNvCxnSpPr>
          <p:nvPr/>
        </p:nvCxnSpPr>
        <p:spPr bwMode="auto">
          <a:xfrm rot="16200000" flipH="1">
            <a:off x="6251575" y="5845175"/>
            <a:ext cx="361950" cy="139700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66" name="Freeform 63"/>
          <p:cNvSpPr>
            <a:spLocks/>
          </p:cNvSpPr>
          <p:nvPr/>
        </p:nvSpPr>
        <p:spPr bwMode="auto">
          <a:xfrm>
            <a:off x="7119938" y="3333750"/>
            <a:ext cx="290512" cy="1343025"/>
          </a:xfrm>
          <a:custGeom>
            <a:avLst/>
            <a:gdLst>
              <a:gd name="T0" fmla="*/ 2147483647 w 183"/>
              <a:gd name="T1" fmla="*/ 0 h 846"/>
              <a:gd name="T2" fmla="*/ 2147483647 w 183"/>
              <a:gd name="T3" fmla="*/ 2147483647 h 846"/>
              <a:gd name="T4" fmla="*/ 2147483647 w 183"/>
              <a:gd name="T5" fmla="*/ 2147483647 h 846"/>
              <a:gd name="T6" fmla="*/ 2147483647 w 183"/>
              <a:gd name="T7" fmla="*/ 2147483647 h 846"/>
              <a:gd name="T8" fmla="*/ 0 60000 65536"/>
              <a:gd name="T9" fmla="*/ 0 60000 65536"/>
              <a:gd name="T10" fmla="*/ 0 60000 65536"/>
              <a:gd name="T11" fmla="*/ 0 60000 65536"/>
              <a:gd name="T12" fmla="*/ 0 w 183"/>
              <a:gd name="T13" fmla="*/ 0 h 846"/>
              <a:gd name="T14" fmla="*/ 183 w 183"/>
              <a:gd name="T15" fmla="*/ 846 h 84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3" h="846">
                <a:moveTo>
                  <a:pt x="93" y="0"/>
                </a:moveTo>
                <a:cubicBezTo>
                  <a:pt x="78" y="40"/>
                  <a:pt x="0" y="149"/>
                  <a:pt x="3" y="240"/>
                </a:cubicBezTo>
                <a:cubicBezTo>
                  <a:pt x="6" y="331"/>
                  <a:pt x="81" y="445"/>
                  <a:pt x="111" y="546"/>
                </a:cubicBezTo>
                <a:cubicBezTo>
                  <a:pt x="141" y="647"/>
                  <a:pt x="168" y="784"/>
                  <a:pt x="183" y="84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67" name="Rectangle 64"/>
          <p:cNvSpPr>
            <a:spLocks noChangeArrowheads="1"/>
          </p:cNvSpPr>
          <p:nvPr/>
        </p:nvSpPr>
        <p:spPr bwMode="auto">
          <a:xfrm>
            <a:off x="7543800" y="5572125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68" name="Rectangle 65"/>
          <p:cNvSpPr>
            <a:spLocks noChangeArrowheads="1"/>
          </p:cNvSpPr>
          <p:nvPr/>
        </p:nvSpPr>
        <p:spPr bwMode="auto">
          <a:xfrm>
            <a:off x="8229600" y="5572125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b="0" i="0">
                <a:solidFill>
                  <a:schemeClr val="tx1"/>
                </a:solidFill>
                <a:latin typeface="Tahoma" pitchFamily="34" charset="0"/>
                <a:sym typeface="Symbol" pitchFamily="18" charset="2"/>
              </a:rPr>
              <a:t></a:t>
            </a:r>
          </a:p>
        </p:txBody>
      </p:sp>
      <p:sp>
        <p:nvSpPr>
          <p:cNvPr id="43069" name="Rectangle 66"/>
          <p:cNvSpPr>
            <a:spLocks noChangeArrowheads="1"/>
          </p:cNvSpPr>
          <p:nvPr/>
        </p:nvSpPr>
        <p:spPr bwMode="auto">
          <a:xfrm>
            <a:off x="7886700" y="5572125"/>
            <a:ext cx="342900" cy="3429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en-US" b="0" i="0">
              <a:solidFill>
                <a:schemeClr val="tx1"/>
              </a:solidFill>
              <a:latin typeface="Tahoma" pitchFamily="34" charset="0"/>
              <a:sym typeface="Symbol" pitchFamily="18" charset="2"/>
            </a:endParaRPr>
          </a:p>
        </p:txBody>
      </p:sp>
      <p:sp>
        <p:nvSpPr>
          <p:cNvPr id="43070" name="Text Box 67"/>
          <p:cNvSpPr txBox="1">
            <a:spLocks noChangeArrowheads="1"/>
          </p:cNvSpPr>
          <p:nvPr/>
        </p:nvSpPr>
        <p:spPr bwMode="auto">
          <a:xfrm>
            <a:off x="7691438" y="6038850"/>
            <a:ext cx="327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E</a:t>
            </a:r>
          </a:p>
        </p:txBody>
      </p:sp>
      <p:cxnSp>
        <p:nvCxnSpPr>
          <p:cNvPr id="43071" name="AutoShape 68"/>
          <p:cNvCxnSpPr>
            <a:cxnSpLocks noChangeShapeType="1"/>
          </p:cNvCxnSpPr>
          <p:nvPr/>
        </p:nvCxnSpPr>
        <p:spPr bwMode="auto">
          <a:xfrm rot="16200000" flipH="1">
            <a:off x="7608888" y="5840412"/>
            <a:ext cx="361950" cy="149225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72" name="Freeform 69"/>
          <p:cNvSpPr>
            <a:spLocks/>
          </p:cNvSpPr>
          <p:nvPr/>
        </p:nvSpPr>
        <p:spPr bwMode="auto">
          <a:xfrm>
            <a:off x="7620000" y="4933950"/>
            <a:ext cx="447675" cy="619125"/>
          </a:xfrm>
          <a:custGeom>
            <a:avLst/>
            <a:gdLst>
              <a:gd name="T0" fmla="*/ 0 w 282"/>
              <a:gd name="T1" fmla="*/ 0 h 390"/>
              <a:gd name="T2" fmla="*/ 2147483647 w 282"/>
              <a:gd name="T3" fmla="*/ 2147483647 h 390"/>
              <a:gd name="T4" fmla="*/ 2147483647 w 282"/>
              <a:gd name="T5" fmla="*/ 2147483647 h 390"/>
              <a:gd name="T6" fmla="*/ 2147483647 w 282"/>
              <a:gd name="T7" fmla="*/ 2147483647 h 390"/>
              <a:gd name="T8" fmla="*/ 0 60000 65536"/>
              <a:gd name="T9" fmla="*/ 0 60000 65536"/>
              <a:gd name="T10" fmla="*/ 0 60000 65536"/>
              <a:gd name="T11" fmla="*/ 0 60000 65536"/>
              <a:gd name="T12" fmla="*/ 0 w 282"/>
              <a:gd name="T13" fmla="*/ 0 h 390"/>
              <a:gd name="T14" fmla="*/ 282 w 282"/>
              <a:gd name="T15" fmla="*/ 390 h 39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2" h="390">
                <a:moveTo>
                  <a:pt x="0" y="0"/>
                </a:moveTo>
                <a:cubicBezTo>
                  <a:pt x="9" y="30"/>
                  <a:pt x="15" y="138"/>
                  <a:pt x="54" y="180"/>
                </a:cubicBezTo>
                <a:cubicBezTo>
                  <a:pt x="93" y="222"/>
                  <a:pt x="196" y="217"/>
                  <a:pt x="234" y="252"/>
                </a:cubicBezTo>
                <a:cubicBezTo>
                  <a:pt x="272" y="287"/>
                  <a:pt x="272" y="361"/>
                  <a:pt x="282" y="39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73" name="Freeform 70"/>
          <p:cNvSpPr>
            <a:spLocks/>
          </p:cNvSpPr>
          <p:nvPr/>
        </p:nvSpPr>
        <p:spPr bwMode="auto">
          <a:xfrm>
            <a:off x="6705600" y="4924425"/>
            <a:ext cx="460375" cy="647700"/>
          </a:xfrm>
          <a:custGeom>
            <a:avLst/>
            <a:gdLst>
              <a:gd name="T0" fmla="*/ 2147483647 w 290"/>
              <a:gd name="T1" fmla="*/ 0 h 408"/>
              <a:gd name="T2" fmla="*/ 2147483647 w 290"/>
              <a:gd name="T3" fmla="*/ 2147483647 h 408"/>
              <a:gd name="T4" fmla="*/ 2147483647 w 290"/>
              <a:gd name="T5" fmla="*/ 2147483647 h 408"/>
              <a:gd name="T6" fmla="*/ 0 w 290"/>
              <a:gd name="T7" fmla="*/ 2147483647 h 408"/>
              <a:gd name="T8" fmla="*/ 0 60000 65536"/>
              <a:gd name="T9" fmla="*/ 0 60000 65536"/>
              <a:gd name="T10" fmla="*/ 0 60000 65536"/>
              <a:gd name="T11" fmla="*/ 0 60000 65536"/>
              <a:gd name="T12" fmla="*/ 0 w 290"/>
              <a:gd name="T13" fmla="*/ 0 h 408"/>
              <a:gd name="T14" fmla="*/ 290 w 290"/>
              <a:gd name="T15" fmla="*/ 408 h 4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0" h="408">
                <a:moveTo>
                  <a:pt x="288" y="0"/>
                </a:moveTo>
                <a:cubicBezTo>
                  <a:pt x="283" y="29"/>
                  <a:pt x="290" y="138"/>
                  <a:pt x="258" y="174"/>
                </a:cubicBezTo>
                <a:cubicBezTo>
                  <a:pt x="226" y="210"/>
                  <a:pt x="139" y="177"/>
                  <a:pt x="96" y="216"/>
                </a:cubicBezTo>
                <a:cubicBezTo>
                  <a:pt x="53" y="255"/>
                  <a:pt x="20" y="368"/>
                  <a:pt x="0" y="408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74" name="Freeform 71"/>
          <p:cNvSpPr>
            <a:spLocks/>
          </p:cNvSpPr>
          <p:nvPr/>
        </p:nvSpPr>
        <p:spPr bwMode="auto">
          <a:xfrm>
            <a:off x="5661025" y="2181225"/>
            <a:ext cx="130175" cy="1000125"/>
          </a:xfrm>
          <a:custGeom>
            <a:avLst/>
            <a:gdLst>
              <a:gd name="T0" fmla="*/ 2147483647 w 82"/>
              <a:gd name="T1" fmla="*/ 0 h 630"/>
              <a:gd name="T2" fmla="*/ 2147483647 w 82"/>
              <a:gd name="T3" fmla="*/ 2147483647 h 630"/>
              <a:gd name="T4" fmla="*/ 2147483647 w 82"/>
              <a:gd name="T5" fmla="*/ 2147483647 h 630"/>
              <a:gd name="T6" fmla="*/ 2147483647 w 82"/>
              <a:gd name="T7" fmla="*/ 2147483647 h 630"/>
              <a:gd name="T8" fmla="*/ 0 60000 65536"/>
              <a:gd name="T9" fmla="*/ 0 60000 65536"/>
              <a:gd name="T10" fmla="*/ 0 60000 65536"/>
              <a:gd name="T11" fmla="*/ 0 60000 65536"/>
              <a:gd name="T12" fmla="*/ 0 w 82"/>
              <a:gd name="T13" fmla="*/ 0 h 630"/>
              <a:gd name="T14" fmla="*/ 82 w 82"/>
              <a:gd name="T15" fmla="*/ 630 h 63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" h="630">
                <a:moveTo>
                  <a:pt x="10" y="0"/>
                </a:moveTo>
                <a:cubicBezTo>
                  <a:pt x="21" y="37"/>
                  <a:pt x="82" y="153"/>
                  <a:pt x="82" y="222"/>
                </a:cubicBezTo>
                <a:cubicBezTo>
                  <a:pt x="82" y="291"/>
                  <a:pt x="20" y="346"/>
                  <a:pt x="10" y="414"/>
                </a:cubicBezTo>
                <a:cubicBezTo>
                  <a:pt x="0" y="482"/>
                  <a:pt x="20" y="585"/>
                  <a:pt x="22" y="63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75" name="Freeform 72"/>
          <p:cNvSpPr>
            <a:spLocks/>
          </p:cNvSpPr>
          <p:nvPr/>
        </p:nvSpPr>
        <p:spPr bwMode="auto">
          <a:xfrm>
            <a:off x="5949950" y="3505200"/>
            <a:ext cx="866775" cy="2943225"/>
          </a:xfrm>
          <a:custGeom>
            <a:avLst/>
            <a:gdLst>
              <a:gd name="T0" fmla="*/ 2147483647 w 546"/>
              <a:gd name="T1" fmla="*/ 2147483647 h 1854"/>
              <a:gd name="T2" fmla="*/ 2147483647 w 546"/>
              <a:gd name="T3" fmla="*/ 2147483647 h 1854"/>
              <a:gd name="T4" fmla="*/ 2147483647 w 546"/>
              <a:gd name="T5" fmla="*/ 2147483647 h 1854"/>
              <a:gd name="T6" fmla="*/ 2147483647 w 546"/>
              <a:gd name="T7" fmla="*/ 2147483647 h 1854"/>
              <a:gd name="T8" fmla="*/ 2147483647 w 546"/>
              <a:gd name="T9" fmla="*/ 2147483647 h 1854"/>
              <a:gd name="T10" fmla="*/ 2147483647 w 546"/>
              <a:gd name="T11" fmla="*/ 0 h 185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46"/>
              <a:gd name="T19" fmla="*/ 0 h 1854"/>
              <a:gd name="T20" fmla="*/ 546 w 546"/>
              <a:gd name="T21" fmla="*/ 1854 h 185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46" h="1854">
                <a:moveTo>
                  <a:pt x="482" y="1404"/>
                </a:moveTo>
                <a:cubicBezTo>
                  <a:pt x="483" y="1467"/>
                  <a:pt x="546" y="1728"/>
                  <a:pt x="488" y="1782"/>
                </a:cubicBezTo>
                <a:cubicBezTo>
                  <a:pt x="430" y="1836"/>
                  <a:pt x="210" y="1854"/>
                  <a:pt x="134" y="1728"/>
                </a:cubicBezTo>
                <a:cubicBezTo>
                  <a:pt x="58" y="1602"/>
                  <a:pt x="0" y="1249"/>
                  <a:pt x="32" y="1026"/>
                </a:cubicBezTo>
                <a:cubicBezTo>
                  <a:pt x="64" y="803"/>
                  <a:pt x="271" y="561"/>
                  <a:pt x="326" y="390"/>
                </a:cubicBezTo>
                <a:cubicBezTo>
                  <a:pt x="381" y="219"/>
                  <a:pt x="354" y="81"/>
                  <a:pt x="36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76" name="Freeform 73"/>
          <p:cNvSpPr>
            <a:spLocks/>
          </p:cNvSpPr>
          <p:nvPr/>
        </p:nvSpPr>
        <p:spPr bwMode="auto">
          <a:xfrm>
            <a:off x="7305675" y="3524250"/>
            <a:ext cx="1493838" cy="2635250"/>
          </a:xfrm>
          <a:custGeom>
            <a:avLst/>
            <a:gdLst>
              <a:gd name="T0" fmla="*/ 2147483647 w 941"/>
              <a:gd name="T1" fmla="*/ 2147483647 h 1660"/>
              <a:gd name="T2" fmla="*/ 2147483647 w 941"/>
              <a:gd name="T3" fmla="*/ 2147483647 h 1660"/>
              <a:gd name="T4" fmla="*/ 2147483647 w 941"/>
              <a:gd name="T5" fmla="*/ 2147483647 h 1660"/>
              <a:gd name="T6" fmla="*/ 2147483647 w 941"/>
              <a:gd name="T7" fmla="*/ 2147483647 h 1660"/>
              <a:gd name="T8" fmla="*/ 2147483647 w 941"/>
              <a:gd name="T9" fmla="*/ 2147483647 h 1660"/>
              <a:gd name="T10" fmla="*/ 0 w 941"/>
              <a:gd name="T11" fmla="*/ 0 h 16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41"/>
              <a:gd name="T19" fmla="*/ 0 h 1660"/>
              <a:gd name="T20" fmla="*/ 941 w 941"/>
              <a:gd name="T21" fmla="*/ 1660 h 16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41" h="1660">
                <a:moveTo>
                  <a:pt x="478" y="1392"/>
                </a:moveTo>
                <a:cubicBezTo>
                  <a:pt x="513" y="1436"/>
                  <a:pt x="614" y="1652"/>
                  <a:pt x="690" y="1656"/>
                </a:cubicBezTo>
                <a:cubicBezTo>
                  <a:pt x="766" y="1660"/>
                  <a:pt x="931" y="1533"/>
                  <a:pt x="936" y="1416"/>
                </a:cubicBezTo>
                <a:cubicBezTo>
                  <a:pt x="941" y="1299"/>
                  <a:pt x="839" y="1095"/>
                  <a:pt x="720" y="954"/>
                </a:cubicBezTo>
                <a:cubicBezTo>
                  <a:pt x="601" y="813"/>
                  <a:pt x="342" y="729"/>
                  <a:pt x="222" y="570"/>
                </a:cubicBezTo>
                <a:cubicBezTo>
                  <a:pt x="102" y="411"/>
                  <a:pt x="46" y="119"/>
                  <a:pt x="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6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6F7204-D713-4C8E-A7D3-E32FE8FB266B}" type="slidenum">
              <a:rPr lang="ar-SA"/>
              <a:pPr>
                <a:defRPr/>
              </a:pPr>
              <a:t>40</a:t>
            </a:fld>
            <a:endParaRPr lang="en-US"/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626350" cy="644525"/>
          </a:xfrm>
        </p:spPr>
        <p:txBody>
          <a:bodyPr/>
          <a:lstStyle/>
          <a:p>
            <a:pPr eaLnBrk="1" hangingPunct="1"/>
            <a:r>
              <a:rPr lang="en-US" sz="3200" smtClean="0"/>
              <a:t>A Linked Structure for Binary Trees</a:t>
            </a:r>
          </a:p>
        </p:txBody>
      </p:sp>
      <p:sp>
        <p:nvSpPr>
          <p:cNvPr id="4403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2878138" cy="1981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1600" smtClean="0"/>
              <a:t>A node is represented by an object storing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400" smtClean="0"/>
              <a:t>Element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400" smtClean="0"/>
              <a:t>Parent node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400" smtClean="0"/>
              <a:t>Left child node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400" smtClean="0"/>
              <a:t>Right child node</a:t>
            </a:r>
          </a:p>
          <a:p>
            <a:pPr eaLnBrk="1" hangingPunct="1">
              <a:lnSpc>
                <a:spcPct val="80000"/>
              </a:lnSpc>
            </a:pPr>
            <a:r>
              <a:rPr lang="en-US" sz="1600" smtClean="0"/>
              <a:t>Node objects implement the Position ADT</a:t>
            </a:r>
          </a:p>
        </p:txBody>
      </p:sp>
      <p:sp>
        <p:nvSpPr>
          <p:cNvPr id="44038" name="Oval 4"/>
          <p:cNvSpPr>
            <a:spLocks noChangeArrowheads="1"/>
          </p:cNvSpPr>
          <p:nvPr/>
        </p:nvSpPr>
        <p:spPr bwMode="auto">
          <a:xfrm>
            <a:off x="2209800" y="4114800"/>
            <a:ext cx="501650" cy="5000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pPr eaLnBrk="1" hangingPunct="1"/>
            <a:r>
              <a:rPr lang="en-US" b="0" i="0">
                <a:latin typeface="Tahoma" pitchFamily="34" charset="0"/>
                <a:sym typeface="Symbol" pitchFamily="18" charset="2"/>
              </a:rPr>
              <a:t>B</a:t>
            </a:r>
            <a:endParaRPr lang="en-US" b="0" i="0">
              <a:latin typeface="Tahoma" pitchFamily="34" charset="0"/>
            </a:endParaRPr>
          </a:p>
        </p:txBody>
      </p:sp>
      <p:sp>
        <p:nvSpPr>
          <p:cNvPr id="44039" name="Oval 5"/>
          <p:cNvSpPr>
            <a:spLocks noChangeArrowheads="1"/>
          </p:cNvSpPr>
          <p:nvPr/>
        </p:nvSpPr>
        <p:spPr bwMode="auto">
          <a:xfrm>
            <a:off x="3084513" y="4854575"/>
            <a:ext cx="501650" cy="500063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pPr algn="ctr" eaLnBrk="1" hangingPunct="1"/>
            <a:r>
              <a:rPr lang="en-US" b="0" i="0">
                <a:latin typeface="Tahoma" pitchFamily="34" charset="0"/>
              </a:rPr>
              <a:t>D</a:t>
            </a:r>
          </a:p>
        </p:txBody>
      </p:sp>
      <p:sp>
        <p:nvSpPr>
          <p:cNvPr id="44040" name="Rectangle 6"/>
          <p:cNvSpPr>
            <a:spLocks noChangeArrowheads="1"/>
          </p:cNvSpPr>
          <p:nvPr/>
        </p:nvSpPr>
        <p:spPr bwMode="auto">
          <a:xfrm>
            <a:off x="1371600" y="4800600"/>
            <a:ext cx="500063" cy="50006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b="0" i="0">
                <a:latin typeface="Tahoma" pitchFamily="34" charset="0"/>
              </a:rPr>
              <a:t>A</a:t>
            </a:r>
          </a:p>
        </p:txBody>
      </p:sp>
      <p:sp>
        <p:nvSpPr>
          <p:cNvPr id="44041" name="Rectangle 7"/>
          <p:cNvSpPr>
            <a:spLocks noChangeArrowheads="1"/>
          </p:cNvSpPr>
          <p:nvPr/>
        </p:nvSpPr>
        <p:spPr bwMode="auto">
          <a:xfrm>
            <a:off x="2362200" y="5715000"/>
            <a:ext cx="500063" cy="50006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b="0" i="0">
                <a:latin typeface="Tahoma" pitchFamily="34" charset="0"/>
              </a:rPr>
              <a:t>C</a:t>
            </a:r>
          </a:p>
        </p:txBody>
      </p:sp>
      <p:sp>
        <p:nvSpPr>
          <p:cNvPr id="44042" name="Rectangle 8"/>
          <p:cNvSpPr>
            <a:spLocks noChangeArrowheads="1"/>
          </p:cNvSpPr>
          <p:nvPr/>
        </p:nvSpPr>
        <p:spPr bwMode="auto">
          <a:xfrm>
            <a:off x="3810000" y="5715000"/>
            <a:ext cx="500063" cy="500063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b="0" i="0">
                <a:latin typeface="Tahoma" pitchFamily="34" charset="0"/>
              </a:rPr>
              <a:t>E</a:t>
            </a:r>
          </a:p>
        </p:txBody>
      </p:sp>
      <p:cxnSp>
        <p:nvCxnSpPr>
          <p:cNvPr id="44043" name="AutoShape 9"/>
          <p:cNvCxnSpPr>
            <a:cxnSpLocks noChangeShapeType="1"/>
            <a:stCxn id="44042" idx="0"/>
            <a:endCxn id="44039" idx="5"/>
          </p:cNvCxnSpPr>
          <p:nvPr/>
        </p:nvCxnSpPr>
        <p:spPr bwMode="auto">
          <a:xfrm flipH="1" flipV="1">
            <a:off x="3513138" y="5291138"/>
            <a:ext cx="547687" cy="4143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4" name="AutoShape 10"/>
          <p:cNvCxnSpPr>
            <a:cxnSpLocks noChangeShapeType="1"/>
            <a:stCxn id="44041" idx="0"/>
            <a:endCxn id="44039" idx="3"/>
          </p:cNvCxnSpPr>
          <p:nvPr/>
        </p:nvCxnSpPr>
        <p:spPr bwMode="auto">
          <a:xfrm flipV="1">
            <a:off x="2613025" y="5291138"/>
            <a:ext cx="544513" cy="4143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5" name="AutoShape 11"/>
          <p:cNvCxnSpPr>
            <a:cxnSpLocks noChangeShapeType="1"/>
            <a:stCxn id="44040" idx="0"/>
            <a:endCxn id="44038" idx="3"/>
          </p:cNvCxnSpPr>
          <p:nvPr/>
        </p:nvCxnSpPr>
        <p:spPr bwMode="auto">
          <a:xfrm flipV="1">
            <a:off x="1622425" y="4551363"/>
            <a:ext cx="660400" cy="23971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6" name="AutoShape 12"/>
          <p:cNvCxnSpPr>
            <a:cxnSpLocks noChangeShapeType="1"/>
            <a:stCxn id="44039" idx="0"/>
            <a:endCxn id="44038" idx="5"/>
          </p:cNvCxnSpPr>
          <p:nvPr/>
        </p:nvCxnSpPr>
        <p:spPr bwMode="auto">
          <a:xfrm flipH="1" flipV="1">
            <a:off x="2638425" y="4551363"/>
            <a:ext cx="696913" cy="29368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4047" name="Group 13"/>
          <p:cNvGrpSpPr>
            <a:grpSpLocks/>
          </p:cNvGrpSpPr>
          <p:nvPr/>
        </p:nvGrpSpPr>
        <p:grpSpPr bwMode="auto">
          <a:xfrm>
            <a:off x="5086350" y="1828800"/>
            <a:ext cx="1219200" cy="609600"/>
            <a:chOff x="3840" y="960"/>
            <a:chExt cx="768" cy="384"/>
          </a:xfrm>
        </p:grpSpPr>
        <p:sp>
          <p:nvSpPr>
            <p:cNvPr id="44094" name="AutoShape 14"/>
            <p:cNvSpPr>
              <a:spLocks noChangeArrowheads="1"/>
            </p:cNvSpPr>
            <p:nvPr/>
          </p:nvSpPr>
          <p:spPr bwMode="auto"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95" name="Rectangle 15"/>
            <p:cNvSpPr>
              <a:spLocks noChangeArrowheads="1"/>
            </p:cNvSpPr>
            <p:nvPr/>
          </p:nvSpPr>
          <p:spPr bwMode="auto">
            <a:xfrm>
              <a:off x="4032" y="960"/>
              <a:ext cx="384" cy="38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96" name="Line 16"/>
            <p:cNvSpPr>
              <a:spLocks noChangeShapeType="1"/>
            </p:cNvSpPr>
            <p:nvPr/>
          </p:nvSpPr>
          <p:spPr bwMode="auto">
            <a:xfrm>
              <a:off x="4032" y="115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4048" name="Group 17"/>
          <p:cNvGrpSpPr>
            <a:grpSpLocks/>
          </p:cNvGrpSpPr>
          <p:nvPr/>
        </p:nvGrpSpPr>
        <p:grpSpPr bwMode="auto">
          <a:xfrm>
            <a:off x="3978275" y="3352800"/>
            <a:ext cx="1219200" cy="609600"/>
            <a:chOff x="3840" y="960"/>
            <a:chExt cx="768" cy="384"/>
          </a:xfrm>
        </p:grpSpPr>
        <p:sp>
          <p:nvSpPr>
            <p:cNvPr id="44091" name="AutoShape 18"/>
            <p:cNvSpPr>
              <a:spLocks noChangeArrowheads="1"/>
            </p:cNvSpPr>
            <p:nvPr/>
          </p:nvSpPr>
          <p:spPr bwMode="auto"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92" name="Rectangle 19"/>
            <p:cNvSpPr>
              <a:spLocks noChangeArrowheads="1"/>
            </p:cNvSpPr>
            <p:nvPr/>
          </p:nvSpPr>
          <p:spPr bwMode="auto">
            <a:xfrm>
              <a:off x="4032" y="960"/>
              <a:ext cx="384" cy="384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93" name="Line 20"/>
            <p:cNvSpPr>
              <a:spLocks noChangeShapeType="1"/>
            </p:cNvSpPr>
            <p:nvPr/>
          </p:nvSpPr>
          <p:spPr bwMode="auto">
            <a:xfrm>
              <a:off x="4032" y="115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4049" name="Text Box 21"/>
          <p:cNvSpPr txBox="1">
            <a:spLocks noChangeArrowheads="1"/>
          </p:cNvSpPr>
          <p:nvPr/>
        </p:nvSpPr>
        <p:spPr bwMode="auto">
          <a:xfrm>
            <a:off x="3921125" y="3459163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i="0">
                <a:solidFill>
                  <a:schemeClr val="tx1"/>
                </a:solidFill>
                <a:latin typeface="Tahoma" pitchFamily="34" charset="0"/>
                <a:sym typeface="Symbol" pitchFamily="18" charset="2"/>
              </a:rPr>
              <a:t></a:t>
            </a:r>
          </a:p>
        </p:txBody>
      </p:sp>
      <p:sp>
        <p:nvSpPr>
          <p:cNvPr id="44050" name="Text Box 22"/>
          <p:cNvSpPr txBox="1">
            <a:spLocks noChangeArrowheads="1"/>
          </p:cNvSpPr>
          <p:nvPr/>
        </p:nvSpPr>
        <p:spPr bwMode="auto">
          <a:xfrm>
            <a:off x="4845050" y="3459163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i="0">
                <a:solidFill>
                  <a:schemeClr val="tx1"/>
                </a:solidFill>
                <a:latin typeface="Tahoma" pitchFamily="34" charset="0"/>
                <a:sym typeface="Symbol" pitchFamily="18" charset="2"/>
              </a:rPr>
              <a:t></a:t>
            </a:r>
          </a:p>
        </p:txBody>
      </p:sp>
      <p:grpSp>
        <p:nvGrpSpPr>
          <p:cNvPr id="44051" name="Group 23"/>
          <p:cNvGrpSpPr>
            <a:grpSpLocks/>
          </p:cNvGrpSpPr>
          <p:nvPr/>
        </p:nvGrpSpPr>
        <p:grpSpPr bwMode="auto">
          <a:xfrm>
            <a:off x="6229350" y="3352800"/>
            <a:ext cx="1219200" cy="609600"/>
            <a:chOff x="3840" y="960"/>
            <a:chExt cx="768" cy="384"/>
          </a:xfrm>
        </p:grpSpPr>
        <p:sp>
          <p:nvSpPr>
            <p:cNvPr id="44088" name="AutoShape 24"/>
            <p:cNvSpPr>
              <a:spLocks noChangeArrowheads="1"/>
            </p:cNvSpPr>
            <p:nvPr/>
          </p:nvSpPr>
          <p:spPr bwMode="auto"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89" name="Rectangle 25"/>
            <p:cNvSpPr>
              <a:spLocks noChangeArrowheads="1"/>
            </p:cNvSpPr>
            <p:nvPr/>
          </p:nvSpPr>
          <p:spPr bwMode="auto">
            <a:xfrm>
              <a:off x="4032" y="960"/>
              <a:ext cx="384" cy="38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90" name="Line 26"/>
            <p:cNvSpPr>
              <a:spLocks noChangeShapeType="1"/>
            </p:cNvSpPr>
            <p:nvPr/>
          </p:nvSpPr>
          <p:spPr bwMode="auto">
            <a:xfrm>
              <a:off x="4032" y="115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4052" name="Group 27"/>
          <p:cNvGrpSpPr>
            <a:grpSpLocks/>
          </p:cNvGrpSpPr>
          <p:nvPr/>
        </p:nvGrpSpPr>
        <p:grpSpPr bwMode="auto">
          <a:xfrm>
            <a:off x="5086350" y="4876800"/>
            <a:ext cx="1219200" cy="609600"/>
            <a:chOff x="3840" y="960"/>
            <a:chExt cx="768" cy="384"/>
          </a:xfrm>
        </p:grpSpPr>
        <p:sp>
          <p:nvSpPr>
            <p:cNvPr id="44085" name="AutoShape 28"/>
            <p:cNvSpPr>
              <a:spLocks noChangeArrowheads="1"/>
            </p:cNvSpPr>
            <p:nvPr/>
          </p:nvSpPr>
          <p:spPr bwMode="auto"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86" name="Rectangle 29"/>
            <p:cNvSpPr>
              <a:spLocks noChangeArrowheads="1"/>
            </p:cNvSpPr>
            <p:nvPr/>
          </p:nvSpPr>
          <p:spPr bwMode="auto">
            <a:xfrm>
              <a:off x="4032" y="960"/>
              <a:ext cx="384" cy="384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87" name="Line 30"/>
            <p:cNvSpPr>
              <a:spLocks noChangeShapeType="1"/>
            </p:cNvSpPr>
            <p:nvPr/>
          </p:nvSpPr>
          <p:spPr bwMode="auto">
            <a:xfrm>
              <a:off x="4032" y="115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4053" name="Text Box 31"/>
          <p:cNvSpPr txBox="1">
            <a:spLocks noChangeArrowheads="1"/>
          </p:cNvSpPr>
          <p:nvPr/>
        </p:nvSpPr>
        <p:spPr bwMode="auto">
          <a:xfrm>
            <a:off x="5029200" y="4983163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i="0">
                <a:solidFill>
                  <a:schemeClr val="tx1"/>
                </a:solidFill>
                <a:latin typeface="Tahoma" pitchFamily="34" charset="0"/>
                <a:sym typeface="Symbol" pitchFamily="18" charset="2"/>
              </a:rPr>
              <a:t></a:t>
            </a:r>
          </a:p>
        </p:txBody>
      </p:sp>
      <p:sp>
        <p:nvSpPr>
          <p:cNvPr id="44054" name="Text Box 32"/>
          <p:cNvSpPr txBox="1">
            <a:spLocks noChangeArrowheads="1"/>
          </p:cNvSpPr>
          <p:nvPr/>
        </p:nvSpPr>
        <p:spPr bwMode="auto">
          <a:xfrm>
            <a:off x="5953125" y="4983163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i="0">
                <a:solidFill>
                  <a:schemeClr val="tx1"/>
                </a:solidFill>
                <a:latin typeface="Tahoma" pitchFamily="34" charset="0"/>
                <a:sym typeface="Symbol" pitchFamily="18" charset="2"/>
              </a:rPr>
              <a:t></a:t>
            </a:r>
          </a:p>
        </p:txBody>
      </p:sp>
      <p:grpSp>
        <p:nvGrpSpPr>
          <p:cNvPr id="44055" name="Group 33"/>
          <p:cNvGrpSpPr>
            <a:grpSpLocks/>
          </p:cNvGrpSpPr>
          <p:nvPr/>
        </p:nvGrpSpPr>
        <p:grpSpPr bwMode="auto">
          <a:xfrm>
            <a:off x="7426325" y="4876800"/>
            <a:ext cx="1219200" cy="609600"/>
            <a:chOff x="3840" y="960"/>
            <a:chExt cx="768" cy="384"/>
          </a:xfrm>
        </p:grpSpPr>
        <p:sp>
          <p:nvSpPr>
            <p:cNvPr id="44082" name="AutoShape 34"/>
            <p:cNvSpPr>
              <a:spLocks noChangeArrowheads="1"/>
            </p:cNvSpPr>
            <p:nvPr/>
          </p:nvSpPr>
          <p:spPr bwMode="auto">
            <a:xfrm>
              <a:off x="3840" y="960"/>
              <a:ext cx="768" cy="384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83" name="Rectangle 35"/>
            <p:cNvSpPr>
              <a:spLocks noChangeArrowheads="1"/>
            </p:cNvSpPr>
            <p:nvPr/>
          </p:nvSpPr>
          <p:spPr bwMode="auto">
            <a:xfrm>
              <a:off x="4032" y="960"/>
              <a:ext cx="384" cy="384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84" name="Line 36"/>
            <p:cNvSpPr>
              <a:spLocks noChangeShapeType="1"/>
            </p:cNvSpPr>
            <p:nvPr/>
          </p:nvSpPr>
          <p:spPr bwMode="auto">
            <a:xfrm>
              <a:off x="4032" y="1152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4056" name="Text Box 37"/>
          <p:cNvSpPr txBox="1">
            <a:spLocks noChangeArrowheads="1"/>
          </p:cNvSpPr>
          <p:nvPr/>
        </p:nvSpPr>
        <p:spPr bwMode="auto">
          <a:xfrm>
            <a:off x="7369175" y="4983163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i="0">
                <a:solidFill>
                  <a:schemeClr val="tx1"/>
                </a:solidFill>
                <a:latin typeface="Tahoma" pitchFamily="34" charset="0"/>
                <a:sym typeface="Symbol" pitchFamily="18" charset="2"/>
              </a:rPr>
              <a:t></a:t>
            </a:r>
          </a:p>
        </p:txBody>
      </p:sp>
      <p:sp>
        <p:nvSpPr>
          <p:cNvPr id="44057" name="Text Box 38"/>
          <p:cNvSpPr txBox="1">
            <a:spLocks noChangeArrowheads="1"/>
          </p:cNvSpPr>
          <p:nvPr/>
        </p:nvSpPr>
        <p:spPr bwMode="auto">
          <a:xfrm>
            <a:off x="8293100" y="4983163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i="0">
                <a:solidFill>
                  <a:schemeClr val="tx1"/>
                </a:solidFill>
                <a:latin typeface="Tahoma" pitchFamily="34" charset="0"/>
                <a:sym typeface="Symbol" pitchFamily="18" charset="2"/>
              </a:rPr>
              <a:t></a:t>
            </a:r>
          </a:p>
        </p:txBody>
      </p:sp>
      <p:grpSp>
        <p:nvGrpSpPr>
          <p:cNvPr id="44058" name="Group 39"/>
          <p:cNvGrpSpPr>
            <a:grpSpLocks/>
          </p:cNvGrpSpPr>
          <p:nvPr/>
        </p:nvGrpSpPr>
        <p:grpSpPr bwMode="auto">
          <a:xfrm>
            <a:off x="5562600" y="2286000"/>
            <a:ext cx="333375" cy="854075"/>
            <a:chOff x="3504" y="1440"/>
            <a:chExt cx="210" cy="538"/>
          </a:xfrm>
        </p:grpSpPr>
        <p:sp>
          <p:nvSpPr>
            <p:cNvPr id="44080" name="Text Box 40"/>
            <p:cNvSpPr txBox="1">
              <a:spLocks noChangeArrowheads="1"/>
            </p:cNvSpPr>
            <p:nvPr/>
          </p:nvSpPr>
          <p:spPr bwMode="auto">
            <a:xfrm>
              <a:off x="3504" y="1728"/>
              <a:ext cx="21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sz="2000" b="0" i="0">
                  <a:latin typeface="Tahoma" pitchFamily="34" charset="0"/>
                </a:rPr>
                <a:t>B</a:t>
              </a:r>
            </a:p>
          </p:txBody>
        </p:sp>
        <p:cxnSp>
          <p:nvCxnSpPr>
            <p:cNvPr id="44081" name="AutoShape 41"/>
            <p:cNvCxnSpPr>
              <a:cxnSpLocks noChangeShapeType="1"/>
            </p:cNvCxnSpPr>
            <p:nvPr/>
          </p:nvCxnSpPr>
          <p:spPr bwMode="auto">
            <a:xfrm rot="16200000" flipH="1">
              <a:off x="3461" y="1579"/>
              <a:ext cx="288" cy="9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4059" name="Group 42"/>
          <p:cNvGrpSpPr>
            <a:grpSpLocks/>
          </p:cNvGrpSpPr>
          <p:nvPr/>
        </p:nvGrpSpPr>
        <p:grpSpPr bwMode="auto">
          <a:xfrm>
            <a:off x="4419600" y="3810000"/>
            <a:ext cx="333375" cy="854075"/>
            <a:chOff x="3504" y="1440"/>
            <a:chExt cx="210" cy="538"/>
          </a:xfrm>
        </p:grpSpPr>
        <p:sp>
          <p:nvSpPr>
            <p:cNvPr id="44078" name="Text Box 43"/>
            <p:cNvSpPr txBox="1">
              <a:spLocks noChangeArrowheads="1"/>
            </p:cNvSpPr>
            <p:nvPr/>
          </p:nvSpPr>
          <p:spPr bwMode="auto">
            <a:xfrm>
              <a:off x="3504" y="1728"/>
              <a:ext cx="21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sz="2000" b="0" i="0">
                  <a:latin typeface="Tahoma" pitchFamily="34" charset="0"/>
                </a:rPr>
                <a:t>A</a:t>
              </a:r>
            </a:p>
          </p:txBody>
        </p:sp>
        <p:cxnSp>
          <p:nvCxnSpPr>
            <p:cNvPr id="44079" name="AutoShape 44"/>
            <p:cNvCxnSpPr>
              <a:cxnSpLocks noChangeShapeType="1"/>
            </p:cNvCxnSpPr>
            <p:nvPr/>
          </p:nvCxnSpPr>
          <p:spPr bwMode="auto">
            <a:xfrm rot="16200000" flipH="1">
              <a:off x="3461" y="1579"/>
              <a:ext cx="288" cy="9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4060" name="Group 45"/>
          <p:cNvGrpSpPr>
            <a:grpSpLocks/>
          </p:cNvGrpSpPr>
          <p:nvPr/>
        </p:nvGrpSpPr>
        <p:grpSpPr bwMode="auto">
          <a:xfrm>
            <a:off x="6694488" y="3810000"/>
            <a:ext cx="357187" cy="854075"/>
            <a:chOff x="3497" y="1440"/>
            <a:chExt cx="225" cy="538"/>
          </a:xfrm>
        </p:grpSpPr>
        <p:sp>
          <p:nvSpPr>
            <p:cNvPr id="44076" name="Text Box 46"/>
            <p:cNvSpPr txBox="1">
              <a:spLocks noChangeArrowheads="1"/>
            </p:cNvSpPr>
            <p:nvPr/>
          </p:nvSpPr>
          <p:spPr bwMode="auto">
            <a:xfrm>
              <a:off x="3497" y="1728"/>
              <a:ext cx="22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sz="2000" b="0" i="0">
                  <a:latin typeface="Tahoma" pitchFamily="34" charset="0"/>
                </a:rPr>
                <a:t>D</a:t>
              </a:r>
            </a:p>
          </p:txBody>
        </p:sp>
        <p:cxnSp>
          <p:nvCxnSpPr>
            <p:cNvPr id="44077" name="AutoShape 47"/>
            <p:cNvCxnSpPr>
              <a:cxnSpLocks noChangeShapeType="1"/>
            </p:cNvCxnSpPr>
            <p:nvPr/>
          </p:nvCxnSpPr>
          <p:spPr bwMode="auto">
            <a:xfrm rot="16200000" flipH="1">
              <a:off x="3461" y="1579"/>
              <a:ext cx="288" cy="9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4061" name="Group 48"/>
          <p:cNvGrpSpPr>
            <a:grpSpLocks/>
          </p:cNvGrpSpPr>
          <p:nvPr/>
        </p:nvGrpSpPr>
        <p:grpSpPr bwMode="auto">
          <a:xfrm>
            <a:off x="5543550" y="5334000"/>
            <a:ext cx="333375" cy="854075"/>
            <a:chOff x="3504" y="1440"/>
            <a:chExt cx="210" cy="538"/>
          </a:xfrm>
        </p:grpSpPr>
        <p:sp>
          <p:nvSpPr>
            <p:cNvPr id="44074" name="Text Box 49"/>
            <p:cNvSpPr txBox="1">
              <a:spLocks noChangeArrowheads="1"/>
            </p:cNvSpPr>
            <p:nvPr/>
          </p:nvSpPr>
          <p:spPr bwMode="auto">
            <a:xfrm>
              <a:off x="3504" y="1728"/>
              <a:ext cx="21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sz="2000" b="0" i="0">
                  <a:latin typeface="Tahoma" pitchFamily="34" charset="0"/>
                </a:rPr>
                <a:t>C</a:t>
              </a:r>
            </a:p>
          </p:txBody>
        </p:sp>
        <p:cxnSp>
          <p:nvCxnSpPr>
            <p:cNvPr id="44075" name="AutoShape 50"/>
            <p:cNvCxnSpPr>
              <a:cxnSpLocks noChangeShapeType="1"/>
            </p:cNvCxnSpPr>
            <p:nvPr/>
          </p:nvCxnSpPr>
          <p:spPr bwMode="auto">
            <a:xfrm rot="16200000" flipH="1">
              <a:off x="3461" y="1579"/>
              <a:ext cx="288" cy="9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4062" name="Group 51"/>
          <p:cNvGrpSpPr>
            <a:grpSpLocks/>
          </p:cNvGrpSpPr>
          <p:nvPr/>
        </p:nvGrpSpPr>
        <p:grpSpPr bwMode="auto">
          <a:xfrm>
            <a:off x="7877175" y="5334000"/>
            <a:ext cx="327025" cy="854075"/>
            <a:chOff x="3506" y="1440"/>
            <a:chExt cx="206" cy="538"/>
          </a:xfrm>
        </p:grpSpPr>
        <p:sp>
          <p:nvSpPr>
            <p:cNvPr id="44072" name="Text Box 52"/>
            <p:cNvSpPr txBox="1">
              <a:spLocks noChangeArrowheads="1"/>
            </p:cNvSpPr>
            <p:nvPr/>
          </p:nvSpPr>
          <p:spPr bwMode="auto">
            <a:xfrm>
              <a:off x="3506" y="1728"/>
              <a:ext cx="20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sz="2000" b="0" i="0">
                  <a:latin typeface="Tahoma" pitchFamily="34" charset="0"/>
                </a:rPr>
                <a:t>E</a:t>
              </a:r>
            </a:p>
          </p:txBody>
        </p:sp>
        <p:cxnSp>
          <p:nvCxnSpPr>
            <p:cNvPr id="44073" name="AutoShape 53"/>
            <p:cNvCxnSpPr>
              <a:cxnSpLocks noChangeShapeType="1"/>
            </p:cNvCxnSpPr>
            <p:nvPr/>
          </p:nvCxnSpPr>
          <p:spPr bwMode="auto">
            <a:xfrm rot="16200000" flipH="1">
              <a:off x="3461" y="1579"/>
              <a:ext cx="288" cy="9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4063" name="Freeform 54"/>
          <p:cNvSpPr>
            <a:spLocks/>
          </p:cNvSpPr>
          <p:nvPr/>
        </p:nvSpPr>
        <p:spPr bwMode="auto">
          <a:xfrm>
            <a:off x="4432300" y="2438400"/>
            <a:ext cx="1143000" cy="1066800"/>
          </a:xfrm>
          <a:custGeom>
            <a:avLst/>
            <a:gdLst>
              <a:gd name="T0" fmla="*/ 2147483647 w 720"/>
              <a:gd name="T1" fmla="*/ 2147483647 h 672"/>
              <a:gd name="T2" fmla="*/ 2147483647 w 720"/>
              <a:gd name="T3" fmla="*/ 2147483647 h 672"/>
              <a:gd name="T4" fmla="*/ 2147483647 w 720"/>
              <a:gd name="T5" fmla="*/ 2147483647 h 672"/>
              <a:gd name="T6" fmla="*/ 2147483647 w 720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672"/>
              <a:gd name="T14" fmla="*/ 720 w 720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672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64" name="Freeform 55"/>
          <p:cNvSpPr>
            <a:spLocks/>
          </p:cNvSpPr>
          <p:nvPr/>
        </p:nvSpPr>
        <p:spPr bwMode="auto">
          <a:xfrm flipH="1">
            <a:off x="5848350" y="2438400"/>
            <a:ext cx="1143000" cy="1066800"/>
          </a:xfrm>
          <a:custGeom>
            <a:avLst/>
            <a:gdLst>
              <a:gd name="T0" fmla="*/ 2147483647 w 720"/>
              <a:gd name="T1" fmla="*/ 2147483647 h 672"/>
              <a:gd name="T2" fmla="*/ 2147483647 w 720"/>
              <a:gd name="T3" fmla="*/ 2147483647 h 672"/>
              <a:gd name="T4" fmla="*/ 2147483647 w 720"/>
              <a:gd name="T5" fmla="*/ 2147483647 h 672"/>
              <a:gd name="T6" fmla="*/ 2147483647 w 720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672"/>
              <a:gd name="T14" fmla="*/ 720 w 720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672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65" name="Freeform 56"/>
          <p:cNvSpPr>
            <a:spLocks/>
          </p:cNvSpPr>
          <p:nvPr/>
        </p:nvSpPr>
        <p:spPr bwMode="auto">
          <a:xfrm flipH="1">
            <a:off x="7010400" y="3962400"/>
            <a:ext cx="1143000" cy="1066800"/>
          </a:xfrm>
          <a:custGeom>
            <a:avLst/>
            <a:gdLst>
              <a:gd name="T0" fmla="*/ 2147483647 w 720"/>
              <a:gd name="T1" fmla="*/ 2147483647 h 672"/>
              <a:gd name="T2" fmla="*/ 2147483647 w 720"/>
              <a:gd name="T3" fmla="*/ 2147483647 h 672"/>
              <a:gd name="T4" fmla="*/ 2147483647 w 720"/>
              <a:gd name="T5" fmla="*/ 2147483647 h 672"/>
              <a:gd name="T6" fmla="*/ 2147483647 w 720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672"/>
              <a:gd name="T14" fmla="*/ 720 w 720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672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66" name="Freeform 57"/>
          <p:cNvSpPr>
            <a:spLocks/>
          </p:cNvSpPr>
          <p:nvPr/>
        </p:nvSpPr>
        <p:spPr bwMode="auto">
          <a:xfrm>
            <a:off x="5562600" y="3962400"/>
            <a:ext cx="1143000" cy="1066800"/>
          </a:xfrm>
          <a:custGeom>
            <a:avLst/>
            <a:gdLst>
              <a:gd name="T0" fmla="*/ 2147483647 w 720"/>
              <a:gd name="T1" fmla="*/ 2147483647 h 672"/>
              <a:gd name="T2" fmla="*/ 2147483647 w 720"/>
              <a:gd name="T3" fmla="*/ 2147483647 h 672"/>
              <a:gd name="T4" fmla="*/ 2147483647 w 720"/>
              <a:gd name="T5" fmla="*/ 2147483647 h 672"/>
              <a:gd name="T6" fmla="*/ 2147483647 w 720"/>
              <a:gd name="T7" fmla="*/ 0 h 672"/>
              <a:gd name="T8" fmla="*/ 0 60000 65536"/>
              <a:gd name="T9" fmla="*/ 0 60000 65536"/>
              <a:gd name="T10" fmla="*/ 0 60000 65536"/>
              <a:gd name="T11" fmla="*/ 0 60000 65536"/>
              <a:gd name="T12" fmla="*/ 0 w 720"/>
              <a:gd name="T13" fmla="*/ 0 h 672"/>
              <a:gd name="T14" fmla="*/ 720 w 720"/>
              <a:gd name="T15" fmla="*/ 672 h 6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0" h="672">
                <a:moveTo>
                  <a:pt x="88" y="672"/>
                </a:moveTo>
                <a:cubicBezTo>
                  <a:pt x="44" y="568"/>
                  <a:pt x="0" y="464"/>
                  <a:pt x="88" y="384"/>
                </a:cubicBezTo>
                <a:cubicBezTo>
                  <a:pt x="176" y="304"/>
                  <a:pt x="512" y="256"/>
                  <a:pt x="616" y="192"/>
                </a:cubicBezTo>
                <a:cubicBezTo>
                  <a:pt x="720" y="128"/>
                  <a:pt x="716" y="64"/>
                  <a:pt x="71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67" name="Freeform 58"/>
          <p:cNvSpPr>
            <a:spLocks/>
          </p:cNvSpPr>
          <p:nvPr/>
        </p:nvSpPr>
        <p:spPr bwMode="auto">
          <a:xfrm>
            <a:off x="4110038" y="2124075"/>
            <a:ext cx="1109662" cy="1209675"/>
          </a:xfrm>
          <a:custGeom>
            <a:avLst/>
            <a:gdLst>
              <a:gd name="T0" fmla="*/ 2147483647 w 699"/>
              <a:gd name="T1" fmla="*/ 0 h 762"/>
              <a:gd name="T2" fmla="*/ 2147483647 w 699"/>
              <a:gd name="T3" fmla="*/ 2147483647 h 762"/>
              <a:gd name="T4" fmla="*/ 2147483647 w 699"/>
              <a:gd name="T5" fmla="*/ 2147483647 h 762"/>
              <a:gd name="T6" fmla="*/ 0 60000 65536"/>
              <a:gd name="T7" fmla="*/ 0 60000 65536"/>
              <a:gd name="T8" fmla="*/ 0 60000 65536"/>
              <a:gd name="T9" fmla="*/ 0 w 699"/>
              <a:gd name="T10" fmla="*/ 0 h 762"/>
              <a:gd name="T11" fmla="*/ 699 w 699"/>
              <a:gd name="T12" fmla="*/ 762 h 7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99" h="762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68" name="Freeform 59"/>
          <p:cNvSpPr>
            <a:spLocks/>
          </p:cNvSpPr>
          <p:nvPr/>
        </p:nvSpPr>
        <p:spPr bwMode="auto">
          <a:xfrm flipH="1">
            <a:off x="6172200" y="2133600"/>
            <a:ext cx="1219200" cy="1209675"/>
          </a:xfrm>
          <a:custGeom>
            <a:avLst/>
            <a:gdLst>
              <a:gd name="T0" fmla="*/ 2147483647 w 699"/>
              <a:gd name="T1" fmla="*/ 0 h 762"/>
              <a:gd name="T2" fmla="*/ 2147483647 w 699"/>
              <a:gd name="T3" fmla="*/ 2147483647 h 762"/>
              <a:gd name="T4" fmla="*/ 2147483647 w 699"/>
              <a:gd name="T5" fmla="*/ 2147483647 h 762"/>
              <a:gd name="T6" fmla="*/ 0 60000 65536"/>
              <a:gd name="T7" fmla="*/ 0 60000 65536"/>
              <a:gd name="T8" fmla="*/ 0 60000 65536"/>
              <a:gd name="T9" fmla="*/ 0 w 699"/>
              <a:gd name="T10" fmla="*/ 0 h 762"/>
              <a:gd name="T11" fmla="*/ 699 w 699"/>
              <a:gd name="T12" fmla="*/ 762 h 7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99" h="762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69" name="Freeform 60"/>
          <p:cNvSpPr>
            <a:spLocks/>
          </p:cNvSpPr>
          <p:nvPr/>
        </p:nvSpPr>
        <p:spPr bwMode="auto">
          <a:xfrm flipH="1">
            <a:off x="7315200" y="3657600"/>
            <a:ext cx="1219200" cy="1209675"/>
          </a:xfrm>
          <a:custGeom>
            <a:avLst/>
            <a:gdLst>
              <a:gd name="T0" fmla="*/ 2147483647 w 699"/>
              <a:gd name="T1" fmla="*/ 0 h 762"/>
              <a:gd name="T2" fmla="*/ 2147483647 w 699"/>
              <a:gd name="T3" fmla="*/ 2147483647 h 762"/>
              <a:gd name="T4" fmla="*/ 2147483647 w 699"/>
              <a:gd name="T5" fmla="*/ 2147483647 h 762"/>
              <a:gd name="T6" fmla="*/ 0 60000 65536"/>
              <a:gd name="T7" fmla="*/ 0 60000 65536"/>
              <a:gd name="T8" fmla="*/ 0 60000 65536"/>
              <a:gd name="T9" fmla="*/ 0 w 699"/>
              <a:gd name="T10" fmla="*/ 0 h 762"/>
              <a:gd name="T11" fmla="*/ 699 w 699"/>
              <a:gd name="T12" fmla="*/ 762 h 7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99" h="762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70" name="Freeform 61"/>
          <p:cNvSpPr>
            <a:spLocks/>
          </p:cNvSpPr>
          <p:nvPr/>
        </p:nvSpPr>
        <p:spPr bwMode="auto">
          <a:xfrm>
            <a:off x="5257800" y="3657600"/>
            <a:ext cx="1109663" cy="1209675"/>
          </a:xfrm>
          <a:custGeom>
            <a:avLst/>
            <a:gdLst>
              <a:gd name="T0" fmla="*/ 2147483647 w 699"/>
              <a:gd name="T1" fmla="*/ 0 h 762"/>
              <a:gd name="T2" fmla="*/ 2147483647 w 699"/>
              <a:gd name="T3" fmla="*/ 2147483647 h 762"/>
              <a:gd name="T4" fmla="*/ 2147483647 w 699"/>
              <a:gd name="T5" fmla="*/ 2147483647 h 762"/>
              <a:gd name="T6" fmla="*/ 0 60000 65536"/>
              <a:gd name="T7" fmla="*/ 0 60000 65536"/>
              <a:gd name="T8" fmla="*/ 0 60000 65536"/>
              <a:gd name="T9" fmla="*/ 0 w 699"/>
              <a:gd name="T10" fmla="*/ 0 h 762"/>
              <a:gd name="T11" fmla="*/ 699 w 699"/>
              <a:gd name="T12" fmla="*/ 762 h 7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99" h="762">
                <a:moveTo>
                  <a:pt x="699" y="0"/>
                </a:moveTo>
                <a:cubicBezTo>
                  <a:pt x="597" y="41"/>
                  <a:pt x="174" y="119"/>
                  <a:pt x="87" y="246"/>
                </a:cubicBezTo>
                <a:cubicBezTo>
                  <a:pt x="0" y="373"/>
                  <a:pt x="158" y="655"/>
                  <a:pt x="177" y="76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71" name="Text Box 62"/>
          <p:cNvSpPr txBox="1">
            <a:spLocks noChangeArrowheads="1"/>
          </p:cNvSpPr>
          <p:nvPr/>
        </p:nvSpPr>
        <p:spPr bwMode="auto">
          <a:xfrm>
            <a:off x="5495925" y="1771650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i="0">
                <a:solidFill>
                  <a:schemeClr val="tx1"/>
                </a:solidFill>
                <a:latin typeface="Tahoma" pitchFamily="34" charset="0"/>
                <a:sym typeface="Symbol" pitchFamily="18" charset="2"/>
              </a:rPr>
              <a:t>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3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6CFF68-1131-4C5C-8F3E-EA8E0BE80861}" type="slidenum">
              <a:rPr lang="ar-SA"/>
              <a:pPr>
                <a:defRPr/>
              </a:pPr>
              <a:t>41</a:t>
            </a:fld>
            <a:endParaRPr lang="en-US"/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772400" cy="609600"/>
          </a:xfrm>
        </p:spPr>
        <p:txBody>
          <a:bodyPr/>
          <a:lstStyle/>
          <a:p>
            <a:pPr eaLnBrk="1" hangingPunct="1"/>
            <a:r>
              <a:rPr lang="en-US" sz="2400" smtClean="0"/>
              <a:t>Performance of Linked Implementation of Binary Trees</a:t>
            </a:r>
          </a:p>
        </p:txBody>
      </p:sp>
      <p:graphicFrame>
        <p:nvGraphicFramePr>
          <p:cNvPr id="229417" name="Group 41"/>
          <p:cNvGraphicFramePr>
            <a:graphicFrameLocks noGrp="1"/>
          </p:cNvGraphicFramePr>
          <p:nvPr>
            <p:ph idx="1"/>
          </p:nvPr>
        </p:nvGraphicFramePr>
        <p:xfrm>
          <a:off x="685800" y="2133600"/>
          <a:ext cx="6994525" cy="3952878"/>
        </p:xfrm>
        <a:graphic>
          <a:graphicData uri="http://schemas.openxmlformats.org/drawingml/2006/table">
            <a:tbl>
              <a:tblPr/>
              <a:tblGrid>
                <a:gridCol w="5013325"/>
                <a:gridCol w="1981200"/>
              </a:tblGrid>
              <a:tr h="3963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Operation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Time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size, isEmpty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O(1)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positions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O(n)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elements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O(n)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swapElements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replaceElement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O(1)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root, parent, children, left, right, sibling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O(1)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isInternal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isExternal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isRoot</a:t>
                      </a: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O(1)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8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insertLeft, insertRight, attach, remove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O(1)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5090" name="Text Box 32"/>
          <p:cNvSpPr txBox="1">
            <a:spLocks noChangeArrowheads="1"/>
          </p:cNvSpPr>
          <p:nvPr/>
        </p:nvSpPr>
        <p:spPr bwMode="auto">
          <a:xfrm>
            <a:off x="914400" y="990600"/>
            <a:ext cx="6553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/>
              <a:t>Space Complexity:</a:t>
            </a:r>
            <a:r>
              <a:rPr lang="en-US"/>
              <a:t> </a:t>
            </a:r>
            <a:r>
              <a:rPr lang="en-US" b="0" i="0">
                <a:solidFill>
                  <a:schemeClr val="tx1"/>
                </a:solidFill>
              </a:rPr>
              <a:t>is </a:t>
            </a:r>
            <a:r>
              <a:rPr lang="en-US">
                <a:solidFill>
                  <a:schemeClr val="tx1"/>
                </a:solidFill>
              </a:rPr>
              <a:t>O(n)</a:t>
            </a:r>
          </a:p>
          <a:p>
            <a:pPr>
              <a:spcBef>
                <a:spcPct val="50000"/>
              </a:spcBef>
            </a:pPr>
            <a:r>
              <a:rPr lang="en-US" b="0" i="0"/>
              <a:t>Time Complexity:</a:t>
            </a:r>
            <a:endParaRPr lang="en-US" b="0" i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52A62E-A29A-4EFC-9C8F-F0B6E90F8347}" type="slidenum">
              <a:rPr lang="ar-SA"/>
              <a:pPr>
                <a:defRPr/>
              </a:pPr>
              <a:t>42</a:t>
            </a:fld>
            <a:endParaRPr lang="en-US"/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153400" cy="609600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7.3.5 Array-List Representation of Binary Trees</a:t>
            </a:r>
            <a:endParaRPr lang="en-US" altLang="en-US" sz="2400" smtClean="0"/>
          </a:p>
        </p:txBody>
      </p:sp>
      <p:sp>
        <p:nvSpPr>
          <p:cNvPr id="4608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7696200" cy="1143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2"/>
              </a:buClr>
              <a:buFontTx/>
              <a:buChar char="•"/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Based on the way of </a:t>
            </a:r>
            <a:r>
              <a:rPr lang="en-US" altLang="en-US" sz="2400" b="1" i="1" dirty="0" smtClean="0">
                <a:latin typeface="Times New Roman" pitchFamily="18" charset="0"/>
                <a:cs typeface="Times New Roman" pitchFamily="18" charset="0"/>
              </a:rPr>
              <a:t>level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 b="1" i="1" dirty="0" smtClean="0">
                <a:latin typeface="Times New Roman" pitchFamily="18" charset="0"/>
                <a:cs typeface="Times New Roman" pitchFamily="18" charset="0"/>
              </a:rPr>
              <a:t>numbering</a:t>
            </a: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 the nodes of T. 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Tx/>
              <a:buChar char="•"/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Nodes are stored in an array</a:t>
            </a:r>
          </a:p>
        </p:txBody>
      </p:sp>
      <p:sp>
        <p:nvSpPr>
          <p:cNvPr id="46086" name="Rectangle 4"/>
          <p:cNvSpPr>
            <a:spLocks noChangeArrowheads="1"/>
          </p:cNvSpPr>
          <p:nvPr/>
        </p:nvSpPr>
        <p:spPr bwMode="auto">
          <a:xfrm>
            <a:off x="381000" y="2590800"/>
            <a:ext cx="83058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104775" eaLnBrk="1" hangingPunct="1">
              <a:spcBef>
                <a:spcPct val="20000"/>
              </a:spcBef>
              <a:buClr>
                <a:schemeClr val="tx2"/>
              </a:buClr>
              <a:buSzPct val="95000"/>
              <a:buFontTx/>
              <a:buChar char="•"/>
            </a:pPr>
            <a:r>
              <a:rPr lang="en-US" altLang="en-US" b="0" i="0">
                <a:solidFill>
                  <a:schemeClr val="tx1"/>
                </a:solidFill>
              </a:rPr>
              <a:t>  For each node </a:t>
            </a:r>
            <a:r>
              <a:rPr lang="en-US" altLang="en-US" b="0">
                <a:solidFill>
                  <a:schemeClr val="tx1"/>
                </a:solidFill>
              </a:rPr>
              <a:t>v </a:t>
            </a:r>
            <a:r>
              <a:rPr lang="en-US" altLang="en-US" b="0" i="0">
                <a:solidFill>
                  <a:schemeClr val="tx1"/>
                </a:solidFill>
              </a:rPr>
              <a:t>of </a:t>
            </a:r>
            <a:r>
              <a:rPr lang="en-US" altLang="en-US" b="0">
                <a:solidFill>
                  <a:schemeClr val="tx1"/>
                </a:solidFill>
              </a:rPr>
              <a:t>T</a:t>
            </a:r>
            <a:r>
              <a:rPr lang="en-US" altLang="en-US" b="0" i="0">
                <a:solidFill>
                  <a:schemeClr val="tx1"/>
                </a:solidFill>
              </a:rPr>
              <a:t>, let </a:t>
            </a:r>
            <a:r>
              <a:rPr lang="en-US" altLang="en-US" b="0">
                <a:solidFill>
                  <a:schemeClr val="tx1"/>
                </a:solidFill>
              </a:rPr>
              <a:t>p(v)</a:t>
            </a:r>
            <a:r>
              <a:rPr lang="en-US" altLang="en-US" b="0" i="0">
                <a:solidFill>
                  <a:schemeClr val="tx1"/>
                </a:solidFill>
              </a:rPr>
              <a:t>  be an integer defined as follows:</a:t>
            </a:r>
          </a:p>
          <a:p>
            <a:pPr marL="693738" lvl="1" indent="-2286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altLang="en-US" b="0" i="0">
                <a:solidFill>
                  <a:schemeClr val="tx1"/>
                </a:solidFill>
              </a:rPr>
              <a:t>If node </a:t>
            </a:r>
            <a:r>
              <a:rPr lang="en-US" altLang="en-US" b="0">
                <a:solidFill>
                  <a:schemeClr val="tx1"/>
                </a:solidFill>
              </a:rPr>
              <a:t>v </a:t>
            </a:r>
            <a:r>
              <a:rPr lang="en-US" altLang="en-US" b="0" i="0">
                <a:solidFill>
                  <a:schemeClr val="tx1"/>
                </a:solidFill>
              </a:rPr>
              <a:t>is the </a:t>
            </a:r>
            <a:r>
              <a:rPr lang="en-US" altLang="en-US" b="0">
                <a:solidFill>
                  <a:schemeClr val="tx1"/>
                </a:solidFill>
              </a:rPr>
              <a:t>root, </a:t>
            </a:r>
            <a:r>
              <a:rPr lang="en-US" altLang="en-US" b="0" i="0">
                <a:solidFill>
                  <a:schemeClr val="tx1"/>
                </a:solidFill>
              </a:rPr>
              <a:t> then </a:t>
            </a:r>
            <a:r>
              <a:rPr lang="en-US" altLang="en-US" b="0">
                <a:solidFill>
                  <a:schemeClr val="tx1"/>
                </a:solidFill>
              </a:rPr>
              <a:t>p(v)</a:t>
            </a:r>
            <a:r>
              <a:rPr lang="en-US" altLang="en-US"/>
              <a:t> </a:t>
            </a:r>
            <a:r>
              <a:rPr lang="en-US" altLang="en-US" b="0" i="0">
                <a:solidFill>
                  <a:schemeClr val="tx1"/>
                </a:solidFill>
              </a:rPr>
              <a:t>= 1</a:t>
            </a:r>
          </a:p>
          <a:p>
            <a:pPr marL="693738" lvl="1" indent="-2286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altLang="en-US" b="0" i="0">
                <a:solidFill>
                  <a:schemeClr val="tx1"/>
                </a:solidFill>
              </a:rPr>
              <a:t>if node </a:t>
            </a:r>
            <a:r>
              <a:rPr lang="en-US" altLang="en-US" b="0">
                <a:solidFill>
                  <a:schemeClr val="tx1"/>
                </a:solidFill>
              </a:rPr>
              <a:t>v</a:t>
            </a:r>
            <a:r>
              <a:rPr lang="en-US" altLang="en-US" b="0" i="0">
                <a:solidFill>
                  <a:schemeClr val="tx1"/>
                </a:solidFill>
              </a:rPr>
              <a:t> is the </a:t>
            </a:r>
            <a:r>
              <a:rPr lang="en-US" altLang="en-US" b="0">
                <a:solidFill>
                  <a:schemeClr val="tx1"/>
                </a:solidFill>
              </a:rPr>
              <a:t>left child</a:t>
            </a:r>
            <a:r>
              <a:rPr lang="en-US" altLang="en-US" b="0" i="0">
                <a:solidFill>
                  <a:schemeClr val="tx1"/>
                </a:solidFill>
              </a:rPr>
              <a:t> of node </a:t>
            </a:r>
            <a:r>
              <a:rPr lang="en-US" altLang="en-US" b="0">
                <a:solidFill>
                  <a:schemeClr val="tx1"/>
                </a:solidFill>
              </a:rPr>
              <a:t>u</a:t>
            </a:r>
            <a:r>
              <a:rPr lang="en-US" altLang="en-US" b="0" i="0">
                <a:solidFill>
                  <a:schemeClr val="tx1"/>
                </a:solidFill>
              </a:rPr>
              <a:t>, then </a:t>
            </a:r>
            <a:r>
              <a:rPr lang="en-US" altLang="en-US" b="0">
                <a:solidFill>
                  <a:schemeClr val="tx1"/>
                </a:solidFill>
              </a:rPr>
              <a:t>p(v)</a:t>
            </a:r>
            <a:r>
              <a:rPr lang="en-US" altLang="en-US"/>
              <a:t> </a:t>
            </a:r>
            <a:r>
              <a:rPr lang="en-US" altLang="en-US" b="0" i="0">
                <a:solidFill>
                  <a:schemeClr val="tx1"/>
                </a:solidFill>
              </a:rPr>
              <a:t>= </a:t>
            </a:r>
            <a:r>
              <a:rPr lang="en-US" altLang="en-US" b="0">
                <a:solidFill>
                  <a:schemeClr val="tx1"/>
                </a:solidFill>
              </a:rPr>
              <a:t>2* p(u)</a:t>
            </a:r>
          </a:p>
          <a:p>
            <a:pPr marL="693738" lvl="1" indent="-2286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</a:pPr>
            <a:r>
              <a:rPr lang="en-US" altLang="en-US" b="0" i="0">
                <a:solidFill>
                  <a:schemeClr val="tx1"/>
                </a:solidFill>
              </a:rPr>
              <a:t>if node </a:t>
            </a:r>
            <a:r>
              <a:rPr lang="en-US" altLang="en-US" b="0">
                <a:solidFill>
                  <a:schemeClr val="tx1"/>
                </a:solidFill>
              </a:rPr>
              <a:t>v</a:t>
            </a:r>
            <a:r>
              <a:rPr lang="en-US" altLang="en-US"/>
              <a:t> </a:t>
            </a:r>
            <a:r>
              <a:rPr lang="en-US" altLang="en-US" b="0" i="0">
                <a:solidFill>
                  <a:schemeClr val="tx1"/>
                </a:solidFill>
              </a:rPr>
              <a:t>is the </a:t>
            </a:r>
            <a:r>
              <a:rPr lang="en-US" altLang="en-US" b="0">
                <a:solidFill>
                  <a:schemeClr val="tx1"/>
                </a:solidFill>
              </a:rPr>
              <a:t>right child</a:t>
            </a:r>
            <a:r>
              <a:rPr lang="en-US" altLang="en-US" b="0" i="0">
                <a:solidFill>
                  <a:schemeClr val="tx1"/>
                </a:solidFill>
              </a:rPr>
              <a:t> of  node </a:t>
            </a:r>
            <a:r>
              <a:rPr lang="en-US" altLang="en-US" b="0">
                <a:solidFill>
                  <a:schemeClr val="tx1"/>
                </a:solidFill>
              </a:rPr>
              <a:t>u</a:t>
            </a:r>
            <a:r>
              <a:rPr lang="en-US" altLang="en-US" b="0" i="0">
                <a:solidFill>
                  <a:schemeClr val="tx1"/>
                </a:solidFill>
              </a:rPr>
              <a:t>, than  </a:t>
            </a:r>
            <a:r>
              <a:rPr lang="en-US" altLang="en-US" b="0">
                <a:solidFill>
                  <a:schemeClr val="tx1"/>
                </a:solidFill>
              </a:rPr>
              <a:t>p(v) = 2* p(u)+1</a:t>
            </a:r>
          </a:p>
          <a:p>
            <a:pPr marL="285750" indent="-104775" eaLnBrk="1" hangingPunct="1">
              <a:spcBef>
                <a:spcPct val="20000"/>
              </a:spcBef>
              <a:buClr>
                <a:schemeClr val="tx2"/>
              </a:buClr>
              <a:buSzPct val="95000"/>
              <a:buFontTx/>
              <a:buChar char="•"/>
            </a:pPr>
            <a:r>
              <a:rPr lang="en-US" altLang="en-US" b="0" i="0">
                <a:solidFill>
                  <a:schemeClr val="tx1"/>
                </a:solidFill>
              </a:rPr>
              <a:t>  The function </a:t>
            </a:r>
            <a:r>
              <a:rPr lang="en-US" altLang="en-US" b="0">
                <a:solidFill>
                  <a:schemeClr val="tx1"/>
                </a:solidFill>
              </a:rPr>
              <a:t>p</a:t>
            </a:r>
            <a:r>
              <a:rPr lang="en-US" altLang="en-US" b="0" i="0">
                <a:solidFill>
                  <a:schemeClr val="tx1"/>
                </a:solidFill>
              </a:rPr>
              <a:t> is known as a </a:t>
            </a:r>
            <a:r>
              <a:rPr lang="en-US" altLang="en-US">
                <a:solidFill>
                  <a:schemeClr val="tx1"/>
                </a:solidFill>
              </a:rPr>
              <a:t>level numbering</a:t>
            </a:r>
            <a:r>
              <a:rPr lang="en-US" altLang="en-US" b="0" i="0">
                <a:solidFill>
                  <a:schemeClr val="tx1"/>
                </a:solidFill>
              </a:rPr>
              <a:t> of nodes of T.</a:t>
            </a:r>
          </a:p>
          <a:p>
            <a:pPr marL="285750" indent="-104775" eaLnBrk="1" hangingPunct="1">
              <a:spcBef>
                <a:spcPct val="20000"/>
              </a:spcBef>
              <a:buClr>
                <a:schemeClr val="tx2"/>
              </a:buClr>
              <a:buSzPct val="95000"/>
              <a:buFontTx/>
              <a:buChar char="•"/>
            </a:pPr>
            <a:r>
              <a:rPr lang="en-US" b="0" i="0">
                <a:solidFill>
                  <a:schemeClr val="tx1"/>
                </a:solidFill>
              </a:rPr>
              <a:t>  This </a:t>
            </a:r>
            <a:r>
              <a:rPr lang="en-US" b="0">
                <a:solidFill>
                  <a:schemeClr val="tx1"/>
                </a:solidFill>
              </a:rPr>
              <a:t>level numbering</a:t>
            </a:r>
            <a:r>
              <a:rPr lang="en-US" b="0" i="0">
                <a:solidFill>
                  <a:schemeClr val="tx1"/>
                </a:solidFill>
              </a:rPr>
              <a:t> suggests an implementation of a Binary Tree, </a:t>
            </a:r>
            <a:r>
              <a:rPr lang="en-US" b="0">
                <a:solidFill>
                  <a:schemeClr val="tx1"/>
                </a:solidFill>
              </a:rPr>
              <a:t>T</a:t>
            </a:r>
            <a:r>
              <a:rPr lang="en-US" b="0" i="0">
                <a:solidFill>
                  <a:schemeClr val="tx1"/>
                </a:solidFill>
              </a:rPr>
              <a:t>, by means of an array list </a:t>
            </a:r>
            <a:r>
              <a:rPr lang="en-US" b="0">
                <a:solidFill>
                  <a:schemeClr val="tx1"/>
                </a:solidFill>
              </a:rPr>
              <a:t>S</a:t>
            </a:r>
            <a:r>
              <a:rPr lang="en-US" b="0" i="0">
                <a:solidFill>
                  <a:schemeClr val="tx1"/>
                </a:solidFill>
              </a:rPr>
              <a:t> such that node </a:t>
            </a:r>
            <a:r>
              <a:rPr lang="en-US" b="0">
                <a:solidFill>
                  <a:schemeClr val="tx1"/>
                </a:solidFill>
              </a:rPr>
              <a:t>v</a:t>
            </a:r>
            <a:r>
              <a:rPr lang="en-US" b="0" i="0">
                <a:solidFill>
                  <a:schemeClr val="tx1"/>
                </a:solidFill>
              </a:rPr>
              <a:t> of </a:t>
            </a:r>
            <a:r>
              <a:rPr lang="en-US" b="0">
                <a:solidFill>
                  <a:schemeClr val="tx1"/>
                </a:solidFill>
              </a:rPr>
              <a:t>T</a:t>
            </a:r>
            <a:r>
              <a:rPr lang="en-US" b="0" i="0">
                <a:solidFill>
                  <a:schemeClr val="tx1"/>
                </a:solidFill>
              </a:rPr>
              <a:t> is the element of </a:t>
            </a:r>
            <a:r>
              <a:rPr lang="en-US" b="0">
                <a:solidFill>
                  <a:schemeClr val="tx1"/>
                </a:solidFill>
              </a:rPr>
              <a:t>S</a:t>
            </a:r>
            <a:r>
              <a:rPr lang="en-US" b="0" i="0">
                <a:solidFill>
                  <a:schemeClr val="tx1"/>
                </a:solidFill>
              </a:rPr>
              <a:t> at </a:t>
            </a:r>
            <a:r>
              <a:rPr lang="en-US" b="0">
                <a:solidFill>
                  <a:schemeClr val="tx1"/>
                </a:solidFill>
              </a:rPr>
              <a:t>index p(v). </a:t>
            </a:r>
            <a:r>
              <a:rPr lang="en-US" b="0" i="0">
                <a:solidFill>
                  <a:schemeClr val="tx1"/>
                </a:solidFill>
              </a:rPr>
              <a:t>We realize array list </a:t>
            </a:r>
            <a:r>
              <a:rPr lang="en-US" b="0">
                <a:solidFill>
                  <a:schemeClr val="tx1"/>
                </a:solidFill>
              </a:rPr>
              <a:t>S</a:t>
            </a:r>
            <a:r>
              <a:rPr lang="en-US" b="0" i="0">
                <a:solidFill>
                  <a:schemeClr val="tx1"/>
                </a:solidFill>
              </a:rPr>
              <a:t> by means of an </a:t>
            </a:r>
            <a:r>
              <a:rPr lang="en-US" b="0">
                <a:solidFill>
                  <a:schemeClr val="tx1"/>
                </a:solidFill>
              </a:rPr>
              <a:t>extendable</a:t>
            </a:r>
            <a:r>
              <a:rPr lang="en-US" b="0" i="0">
                <a:solidFill>
                  <a:schemeClr val="tx1"/>
                </a:solidFill>
              </a:rPr>
              <a:t> array.</a:t>
            </a:r>
            <a:endParaRPr lang="en-US" b="0">
              <a:solidFill>
                <a:schemeClr val="tx1"/>
              </a:solidFill>
            </a:endParaRPr>
          </a:p>
          <a:p>
            <a:pPr marL="285750" indent="-104775" eaLnBrk="1" hangingPunct="1">
              <a:spcBef>
                <a:spcPct val="20000"/>
              </a:spcBef>
              <a:buClr>
                <a:schemeClr val="tx2"/>
              </a:buClr>
              <a:buSzPct val="95000"/>
              <a:buFontTx/>
              <a:buChar char="•"/>
            </a:pPr>
            <a:endParaRPr lang="en-US" altLang="en-US" b="0" i="0">
              <a:solidFill>
                <a:schemeClr val="tx1"/>
              </a:solidFill>
            </a:endParaRPr>
          </a:p>
          <a:p>
            <a:pPr marL="693738" lvl="1" indent="-228600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endParaRPr lang="en-US" altLang="en-US" b="0" i="0">
              <a:solidFill>
                <a:schemeClr val="tx1"/>
              </a:solidFill>
            </a:endParaRPr>
          </a:p>
          <a:p>
            <a:pPr marL="693738" lvl="1" indent="-228600" eaLnBrk="1" hangingPunct="1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Char char="n"/>
            </a:pPr>
            <a:endParaRPr lang="en-US" altLang="en-US" b="0" i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466ABE-EFCE-4925-AC3E-8E282B34CDE7}" type="slidenum">
              <a:rPr lang="ar-SA"/>
              <a:pPr>
                <a:defRPr/>
              </a:pPr>
              <a:t>43</a:t>
            </a:fld>
            <a:endParaRPr lang="en-US"/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772400" cy="609600"/>
          </a:xfrm>
        </p:spPr>
        <p:txBody>
          <a:bodyPr/>
          <a:lstStyle/>
          <a:p>
            <a:pPr eaLnBrk="1" hangingPunct="1"/>
            <a:r>
              <a:rPr lang="en-US" sz="2800" smtClean="0"/>
              <a:t>Example</a:t>
            </a:r>
          </a:p>
        </p:txBody>
      </p:sp>
      <p:sp>
        <p:nvSpPr>
          <p:cNvPr id="4710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2971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   The figure below is an example of a Binary tree and its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level numbering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	Note that some numbers are skipped through numbering process,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e.g.,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 numbers </a:t>
            </a:r>
            <a:r>
              <a:rPr lang="en-US" sz="240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&amp; </a:t>
            </a:r>
            <a:r>
              <a:rPr lang="en-US" sz="240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	</a:t>
            </a:r>
          </a:p>
        </p:txBody>
      </p:sp>
      <p:grpSp>
        <p:nvGrpSpPr>
          <p:cNvPr id="47110" name="Group 4"/>
          <p:cNvGrpSpPr>
            <a:grpSpLocks/>
          </p:cNvGrpSpPr>
          <p:nvPr/>
        </p:nvGrpSpPr>
        <p:grpSpPr bwMode="auto">
          <a:xfrm>
            <a:off x="2819400" y="3733800"/>
            <a:ext cx="3429000" cy="2286000"/>
            <a:chOff x="2928" y="2256"/>
            <a:chExt cx="2160" cy="1440"/>
          </a:xfrm>
        </p:grpSpPr>
        <p:sp>
          <p:nvSpPr>
            <p:cNvPr id="47120" name="Oval 5"/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Symbol" pitchFamily="18" charset="2"/>
                </a:rPr>
                <a:t>+</a:t>
              </a:r>
            </a:p>
          </p:txBody>
        </p:sp>
        <p:sp>
          <p:nvSpPr>
            <p:cNvPr id="47121" name="Oval 6"/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Symbol" pitchFamily="18" charset="2"/>
                  <a:sym typeface="Symbol" pitchFamily="18" charset="2"/>
                </a:rPr>
                <a:t></a:t>
              </a:r>
            </a:p>
          </p:txBody>
        </p:sp>
        <p:sp>
          <p:nvSpPr>
            <p:cNvPr id="47122" name="Oval 7"/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Symbol" pitchFamily="18" charset="2"/>
                  <a:sym typeface="Symbol" pitchFamily="18" charset="2"/>
                </a:rPr>
                <a:t></a:t>
              </a:r>
              <a:endParaRPr lang="en-US" b="0" i="0">
                <a:solidFill>
                  <a:schemeClr val="tx1"/>
                </a:solidFill>
                <a:latin typeface="Symbol" pitchFamily="18" charset="2"/>
              </a:endParaRPr>
            </a:p>
          </p:txBody>
        </p:sp>
        <p:sp>
          <p:nvSpPr>
            <p:cNvPr id="47123" name="Oval 8"/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Symbol" pitchFamily="18" charset="2"/>
                </a:rPr>
                <a:t>-</a:t>
              </a:r>
            </a:p>
          </p:txBody>
        </p:sp>
        <p:sp>
          <p:nvSpPr>
            <p:cNvPr id="47124" name="Rectangle 9"/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</a:rPr>
                <a:t>2</a:t>
              </a:r>
            </a:p>
          </p:txBody>
        </p:sp>
        <p:sp>
          <p:nvSpPr>
            <p:cNvPr id="47125" name="Rectangle 10"/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</a:rPr>
                <a:t>a</a:t>
              </a:r>
            </a:p>
          </p:txBody>
        </p:sp>
        <p:sp>
          <p:nvSpPr>
            <p:cNvPr id="47126" name="Rectangle 11"/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</a:rPr>
                <a:t>1</a:t>
              </a:r>
            </a:p>
          </p:txBody>
        </p:sp>
        <p:sp>
          <p:nvSpPr>
            <p:cNvPr id="47127" name="Rectangle 12"/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</a:rPr>
                <a:t>3</a:t>
              </a:r>
            </a:p>
          </p:txBody>
        </p:sp>
        <p:sp>
          <p:nvSpPr>
            <p:cNvPr id="47128" name="Rectangle 13"/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</a:rPr>
                <a:t>b</a:t>
              </a:r>
            </a:p>
          </p:txBody>
        </p:sp>
        <p:cxnSp>
          <p:nvCxnSpPr>
            <p:cNvPr id="47129" name="AutoShape 14"/>
            <p:cNvCxnSpPr>
              <a:cxnSpLocks noChangeShapeType="1"/>
              <a:stCxn id="47120" idx="3"/>
              <a:endCxn id="47122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30" name="AutoShape 15"/>
            <p:cNvCxnSpPr>
              <a:cxnSpLocks noChangeShapeType="1"/>
              <a:stCxn id="47121" idx="1"/>
              <a:endCxn id="47120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31" name="AutoShape 16"/>
            <p:cNvCxnSpPr>
              <a:cxnSpLocks noChangeShapeType="1"/>
              <a:stCxn id="47128" idx="0"/>
              <a:endCxn id="47121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32" name="AutoShape 17"/>
            <p:cNvCxnSpPr>
              <a:cxnSpLocks noChangeShapeType="1"/>
              <a:stCxn id="47127" idx="0"/>
              <a:endCxn id="47121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33" name="AutoShape 18"/>
            <p:cNvCxnSpPr>
              <a:cxnSpLocks noChangeShapeType="1"/>
              <a:stCxn id="47126" idx="0"/>
              <a:endCxn id="47123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34" name="AutoShape 19"/>
            <p:cNvCxnSpPr>
              <a:cxnSpLocks noChangeShapeType="1"/>
              <a:stCxn id="47125" idx="0"/>
              <a:endCxn id="47123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35" name="AutoShape 20"/>
            <p:cNvCxnSpPr>
              <a:cxnSpLocks noChangeShapeType="1"/>
              <a:stCxn id="47124" idx="0"/>
              <a:endCxn id="47122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136" name="AutoShape 21"/>
            <p:cNvCxnSpPr>
              <a:cxnSpLocks noChangeShapeType="1"/>
              <a:stCxn id="47123" idx="1"/>
              <a:endCxn id="47122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7111" name="Text Box 22"/>
          <p:cNvSpPr txBox="1">
            <a:spLocks noChangeArrowheads="1"/>
          </p:cNvSpPr>
          <p:nvPr/>
        </p:nvSpPr>
        <p:spPr bwMode="auto">
          <a:xfrm>
            <a:off x="6019800" y="4572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7</a:t>
            </a:r>
          </a:p>
        </p:txBody>
      </p:sp>
      <p:sp>
        <p:nvSpPr>
          <p:cNvPr id="47112" name="Text Box 59"/>
          <p:cNvSpPr txBox="1">
            <a:spLocks noChangeArrowheads="1"/>
          </p:cNvSpPr>
          <p:nvPr/>
        </p:nvSpPr>
        <p:spPr bwMode="auto">
          <a:xfrm>
            <a:off x="4953000" y="4572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6</a:t>
            </a:r>
          </a:p>
        </p:txBody>
      </p:sp>
      <p:sp>
        <p:nvSpPr>
          <p:cNvPr id="47113" name="Text Box 60"/>
          <p:cNvSpPr txBox="1">
            <a:spLocks noChangeArrowheads="1"/>
          </p:cNvSpPr>
          <p:nvPr/>
        </p:nvSpPr>
        <p:spPr bwMode="auto">
          <a:xfrm>
            <a:off x="4038600" y="4572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5</a:t>
            </a:r>
          </a:p>
        </p:txBody>
      </p:sp>
      <p:sp>
        <p:nvSpPr>
          <p:cNvPr id="47114" name="Text Box 61"/>
          <p:cNvSpPr txBox="1">
            <a:spLocks noChangeArrowheads="1"/>
          </p:cNvSpPr>
          <p:nvPr/>
        </p:nvSpPr>
        <p:spPr bwMode="auto">
          <a:xfrm>
            <a:off x="2514600" y="4648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4</a:t>
            </a:r>
          </a:p>
        </p:txBody>
      </p:sp>
      <p:sp>
        <p:nvSpPr>
          <p:cNvPr id="47115" name="Text Box 62"/>
          <p:cNvSpPr txBox="1">
            <a:spLocks noChangeArrowheads="1"/>
          </p:cNvSpPr>
          <p:nvPr/>
        </p:nvSpPr>
        <p:spPr bwMode="auto">
          <a:xfrm>
            <a:off x="5867400" y="4191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3</a:t>
            </a:r>
          </a:p>
        </p:txBody>
      </p:sp>
      <p:sp>
        <p:nvSpPr>
          <p:cNvPr id="47116" name="Text Box 63"/>
          <p:cNvSpPr txBox="1">
            <a:spLocks noChangeArrowheads="1"/>
          </p:cNvSpPr>
          <p:nvPr/>
        </p:nvSpPr>
        <p:spPr bwMode="auto">
          <a:xfrm>
            <a:off x="2819400" y="4191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2</a:t>
            </a:r>
          </a:p>
        </p:txBody>
      </p:sp>
      <p:sp>
        <p:nvSpPr>
          <p:cNvPr id="47117" name="Text Box 64"/>
          <p:cNvSpPr txBox="1">
            <a:spLocks noChangeArrowheads="1"/>
          </p:cNvSpPr>
          <p:nvPr/>
        </p:nvSpPr>
        <p:spPr bwMode="auto">
          <a:xfrm>
            <a:off x="4343400" y="3581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1</a:t>
            </a:r>
          </a:p>
        </p:txBody>
      </p:sp>
      <p:sp>
        <p:nvSpPr>
          <p:cNvPr id="47118" name="Text Box 65"/>
          <p:cNvSpPr txBox="1">
            <a:spLocks noChangeArrowheads="1"/>
          </p:cNvSpPr>
          <p:nvPr/>
        </p:nvSpPr>
        <p:spPr bwMode="auto">
          <a:xfrm>
            <a:off x="4495800" y="52578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11</a:t>
            </a:r>
          </a:p>
        </p:txBody>
      </p:sp>
      <p:sp>
        <p:nvSpPr>
          <p:cNvPr id="47119" name="Text Box 66"/>
          <p:cNvSpPr txBox="1">
            <a:spLocks noChangeArrowheads="1"/>
          </p:cNvSpPr>
          <p:nvPr/>
        </p:nvSpPr>
        <p:spPr bwMode="auto">
          <a:xfrm>
            <a:off x="3200400" y="52578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 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8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F74848-A866-48F7-A879-B247C1837728}" type="slidenum">
              <a:rPr lang="ar-SA"/>
              <a:pPr>
                <a:defRPr/>
              </a:pPr>
              <a:t>44</a:t>
            </a:fld>
            <a:endParaRPr lang="en-US"/>
          </a:p>
        </p:txBody>
      </p:sp>
      <p:grpSp>
        <p:nvGrpSpPr>
          <p:cNvPr id="48132" name="Group 2"/>
          <p:cNvGrpSpPr>
            <a:grpSpLocks/>
          </p:cNvGrpSpPr>
          <p:nvPr/>
        </p:nvGrpSpPr>
        <p:grpSpPr bwMode="auto">
          <a:xfrm>
            <a:off x="3886200" y="3962400"/>
            <a:ext cx="381000" cy="579438"/>
            <a:chOff x="4176" y="1104"/>
            <a:chExt cx="240" cy="365"/>
          </a:xfrm>
        </p:grpSpPr>
        <p:sp>
          <p:nvSpPr>
            <p:cNvPr id="48214" name="Oval 3"/>
            <p:cNvSpPr>
              <a:spLocks noChangeArrowheads="1"/>
            </p:cNvSpPr>
            <p:nvPr/>
          </p:nvSpPr>
          <p:spPr bwMode="auto">
            <a:xfrm>
              <a:off x="4176" y="1152"/>
              <a:ext cx="240" cy="24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215" name="Text Box 4"/>
            <p:cNvSpPr txBox="1">
              <a:spLocks noChangeArrowheads="1"/>
            </p:cNvSpPr>
            <p:nvPr/>
          </p:nvSpPr>
          <p:spPr bwMode="auto">
            <a:xfrm>
              <a:off x="4176" y="1104"/>
              <a:ext cx="2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sz="3200" b="0" i="0">
                <a:solidFill>
                  <a:schemeClr val="accent1"/>
                </a:solidFill>
              </a:endParaRPr>
            </a:p>
          </p:txBody>
        </p:sp>
      </p:grpSp>
      <p:sp>
        <p:nvSpPr>
          <p:cNvPr id="48133" name="Rectangle 5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762000"/>
          </a:xfrm>
        </p:spPr>
        <p:txBody>
          <a:bodyPr/>
          <a:lstStyle/>
          <a:p>
            <a:pPr eaLnBrk="1" hangingPunct="1"/>
            <a:r>
              <a:rPr lang="en-US" smtClean="0"/>
              <a:t>Array Representation</a:t>
            </a:r>
          </a:p>
        </p:txBody>
      </p:sp>
      <p:sp>
        <p:nvSpPr>
          <p:cNvPr id="48134" name="Rectangle 6"/>
          <p:cNvSpPr>
            <a:spLocks noChangeArrowheads="1"/>
          </p:cNvSpPr>
          <p:nvPr/>
        </p:nvSpPr>
        <p:spPr bwMode="auto">
          <a:xfrm>
            <a:off x="2286000" y="5867400"/>
            <a:ext cx="38100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5" name="Rectangle 7"/>
          <p:cNvSpPr>
            <a:spLocks noChangeArrowheads="1"/>
          </p:cNvSpPr>
          <p:nvPr/>
        </p:nvSpPr>
        <p:spPr bwMode="auto">
          <a:xfrm>
            <a:off x="2667000" y="5867400"/>
            <a:ext cx="38100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6" name="Rectangle 8"/>
          <p:cNvSpPr>
            <a:spLocks noChangeArrowheads="1"/>
          </p:cNvSpPr>
          <p:nvPr/>
        </p:nvSpPr>
        <p:spPr bwMode="auto">
          <a:xfrm>
            <a:off x="3048000" y="5867400"/>
            <a:ext cx="38100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7" name="Rectangle 9"/>
          <p:cNvSpPr>
            <a:spLocks noChangeArrowheads="1"/>
          </p:cNvSpPr>
          <p:nvPr/>
        </p:nvSpPr>
        <p:spPr bwMode="auto">
          <a:xfrm>
            <a:off x="3429000" y="5867400"/>
            <a:ext cx="38100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8" name="Rectangle 10"/>
          <p:cNvSpPr>
            <a:spLocks noChangeArrowheads="1"/>
          </p:cNvSpPr>
          <p:nvPr/>
        </p:nvSpPr>
        <p:spPr bwMode="auto">
          <a:xfrm>
            <a:off x="3810000" y="5867400"/>
            <a:ext cx="38100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9" name="Rectangle 11"/>
          <p:cNvSpPr>
            <a:spLocks noChangeArrowheads="1"/>
          </p:cNvSpPr>
          <p:nvPr/>
        </p:nvSpPr>
        <p:spPr bwMode="auto">
          <a:xfrm>
            <a:off x="4191000" y="5867400"/>
            <a:ext cx="38100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0" name="Rectangle 12"/>
          <p:cNvSpPr>
            <a:spLocks noChangeArrowheads="1"/>
          </p:cNvSpPr>
          <p:nvPr/>
        </p:nvSpPr>
        <p:spPr bwMode="auto">
          <a:xfrm>
            <a:off x="4572000" y="5867400"/>
            <a:ext cx="38100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1" name="Rectangle 13"/>
          <p:cNvSpPr>
            <a:spLocks noChangeArrowheads="1"/>
          </p:cNvSpPr>
          <p:nvPr/>
        </p:nvSpPr>
        <p:spPr bwMode="auto">
          <a:xfrm>
            <a:off x="4953000" y="5867400"/>
            <a:ext cx="38100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2" name="Rectangle 14"/>
          <p:cNvSpPr>
            <a:spLocks noChangeArrowheads="1"/>
          </p:cNvSpPr>
          <p:nvPr/>
        </p:nvSpPr>
        <p:spPr bwMode="auto">
          <a:xfrm>
            <a:off x="5334000" y="5867400"/>
            <a:ext cx="38100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3" name="Rectangle 15"/>
          <p:cNvSpPr>
            <a:spLocks noChangeArrowheads="1"/>
          </p:cNvSpPr>
          <p:nvPr/>
        </p:nvSpPr>
        <p:spPr bwMode="auto">
          <a:xfrm>
            <a:off x="5715000" y="5867400"/>
            <a:ext cx="38100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4" name="Rectangle 16"/>
          <p:cNvSpPr>
            <a:spLocks noChangeArrowheads="1"/>
          </p:cNvSpPr>
          <p:nvPr/>
        </p:nvSpPr>
        <p:spPr bwMode="auto">
          <a:xfrm>
            <a:off x="6096000" y="5867400"/>
            <a:ext cx="38100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45" name="Text Box 17"/>
          <p:cNvSpPr txBox="1">
            <a:spLocks noChangeArrowheads="1"/>
          </p:cNvSpPr>
          <p:nvPr/>
        </p:nvSpPr>
        <p:spPr bwMode="auto">
          <a:xfrm>
            <a:off x="1219200" y="5791200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800" b="0" i="0">
                <a:solidFill>
                  <a:schemeClr val="hlink"/>
                </a:solidFill>
              </a:rPr>
              <a:t>tree[]</a:t>
            </a:r>
          </a:p>
        </p:txBody>
      </p:sp>
      <p:sp>
        <p:nvSpPr>
          <p:cNvPr id="48146" name="Text Box 18"/>
          <p:cNvSpPr txBox="1">
            <a:spLocks noChangeArrowheads="1"/>
          </p:cNvSpPr>
          <p:nvPr/>
        </p:nvSpPr>
        <p:spPr bwMode="auto">
          <a:xfrm>
            <a:off x="2286000" y="6172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/>
              <a:t>0</a:t>
            </a:r>
          </a:p>
        </p:txBody>
      </p:sp>
      <p:sp>
        <p:nvSpPr>
          <p:cNvPr id="48147" name="Text Box 19"/>
          <p:cNvSpPr txBox="1">
            <a:spLocks noChangeArrowheads="1"/>
          </p:cNvSpPr>
          <p:nvPr/>
        </p:nvSpPr>
        <p:spPr bwMode="auto">
          <a:xfrm>
            <a:off x="4191000" y="6172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/>
              <a:t>5</a:t>
            </a:r>
          </a:p>
        </p:txBody>
      </p:sp>
      <p:sp>
        <p:nvSpPr>
          <p:cNvPr id="48148" name="Text Box 20"/>
          <p:cNvSpPr txBox="1">
            <a:spLocks noChangeArrowheads="1"/>
          </p:cNvSpPr>
          <p:nvPr/>
        </p:nvSpPr>
        <p:spPr bwMode="auto">
          <a:xfrm>
            <a:off x="6096000" y="61722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/>
              <a:t>10</a:t>
            </a:r>
          </a:p>
        </p:txBody>
      </p:sp>
      <p:sp>
        <p:nvSpPr>
          <p:cNvPr id="231445" name="Text Box 21"/>
          <p:cNvSpPr txBox="1">
            <a:spLocks noChangeArrowheads="1"/>
          </p:cNvSpPr>
          <p:nvPr/>
        </p:nvSpPr>
        <p:spPr bwMode="auto">
          <a:xfrm>
            <a:off x="2667000" y="5791200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b="0" i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31446" name="Text Box 22"/>
          <p:cNvSpPr txBox="1">
            <a:spLocks noChangeArrowheads="1"/>
          </p:cNvSpPr>
          <p:nvPr/>
        </p:nvSpPr>
        <p:spPr bwMode="auto">
          <a:xfrm>
            <a:off x="3092450" y="5791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b="0" i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31447" name="Text Box 23"/>
          <p:cNvSpPr txBox="1">
            <a:spLocks noChangeArrowheads="1"/>
          </p:cNvSpPr>
          <p:nvPr/>
        </p:nvSpPr>
        <p:spPr bwMode="auto">
          <a:xfrm>
            <a:off x="3517900" y="5791200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b="0" i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31448" name="Text Box 24"/>
          <p:cNvSpPr txBox="1">
            <a:spLocks noChangeArrowheads="1"/>
          </p:cNvSpPr>
          <p:nvPr/>
        </p:nvSpPr>
        <p:spPr bwMode="auto">
          <a:xfrm>
            <a:off x="3886200" y="5791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b="0" i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31449" name="Text Box 25"/>
          <p:cNvSpPr txBox="1">
            <a:spLocks noChangeArrowheads="1"/>
          </p:cNvSpPr>
          <p:nvPr/>
        </p:nvSpPr>
        <p:spPr bwMode="auto">
          <a:xfrm>
            <a:off x="4254500" y="5791200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b="0" i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31450" name="Text Box 26"/>
          <p:cNvSpPr txBox="1">
            <a:spLocks noChangeArrowheads="1"/>
          </p:cNvSpPr>
          <p:nvPr/>
        </p:nvSpPr>
        <p:spPr bwMode="auto">
          <a:xfrm>
            <a:off x="4622800" y="5791200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b="0" i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31451" name="Text Box 27"/>
          <p:cNvSpPr txBox="1">
            <a:spLocks noChangeArrowheads="1"/>
          </p:cNvSpPr>
          <p:nvPr/>
        </p:nvSpPr>
        <p:spPr bwMode="auto">
          <a:xfrm>
            <a:off x="4991100" y="5791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b="0" i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31452" name="Text Box 28"/>
          <p:cNvSpPr txBox="1">
            <a:spLocks noChangeArrowheads="1"/>
          </p:cNvSpPr>
          <p:nvPr/>
        </p:nvSpPr>
        <p:spPr bwMode="auto">
          <a:xfrm>
            <a:off x="5359400" y="5791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b="0" i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231453" name="Text Box 29"/>
          <p:cNvSpPr txBox="1">
            <a:spLocks noChangeArrowheads="1"/>
          </p:cNvSpPr>
          <p:nvPr/>
        </p:nvSpPr>
        <p:spPr bwMode="auto">
          <a:xfrm>
            <a:off x="5727700" y="57912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b="0" i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231454" name="Text Box 30"/>
          <p:cNvSpPr txBox="1">
            <a:spLocks noChangeArrowheads="1"/>
          </p:cNvSpPr>
          <p:nvPr/>
        </p:nvSpPr>
        <p:spPr bwMode="auto">
          <a:xfrm>
            <a:off x="6096000" y="57912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b="0" i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48159" name="Oval 31"/>
          <p:cNvSpPr>
            <a:spLocks noChangeArrowheads="1"/>
          </p:cNvSpPr>
          <p:nvPr/>
        </p:nvSpPr>
        <p:spPr bwMode="auto">
          <a:xfrm>
            <a:off x="1447800" y="3200400"/>
            <a:ext cx="381000" cy="381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60" name="Oval 32"/>
          <p:cNvSpPr>
            <a:spLocks noChangeArrowheads="1"/>
          </p:cNvSpPr>
          <p:nvPr/>
        </p:nvSpPr>
        <p:spPr bwMode="auto">
          <a:xfrm>
            <a:off x="3505200" y="3276600"/>
            <a:ext cx="381000" cy="381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61" name="Oval 33"/>
          <p:cNvSpPr>
            <a:spLocks noChangeArrowheads="1"/>
          </p:cNvSpPr>
          <p:nvPr/>
        </p:nvSpPr>
        <p:spPr bwMode="auto">
          <a:xfrm>
            <a:off x="5257800" y="3200400"/>
            <a:ext cx="381000" cy="381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62" name="Oval 34"/>
          <p:cNvSpPr>
            <a:spLocks noChangeArrowheads="1"/>
          </p:cNvSpPr>
          <p:nvPr/>
        </p:nvSpPr>
        <p:spPr bwMode="auto">
          <a:xfrm>
            <a:off x="6553200" y="3276600"/>
            <a:ext cx="381000" cy="381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63" name="Line 35"/>
          <p:cNvSpPr>
            <a:spLocks noChangeShapeType="1"/>
          </p:cNvSpPr>
          <p:nvPr/>
        </p:nvSpPr>
        <p:spPr bwMode="auto">
          <a:xfrm flipH="1">
            <a:off x="5486400" y="25146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64" name="Line 36"/>
          <p:cNvSpPr>
            <a:spLocks noChangeShapeType="1"/>
          </p:cNvSpPr>
          <p:nvPr/>
        </p:nvSpPr>
        <p:spPr bwMode="auto">
          <a:xfrm>
            <a:off x="6172200" y="2438400"/>
            <a:ext cx="5334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65" name="Line 37"/>
          <p:cNvSpPr>
            <a:spLocks noChangeShapeType="1"/>
          </p:cNvSpPr>
          <p:nvPr/>
        </p:nvSpPr>
        <p:spPr bwMode="auto">
          <a:xfrm flipH="1">
            <a:off x="1752600" y="2438400"/>
            <a:ext cx="838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66" name="Line 38"/>
          <p:cNvSpPr>
            <a:spLocks noChangeShapeType="1"/>
          </p:cNvSpPr>
          <p:nvPr/>
        </p:nvSpPr>
        <p:spPr bwMode="auto">
          <a:xfrm>
            <a:off x="2971800" y="2438400"/>
            <a:ext cx="6096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167" name="Group 39"/>
          <p:cNvGrpSpPr>
            <a:grpSpLocks/>
          </p:cNvGrpSpPr>
          <p:nvPr/>
        </p:nvGrpSpPr>
        <p:grpSpPr bwMode="auto">
          <a:xfrm>
            <a:off x="4267200" y="1066800"/>
            <a:ext cx="381000" cy="579438"/>
            <a:chOff x="4176" y="1104"/>
            <a:chExt cx="240" cy="365"/>
          </a:xfrm>
        </p:grpSpPr>
        <p:sp>
          <p:nvSpPr>
            <p:cNvPr id="48212" name="Oval 40"/>
            <p:cNvSpPr>
              <a:spLocks noChangeArrowheads="1"/>
            </p:cNvSpPr>
            <p:nvPr/>
          </p:nvSpPr>
          <p:spPr bwMode="auto">
            <a:xfrm>
              <a:off x="4176" y="1152"/>
              <a:ext cx="240" cy="24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213" name="Text Box 41"/>
            <p:cNvSpPr txBox="1">
              <a:spLocks noChangeArrowheads="1"/>
            </p:cNvSpPr>
            <p:nvPr/>
          </p:nvSpPr>
          <p:spPr bwMode="auto">
            <a:xfrm>
              <a:off x="4176" y="1104"/>
              <a:ext cx="2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sz="3200" b="0" i="0">
                <a:solidFill>
                  <a:schemeClr val="tx1"/>
                </a:solidFill>
              </a:endParaRPr>
            </a:p>
          </p:txBody>
        </p:sp>
      </p:grpSp>
      <p:grpSp>
        <p:nvGrpSpPr>
          <p:cNvPr id="48168" name="Group 42"/>
          <p:cNvGrpSpPr>
            <a:grpSpLocks/>
          </p:cNvGrpSpPr>
          <p:nvPr/>
        </p:nvGrpSpPr>
        <p:grpSpPr bwMode="auto">
          <a:xfrm>
            <a:off x="5791200" y="2133600"/>
            <a:ext cx="381000" cy="579438"/>
            <a:chOff x="4176" y="1104"/>
            <a:chExt cx="240" cy="365"/>
          </a:xfrm>
        </p:grpSpPr>
        <p:sp>
          <p:nvSpPr>
            <p:cNvPr id="48210" name="Oval 43"/>
            <p:cNvSpPr>
              <a:spLocks noChangeArrowheads="1"/>
            </p:cNvSpPr>
            <p:nvPr/>
          </p:nvSpPr>
          <p:spPr bwMode="auto">
            <a:xfrm>
              <a:off x="4176" y="1152"/>
              <a:ext cx="240" cy="24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211" name="Text Box 44"/>
            <p:cNvSpPr txBox="1">
              <a:spLocks noChangeArrowheads="1"/>
            </p:cNvSpPr>
            <p:nvPr/>
          </p:nvSpPr>
          <p:spPr bwMode="auto">
            <a:xfrm>
              <a:off x="4176" y="1104"/>
              <a:ext cx="2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sz="3200" b="0" i="0">
                <a:solidFill>
                  <a:schemeClr val="accent1"/>
                </a:solidFill>
              </a:endParaRPr>
            </a:p>
          </p:txBody>
        </p:sp>
      </p:grpSp>
      <p:grpSp>
        <p:nvGrpSpPr>
          <p:cNvPr id="48169" name="Group 45"/>
          <p:cNvGrpSpPr>
            <a:grpSpLocks/>
          </p:cNvGrpSpPr>
          <p:nvPr/>
        </p:nvGrpSpPr>
        <p:grpSpPr bwMode="auto">
          <a:xfrm>
            <a:off x="2590800" y="2133600"/>
            <a:ext cx="381000" cy="457200"/>
            <a:chOff x="4176" y="1104"/>
            <a:chExt cx="240" cy="288"/>
          </a:xfrm>
        </p:grpSpPr>
        <p:sp>
          <p:nvSpPr>
            <p:cNvPr id="48208" name="Oval 46"/>
            <p:cNvSpPr>
              <a:spLocks noChangeArrowheads="1"/>
            </p:cNvSpPr>
            <p:nvPr/>
          </p:nvSpPr>
          <p:spPr bwMode="auto">
            <a:xfrm>
              <a:off x="4176" y="1152"/>
              <a:ext cx="240" cy="24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209" name="Text Box 47"/>
            <p:cNvSpPr txBox="1">
              <a:spLocks noChangeArrowheads="1"/>
            </p:cNvSpPr>
            <p:nvPr/>
          </p:nvSpPr>
          <p:spPr bwMode="auto">
            <a:xfrm>
              <a:off x="4176" y="110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b="0" i="0">
                  <a:solidFill>
                    <a:schemeClr val="tx1"/>
                  </a:solidFill>
                </a:rPr>
                <a:t>b</a:t>
              </a:r>
            </a:p>
          </p:txBody>
        </p:sp>
      </p:grpSp>
      <p:sp>
        <p:nvSpPr>
          <p:cNvPr id="48170" name="Line 48"/>
          <p:cNvSpPr>
            <a:spLocks noChangeShapeType="1"/>
          </p:cNvSpPr>
          <p:nvPr/>
        </p:nvSpPr>
        <p:spPr bwMode="auto">
          <a:xfrm flipH="1">
            <a:off x="2895600" y="1371600"/>
            <a:ext cx="13716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71" name="Line 49"/>
          <p:cNvSpPr>
            <a:spLocks noChangeShapeType="1"/>
          </p:cNvSpPr>
          <p:nvPr/>
        </p:nvSpPr>
        <p:spPr bwMode="auto">
          <a:xfrm>
            <a:off x="4572000" y="1447800"/>
            <a:ext cx="12954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172" name="Group 50"/>
          <p:cNvGrpSpPr>
            <a:grpSpLocks/>
          </p:cNvGrpSpPr>
          <p:nvPr/>
        </p:nvGrpSpPr>
        <p:grpSpPr bwMode="auto">
          <a:xfrm>
            <a:off x="990600" y="3810000"/>
            <a:ext cx="381000" cy="579438"/>
            <a:chOff x="4176" y="1104"/>
            <a:chExt cx="240" cy="365"/>
          </a:xfrm>
        </p:grpSpPr>
        <p:sp>
          <p:nvSpPr>
            <p:cNvPr id="48206" name="Oval 51"/>
            <p:cNvSpPr>
              <a:spLocks noChangeArrowheads="1"/>
            </p:cNvSpPr>
            <p:nvPr/>
          </p:nvSpPr>
          <p:spPr bwMode="auto">
            <a:xfrm>
              <a:off x="4176" y="1152"/>
              <a:ext cx="240" cy="24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207" name="Text Box 52"/>
            <p:cNvSpPr txBox="1">
              <a:spLocks noChangeArrowheads="1"/>
            </p:cNvSpPr>
            <p:nvPr/>
          </p:nvSpPr>
          <p:spPr bwMode="auto">
            <a:xfrm>
              <a:off x="4176" y="1104"/>
              <a:ext cx="2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sz="3200" b="0" i="0">
                <a:solidFill>
                  <a:schemeClr val="accent1"/>
                </a:solidFill>
              </a:endParaRPr>
            </a:p>
          </p:txBody>
        </p:sp>
      </p:grpSp>
      <p:grpSp>
        <p:nvGrpSpPr>
          <p:cNvPr id="48173" name="Group 53"/>
          <p:cNvGrpSpPr>
            <a:grpSpLocks/>
          </p:cNvGrpSpPr>
          <p:nvPr/>
        </p:nvGrpSpPr>
        <p:grpSpPr bwMode="auto">
          <a:xfrm>
            <a:off x="1981200" y="3810000"/>
            <a:ext cx="381000" cy="579438"/>
            <a:chOff x="4176" y="1104"/>
            <a:chExt cx="240" cy="365"/>
          </a:xfrm>
        </p:grpSpPr>
        <p:sp>
          <p:nvSpPr>
            <p:cNvPr id="48204" name="Oval 54"/>
            <p:cNvSpPr>
              <a:spLocks noChangeArrowheads="1"/>
            </p:cNvSpPr>
            <p:nvPr/>
          </p:nvSpPr>
          <p:spPr bwMode="auto">
            <a:xfrm>
              <a:off x="4176" y="1152"/>
              <a:ext cx="240" cy="24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205" name="Text Box 55"/>
            <p:cNvSpPr txBox="1">
              <a:spLocks noChangeArrowheads="1"/>
            </p:cNvSpPr>
            <p:nvPr/>
          </p:nvSpPr>
          <p:spPr bwMode="auto">
            <a:xfrm>
              <a:off x="4176" y="1104"/>
              <a:ext cx="2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sz="3200" b="0" i="0">
                <a:solidFill>
                  <a:schemeClr val="accent1"/>
                </a:solidFill>
              </a:endParaRPr>
            </a:p>
          </p:txBody>
        </p:sp>
      </p:grpSp>
      <p:sp>
        <p:nvSpPr>
          <p:cNvPr id="48174" name="Line 56"/>
          <p:cNvSpPr>
            <a:spLocks noChangeShapeType="1"/>
          </p:cNvSpPr>
          <p:nvPr/>
        </p:nvSpPr>
        <p:spPr bwMode="auto">
          <a:xfrm flipH="1">
            <a:off x="1295400" y="3505200"/>
            <a:ext cx="2286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75" name="Line 57"/>
          <p:cNvSpPr>
            <a:spLocks noChangeShapeType="1"/>
          </p:cNvSpPr>
          <p:nvPr/>
        </p:nvSpPr>
        <p:spPr bwMode="auto">
          <a:xfrm>
            <a:off x="1828800" y="3429000"/>
            <a:ext cx="304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176" name="Group 58"/>
          <p:cNvGrpSpPr>
            <a:grpSpLocks/>
          </p:cNvGrpSpPr>
          <p:nvPr/>
        </p:nvGrpSpPr>
        <p:grpSpPr bwMode="auto">
          <a:xfrm>
            <a:off x="3048000" y="3886200"/>
            <a:ext cx="381000" cy="579438"/>
            <a:chOff x="4176" y="1104"/>
            <a:chExt cx="240" cy="365"/>
          </a:xfrm>
        </p:grpSpPr>
        <p:sp>
          <p:nvSpPr>
            <p:cNvPr id="48202" name="Oval 59"/>
            <p:cNvSpPr>
              <a:spLocks noChangeArrowheads="1"/>
            </p:cNvSpPr>
            <p:nvPr/>
          </p:nvSpPr>
          <p:spPr bwMode="auto">
            <a:xfrm>
              <a:off x="4176" y="1152"/>
              <a:ext cx="240" cy="24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203" name="Text Box 60"/>
            <p:cNvSpPr txBox="1">
              <a:spLocks noChangeArrowheads="1"/>
            </p:cNvSpPr>
            <p:nvPr/>
          </p:nvSpPr>
          <p:spPr bwMode="auto">
            <a:xfrm>
              <a:off x="4176" y="1104"/>
              <a:ext cx="24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sz="3200" b="0" i="0">
                <a:solidFill>
                  <a:schemeClr val="accent1"/>
                </a:solidFill>
              </a:endParaRPr>
            </a:p>
          </p:txBody>
        </p:sp>
      </p:grpSp>
      <p:sp>
        <p:nvSpPr>
          <p:cNvPr id="48177" name="Line 61"/>
          <p:cNvSpPr>
            <a:spLocks noChangeShapeType="1"/>
          </p:cNvSpPr>
          <p:nvPr/>
        </p:nvSpPr>
        <p:spPr bwMode="auto">
          <a:xfrm flipH="1">
            <a:off x="3352800" y="3581400"/>
            <a:ext cx="2286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78" name="Text Box 62"/>
          <p:cNvSpPr txBox="1">
            <a:spLocks noChangeArrowheads="1"/>
          </p:cNvSpPr>
          <p:nvPr/>
        </p:nvSpPr>
        <p:spPr bwMode="auto">
          <a:xfrm>
            <a:off x="4343400" y="10668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8179" name="Text Box 63"/>
          <p:cNvSpPr txBox="1">
            <a:spLocks noChangeArrowheads="1"/>
          </p:cNvSpPr>
          <p:nvPr/>
        </p:nvSpPr>
        <p:spPr bwMode="auto">
          <a:xfrm>
            <a:off x="5867400" y="2133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48180" name="Text Box 64"/>
          <p:cNvSpPr txBox="1">
            <a:spLocks noChangeArrowheads="1"/>
          </p:cNvSpPr>
          <p:nvPr/>
        </p:nvSpPr>
        <p:spPr bwMode="auto">
          <a:xfrm>
            <a:off x="1447800" y="31242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48181" name="Text Box 65"/>
          <p:cNvSpPr txBox="1">
            <a:spLocks noChangeArrowheads="1"/>
          </p:cNvSpPr>
          <p:nvPr/>
        </p:nvSpPr>
        <p:spPr bwMode="auto">
          <a:xfrm>
            <a:off x="3581400" y="3200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48182" name="Text Box 66"/>
          <p:cNvSpPr txBox="1">
            <a:spLocks noChangeArrowheads="1"/>
          </p:cNvSpPr>
          <p:nvPr/>
        </p:nvSpPr>
        <p:spPr bwMode="auto">
          <a:xfrm>
            <a:off x="5334000" y="31242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48183" name="Text Box 67"/>
          <p:cNvSpPr txBox="1">
            <a:spLocks noChangeArrowheads="1"/>
          </p:cNvSpPr>
          <p:nvPr/>
        </p:nvSpPr>
        <p:spPr bwMode="auto">
          <a:xfrm>
            <a:off x="6629400" y="3200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48184" name="Text Box 68"/>
          <p:cNvSpPr txBox="1">
            <a:spLocks noChangeArrowheads="1"/>
          </p:cNvSpPr>
          <p:nvPr/>
        </p:nvSpPr>
        <p:spPr bwMode="auto">
          <a:xfrm>
            <a:off x="1066800" y="38100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48185" name="Text Box 69"/>
          <p:cNvSpPr txBox="1">
            <a:spLocks noChangeArrowheads="1"/>
          </p:cNvSpPr>
          <p:nvPr/>
        </p:nvSpPr>
        <p:spPr bwMode="auto">
          <a:xfrm>
            <a:off x="2057400" y="38100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48186" name="Text Box 70"/>
          <p:cNvSpPr txBox="1">
            <a:spLocks noChangeArrowheads="1"/>
          </p:cNvSpPr>
          <p:nvPr/>
        </p:nvSpPr>
        <p:spPr bwMode="auto">
          <a:xfrm>
            <a:off x="2971800" y="38862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>
                <a:solidFill>
                  <a:schemeClr val="accent1"/>
                </a:solidFill>
              </a:rPr>
              <a:t>  </a:t>
            </a:r>
            <a:r>
              <a:rPr lang="en-US" b="0" i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48187" name="Text Box 71"/>
          <p:cNvSpPr txBox="1">
            <a:spLocks noChangeArrowheads="1"/>
          </p:cNvSpPr>
          <p:nvPr/>
        </p:nvSpPr>
        <p:spPr bwMode="auto">
          <a:xfrm>
            <a:off x="4572000" y="914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/>
              <a:t>1</a:t>
            </a:r>
          </a:p>
        </p:txBody>
      </p:sp>
      <p:sp>
        <p:nvSpPr>
          <p:cNvPr id="48188" name="Text Box 72"/>
          <p:cNvSpPr txBox="1">
            <a:spLocks noChangeArrowheads="1"/>
          </p:cNvSpPr>
          <p:nvPr/>
        </p:nvSpPr>
        <p:spPr bwMode="auto">
          <a:xfrm>
            <a:off x="2438400" y="1828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/>
              <a:t>2</a:t>
            </a:r>
          </a:p>
        </p:txBody>
      </p:sp>
      <p:sp>
        <p:nvSpPr>
          <p:cNvPr id="48189" name="Text Box 73"/>
          <p:cNvSpPr txBox="1">
            <a:spLocks noChangeArrowheads="1"/>
          </p:cNvSpPr>
          <p:nvPr/>
        </p:nvSpPr>
        <p:spPr bwMode="auto">
          <a:xfrm>
            <a:off x="6019800" y="1828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/>
              <a:t>3</a:t>
            </a:r>
          </a:p>
        </p:txBody>
      </p:sp>
      <p:sp>
        <p:nvSpPr>
          <p:cNvPr id="48190" name="Text Box 74"/>
          <p:cNvSpPr txBox="1">
            <a:spLocks noChangeArrowheads="1"/>
          </p:cNvSpPr>
          <p:nvPr/>
        </p:nvSpPr>
        <p:spPr bwMode="auto">
          <a:xfrm>
            <a:off x="1219200" y="28956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/>
              <a:t>4</a:t>
            </a:r>
          </a:p>
        </p:txBody>
      </p:sp>
      <p:sp>
        <p:nvSpPr>
          <p:cNvPr id="48191" name="Text Box 75"/>
          <p:cNvSpPr txBox="1">
            <a:spLocks noChangeArrowheads="1"/>
          </p:cNvSpPr>
          <p:nvPr/>
        </p:nvSpPr>
        <p:spPr bwMode="auto">
          <a:xfrm>
            <a:off x="3733800" y="28956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/>
              <a:t>5</a:t>
            </a:r>
          </a:p>
        </p:txBody>
      </p:sp>
      <p:sp>
        <p:nvSpPr>
          <p:cNvPr id="48192" name="Text Box 76"/>
          <p:cNvSpPr txBox="1">
            <a:spLocks noChangeArrowheads="1"/>
          </p:cNvSpPr>
          <p:nvPr/>
        </p:nvSpPr>
        <p:spPr bwMode="auto">
          <a:xfrm>
            <a:off x="5105400" y="28956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/>
              <a:t>6</a:t>
            </a:r>
          </a:p>
        </p:txBody>
      </p:sp>
      <p:sp>
        <p:nvSpPr>
          <p:cNvPr id="48193" name="Text Box 77"/>
          <p:cNvSpPr txBox="1">
            <a:spLocks noChangeArrowheads="1"/>
          </p:cNvSpPr>
          <p:nvPr/>
        </p:nvSpPr>
        <p:spPr bwMode="auto">
          <a:xfrm>
            <a:off x="6781800" y="28956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/>
              <a:t>7</a:t>
            </a:r>
          </a:p>
        </p:txBody>
      </p:sp>
      <p:sp>
        <p:nvSpPr>
          <p:cNvPr id="48194" name="Text Box 78"/>
          <p:cNvSpPr txBox="1">
            <a:spLocks noChangeArrowheads="1"/>
          </p:cNvSpPr>
          <p:nvPr/>
        </p:nvSpPr>
        <p:spPr bwMode="auto">
          <a:xfrm>
            <a:off x="838200" y="3505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/>
              <a:t>8</a:t>
            </a:r>
          </a:p>
        </p:txBody>
      </p:sp>
      <p:sp>
        <p:nvSpPr>
          <p:cNvPr id="48195" name="Text Box 79"/>
          <p:cNvSpPr txBox="1">
            <a:spLocks noChangeArrowheads="1"/>
          </p:cNvSpPr>
          <p:nvPr/>
        </p:nvSpPr>
        <p:spPr bwMode="auto">
          <a:xfrm>
            <a:off x="2286000" y="3581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/>
              <a:t>9</a:t>
            </a:r>
          </a:p>
        </p:txBody>
      </p:sp>
      <p:sp>
        <p:nvSpPr>
          <p:cNvPr id="48196" name="Text Box 80"/>
          <p:cNvSpPr txBox="1">
            <a:spLocks noChangeArrowheads="1"/>
          </p:cNvSpPr>
          <p:nvPr/>
        </p:nvSpPr>
        <p:spPr bwMode="auto">
          <a:xfrm>
            <a:off x="2895600" y="35814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/>
              <a:t>10</a:t>
            </a:r>
          </a:p>
        </p:txBody>
      </p:sp>
      <p:sp>
        <p:nvSpPr>
          <p:cNvPr id="48197" name="Line 81"/>
          <p:cNvSpPr>
            <a:spLocks noChangeShapeType="1"/>
          </p:cNvSpPr>
          <p:nvPr/>
        </p:nvSpPr>
        <p:spPr bwMode="auto">
          <a:xfrm>
            <a:off x="3810000" y="3657600"/>
            <a:ext cx="22860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98" name="Text Box 82"/>
          <p:cNvSpPr txBox="1">
            <a:spLocks noChangeArrowheads="1"/>
          </p:cNvSpPr>
          <p:nvPr/>
        </p:nvSpPr>
        <p:spPr bwMode="auto">
          <a:xfrm>
            <a:off x="3962400" y="3962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8199" name="Text Box 83"/>
          <p:cNvSpPr txBox="1">
            <a:spLocks noChangeArrowheads="1"/>
          </p:cNvSpPr>
          <p:nvPr/>
        </p:nvSpPr>
        <p:spPr bwMode="auto">
          <a:xfrm>
            <a:off x="4114800" y="36576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 i="0"/>
              <a:t>11</a:t>
            </a:r>
          </a:p>
        </p:txBody>
      </p:sp>
      <p:sp>
        <p:nvSpPr>
          <p:cNvPr id="48200" name="Rectangle 84"/>
          <p:cNvSpPr>
            <a:spLocks noChangeArrowheads="1"/>
          </p:cNvSpPr>
          <p:nvPr/>
        </p:nvSpPr>
        <p:spPr bwMode="auto">
          <a:xfrm>
            <a:off x="6477000" y="5867400"/>
            <a:ext cx="38100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1521" name="Text Box 97"/>
          <p:cNvSpPr txBox="1">
            <a:spLocks noChangeArrowheads="1"/>
          </p:cNvSpPr>
          <p:nvPr/>
        </p:nvSpPr>
        <p:spPr bwMode="auto">
          <a:xfrm>
            <a:off x="6553200" y="58674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sz="2000" b="0" i="0">
                <a:solidFill>
                  <a:schemeClr val="tx1"/>
                </a:solidFill>
              </a:rPr>
              <a:t>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1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1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1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1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1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1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1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1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1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1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1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1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1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1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1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1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1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1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1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1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1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1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45" grpId="0" autoUpdateAnimBg="0"/>
      <p:bldP spid="231446" grpId="0" autoUpdateAnimBg="0"/>
      <p:bldP spid="231447" grpId="0" autoUpdateAnimBg="0"/>
      <p:bldP spid="231448" grpId="0" autoUpdateAnimBg="0"/>
      <p:bldP spid="231449" grpId="0" autoUpdateAnimBg="0"/>
      <p:bldP spid="231450" grpId="0" autoUpdateAnimBg="0"/>
      <p:bldP spid="231451" grpId="0" autoUpdateAnimBg="0"/>
      <p:bldP spid="231452" grpId="0" autoUpdateAnimBg="0"/>
      <p:bldP spid="231453" grpId="0" autoUpdateAnimBg="0"/>
      <p:bldP spid="231454" grpId="0" autoUpdateAnimBg="0"/>
      <p:bldP spid="231521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27F448-B710-4CB6-82FB-8322558E739B}" type="slidenum">
              <a:rPr lang="ar-SA"/>
              <a:pPr>
                <a:defRPr/>
              </a:pPr>
              <a:t>45</a:t>
            </a:fld>
            <a:endParaRPr lang="en-US"/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"/>
            <a:ext cx="8153400" cy="838200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 Array-List Representation of Binary Trees</a:t>
            </a:r>
            <a:endParaRPr lang="en-US" altLang="en-US" sz="2400" smtClean="0"/>
          </a:p>
        </p:txBody>
      </p:sp>
      <p:sp>
        <p:nvSpPr>
          <p:cNvPr id="4915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066800" y="1600200"/>
            <a:ext cx="4965700" cy="5540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nodes are stored in an array:</a:t>
            </a:r>
          </a:p>
        </p:txBody>
      </p:sp>
      <p:grpSp>
        <p:nvGrpSpPr>
          <p:cNvPr id="49158" name="Group 4"/>
          <p:cNvGrpSpPr>
            <a:grpSpLocks/>
          </p:cNvGrpSpPr>
          <p:nvPr/>
        </p:nvGrpSpPr>
        <p:grpSpPr bwMode="auto">
          <a:xfrm>
            <a:off x="990600" y="2552700"/>
            <a:ext cx="5181600" cy="1866900"/>
            <a:chOff x="336" y="1368"/>
            <a:chExt cx="3264" cy="1176"/>
          </a:xfrm>
        </p:grpSpPr>
        <p:sp>
          <p:nvSpPr>
            <p:cNvPr id="49187" name="Line 5"/>
            <p:cNvSpPr>
              <a:spLocks noChangeShapeType="1"/>
            </p:cNvSpPr>
            <p:nvPr/>
          </p:nvSpPr>
          <p:spPr bwMode="auto">
            <a:xfrm>
              <a:off x="3312" y="1632"/>
              <a:ext cx="96" cy="528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9188" name="Line 6"/>
            <p:cNvSpPr>
              <a:spLocks noChangeShapeType="1"/>
            </p:cNvSpPr>
            <p:nvPr/>
          </p:nvSpPr>
          <p:spPr bwMode="auto">
            <a:xfrm>
              <a:off x="2832" y="1632"/>
              <a:ext cx="0" cy="576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9189" name="Line 7"/>
            <p:cNvSpPr>
              <a:spLocks noChangeShapeType="1"/>
            </p:cNvSpPr>
            <p:nvPr/>
          </p:nvSpPr>
          <p:spPr bwMode="auto">
            <a:xfrm flipH="1">
              <a:off x="2400" y="1632"/>
              <a:ext cx="48" cy="480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9190" name="Line 8"/>
            <p:cNvSpPr>
              <a:spLocks noChangeShapeType="1"/>
            </p:cNvSpPr>
            <p:nvPr/>
          </p:nvSpPr>
          <p:spPr bwMode="auto">
            <a:xfrm>
              <a:off x="1488" y="1632"/>
              <a:ext cx="192" cy="528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9191" name="Line 9"/>
            <p:cNvSpPr>
              <a:spLocks noChangeShapeType="1"/>
            </p:cNvSpPr>
            <p:nvPr/>
          </p:nvSpPr>
          <p:spPr bwMode="auto">
            <a:xfrm>
              <a:off x="1104" y="1632"/>
              <a:ext cx="240" cy="672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9192" name="Line 10"/>
            <p:cNvSpPr>
              <a:spLocks noChangeShapeType="1"/>
            </p:cNvSpPr>
            <p:nvPr/>
          </p:nvSpPr>
          <p:spPr bwMode="auto">
            <a:xfrm>
              <a:off x="624" y="1632"/>
              <a:ext cx="480" cy="576"/>
            </a:xfrm>
            <a:prstGeom prst="line">
              <a:avLst/>
            </a:prstGeom>
            <a:noFill/>
            <a:ln w="9525">
              <a:solidFill>
                <a:srgbClr val="8345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49193" name="Group 11"/>
            <p:cNvGrpSpPr>
              <a:grpSpLocks/>
            </p:cNvGrpSpPr>
            <p:nvPr/>
          </p:nvGrpSpPr>
          <p:grpSpPr bwMode="auto">
            <a:xfrm>
              <a:off x="336" y="1368"/>
              <a:ext cx="3264" cy="480"/>
              <a:chOff x="336" y="1608"/>
              <a:chExt cx="3264" cy="480"/>
            </a:xfrm>
          </p:grpSpPr>
          <p:sp>
            <p:nvSpPr>
              <p:cNvPr id="49195" name="AutoShape 12"/>
              <p:cNvSpPr>
                <a:spLocks noChangeArrowheads="1"/>
              </p:cNvSpPr>
              <p:nvPr/>
            </p:nvSpPr>
            <p:spPr bwMode="auto">
              <a:xfrm>
                <a:off x="336" y="1608"/>
                <a:ext cx="3264" cy="480"/>
              </a:xfrm>
              <a:prstGeom prst="roundRect">
                <a:avLst>
                  <a:gd name="adj" fmla="val 16667"/>
                </a:avLst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196" name="Rectangle 13"/>
              <p:cNvSpPr>
                <a:spLocks noChangeArrowheads="1"/>
              </p:cNvSpPr>
              <p:nvPr/>
            </p:nvSpPr>
            <p:spPr bwMode="auto">
              <a:xfrm>
                <a:off x="480" y="1680"/>
                <a:ext cx="336" cy="33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197" name="Rectangle 14"/>
              <p:cNvSpPr>
                <a:spLocks noChangeArrowheads="1"/>
              </p:cNvSpPr>
              <p:nvPr/>
            </p:nvSpPr>
            <p:spPr bwMode="auto">
              <a:xfrm>
                <a:off x="912" y="1680"/>
                <a:ext cx="336" cy="33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198" name="Rectangle 15"/>
              <p:cNvSpPr>
                <a:spLocks noChangeArrowheads="1"/>
              </p:cNvSpPr>
              <p:nvPr/>
            </p:nvSpPr>
            <p:spPr bwMode="auto">
              <a:xfrm>
                <a:off x="1344" y="1680"/>
                <a:ext cx="336" cy="33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199" name="Rectangle 16"/>
              <p:cNvSpPr>
                <a:spLocks noChangeArrowheads="1"/>
              </p:cNvSpPr>
              <p:nvPr/>
            </p:nvSpPr>
            <p:spPr bwMode="auto">
              <a:xfrm>
                <a:off x="2256" y="1680"/>
                <a:ext cx="336" cy="33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200" name="Rectangle 17"/>
              <p:cNvSpPr>
                <a:spLocks noChangeArrowheads="1"/>
              </p:cNvSpPr>
              <p:nvPr/>
            </p:nvSpPr>
            <p:spPr bwMode="auto">
              <a:xfrm>
                <a:off x="2688" y="1680"/>
                <a:ext cx="336" cy="33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201" name="Rectangle 18"/>
              <p:cNvSpPr>
                <a:spLocks noChangeArrowheads="1"/>
              </p:cNvSpPr>
              <p:nvPr/>
            </p:nvSpPr>
            <p:spPr bwMode="auto">
              <a:xfrm>
                <a:off x="3120" y="1680"/>
                <a:ext cx="336" cy="336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202" name="Text Box 19"/>
              <p:cNvSpPr txBox="1">
                <a:spLocks noChangeArrowheads="1"/>
              </p:cNvSpPr>
              <p:nvPr/>
            </p:nvSpPr>
            <p:spPr bwMode="auto">
              <a:xfrm>
                <a:off x="1824" y="1680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1pPr>
                <a:lvl2pPr marL="742950" indent="-28575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2pPr>
                <a:lvl3pPr marL="11430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3pPr>
                <a:lvl4pPr marL="16002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4pPr>
                <a:lvl5pPr marL="2057400" indent="-228600"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>
                    <a:solidFill>
                      <a:schemeClr val="tx2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b="0" i="0">
                    <a:solidFill>
                      <a:schemeClr val="tx1"/>
                    </a:solidFill>
                  </a:rPr>
                  <a:t>…</a:t>
                </a:r>
              </a:p>
            </p:txBody>
          </p:sp>
        </p:grpSp>
        <p:sp>
          <p:nvSpPr>
            <p:cNvPr id="49194" name="Text Box 20"/>
            <p:cNvSpPr txBox="1">
              <a:spLocks noChangeArrowheads="1"/>
            </p:cNvSpPr>
            <p:nvPr/>
          </p:nvSpPr>
          <p:spPr bwMode="auto">
            <a:xfrm>
              <a:off x="1996" y="2256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1pPr>
              <a:lvl2pPr marL="742950" indent="-28575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2pPr>
              <a:lvl3pPr marL="11430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3pPr>
              <a:lvl4pPr marL="16002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4pPr>
              <a:lvl5pPr marL="2057400" indent="-228600"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>
                  <a:solidFill>
                    <a:schemeClr val="tx2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b="0" i="0">
                <a:solidFill>
                  <a:schemeClr val="tx1"/>
                </a:solidFill>
              </a:endParaRPr>
            </a:p>
          </p:txBody>
        </p:sp>
      </p:grpSp>
      <p:sp>
        <p:nvSpPr>
          <p:cNvPr id="49159" name="Rectangle 21"/>
          <p:cNvSpPr>
            <a:spLocks noChangeArrowheads="1"/>
          </p:cNvSpPr>
          <p:nvPr/>
        </p:nvSpPr>
        <p:spPr bwMode="auto">
          <a:xfrm>
            <a:off x="609600" y="4038600"/>
            <a:ext cx="54102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 eaLnBrk="1" hangingPunct="1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2000" b="0" i="0">
                <a:solidFill>
                  <a:schemeClr val="tx1"/>
                </a:solidFill>
              </a:rPr>
              <a:t>This is a </a:t>
            </a:r>
            <a:r>
              <a:rPr lang="en-US" altLang="en-US" sz="2000">
                <a:solidFill>
                  <a:schemeClr val="tx1"/>
                </a:solidFill>
              </a:rPr>
              <a:t>simple</a:t>
            </a:r>
            <a:r>
              <a:rPr lang="en-US" altLang="en-US" sz="2000" b="0" i="0">
                <a:solidFill>
                  <a:schemeClr val="tx1"/>
                </a:solidFill>
              </a:rPr>
              <a:t> and </a:t>
            </a:r>
            <a:r>
              <a:rPr lang="en-US" altLang="en-US" sz="2000">
                <a:solidFill>
                  <a:schemeClr val="tx1"/>
                </a:solidFill>
              </a:rPr>
              <a:t>efficient</a:t>
            </a:r>
            <a:r>
              <a:rPr lang="en-US" altLang="en-US" sz="2000" b="0" i="0">
                <a:solidFill>
                  <a:schemeClr val="tx1"/>
                </a:solidFill>
              </a:rPr>
              <a:t>  implementation.</a:t>
            </a:r>
          </a:p>
          <a:p>
            <a:pPr marL="285750" indent="-285750" eaLnBrk="1" hangingPunct="1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2000" b="0" i="0">
                <a:solidFill>
                  <a:schemeClr val="tx1"/>
                </a:solidFill>
              </a:rPr>
              <a:t>We  can easily perform the methods </a:t>
            </a:r>
            <a:r>
              <a:rPr lang="en-US" altLang="en-US" sz="2000" b="0">
                <a:solidFill>
                  <a:schemeClr val="tx1"/>
                </a:solidFill>
              </a:rPr>
              <a:t>root</a:t>
            </a:r>
            <a:r>
              <a:rPr lang="en-US" altLang="en-US" sz="2000" b="0" i="0">
                <a:solidFill>
                  <a:schemeClr val="tx1"/>
                </a:solidFill>
              </a:rPr>
              <a:t>, </a:t>
            </a:r>
            <a:r>
              <a:rPr lang="en-US" altLang="en-US" sz="2000" b="0">
                <a:solidFill>
                  <a:schemeClr val="tx1"/>
                </a:solidFill>
              </a:rPr>
              <a:t>parent</a:t>
            </a:r>
            <a:r>
              <a:rPr lang="en-US" altLang="en-US" sz="2000" b="0" i="0">
                <a:solidFill>
                  <a:schemeClr val="tx1"/>
                </a:solidFill>
              </a:rPr>
              <a:t>,</a:t>
            </a:r>
          </a:p>
          <a:p>
            <a:pPr marL="285750" indent="-285750" eaLnBrk="1" hangingPunct="1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2000" b="0">
                <a:solidFill>
                  <a:schemeClr val="tx1"/>
                </a:solidFill>
              </a:rPr>
              <a:t>left</a:t>
            </a:r>
            <a:r>
              <a:rPr lang="en-US" altLang="en-US" sz="2000" b="0" i="0">
                <a:solidFill>
                  <a:schemeClr val="tx1"/>
                </a:solidFill>
              </a:rPr>
              <a:t>, </a:t>
            </a:r>
            <a:r>
              <a:rPr lang="en-US" altLang="en-US" sz="2000" b="0">
                <a:solidFill>
                  <a:schemeClr val="tx1"/>
                </a:solidFill>
              </a:rPr>
              <a:t>right</a:t>
            </a:r>
            <a:r>
              <a:rPr lang="en-US" altLang="en-US" sz="2000" b="0" i="0">
                <a:solidFill>
                  <a:schemeClr val="tx1"/>
                </a:solidFill>
              </a:rPr>
              <a:t>, </a:t>
            </a:r>
            <a:r>
              <a:rPr lang="en-US" altLang="en-US" sz="2000" b="0">
                <a:solidFill>
                  <a:schemeClr val="tx1"/>
                </a:solidFill>
              </a:rPr>
              <a:t>hasLeft</a:t>
            </a:r>
            <a:r>
              <a:rPr lang="en-US" altLang="en-US" sz="2000" b="0" i="0">
                <a:solidFill>
                  <a:schemeClr val="tx1"/>
                </a:solidFill>
              </a:rPr>
              <a:t>, </a:t>
            </a:r>
            <a:r>
              <a:rPr lang="en-US" altLang="en-US" sz="2000" b="0">
                <a:solidFill>
                  <a:schemeClr val="tx1"/>
                </a:solidFill>
              </a:rPr>
              <a:t>hasRight</a:t>
            </a:r>
            <a:r>
              <a:rPr lang="en-US" altLang="en-US" sz="2000" b="0" i="0">
                <a:solidFill>
                  <a:schemeClr val="tx1"/>
                </a:solidFill>
              </a:rPr>
              <a:t>, </a:t>
            </a:r>
            <a:r>
              <a:rPr lang="en-US" altLang="en-US" sz="2000" b="0">
                <a:solidFill>
                  <a:schemeClr val="tx1"/>
                </a:solidFill>
              </a:rPr>
              <a:t>isInternal</a:t>
            </a:r>
            <a:r>
              <a:rPr lang="en-US" altLang="en-US" sz="2000" b="0" i="0">
                <a:solidFill>
                  <a:schemeClr val="tx1"/>
                </a:solidFill>
              </a:rPr>
              <a:t>, </a:t>
            </a:r>
            <a:r>
              <a:rPr lang="en-US" altLang="en-US" sz="2000" b="0">
                <a:solidFill>
                  <a:schemeClr val="tx1"/>
                </a:solidFill>
              </a:rPr>
              <a:t>isExternal</a:t>
            </a:r>
            <a:r>
              <a:rPr lang="en-US" altLang="en-US" sz="2000" b="0" i="0">
                <a:solidFill>
                  <a:schemeClr val="tx1"/>
                </a:solidFill>
              </a:rPr>
              <a:t>, </a:t>
            </a:r>
          </a:p>
          <a:p>
            <a:pPr marL="285750" indent="-285750" eaLnBrk="1" hangingPunct="1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2000" b="0" i="0">
                <a:solidFill>
                  <a:schemeClr val="tx1"/>
                </a:solidFill>
              </a:rPr>
              <a:t>and </a:t>
            </a:r>
            <a:r>
              <a:rPr lang="en-US" altLang="en-US" sz="2000" b="0">
                <a:solidFill>
                  <a:schemeClr val="tx1"/>
                </a:solidFill>
              </a:rPr>
              <a:t>isRoot</a:t>
            </a:r>
            <a:r>
              <a:rPr lang="en-US" altLang="en-US" sz="2000" b="0" i="0">
                <a:solidFill>
                  <a:schemeClr val="tx1"/>
                </a:solidFill>
              </a:rPr>
              <a:t> by using simple </a:t>
            </a:r>
            <a:r>
              <a:rPr lang="en-US" altLang="en-US" sz="2000" b="0">
                <a:solidFill>
                  <a:schemeClr val="tx1"/>
                </a:solidFill>
              </a:rPr>
              <a:t>arithmetic</a:t>
            </a:r>
            <a:r>
              <a:rPr lang="en-US" altLang="en-US" sz="2000" b="0" i="0">
                <a:solidFill>
                  <a:schemeClr val="tx1"/>
                </a:solidFill>
              </a:rPr>
              <a:t> operations</a:t>
            </a:r>
          </a:p>
          <a:p>
            <a:pPr marL="285750" indent="-285750" eaLnBrk="1" hangingPunct="1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2000" b="0" i="0">
                <a:solidFill>
                  <a:schemeClr val="tx1"/>
                </a:solidFill>
              </a:rPr>
              <a:t>on the number </a:t>
            </a:r>
            <a:r>
              <a:rPr lang="en-US" altLang="en-US" sz="2000" b="0">
                <a:solidFill>
                  <a:schemeClr val="tx1"/>
                </a:solidFill>
              </a:rPr>
              <a:t>p(v), </a:t>
            </a:r>
            <a:r>
              <a:rPr lang="en-US" altLang="en-US" sz="2000" b="0" i="0">
                <a:solidFill>
                  <a:schemeClr val="tx1"/>
                </a:solidFill>
              </a:rPr>
              <a:t>associated with each node </a:t>
            </a:r>
            <a:r>
              <a:rPr lang="en-US" altLang="en-US" sz="2000" b="0">
                <a:solidFill>
                  <a:schemeClr val="tx1"/>
                </a:solidFill>
              </a:rPr>
              <a:t>v</a:t>
            </a:r>
            <a:r>
              <a:rPr lang="en-US" altLang="en-US" sz="2000" b="0" i="0">
                <a:solidFill>
                  <a:schemeClr val="tx1"/>
                </a:solidFill>
              </a:rPr>
              <a:t> </a:t>
            </a:r>
          </a:p>
          <a:p>
            <a:pPr marL="285750" indent="-285750" eaLnBrk="1" hangingPunct="1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</a:pPr>
            <a:r>
              <a:rPr lang="en-US" altLang="en-US" sz="2000" b="0" i="0">
                <a:solidFill>
                  <a:schemeClr val="tx1"/>
                </a:solidFill>
              </a:rPr>
              <a:t>involved in the operation. </a:t>
            </a:r>
          </a:p>
          <a:p>
            <a:pPr marL="285750" indent="-285750" eaLnBrk="1" hangingPunct="1">
              <a:spcBef>
                <a:spcPct val="20000"/>
              </a:spcBef>
              <a:buClr>
                <a:schemeClr val="accent2"/>
              </a:buClr>
              <a:buSzPct val="75000"/>
              <a:buFont typeface="Wingdings" pitchFamily="2" charset="2"/>
              <a:buNone/>
            </a:pPr>
            <a:endParaRPr lang="en-US" altLang="en-US" sz="1800" b="0" i="0">
              <a:solidFill>
                <a:schemeClr val="tx1"/>
              </a:solidFill>
            </a:endParaRPr>
          </a:p>
        </p:txBody>
      </p:sp>
      <p:sp>
        <p:nvSpPr>
          <p:cNvPr id="49160" name="Text Box 22"/>
          <p:cNvSpPr txBox="1">
            <a:spLocks noChangeArrowheads="1"/>
          </p:cNvSpPr>
          <p:nvPr/>
        </p:nvSpPr>
        <p:spPr bwMode="auto">
          <a:xfrm>
            <a:off x="6934200" y="14478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b="0" i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49161" name="Text Box 23"/>
          <p:cNvSpPr txBox="1">
            <a:spLocks noChangeArrowheads="1"/>
          </p:cNvSpPr>
          <p:nvPr/>
        </p:nvSpPr>
        <p:spPr bwMode="auto">
          <a:xfrm>
            <a:off x="6248400" y="26670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b="0" i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49162" name="Text Box 24"/>
          <p:cNvSpPr txBox="1">
            <a:spLocks noChangeArrowheads="1"/>
          </p:cNvSpPr>
          <p:nvPr/>
        </p:nvSpPr>
        <p:spPr bwMode="auto">
          <a:xfrm>
            <a:off x="8153400" y="26670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b="0" i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9163" name="Text Box 25"/>
          <p:cNvSpPr txBox="1">
            <a:spLocks noChangeArrowheads="1"/>
          </p:cNvSpPr>
          <p:nvPr/>
        </p:nvSpPr>
        <p:spPr bwMode="auto">
          <a:xfrm>
            <a:off x="7467600" y="39624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b="0" i="0">
                <a:solidFill>
                  <a:schemeClr val="accent2"/>
                </a:solidFill>
              </a:rPr>
              <a:t>6</a:t>
            </a:r>
          </a:p>
        </p:txBody>
      </p:sp>
      <p:sp>
        <p:nvSpPr>
          <p:cNvPr id="49164" name="Text Box 26"/>
          <p:cNvSpPr txBox="1">
            <a:spLocks noChangeArrowheads="1"/>
          </p:cNvSpPr>
          <p:nvPr/>
        </p:nvSpPr>
        <p:spPr bwMode="auto">
          <a:xfrm>
            <a:off x="8382000" y="39624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b="0" i="0">
                <a:solidFill>
                  <a:schemeClr val="accent2"/>
                </a:solidFill>
              </a:rPr>
              <a:t>7</a:t>
            </a:r>
          </a:p>
        </p:txBody>
      </p:sp>
      <p:sp>
        <p:nvSpPr>
          <p:cNvPr id="49165" name="Text Box 27"/>
          <p:cNvSpPr txBox="1">
            <a:spLocks noChangeArrowheads="1"/>
          </p:cNvSpPr>
          <p:nvPr/>
        </p:nvSpPr>
        <p:spPr bwMode="auto">
          <a:xfrm>
            <a:off x="5943600" y="40386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b="0" i="0">
                <a:solidFill>
                  <a:schemeClr val="accent2"/>
                </a:solidFill>
              </a:rPr>
              <a:t>4</a:t>
            </a:r>
          </a:p>
        </p:txBody>
      </p:sp>
      <p:sp>
        <p:nvSpPr>
          <p:cNvPr id="49166" name="Text Box 28"/>
          <p:cNvSpPr txBox="1">
            <a:spLocks noChangeArrowheads="1"/>
          </p:cNvSpPr>
          <p:nvPr/>
        </p:nvSpPr>
        <p:spPr bwMode="auto">
          <a:xfrm>
            <a:off x="7010400" y="39624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b="0" i="0">
                <a:solidFill>
                  <a:schemeClr val="accent2"/>
                </a:solidFill>
              </a:rPr>
              <a:t>5</a:t>
            </a:r>
          </a:p>
        </p:txBody>
      </p:sp>
      <p:sp>
        <p:nvSpPr>
          <p:cNvPr id="49167" name="Text Box 29"/>
          <p:cNvSpPr txBox="1">
            <a:spLocks noChangeArrowheads="1"/>
          </p:cNvSpPr>
          <p:nvPr/>
        </p:nvSpPr>
        <p:spPr bwMode="auto">
          <a:xfrm>
            <a:off x="6248400" y="53340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b="0" i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49168" name="Text Box 30"/>
          <p:cNvSpPr txBox="1">
            <a:spLocks noChangeArrowheads="1"/>
          </p:cNvSpPr>
          <p:nvPr/>
        </p:nvSpPr>
        <p:spPr bwMode="auto">
          <a:xfrm>
            <a:off x="7467600" y="52578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b="0" i="0">
                <a:solidFill>
                  <a:schemeClr val="accent2"/>
                </a:solidFill>
              </a:rPr>
              <a:t>11</a:t>
            </a:r>
          </a:p>
        </p:txBody>
      </p:sp>
      <p:grpSp>
        <p:nvGrpSpPr>
          <p:cNvPr id="49169" name="Group 31"/>
          <p:cNvGrpSpPr>
            <a:grpSpLocks/>
          </p:cNvGrpSpPr>
          <p:nvPr/>
        </p:nvGrpSpPr>
        <p:grpSpPr bwMode="auto">
          <a:xfrm>
            <a:off x="6096000" y="1676400"/>
            <a:ext cx="2497138" cy="4368800"/>
            <a:chOff x="4044" y="1388"/>
            <a:chExt cx="1563" cy="2537"/>
          </a:xfrm>
        </p:grpSpPr>
        <p:sp>
          <p:nvSpPr>
            <p:cNvPr id="49170" name="Oval 32"/>
            <p:cNvSpPr>
              <a:spLocks noChangeArrowheads="1"/>
            </p:cNvSpPr>
            <p:nvPr/>
          </p:nvSpPr>
          <p:spPr bwMode="auto">
            <a:xfrm>
              <a:off x="4704" y="1388"/>
              <a:ext cx="237" cy="233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/>
              <a:r>
                <a:rPr lang="en-US" altLang="en-US" sz="1400" b="0" i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49171" name="Oval 33"/>
            <p:cNvSpPr>
              <a:spLocks noChangeArrowheads="1"/>
            </p:cNvSpPr>
            <p:nvPr/>
          </p:nvSpPr>
          <p:spPr bwMode="auto">
            <a:xfrm>
              <a:off x="4754" y="3692"/>
              <a:ext cx="236" cy="233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altLang="en-US" sz="1400" b="0" i="0">
                  <a:solidFill>
                    <a:schemeClr val="tx1"/>
                  </a:solidFill>
                </a:rPr>
                <a:t>H</a:t>
              </a:r>
            </a:p>
          </p:txBody>
        </p:sp>
        <p:sp>
          <p:nvSpPr>
            <p:cNvPr id="49172" name="Oval 34"/>
            <p:cNvSpPr>
              <a:spLocks noChangeArrowheads="1"/>
            </p:cNvSpPr>
            <p:nvPr/>
          </p:nvSpPr>
          <p:spPr bwMode="auto">
            <a:xfrm>
              <a:off x="4322" y="3692"/>
              <a:ext cx="236" cy="233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altLang="en-US" sz="1400" b="0" i="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49173" name="Oval 35"/>
            <p:cNvSpPr>
              <a:spLocks noChangeArrowheads="1"/>
            </p:cNvSpPr>
            <p:nvPr/>
          </p:nvSpPr>
          <p:spPr bwMode="auto">
            <a:xfrm>
              <a:off x="4527" y="2910"/>
              <a:ext cx="209" cy="233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altLang="en-US" sz="1400" b="0" i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9174" name="Oval 36"/>
            <p:cNvSpPr>
              <a:spLocks noChangeArrowheads="1"/>
            </p:cNvSpPr>
            <p:nvPr/>
          </p:nvSpPr>
          <p:spPr bwMode="auto">
            <a:xfrm>
              <a:off x="4044" y="2910"/>
              <a:ext cx="217" cy="233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altLang="en-US" sz="1400" b="0" i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49175" name="Oval 37"/>
            <p:cNvSpPr>
              <a:spLocks noChangeArrowheads="1"/>
            </p:cNvSpPr>
            <p:nvPr/>
          </p:nvSpPr>
          <p:spPr bwMode="auto">
            <a:xfrm>
              <a:off x="5139" y="2156"/>
              <a:ext cx="235" cy="233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altLang="en-US" sz="1400" b="0" i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49176" name="Oval 38"/>
            <p:cNvSpPr>
              <a:spLocks noChangeArrowheads="1"/>
            </p:cNvSpPr>
            <p:nvPr/>
          </p:nvSpPr>
          <p:spPr bwMode="auto">
            <a:xfrm>
              <a:off x="5015" y="2908"/>
              <a:ext cx="226" cy="233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altLang="en-US" sz="1400" b="0" i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49177" name="Oval 39"/>
            <p:cNvSpPr>
              <a:spLocks noChangeArrowheads="1"/>
            </p:cNvSpPr>
            <p:nvPr/>
          </p:nvSpPr>
          <p:spPr bwMode="auto">
            <a:xfrm>
              <a:off x="4278" y="2156"/>
              <a:ext cx="227" cy="233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altLang="en-US" sz="1400" b="0" i="0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49178" name="AutoShape 40"/>
            <p:cNvCxnSpPr>
              <a:cxnSpLocks noChangeShapeType="1"/>
              <a:stCxn id="49170" idx="4"/>
              <a:endCxn id="49177" idx="0"/>
            </p:cNvCxnSpPr>
            <p:nvPr/>
          </p:nvCxnSpPr>
          <p:spPr bwMode="auto">
            <a:xfrm flipH="1">
              <a:off x="4393" y="1632"/>
              <a:ext cx="430" cy="51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79" name="AutoShape 41"/>
            <p:cNvCxnSpPr>
              <a:cxnSpLocks noChangeShapeType="1"/>
              <a:stCxn id="49175" idx="4"/>
              <a:endCxn id="49176" idx="0"/>
            </p:cNvCxnSpPr>
            <p:nvPr/>
          </p:nvCxnSpPr>
          <p:spPr bwMode="auto">
            <a:xfrm flipH="1">
              <a:off x="5129" y="2400"/>
              <a:ext cx="128" cy="49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80" name="AutoShape 42"/>
            <p:cNvCxnSpPr>
              <a:cxnSpLocks noChangeShapeType="1"/>
              <a:stCxn id="49170" idx="4"/>
              <a:endCxn id="49175" idx="0"/>
            </p:cNvCxnSpPr>
            <p:nvPr/>
          </p:nvCxnSpPr>
          <p:spPr bwMode="auto">
            <a:xfrm>
              <a:off x="4823" y="1632"/>
              <a:ext cx="434" cy="514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81" name="AutoShape 43"/>
            <p:cNvCxnSpPr>
              <a:cxnSpLocks noChangeShapeType="1"/>
              <a:stCxn id="49177" idx="4"/>
              <a:endCxn id="49174" idx="0"/>
            </p:cNvCxnSpPr>
            <p:nvPr/>
          </p:nvCxnSpPr>
          <p:spPr bwMode="auto">
            <a:xfrm flipH="1">
              <a:off x="4153" y="2400"/>
              <a:ext cx="240" cy="50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82" name="AutoShape 44"/>
            <p:cNvCxnSpPr>
              <a:cxnSpLocks noChangeShapeType="1"/>
              <a:stCxn id="49177" idx="4"/>
              <a:endCxn id="49173" idx="0"/>
            </p:cNvCxnSpPr>
            <p:nvPr/>
          </p:nvCxnSpPr>
          <p:spPr bwMode="auto">
            <a:xfrm>
              <a:off x="4393" y="2400"/>
              <a:ext cx="239" cy="50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83" name="AutoShape 45"/>
            <p:cNvCxnSpPr>
              <a:cxnSpLocks noChangeShapeType="1"/>
              <a:stCxn id="49173" idx="4"/>
              <a:endCxn id="49172" idx="0"/>
            </p:cNvCxnSpPr>
            <p:nvPr/>
          </p:nvCxnSpPr>
          <p:spPr bwMode="auto">
            <a:xfrm flipH="1">
              <a:off x="4441" y="3154"/>
              <a:ext cx="191" cy="52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184" name="AutoShape 46"/>
            <p:cNvCxnSpPr>
              <a:cxnSpLocks noChangeShapeType="1"/>
              <a:stCxn id="49173" idx="4"/>
              <a:endCxn id="49171" idx="0"/>
            </p:cNvCxnSpPr>
            <p:nvPr/>
          </p:nvCxnSpPr>
          <p:spPr bwMode="auto">
            <a:xfrm>
              <a:off x="4632" y="3154"/>
              <a:ext cx="241" cy="528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185" name="Oval 47"/>
            <p:cNvSpPr>
              <a:spLocks noChangeArrowheads="1"/>
            </p:cNvSpPr>
            <p:nvPr/>
          </p:nvSpPr>
          <p:spPr bwMode="auto">
            <a:xfrm>
              <a:off x="5424" y="2910"/>
              <a:ext cx="183" cy="233"/>
            </a:xfrm>
            <a:prstGeom prst="ellipse">
              <a:avLst/>
            </a:prstGeom>
            <a:solidFill>
              <a:srgbClr val="FF818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altLang="en-US" sz="1400" b="0" i="0">
                  <a:solidFill>
                    <a:schemeClr val="tx1"/>
                  </a:solidFill>
                </a:rPr>
                <a:t>J</a:t>
              </a:r>
            </a:p>
          </p:txBody>
        </p:sp>
        <p:cxnSp>
          <p:nvCxnSpPr>
            <p:cNvPr id="49186" name="AutoShape 48"/>
            <p:cNvCxnSpPr>
              <a:cxnSpLocks noChangeShapeType="1"/>
              <a:stCxn id="49175" idx="4"/>
              <a:endCxn id="49185" idx="0"/>
            </p:cNvCxnSpPr>
            <p:nvPr/>
          </p:nvCxnSpPr>
          <p:spPr bwMode="auto">
            <a:xfrm>
              <a:off x="5257" y="2400"/>
              <a:ext cx="258" cy="500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AC091E-CEF3-423A-BA6C-6033983D122D}" type="slidenum">
              <a:rPr lang="ar-SA"/>
              <a:pPr>
                <a:defRPr/>
              </a:pPr>
              <a:t>46</a:t>
            </a:fld>
            <a:endParaRPr lang="en-US"/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609600"/>
          </a:xfrm>
        </p:spPr>
        <p:txBody>
          <a:bodyPr/>
          <a:lstStyle/>
          <a:p>
            <a:pPr eaLnBrk="1" hangingPunct="1"/>
            <a:r>
              <a:rPr lang="en-US" sz="2400" smtClean="0"/>
              <a:t>Performance of Array Implementation of Binary Trees</a:t>
            </a:r>
          </a:p>
        </p:txBody>
      </p:sp>
      <p:sp>
        <p:nvSpPr>
          <p:cNvPr id="5018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38200" y="1143000"/>
            <a:ext cx="7772400" cy="4114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Space Complexity</a:t>
            </a:r>
          </a:p>
          <a:p>
            <a:pPr eaLnBrk="1" hangingPunct="1">
              <a:buFont typeface="Wingdings" pitchFamily="2" charset="2"/>
              <a:buNone/>
            </a:pPr>
            <a:endParaRPr lang="en-US" sz="2000" b="1" smtClean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Array list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is implemented by means of an extendable array.</a:t>
            </a:r>
          </a:p>
          <a:p>
            <a:pPr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Let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be number of nodes in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, and let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i="1" baseline="-2500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be the max. value of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p(v)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over all nodes of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Size of array list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sz="2400" b="1" i="1" smtClean="0">
                <a:latin typeface="Times New Roman" pitchFamily="18" charset="0"/>
                <a:cs typeface="Times New Roman" pitchFamily="18" charset="0"/>
              </a:rPr>
              <a:t>N = p</a:t>
            </a:r>
            <a:r>
              <a:rPr lang="en-US" sz="2400" b="1" i="1" baseline="-2500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="1" i="1" smtClean="0">
                <a:latin typeface="Times New Roman" pitchFamily="18" charset="0"/>
                <a:cs typeface="Times New Roman" pitchFamily="18" charset="0"/>
              </a:rPr>
              <a:t> + 1, 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since</a:t>
            </a:r>
            <a:r>
              <a:rPr lang="en-US" sz="2400" b="1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index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of</a:t>
            </a:r>
            <a:r>
              <a:rPr lang="en-US" sz="2400" b="1" i="1" smtClean="0">
                <a:latin typeface="Times New Roman" pitchFamily="18" charset="0"/>
                <a:cs typeface="Times New Roman" pitchFamily="18" charset="0"/>
              </a:rPr>
              <a:t> S 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has no nodes stored in it.</a:t>
            </a:r>
          </a:p>
          <a:p>
            <a:pPr eaLnBrk="1" hangingPunct="1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worst case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has </a:t>
            </a:r>
            <a:r>
              <a:rPr lang="en-US" sz="2400" b="1" i="1" smtClean="0">
                <a:latin typeface="Times New Roman" pitchFamily="18" charset="0"/>
                <a:cs typeface="Times New Roman" pitchFamily="18" charset="0"/>
              </a:rPr>
              <a:t>N = 2</a:t>
            </a:r>
            <a:r>
              <a:rPr lang="en-US" sz="2400" b="1" i="1" baseline="3000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i="1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elements, </a:t>
            </a:r>
            <a:r>
              <a:rPr lang="en-US" sz="2400" i="1" smtClean="0">
                <a:latin typeface="Times New Roman" pitchFamily="18" charset="0"/>
                <a:cs typeface="Times New Roman" pitchFamily="18" charset="0"/>
              </a:rPr>
              <a:t>exponential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 complexity.</a:t>
            </a:r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i="1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en-US" sz="2000" b="1" i="1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sz="200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D188CF-10CE-4C64-A596-FDC50E66C40E}" type="slidenum">
              <a:rPr lang="ar-SA"/>
              <a:pPr>
                <a:defRPr/>
              </a:pPr>
              <a:t>47</a:t>
            </a:fld>
            <a:endParaRPr lang="en-US"/>
          </a:p>
        </p:txBody>
      </p:sp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>
                <a:latin typeface="Times New Roman" pitchFamily="18" charset="0"/>
                <a:cs typeface="Times New Roman" pitchFamily="18" charset="0"/>
              </a:rPr>
              <a:t>Time Complexity</a:t>
            </a:r>
          </a:p>
        </p:txBody>
      </p:sp>
      <p:graphicFrame>
        <p:nvGraphicFramePr>
          <p:cNvPr id="234532" name="Group 36"/>
          <p:cNvGraphicFramePr>
            <a:graphicFrameLocks noGrp="1"/>
          </p:cNvGraphicFramePr>
          <p:nvPr>
            <p:ph idx="1"/>
          </p:nvPr>
        </p:nvGraphicFramePr>
        <p:xfrm>
          <a:off x="838200" y="1905000"/>
          <a:ext cx="7772400" cy="3640137"/>
        </p:xfrm>
        <a:graphic>
          <a:graphicData uri="http://schemas.openxmlformats.org/drawingml/2006/table">
            <a:tbl>
              <a:tblPr/>
              <a:tblGrid>
                <a:gridCol w="3886200"/>
                <a:gridCol w="3886200"/>
              </a:tblGrid>
              <a:tr h="5890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Operation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97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Time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97F8"/>
                    </a:solidFill>
                  </a:tcPr>
                </a:tc>
              </a:tr>
              <a:tr h="5858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size, isEmpty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97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O(1)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97F8"/>
                    </a:solidFill>
                  </a:tcPr>
                </a:tc>
              </a:tr>
              <a:tr h="5890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iterator, positions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97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O(n)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97F8"/>
                    </a:solidFill>
                  </a:tcPr>
                </a:tc>
              </a:tr>
              <a:tr h="5890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replace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97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O(1)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97F8"/>
                    </a:solidFill>
                  </a:tcPr>
                </a:tc>
              </a:tr>
              <a:tr h="5858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root, parent, children, left, right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97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O(1)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97F8"/>
                    </a:solidFill>
                  </a:tcPr>
                </a:tc>
              </a:tr>
              <a:tr h="7011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hasLeft, hasRight, isInternal, isExternal, isRoot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97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O(1)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9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DD56B1-9D93-4B1F-8DE1-5E682BE0029B}" type="slidenum">
              <a:rPr lang="ar-SA"/>
              <a:pPr>
                <a:defRPr/>
              </a:pPr>
              <a:t>48</a:t>
            </a:fld>
            <a:endParaRPr lang="en-US"/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457200"/>
            <a:ext cx="8077200" cy="838200"/>
          </a:xfrm>
        </p:spPr>
        <p:txBody>
          <a:bodyPr/>
          <a:lstStyle/>
          <a:p>
            <a:pPr eaLnBrk="1" hangingPunct="1"/>
            <a:r>
              <a:rPr lang="en-US" smtClean="0"/>
              <a:t>Binary Tree Traversal</a:t>
            </a:r>
          </a:p>
        </p:txBody>
      </p:sp>
      <p:sp>
        <p:nvSpPr>
          <p:cNvPr id="5222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609600" y="2209800"/>
            <a:ext cx="7010400" cy="1752600"/>
          </a:xfrm>
          <a:noFill/>
        </p:spPr>
        <p:txBody>
          <a:bodyPr lIns="92075" tIns="46038" rIns="92075" bIns="46038"/>
          <a:lstStyle/>
          <a:p>
            <a:pPr marL="609600" indent="-609600" algn="l"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AutoNum type="arabicPeriod"/>
            </a:pPr>
            <a:r>
              <a:rPr lang="en-US" sz="2800" b="1" i="1" smtClean="0">
                <a:latin typeface="Times New Roman" pitchFamily="18" charset="0"/>
                <a:cs typeface="Times New Roman" pitchFamily="18" charset="0"/>
              </a:rPr>
              <a:t>Preorder</a:t>
            </a:r>
          </a:p>
          <a:p>
            <a:pPr marL="609600" indent="-609600" algn="l"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AutoNum type="arabicPeriod"/>
            </a:pPr>
            <a:r>
              <a:rPr lang="en-US" sz="2800" b="1" i="1" smtClean="0">
                <a:latin typeface="Times New Roman" pitchFamily="18" charset="0"/>
                <a:cs typeface="Times New Roman" pitchFamily="18" charset="0"/>
              </a:rPr>
              <a:t>Postorder</a:t>
            </a:r>
          </a:p>
          <a:p>
            <a:pPr marL="609600" indent="-609600" algn="l"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AutoNum type="arabicPeriod"/>
            </a:pPr>
            <a:r>
              <a:rPr lang="en-US" sz="2800" b="1" i="1" smtClean="0">
                <a:latin typeface="Times New Roman" pitchFamily="18" charset="0"/>
                <a:cs typeface="Times New Roman" pitchFamily="18" charset="0"/>
              </a:rPr>
              <a:t>Inorder</a:t>
            </a:r>
          </a:p>
          <a:p>
            <a:pPr marL="609600" indent="-609600" algn="l"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AutoNum type="arabicPeriod"/>
            </a:pPr>
            <a:r>
              <a:rPr lang="en-US" sz="2800" b="1" i="1" smtClean="0">
                <a:latin typeface="Times New Roman" pitchFamily="18" charset="0"/>
                <a:cs typeface="Times New Roman" pitchFamily="18" charset="0"/>
              </a:rPr>
              <a:t>Euler Tour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32DF20-EA1D-47C2-9103-7F38B83AE7F6}" type="slidenum">
              <a:rPr lang="ar-SA"/>
              <a:pPr>
                <a:defRPr/>
              </a:pPr>
              <a:t>49</a:t>
            </a:fld>
            <a:endParaRPr lang="en-US"/>
          </a:p>
        </p:txBody>
      </p:sp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685800"/>
          </a:xfrm>
        </p:spPr>
        <p:txBody>
          <a:bodyPr/>
          <a:lstStyle/>
          <a:p>
            <a:pPr eaLnBrk="1" hangingPunct="1"/>
            <a:r>
              <a:rPr lang="en-US" sz="3600" smtClean="0"/>
              <a:t>1. PreOrder Traversal</a:t>
            </a:r>
          </a:p>
        </p:txBody>
      </p:sp>
      <p:grpSp>
        <p:nvGrpSpPr>
          <p:cNvPr id="53253" name="Group 4"/>
          <p:cNvGrpSpPr>
            <a:grpSpLocks/>
          </p:cNvGrpSpPr>
          <p:nvPr/>
        </p:nvGrpSpPr>
        <p:grpSpPr bwMode="auto">
          <a:xfrm>
            <a:off x="2122488" y="3962400"/>
            <a:ext cx="3429000" cy="2286000"/>
            <a:chOff x="2928" y="2256"/>
            <a:chExt cx="2160" cy="1440"/>
          </a:xfrm>
        </p:grpSpPr>
        <p:sp>
          <p:nvSpPr>
            <p:cNvPr id="53282" name="Oval 5"/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</a:endParaRPr>
            </a:p>
          </p:txBody>
        </p:sp>
        <p:sp>
          <p:nvSpPr>
            <p:cNvPr id="53283" name="Oval 6"/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  <a:sym typeface="Symbol" pitchFamily="18" charset="2"/>
              </a:endParaRPr>
            </a:p>
          </p:txBody>
        </p:sp>
        <p:sp>
          <p:nvSpPr>
            <p:cNvPr id="53284" name="Oval 7"/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</a:endParaRPr>
            </a:p>
          </p:txBody>
        </p:sp>
        <p:sp>
          <p:nvSpPr>
            <p:cNvPr id="53285" name="Oval 8"/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</a:endParaRPr>
            </a:p>
          </p:txBody>
        </p:sp>
        <p:sp>
          <p:nvSpPr>
            <p:cNvPr id="53286" name="Rectangle 9"/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53287" name="Rectangle 10"/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53288" name="Rectangle 11"/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53289" name="Rectangle 12"/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53290" name="Rectangle 13"/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cxnSp>
          <p:nvCxnSpPr>
            <p:cNvPr id="53291" name="AutoShape 14"/>
            <p:cNvCxnSpPr>
              <a:cxnSpLocks noChangeShapeType="1"/>
              <a:stCxn id="53282" idx="3"/>
              <a:endCxn id="53284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92" name="AutoShape 15"/>
            <p:cNvCxnSpPr>
              <a:cxnSpLocks noChangeShapeType="1"/>
              <a:stCxn id="53283" idx="1"/>
              <a:endCxn id="53282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93" name="AutoShape 16"/>
            <p:cNvCxnSpPr>
              <a:cxnSpLocks noChangeShapeType="1"/>
              <a:stCxn id="53290" idx="0"/>
              <a:endCxn id="53283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94" name="AutoShape 17"/>
            <p:cNvCxnSpPr>
              <a:cxnSpLocks noChangeShapeType="1"/>
              <a:stCxn id="53289" idx="0"/>
              <a:endCxn id="53283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95" name="AutoShape 18"/>
            <p:cNvCxnSpPr>
              <a:cxnSpLocks noChangeShapeType="1"/>
              <a:stCxn id="53288" idx="0"/>
              <a:endCxn id="53285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96" name="AutoShape 19"/>
            <p:cNvCxnSpPr>
              <a:cxnSpLocks noChangeShapeType="1"/>
              <a:stCxn id="53287" idx="0"/>
              <a:endCxn id="53285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97" name="AutoShape 20"/>
            <p:cNvCxnSpPr>
              <a:cxnSpLocks noChangeShapeType="1"/>
              <a:stCxn id="53286" idx="0"/>
              <a:endCxn id="53284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98" name="AutoShape 21"/>
            <p:cNvCxnSpPr>
              <a:cxnSpLocks noChangeShapeType="1"/>
              <a:stCxn id="53285" idx="1"/>
              <a:endCxn id="53284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3254" name="Text Box 24"/>
          <p:cNvSpPr txBox="1">
            <a:spLocks noChangeArrowheads="1"/>
          </p:cNvSpPr>
          <p:nvPr/>
        </p:nvSpPr>
        <p:spPr bwMode="auto">
          <a:xfrm>
            <a:off x="2133600" y="1295400"/>
            <a:ext cx="4800600" cy="2438400"/>
          </a:xfrm>
          <a:prstGeom prst="rect">
            <a:avLst/>
          </a:prstGeom>
          <a:solidFill>
            <a:schemeClr val="folHlink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i="0">
                <a:solidFill>
                  <a:srgbClr val="000000"/>
                </a:solidFill>
              </a:rPr>
              <a:t>Algorithm</a:t>
            </a:r>
            <a:r>
              <a:rPr lang="en-US" b="0" i="0">
                <a:solidFill>
                  <a:schemeClr val="tx1"/>
                </a:solidFill>
              </a:rPr>
              <a:t> </a:t>
            </a:r>
            <a:r>
              <a:rPr lang="en-US"/>
              <a:t>binaryPreOrder</a:t>
            </a:r>
            <a:r>
              <a:rPr lang="en-US" b="0" i="0"/>
              <a:t>(</a:t>
            </a:r>
            <a:r>
              <a:rPr lang="en-US"/>
              <a:t>T</a:t>
            </a:r>
            <a:r>
              <a:rPr lang="en-US" b="0" i="0"/>
              <a:t>,</a:t>
            </a:r>
            <a:r>
              <a:rPr lang="en-US"/>
              <a:t>v</a:t>
            </a:r>
            <a:r>
              <a:rPr lang="en-US" b="0" i="0"/>
              <a:t>)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>
                <a:solidFill>
                  <a:schemeClr val="accent2"/>
                </a:solidFill>
              </a:rPr>
              <a:t>visit</a:t>
            </a:r>
            <a:r>
              <a:rPr lang="en-US" b="0" i="0">
                <a:solidFill>
                  <a:schemeClr val="accent2"/>
                </a:solidFill>
              </a:rPr>
              <a:t>(</a:t>
            </a:r>
            <a:r>
              <a:rPr lang="en-US">
                <a:solidFill>
                  <a:schemeClr val="accent2"/>
                </a:solidFill>
              </a:rPr>
              <a:t>v</a:t>
            </a:r>
            <a:r>
              <a:rPr lang="en-US" b="0" i="0">
                <a:solidFill>
                  <a:schemeClr val="accent2"/>
                </a:solidFill>
              </a:rPr>
              <a:t>)</a:t>
            </a:r>
            <a:r>
              <a:rPr lang="en-US" i="0">
                <a:solidFill>
                  <a:srgbClr val="000000"/>
                </a:solidFill>
              </a:rPr>
              <a:t> 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i="0">
                <a:solidFill>
                  <a:srgbClr val="000000"/>
                </a:solidFill>
              </a:rPr>
              <a:t>if</a:t>
            </a:r>
            <a:r>
              <a:rPr lang="en-US" b="0" i="0"/>
              <a:t> </a:t>
            </a:r>
            <a:r>
              <a:rPr lang="en-US">
                <a:solidFill>
                  <a:schemeClr val="accent2"/>
                </a:solidFill>
              </a:rPr>
              <a:t>hasLeft </a:t>
            </a:r>
            <a:r>
              <a:rPr lang="en-US" b="0" i="0">
                <a:solidFill>
                  <a:schemeClr val="accent2"/>
                </a:solidFill>
              </a:rPr>
              <a:t>(</a:t>
            </a:r>
            <a:r>
              <a:rPr lang="en-US">
                <a:solidFill>
                  <a:schemeClr val="accent2"/>
                </a:solidFill>
              </a:rPr>
              <a:t>v</a:t>
            </a:r>
            <a:r>
              <a:rPr lang="en-US" b="0" i="0">
                <a:solidFill>
                  <a:schemeClr val="accent2"/>
                </a:solidFill>
              </a:rPr>
              <a:t>) </a:t>
            </a:r>
            <a:r>
              <a:rPr lang="en-US" i="0">
                <a:solidFill>
                  <a:srgbClr val="000000"/>
                </a:solidFill>
              </a:rPr>
              <a:t>then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>
                <a:solidFill>
                  <a:schemeClr val="accent2"/>
                </a:solidFill>
              </a:rPr>
              <a:t>binaryPreOrder</a:t>
            </a:r>
            <a:r>
              <a:rPr lang="en-US" b="0" i="0">
                <a:solidFill>
                  <a:schemeClr val="accent2"/>
                </a:solidFill>
              </a:rPr>
              <a:t> (</a:t>
            </a:r>
            <a:r>
              <a:rPr lang="en-US">
                <a:solidFill>
                  <a:schemeClr val="accent2"/>
                </a:solidFill>
              </a:rPr>
              <a:t>T</a:t>
            </a:r>
            <a:r>
              <a:rPr lang="en-US" b="0" i="0">
                <a:solidFill>
                  <a:schemeClr val="accent2"/>
                </a:solidFill>
              </a:rPr>
              <a:t>,</a:t>
            </a:r>
            <a:r>
              <a:rPr lang="en-US">
                <a:solidFill>
                  <a:schemeClr val="accent2"/>
                </a:solidFill>
              </a:rPr>
              <a:t>left </a:t>
            </a:r>
            <a:r>
              <a:rPr lang="en-US" b="0" i="0">
                <a:solidFill>
                  <a:schemeClr val="accent2"/>
                </a:solidFill>
              </a:rPr>
              <a:t>(</a:t>
            </a:r>
            <a:r>
              <a:rPr lang="en-US">
                <a:solidFill>
                  <a:schemeClr val="accent2"/>
                </a:solidFill>
              </a:rPr>
              <a:t>v</a:t>
            </a:r>
            <a:r>
              <a:rPr lang="en-US" b="0" i="0">
                <a:solidFill>
                  <a:schemeClr val="accent2"/>
                </a:solidFill>
              </a:rPr>
              <a:t>))</a:t>
            </a:r>
            <a:endParaRPr lang="en-US" b="0" i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i="0">
                <a:solidFill>
                  <a:srgbClr val="000000"/>
                </a:solidFill>
              </a:rPr>
              <a:t>if</a:t>
            </a:r>
            <a:r>
              <a:rPr lang="en-US" b="0" i="0"/>
              <a:t> </a:t>
            </a:r>
            <a:r>
              <a:rPr lang="en-US">
                <a:solidFill>
                  <a:schemeClr val="accent2"/>
                </a:solidFill>
              </a:rPr>
              <a:t>hasRight </a:t>
            </a:r>
            <a:r>
              <a:rPr lang="en-US" b="0" i="0">
                <a:solidFill>
                  <a:schemeClr val="accent2"/>
                </a:solidFill>
              </a:rPr>
              <a:t>(</a:t>
            </a:r>
            <a:r>
              <a:rPr lang="en-US">
                <a:solidFill>
                  <a:schemeClr val="accent2"/>
                </a:solidFill>
              </a:rPr>
              <a:t>v</a:t>
            </a:r>
            <a:r>
              <a:rPr lang="en-US" b="0" i="0">
                <a:solidFill>
                  <a:schemeClr val="accent2"/>
                </a:solidFill>
              </a:rPr>
              <a:t>)</a:t>
            </a:r>
            <a:endParaRPr lang="en-US" b="0" i="0"/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>
                <a:solidFill>
                  <a:schemeClr val="accent2"/>
                </a:solidFill>
              </a:rPr>
              <a:t>binaryPreOrder</a:t>
            </a:r>
            <a:r>
              <a:rPr lang="en-US" b="0" i="0">
                <a:solidFill>
                  <a:schemeClr val="accent2"/>
                </a:solidFill>
              </a:rPr>
              <a:t>(</a:t>
            </a:r>
            <a:r>
              <a:rPr lang="en-US">
                <a:solidFill>
                  <a:schemeClr val="accent2"/>
                </a:solidFill>
              </a:rPr>
              <a:t>T</a:t>
            </a:r>
            <a:r>
              <a:rPr lang="en-US" b="0" i="0">
                <a:solidFill>
                  <a:schemeClr val="accent2"/>
                </a:solidFill>
              </a:rPr>
              <a:t>,</a:t>
            </a:r>
            <a:r>
              <a:rPr lang="en-US">
                <a:solidFill>
                  <a:schemeClr val="accent2"/>
                </a:solidFill>
              </a:rPr>
              <a:t>right </a:t>
            </a:r>
            <a:r>
              <a:rPr lang="en-US" b="0" i="0">
                <a:solidFill>
                  <a:schemeClr val="accent2"/>
                </a:solidFill>
              </a:rPr>
              <a:t>(</a:t>
            </a:r>
            <a:r>
              <a:rPr lang="en-US">
                <a:solidFill>
                  <a:schemeClr val="accent2"/>
                </a:solidFill>
              </a:rPr>
              <a:t>v</a:t>
            </a:r>
            <a:r>
              <a:rPr lang="en-US" b="0" i="0">
                <a:solidFill>
                  <a:schemeClr val="accent2"/>
                </a:solidFill>
              </a:rPr>
              <a:t>))</a:t>
            </a:r>
          </a:p>
        </p:txBody>
      </p:sp>
      <p:grpSp>
        <p:nvGrpSpPr>
          <p:cNvPr id="53255" name="Group 25"/>
          <p:cNvGrpSpPr>
            <a:grpSpLocks/>
          </p:cNvGrpSpPr>
          <p:nvPr/>
        </p:nvGrpSpPr>
        <p:grpSpPr bwMode="auto">
          <a:xfrm>
            <a:off x="2122488" y="3962400"/>
            <a:ext cx="3429000" cy="2286000"/>
            <a:chOff x="2928" y="2256"/>
            <a:chExt cx="2160" cy="1440"/>
          </a:xfrm>
        </p:grpSpPr>
        <p:sp>
          <p:nvSpPr>
            <p:cNvPr id="53265" name="Oval 26"/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</a:endParaRPr>
            </a:p>
          </p:txBody>
        </p:sp>
        <p:sp>
          <p:nvSpPr>
            <p:cNvPr id="53266" name="Oval 27"/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  <a:sym typeface="Symbol" pitchFamily="18" charset="2"/>
              </a:endParaRPr>
            </a:p>
          </p:txBody>
        </p:sp>
        <p:sp>
          <p:nvSpPr>
            <p:cNvPr id="53267" name="Oval 28"/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</a:endParaRPr>
            </a:p>
          </p:txBody>
        </p:sp>
        <p:sp>
          <p:nvSpPr>
            <p:cNvPr id="53268" name="Oval 29"/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</a:endParaRPr>
            </a:p>
          </p:txBody>
        </p:sp>
        <p:sp>
          <p:nvSpPr>
            <p:cNvPr id="53269" name="Rectangle 30"/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53270" name="Rectangle 31"/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53271" name="Rectangle 32"/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53272" name="Rectangle 33"/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53273" name="Rectangle 34"/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cxnSp>
          <p:nvCxnSpPr>
            <p:cNvPr id="53274" name="AutoShape 35"/>
            <p:cNvCxnSpPr>
              <a:cxnSpLocks noChangeShapeType="1"/>
              <a:stCxn id="53265" idx="3"/>
              <a:endCxn id="53267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75" name="AutoShape 36"/>
            <p:cNvCxnSpPr>
              <a:cxnSpLocks noChangeShapeType="1"/>
              <a:stCxn id="53266" idx="1"/>
              <a:endCxn id="53265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76" name="AutoShape 37"/>
            <p:cNvCxnSpPr>
              <a:cxnSpLocks noChangeShapeType="1"/>
              <a:stCxn id="53273" idx="0"/>
              <a:endCxn id="53266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77" name="AutoShape 38"/>
            <p:cNvCxnSpPr>
              <a:cxnSpLocks noChangeShapeType="1"/>
              <a:stCxn id="53272" idx="0"/>
              <a:endCxn id="53266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78" name="AutoShape 39"/>
            <p:cNvCxnSpPr>
              <a:cxnSpLocks noChangeShapeType="1"/>
              <a:stCxn id="53271" idx="0"/>
              <a:endCxn id="53268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79" name="AutoShape 40"/>
            <p:cNvCxnSpPr>
              <a:cxnSpLocks noChangeShapeType="1"/>
              <a:stCxn id="53270" idx="0"/>
              <a:endCxn id="53268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80" name="AutoShape 41"/>
            <p:cNvCxnSpPr>
              <a:cxnSpLocks noChangeShapeType="1"/>
              <a:stCxn id="53269" idx="0"/>
              <a:endCxn id="53267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281" name="AutoShape 42"/>
            <p:cNvCxnSpPr>
              <a:cxnSpLocks noChangeShapeType="1"/>
              <a:stCxn id="53268" idx="1"/>
              <a:endCxn id="53267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3256" name="Text Box 43"/>
          <p:cNvSpPr txBox="1">
            <a:spLocks noChangeArrowheads="1"/>
          </p:cNvSpPr>
          <p:nvPr/>
        </p:nvSpPr>
        <p:spPr bwMode="auto">
          <a:xfrm>
            <a:off x="2714625" y="54864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5</a:t>
            </a:r>
          </a:p>
        </p:txBody>
      </p:sp>
      <p:sp>
        <p:nvSpPr>
          <p:cNvPr id="53257" name="Text Box 44"/>
          <p:cNvSpPr txBox="1">
            <a:spLocks noChangeArrowheads="1"/>
          </p:cNvSpPr>
          <p:nvPr/>
        </p:nvSpPr>
        <p:spPr bwMode="auto">
          <a:xfrm>
            <a:off x="1905000" y="48387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3</a:t>
            </a:r>
          </a:p>
        </p:txBody>
      </p:sp>
      <p:sp>
        <p:nvSpPr>
          <p:cNvPr id="53258" name="Text Box 45"/>
          <p:cNvSpPr txBox="1">
            <a:spLocks noChangeArrowheads="1"/>
          </p:cNvSpPr>
          <p:nvPr/>
        </p:nvSpPr>
        <p:spPr bwMode="auto">
          <a:xfrm>
            <a:off x="2333625" y="4259263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2</a:t>
            </a:r>
          </a:p>
        </p:txBody>
      </p:sp>
      <p:sp>
        <p:nvSpPr>
          <p:cNvPr id="53259" name="Text Box 46"/>
          <p:cNvSpPr txBox="1">
            <a:spLocks noChangeArrowheads="1"/>
          </p:cNvSpPr>
          <p:nvPr/>
        </p:nvSpPr>
        <p:spPr bwMode="auto">
          <a:xfrm>
            <a:off x="3798888" y="54864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6</a:t>
            </a:r>
          </a:p>
        </p:txBody>
      </p:sp>
      <p:sp>
        <p:nvSpPr>
          <p:cNvPr id="53260" name="Text Box 47"/>
          <p:cNvSpPr txBox="1">
            <a:spLocks noChangeArrowheads="1"/>
          </p:cNvSpPr>
          <p:nvPr/>
        </p:nvSpPr>
        <p:spPr bwMode="auto">
          <a:xfrm>
            <a:off x="3781425" y="37338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1</a:t>
            </a:r>
          </a:p>
        </p:txBody>
      </p:sp>
      <p:sp>
        <p:nvSpPr>
          <p:cNvPr id="53261" name="Text Box 48"/>
          <p:cNvSpPr txBox="1">
            <a:spLocks noChangeArrowheads="1"/>
          </p:cNvSpPr>
          <p:nvPr/>
        </p:nvSpPr>
        <p:spPr bwMode="auto">
          <a:xfrm>
            <a:off x="4256088" y="48387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8</a:t>
            </a:r>
          </a:p>
        </p:txBody>
      </p:sp>
      <p:sp>
        <p:nvSpPr>
          <p:cNvPr id="53262" name="Text Box 49"/>
          <p:cNvSpPr txBox="1">
            <a:spLocks noChangeArrowheads="1"/>
          </p:cNvSpPr>
          <p:nvPr/>
        </p:nvSpPr>
        <p:spPr bwMode="auto">
          <a:xfrm>
            <a:off x="5399088" y="48387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9</a:t>
            </a:r>
          </a:p>
        </p:txBody>
      </p:sp>
      <p:sp>
        <p:nvSpPr>
          <p:cNvPr id="53263" name="Text Box 50"/>
          <p:cNvSpPr txBox="1">
            <a:spLocks noChangeArrowheads="1"/>
          </p:cNvSpPr>
          <p:nvPr/>
        </p:nvSpPr>
        <p:spPr bwMode="auto">
          <a:xfrm>
            <a:off x="4951413" y="4259263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7</a:t>
            </a:r>
          </a:p>
        </p:txBody>
      </p:sp>
      <p:sp>
        <p:nvSpPr>
          <p:cNvPr id="53264" name="Text Box 51"/>
          <p:cNvSpPr txBox="1">
            <a:spLocks noChangeArrowheads="1"/>
          </p:cNvSpPr>
          <p:nvPr/>
        </p:nvSpPr>
        <p:spPr bwMode="auto">
          <a:xfrm>
            <a:off x="3341688" y="48387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5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DC3144-8873-4B87-8217-AF8A9FF74763}" type="slidenum">
              <a:rPr lang="ar-SA"/>
              <a:pPr>
                <a:defRPr/>
              </a:pPr>
              <a:t>50</a:t>
            </a:fld>
            <a:endParaRPr lang="en-US"/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762000"/>
          </a:xfrm>
        </p:spPr>
        <p:txBody>
          <a:bodyPr/>
          <a:lstStyle/>
          <a:p>
            <a:pPr eaLnBrk="1" hangingPunct="1"/>
            <a:r>
              <a:rPr lang="en-US" sz="3200" smtClean="0"/>
              <a:t>2. PostOrder Traversal</a:t>
            </a:r>
          </a:p>
        </p:txBody>
      </p:sp>
      <p:grpSp>
        <p:nvGrpSpPr>
          <p:cNvPr id="54277" name="Group 10"/>
          <p:cNvGrpSpPr>
            <a:grpSpLocks/>
          </p:cNvGrpSpPr>
          <p:nvPr/>
        </p:nvGrpSpPr>
        <p:grpSpPr bwMode="auto">
          <a:xfrm>
            <a:off x="2122488" y="3962400"/>
            <a:ext cx="3429000" cy="2286000"/>
            <a:chOff x="2928" y="2256"/>
            <a:chExt cx="2160" cy="1440"/>
          </a:xfrm>
        </p:grpSpPr>
        <p:sp>
          <p:nvSpPr>
            <p:cNvPr id="54306" name="Oval 11"/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</a:endParaRPr>
            </a:p>
          </p:txBody>
        </p:sp>
        <p:sp>
          <p:nvSpPr>
            <p:cNvPr id="54307" name="Oval 12"/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  <a:sym typeface="Symbol" pitchFamily="18" charset="2"/>
              </a:endParaRPr>
            </a:p>
          </p:txBody>
        </p:sp>
        <p:sp>
          <p:nvSpPr>
            <p:cNvPr id="54308" name="Oval 13"/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</a:endParaRPr>
            </a:p>
          </p:txBody>
        </p:sp>
        <p:sp>
          <p:nvSpPr>
            <p:cNvPr id="54309" name="Oval 14"/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</a:endParaRPr>
            </a:p>
          </p:txBody>
        </p:sp>
        <p:sp>
          <p:nvSpPr>
            <p:cNvPr id="54310" name="Rectangle 15"/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54311" name="Rectangle 16"/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54312" name="Rectangle 17"/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54313" name="Rectangle 18"/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54314" name="Rectangle 19"/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cxnSp>
          <p:nvCxnSpPr>
            <p:cNvPr id="54315" name="AutoShape 20"/>
            <p:cNvCxnSpPr>
              <a:cxnSpLocks noChangeShapeType="1"/>
              <a:stCxn id="54306" idx="3"/>
              <a:endCxn id="54308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316" name="AutoShape 21"/>
            <p:cNvCxnSpPr>
              <a:cxnSpLocks noChangeShapeType="1"/>
              <a:stCxn id="54307" idx="1"/>
              <a:endCxn id="54306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317" name="AutoShape 22"/>
            <p:cNvCxnSpPr>
              <a:cxnSpLocks noChangeShapeType="1"/>
              <a:stCxn id="54314" idx="0"/>
              <a:endCxn id="54307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318" name="AutoShape 23"/>
            <p:cNvCxnSpPr>
              <a:cxnSpLocks noChangeShapeType="1"/>
              <a:stCxn id="54313" idx="0"/>
              <a:endCxn id="54307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319" name="AutoShape 24"/>
            <p:cNvCxnSpPr>
              <a:cxnSpLocks noChangeShapeType="1"/>
              <a:stCxn id="54312" idx="0"/>
              <a:endCxn id="54309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320" name="AutoShape 25"/>
            <p:cNvCxnSpPr>
              <a:cxnSpLocks noChangeShapeType="1"/>
              <a:stCxn id="54311" idx="0"/>
              <a:endCxn id="54309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321" name="AutoShape 26"/>
            <p:cNvCxnSpPr>
              <a:cxnSpLocks noChangeShapeType="1"/>
              <a:stCxn id="54310" idx="0"/>
              <a:endCxn id="54308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322" name="AutoShape 27"/>
            <p:cNvCxnSpPr>
              <a:cxnSpLocks noChangeShapeType="1"/>
              <a:stCxn id="54309" idx="1"/>
              <a:endCxn id="54308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4278" name="Text Box 28"/>
          <p:cNvSpPr txBox="1">
            <a:spLocks noChangeArrowheads="1"/>
          </p:cNvSpPr>
          <p:nvPr/>
        </p:nvSpPr>
        <p:spPr bwMode="auto">
          <a:xfrm>
            <a:off x="1676400" y="1371600"/>
            <a:ext cx="4419600" cy="2438400"/>
          </a:xfrm>
          <a:prstGeom prst="rect">
            <a:avLst/>
          </a:prstGeom>
          <a:solidFill>
            <a:schemeClr val="folHlink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179388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447675" indent="-889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i="0">
                <a:solidFill>
                  <a:srgbClr val="000000"/>
                </a:solidFill>
              </a:rPr>
              <a:t>Algorithm</a:t>
            </a:r>
            <a:r>
              <a:rPr lang="en-US" b="0" i="0">
                <a:solidFill>
                  <a:schemeClr val="tx1"/>
                </a:solidFill>
              </a:rPr>
              <a:t> </a:t>
            </a:r>
            <a:r>
              <a:rPr lang="en-US"/>
              <a:t>binaryPostOrder</a:t>
            </a:r>
            <a:r>
              <a:rPr lang="en-US" i="0"/>
              <a:t>(</a:t>
            </a:r>
            <a:r>
              <a:rPr lang="en-US"/>
              <a:t>T</a:t>
            </a:r>
            <a:r>
              <a:rPr lang="en-US" i="0"/>
              <a:t>,</a:t>
            </a:r>
            <a:r>
              <a:rPr lang="en-US"/>
              <a:t>v</a:t>
            </a:r>
            <a:r>
              <a:rPr lang="en-US" b="0" i="0"/>
              <a:t>)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i="0">
                <a:solidFill>
                  <a:srgbClr val="000000"/>
                </a:solidFill>
              </a:rPr>
              <a:t>if</a:t>
            </a:r>
            <a:r>
              <a:rPr lang="en-US" b="0" i="0"/>
              <a:t> </a:t>
            </a:r>
            <a:r>
              <a:rPr lang="en-US">
                <a:solidFill>
                  <a:schemeClr val="accent2"/>
                </a:solidFill>
              </a:rPr>
              <a:t>hasLeft </a:t>
            </a:r>
            <a:r>
              <a:rPr lang="en-US" b="0" i="0">
                <a:solidFill>
                  <a:schemeClr val="accent2"/>
                </a:solidFill>
              </a:rPr>
              <a:t>(</a:t>
            </a:r>
            <a:r>
              <a:rPr lang="en-US">
                <a:solidFill>
                  <a:schemeClr val="accent2"/>
                </a:solidFill>
              </a:rPr>
              <a:t>v</a:t>
            </a:r>
            <a:r>
              <a:rPr lang="en-US" b="0" i="0">
                <a:solidFill>
                  <a:schemeClr val="accent2"/>
                </a:solidFill>
              </a:rPr>
              <a:t>) </a:t>
            </a:r>
            <a:r>
              <a:rPr lang="en-US" i="0">
                <a:solidFill>
                  <a:srgbClr val="000000"/>
                </a:solidFill>
              </a:rPr>
              <a:t>then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>
                <a:solidFill>
                  <a:schemeClr val="accent2"/>
                </a:solidFill>
              </a:rPr>
              <a:t>binaryPostOrder</a:t>
            </a:r>
            <a:r>
              <a:rPr lang="en-US" b="0" i="0">
                <a:solidFill>
                  <a:schemeClr val="accent2"/>
                </a:solidFill>
              </a:rPr>
              <a:t> (</a:t>
            </a:r>
            <a:r>
              <a:rPr lang="en-US" b="0">
                <a:solidFill>
                  <a:schemeClr val="accent2"/>
                </a:solidFill>
              </a:rPr>
              <a:t>T</a:t>
            </a:r>
            <a:r>
              <a:rPr lang="en-US" b="0" i="0">
                <a:solidFill>
                  <a:schemeClr val="accent2"/>
                </a:solidFill>
              </a:rPr>
              <a:t>,</a:t>
            </a:r>
            <a:r>
              <a:rPr lang="en-US">
                <a:solidFill>
                  <a:schemeClr val="accent2"/>
                </a:solidFill>
              </a:rPr>
              <a:t>left </a:t>
            </a:r>
            <a:r>
              <a:rPr lang="en-US" b="0" i="0">
                <a:solidFill>
                  <a:schemeClr val="accent2"/>
                </a:solidFill>
              </a:rPr>
              <a:t>(</a:t>
            </a:r>
            <a:r>
              <a:rPr lang="en-US">
                <a:solidFill>
                  <a:schemeClr val="accent2"/>
                </a:solidFill>
              </a:rPr>
              <a:t>v</a:t>
            </a:r>
            <a:r>
              <a:rPr lang="en-US" b="0" i="0">
                <a:solidFill>
                  <a:schemeClr val="accent2"/>
                </a:solidFill>
              </a:rPr>
              <a:t>))</a:t>
            </a:r>
            <a:endParaRPr lang="en-US" b="0" i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i="0">
                <a:solidFill>
                  <a:srgbClr val="000000"/>
                </a:solidFill>
              </a:rPr>
              <a:t>if</a:t>
            </a:r>
            <a:r>
              <a:rPr lang="en-US" b="0" i="0"/>
              <a:t> </a:t>
            </a:r>
            <a:r>
              <a:rPr lang="en-US">
                <a:solidFill>
                  <a:schemeClr val="accent2"/>
                </a:solidFill>
              </a:rPr>
              <a:t>hasRight </a:t>
            </a:r>
            <a:r>
              <a:rPr lang="en-US" b="0" i="0">
                <a:solidFill>
                  <a:schemeClr val="accent2"/>
                </a:solidFill>
              </a:rPr>
              <a:t>(</a:t>
            </a:r>
            <a:r>
              <a:rPr lang="en-US">
                <a:solidFill>
                  <a:schemeClr val="accent2"/>
                </a:solidFill>
              </a:rPr>
              <a:t>v</a:t>
            </a:r>
            <a:r>
              <a:rPr lang="en-US" b="0" i="0">
                <a:solidFill>
                  <a:schemeClr val="accent2"/>
                </a:solidFill>
              </a:rPr>
              <a:t>)</a:t>
            </a:r>
            <a:endParaRPr lang="en-US" b="0" i="0"/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>
                <a:solidFill>
                  <a:schemeClr val="accent2"/>
                </a:solidFill>
              </a:rPr>
              <a:t>binaryPostOrder</a:t>
            </a:r>
            <a:r>
              <a:rPr lang="en-US" b="0" i="0">
                <a:solidFill>
                  <a:schemeClr val="accent2"/>
                </a:solidFill>
              </a:rPr>
              <a:t>(</a:t>
            </a:r>
            <a:r>
              <a:rPr lang="en-US" b="0">
                <a:solidFill>
                  <a:schemeClr val="accent2"/>
                </a:solidFill>
              </a:rPr>
              <a:t>T</a:t>
            </a:r>
            <a:r>
              <a:rPr lang="en-US" b="0" i="0">
                <a:solidFill>
                  <a:schemeClr val="accent2"/>
                </a:solidFill>
              </a:rPr>
              <a:t>,</a:t>
            </a:r>
            <a:r>
              <a:rPr lang="en-US">
                <a:solidFill>
                  <a:schemeClr val="accent2"/>
                </a:solidFill>
              </a:rPr>
              <a:t>right </a:t>
            </a:r>
            <a:r>
              <a:rPr lang="en-US" b="0" i="0">
                <a:solidFill>
                  <a:schemeClr val="accent2"/>
                </a:solidFill>
              </a:rPr>
              <a:t>(</a:t>
            </a:r>
            <a:r>
              <a:rPr lang="en-US">
                <a:solidFill>
                  <a:schemeClr val="accent2"/>
                </a:solidFill>
              </a:rPr>
              <a:t>v</a:t>
            </a:r>
            <a:r>
              <a:rPr lang="en-US" b="0" i="0">
                <a:solidFill>
                  <a:schemeClr val="accent2"/>
                </a:solidFill>
              </a:rPr>
              <a:t>))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>
                <a:solidFill>
                  <a:schemeClr val="accent2"/>
                </a:solidFill>
              </a:rPr>
              <a:t>visit</a:t>
            </a:r>
            <a:r>
              <a:rPr lang="en-US" b="0" i="0">
                <a:solidFill>
                  <a:schemeClr val="accent2"/>
                </a:solidFill>
              </a:rPr>
              <a:t>(</a:t>
            </a:r>
            <a:r>
              <a:rPr lang="en-US">
                <a:solidFill>
                  <a:schemeClr val="accent2"/>
                </a:solidFill>
              </a:rPr>
              <a:t>v</a:t>
            </a:r>
            <a:r>
              <a:rPr lang="en-US" b="0" i="0">
                <a:solidFill>
                  <a:schemeClr val="accent2"/>
                </a:solidFill>
              </a:rPr>
              <a:t>)</a:t>
            </a:r>
          </a:p>
        </p:txBody>
      </p:sp>
      <p:grpSp>
        <p:nvGrpSpPr>
          <p:cNvPr id="54279" name="Group 29"/>
          <p:cNvGrpSpPr>
            <a:grpSpLocks/>
          </p:cNvGrpSpPr>
          <p:nvPr/>
        </p:nvGrpSpPr>
        <p:grpSpPr bwMode="auto">
          <a:xfrm>
            <a:off x="2122488" y="3962400"/>
            <a:ext cx="3429000" cy="2286000"/>
            <a:chOff x="2928" y="2256"/>
            <a:chExt cx="2160" cy="1440"/>
          </a:xfrm>
        </p:grpSpPr>
        <p:sp>
          <p:nvSpPr>
            <p:cNvPr id="54289" name="Oval 30"/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</a:endParaRPr>
            </a:p>
          </p:txBody>
        </p:sp>
        <p:sp>
          <p:nvSpPr>
            <p:cNvPr id="54290" name="Oval 31"/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  <a:sym typeface="Symbol" pitchFamily="18" charset="2"/>
              </a:endParaRPr>
            </a:p>
          </p:txBody>
        </p:sp>
        <p:sp>
          <p:nvSpPr>
            <p:cNvPr id="54291" name="Oval 32"/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</a:endParaRPr>
            </a:p>
          </p:txBody>
        </p:sp>
        <p:sp>
          <p:nvSpPr>
            <p:cNvPr id="54292" name="Oval 33"/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</a:endParaRPr>
            </a:p>
          </p:txBody>
        </p:sp>
        <p:sp>
          <p:nvSpPr>
            <p:cNvPr id="54293" name="Rectangle 34"/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54294" name="Rectangle 35"/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54295" name="Rectangle 36"/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54296" name="Rectangle 37"/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54297" name="Rectangle 38"/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cxnSp>
          <p:nvCxnSpPr>
            <p:cNvPr id="54298" name="AutoShape 39"/>
            <p:cNvCxnSpPr>
              <a:cxnSpLocks noChangeShapeType="1"/>
              <a:stCxn id="54289" idx="3"/>
              <a:endCxn id="54291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299" name="AutoShape 40"/>
            <p:cNvCxnSpPr>
              <a:cxnSpLocks noChangeShapeType="1"/>
              <a:stCxn id="54290" idx="1"/>
              <a:endCxn id="54289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300" name="AutoShape 41"/>
            <p:cNvCxnSpPr>
              <a:cxnSpLocks noChangeShapeType="1"/>
              <a:stCxn id="54297" idx="0"/>
              <a:endCxn id="54290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301" name="AutoShape 42"/>
            <p:cNvCxnSpPr>
              <a:cxnSpLocks noChangeShapeType="1"/>
              <a:stCxn id="54296" idx="0"/>
              <a:endCxn id="54290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302" name="AutoShape 43"/>
            <p:cNvCxnSpPr>
              <a:cxnSpLocks noChangeShapeType="1"/>
              <a:stCxn id="54295" idx="0"/>
              <a:endCxn id="54292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303" name="AutoShape 44"/>
            <p:cNvCxnSpPr>
              <a:cxnSpLocks noChangeShapeType="1"/>
              <a:stCxn id="54294" idx="0"/>
              <a:endCxn id="54292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304" name="AutoShape 45"/>
            <p:cNvCxnSpPr>
              <a:cxnSpLocks noChangeShapeType="1"/>
              <a:stCxn id="54293" idx="0"/>
              <a:endCxn id="54291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305" name="AutoShape 46"/>
            <p:cNvCxnSpPr>
              <a:cxnSpLocks noChangeShapeType="1"/>
              <a:stCxn id="54292" idx="1"/>
              <a:endCxn id="54291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4280" name="Text Box 47"/>
          <p:cNvSpPr txBox="1">
            <a:spLocks noChangeArrowheads="1"/>
          </p:cNvSpPr>
          <p:nvPr/>
        </p:nvSpPr>
        <p:spPr bwMode="auto">
          <a:xfrm>
            <a:off x="2714625" y="54864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2</a:t>
            </a:r>
          </a:p>
        </p:txBody>
      </p:sp>
      <p:sp>
        <p:nvSpPr>
          <p:cNvPr id="54281" name="Text Box 48"/>
          <p:cNvSpPr txBox="1">
            <a:spLocks noChangeArrowheads="1"/>
          </p:cNvSpPr>
          <p:nvPr/>
        </p:nvSpPr>
        <p:spPr bwMode="auto">
          <a:xfrm>
            <a:off x="1905000" y="48387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1</a:t>
            </a:r>
          </a:p>
        </p:txBody>
      </p:sp>
      <p:sp>
        <p:nvSpPr>
          <p:cNvPr id="54282" name="Text Box 49"/>
          <p:cNvSpPr txBox="1">
            <a:spLocks noChangeArrowheads="1"/>
          </p:cNvSpPr>
          <p:nvPr/>
        </p:nvSpPr>
        <p:spPr bwMode="auto">
          <a:xfrm>
            <a:off x="2333625" y="4259263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5</a:t>
            </a:r>
          </a:p>
        </p:txBody>
      </p:sp>
      <p:sp>
        <p:nvSpPr>
          <p:cNvPr id="54283" name="Text Box 50"/>
          <p:cNvSpPr txBox="1">
            <a:spLocks noChangeArrowheads="1"/>
          </p:cNvSpPr>
          <p:nvPr/>
        </p:nvSpPr>
        <p:spPr bwMode="auto">
          <a:xfrm>
            <a:off x="3798888" y="54864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3</a:t>
            </a:r>
          </a:p>
        </p:txBody>
      </p:sp>
      <p:sp>
        <p:nvSpPr>
          <p:cNvPr id="54284" name="Text Box 51"/>
          <p:cNvSpPr txBox="1">
            <a:spLocks noChangeArrowheads="1"/>
          </p:cNvSpPr>
          <p:nvPr/>
        </p:nvSpPr>
        <p:spPr bwMode="auto">
          <a:xfrm>
            <a:off x="3781425" y="37338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9</a:t>
            </a:r>
          </a:p>
        </p:txBody>
      </p:sp>
      <p:sp>
        <p:nvSpPr>
          <p:cNvPr id="54285" name="Text Box 52"/>
          <p:cNvSpPr txBox="1">
            <a:spLocks noChangeArrowheads="1"/>
          </p:cNvSpPr>
          <p:nvPr/>
        </p:nvSpPr>
        <p:spPr bwMode="auto">
          <a:xfrm>
            <a:off x="4256088" y="48387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6</a:t>
            </a:r>
          </a:p>
        </p:txBody>
      </p:sp>
      <p:sp>
        <p:nvSpPr>
          <p:cNvPr id="54286" name="Text Box 53"/>
          <p:cNvSpPr txBox="1">
            <a:spLocks noChangeArrowheads="1"/>
          </p:cNvSpPr>
          <p:nvPr/>
        </p:nvSpPr>
        <p:spPr bwMode="auto">
          <a:xfrm>
            <a:off x="5399088" y="48387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7</a:t>
            </a:r>
          </a:p>
        </p:txBody>
      </p:sp>
      <p:sp>
        <p:nvSpPr>
          <p:cNvPr id="54287" name="Text Box 54"/>
          <p:cNvSpPr txBox="1">
            <a:spLocks noChangeArrowheads="1"/>
          </p:cNvSpPr>
          <p:nvPr/>
        </p:nvSpPr>
        <p:spPr bwMode="auto">
          <a:xfrm>
            <a:off x="4951413" y="4259263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8</a:t>
            </a:r>
          </a:p>
        </p:txBody>
      </p:sp>
      <p:sp>
        <p:nvSpPr>
          <p:cNvPr id="54288" name="Text Box 55"/>
          <p:cNvSpPr txBox="1">
            <a:spLocks noChangeArrowheads="1"/>
          </p:cNvSpPr>
          <p:nvPr/>
        </p:nvSpPr>
        <p:spPr bwMode="auto">
          <a:xfrm>
            <a:off x="3341688" y="48387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769FE1-8060-40DA-8E52-7C9E70B33BA0}" type="slidenum">
              <a:rPr lang="ar-SA"/>
              <a:pPr>
                <a:defRPr/>
              </a:pPr>
              <a:t>51</a:t>
            </a:fld>
            <a:endParaRPr lang="en-US"/>
          </a:p>
        </p:txBody>
      </p:sp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3. Inorder Traversal</a:t>
            </a:r>
          </a:p>
        </p:txBody>
      </p:sp>
      <p:sp>
        <p:nvSpPr>
          <p:cNvPr id="5530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038225" y="1905000"/>
            <a:ext cx="3541713" cy="23558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smtClean="0">
                <a:latin typeface="Times New Roman" pitchFamily="18" charset="0"/>
              </a:rPr>
              <a:t>In an </a:t>
            </a:r>
            <a:r>
              <a:rPr lang="en-US" sz="2000" i="1" smtClean="0">
                <a:latin typeface="Times New Roman" pitchFamily="18" charset="0"/>
              </a:rPr>
              <a:t>inorder</a:t>
            </a:r>
            <a:r>
              <a:rPr lang="en-US" sz="2000" smtClean="0">
                <a:latin typeface="Times New Roman" pitchFamily="18" charset="0"/>
              </a:rPr>
              <a:t> traversal a node is visited </a:t>
            </a:r>
            <a:r>
              <a:rPr lang="en-US" sz="2000" i="1" smtClean="0">
                <a:latin typeface="Times New Roman" pitchFamily="18" charset="0"/>
              </a:rPr>
              <a:t>after</a:t>
            </a:r>
            <a:r>
              <a:rPr lang="en-US" sz="2000" smtClean="0">
                <a:latin typeface="Times New Roman" pitchFamily="18" charset="0"/>
              </a:rPr>
              <a:t> its </a:t>
            </a:r>
            <a:r>
              <a:rPr lang="en-US" sz="2000" i="1" smtClean="0">
                <a:latin typeface="Times New Roman" pitchFamily="18" charset="0"/>
              </a:rPr>
              <a:t>left</a:t>
            </a:r>
            <a:r>
              <a:rPr lang="en-US" sz="2000" smtClean="0">
                <a:latin typeface="Times New Roman" pitchFamily="18" charset="0"/>
              </a:rPr>
              <a:t> subtree and </a:t>
            </a:r>
            <a:r>
              <a:rPr lang="en-US" sz="2000" i="1" smtClean="0">
                <a:latin typeface="Times New Roman" pitchFamily="18" charset="0"/>
              </a:rPr>
              <a:t>before</a:t>
            </a:r>
            <a:r>
              <a:rPr lang="en-US" sz="2000" smtClean="0">
                <a:latin typeface="Times New Roman" pitchFamily="18" charset="0"/>
              </a:rPr>
              <a:t> its </a:t>
            </a:r>
            <a:r>
              <a:rPr lang="en-US" sz="2000" i="1" smtClean="0">
                <a:latin typeface="Times New Roman" pitchFamily="18" charset="0"/>
              </a:rPr>
              <a:t>right</a:t>
            </a:r>
            <a:r>
              <a:rPr lang="en-US" sz="2000" smtClean="0">
                <a:latin typeface="Times New Roman" pitchFamily="18" charset="0"/>
              </a:rPr>
              <a:t> subtree</a:t>
            </a:r>
          </a:p>
        </p:txBody>
      </p:sp>
      <p:sp>
        <p:nvSpPr>
          <p:cNvPr id="55302" name="Text Box 4"/>
          <p:cNvSpPr txBox="1">
            <a:spLocks noChangeArrowheads="1"/>
          </p:cNvSpPr>
          <p:nvPr/>
        </p:nvSpPr>
        <p:spPr bwMode="auto">
          <a:xfrm>
            <a:off x="4648200" y="1600200"/>
            <a:ext cx="4191000" cy="2438400"/>
          </a:xfrm>
          <a:prstGeom prst="rect">
            <a:avLst/>
          </a:prstGeom>
          <a:solidFill>
            <a:schemeClr val="folHlink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i="0">
                <a:solidFill>
                  <a:srgbClr val="000000"/>
                </a:solidFill>
              </a:rPr>
              <a:t>Algorithm</a:t>
            </a:r>
            <a:r>
              <a:rPr lang="en-US" b="0" i="0">
                <a:solidFill>
                  <a:schemeClr val="tx1"/>
                </a:solidFill>
              </a:rPr>
              <a:t> </a:t>
            </a:r>
            <a:r>
              <a:rPr lang="en-US"/>
              <a:t>inOrder</a:t>
            </a:r>
            <a:r>
              <a:rPr lang="en-US" b="0" i="0"/>
              <a:t>(</a:t>
            </a:r>
            <a:r>
              <a:rPr lang="en-US" b="0"/>
              <a:t>T</a:t>
            </a:r>
            <a:r>
              <a:rPr lang="en-US" b="0" i="0"/>
              <a:t>,</a:t>
            </a:r>
            <a:r>
              <a:rPr lang="en-US"/>
              <a:t>v</a:t>
            </a:r>
            <a:r>
              <a:rPr lang="en-US" b="0" i="0"/>
              <a:t>)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i="0">
                <a:solidFill>
                  <a:srgbClr val="000000"/>
                </a:solidFill>
              </a:rPr>
              <a:t>if</a:t>
            </a:r>
            <a:r>
              <a:rPr lang="en-US" b="0" i="0"/>
              <a:t> </a:t>
            </a:r>
            <a:r>
              <a:rPr lang="en-US">
                <a:solidFill>
                  <a:schemeClr val="accent2"/>
                </a:solidFill>
              </a:rPr>
              <a:t>hasLeft </a:t>
            </a:r>
            <a:r>
              <a:rPr lang="en-US" b="0" i="0">
                <a:solidFill>
                  <a:schemeClr val="accent2"/>
                </a:solidFill>
              </a:rPr>
              <a:t>(</a:t>
            </a:r>
            <a:r>
              <a:rPr lang="en-US">
                <a:solidFill>
                  <a:schemeClr val="accent2"/>
                </a:solidFill>
              </a:rPr>
              <a:t>v</a:t>
            </a:r>
            <a:r>
              <a:rPr lang="en-US" b="0" i="0">
                <a:solidFill>
                  <a:schemeClr val="accent2"/>
                </a:solidFill>
              </a:rPr>
              <a:t>) </a:t>
            </a:r>
            <a:r>
              <a:rPr lang="en-US" i="0">
                <a:solidFill>
                  <a:srgbClr val="000000"/>
                </a:solidFill>
              </a:rPr>
              <a:t>then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>
                <a:solidFill>
                  <a:schemeClr val="accent2"/>
                </a:solidFill>
              </a:rPr>
              <a:t>inOrder</a:t>
            </a:r>
            <a:r>
              <a:rPr lang="en-US" b="0" i="0">
                <a:solidFill>
                  <a:schemeClr val="accent2"/>
                </a:solidFill>
              </a:rPr>
              <a:t> (T,</a:t>
            </a:r>
            <a:r>
              <a:rPr lang="en-US">
                <a:solidFill>
                  <a:schemeClr val="accent2"/>
                </a:solidFill>
              </a:rPr>
              <a:t>left </a:t>
            </a:r>
            <a:r>
              <a:rPr lang="en-US" b="0" i="0">
                <a:solidFill>
                  <a:schemeClr val="accent2"/>
                </a:solidFill>
              </a:rPr>
              <a:t>(</a:t>
            </a:r>
            <a:r>
              <a:rPr lang="en-US">
                <a:solidFill>
                  <a:schemeClr val="accent2"/>
                </a:solidFill>
              </a:rPr>
              <a:t>v</a:t>
            </a:r>
            <a:r>
              <a:rPr lang="en-US" b="0" i="0">
                <a:solidFill>
                  <a:schemeClr val="accent2"/>
                </a:solidFill>
              </a:rPr>
              <a:t>))</a:t>
            </a:r>
            <a:endParaRPr lang="en-US" b="0" i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>
                <a:solidFill>
                  <a:schemeClr val="accent2"/>
                </a:solidFill>
              </a:rPr>
              <a:t>visit</a:t>
            </a:r>
            <a:r>
              <a:rPr lang="en-US" b="0" i="0">
                <a:solidFill>
                  <a:schemeClr val="accent2"/>
                </a:solidFill>
              </a:rPr>
              <a:t>(</a:t>
            </a:r>
            <a:r>
              <a:rPr lang="en-US">
                <a:solidFill>
                  <a:schemeClr val="accent2"/>
                </a:solidFill>
              </a:rPr>
              <a:t>v</a:t>
            </a:r>
            <a:r>
              <a:rPr lang="en-US" b="0" i="0">
                <a:solidFill>
                  <a:schemeClr val="accent2"/>
                </a:solidFill>
              </a:rPr>
              <a:t>)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i="0">
                <a:solidFill>
                  <a:srgbClr val="000000"/>
                </a:solidFill>
              </a:rPr>
              <a:t>if</a:t>
            </a:r>
            <a:r>
              <a:rPr lang="en-US" b="0" i="0"/>
              <a:t> </a:t>
            </a:r>
            <a:r>
              <a:rPr lang="en-US">
                <a:solidFill>
                  <a:schemeClr val="accent2"/>
                </a:solidFill>
              </a:rPr>
              <a:t>hasRight </a:t>
            </a:r>
            <a:r>
              <a:rPr lang="en-US" b="0" i="0">
                <a:solidFill>
                  <a:schemeClr val="accent2"/>
                </a:solidFill>
              </a:rPr>
              <a:t>(</a:t>
            </a:r>
            <a:r>
              <a:rPr lang="en-US">
                <a:solidFill>
                  <a:schemeClr val="accent2"/>
                </a:solidFill>
              </a:rPr>
              <a:t>v</a:t>
            </a:r>
            <a:r>
              <a:rPr lang="en-US" b="0" i="0">
                <a:solidFill>
                  <a:schemeClr val="accent2"/>
                </a:solidFill>
              </a:rPr>
              <a:t>)</a:t>
            </a:r>
            <a:endParaRPr lang="en-US" b="0" i="0"/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>
                <a:solidFill>
                  <a:schemeClr val="accent2"/>
                </a:solidFill>
              </a:rPr>
              <a:t>inOrder</a:t>
            </a:r>
            <a:r>
              <a:rPr lang="en-US" b="0" i="0">
                <a:solidFill>
                  <a:schemeClr val="accent2"/>
                </a:solidFill>
              </a:rPr>
              <a:t> (T,</a:t>
            </a:r>
            <a:r>
              <a:rPr lang="en-US">
                <a:solidFill>
                  <a:schemeClr val="accent2"/>
                </a:solidFill>
              </a:rPr>
              <a:t>right </a:t>
            </a:r>
            <a:r>
              <a:rPr lang="en-US" b="0" i="0">
                <a:solidFill>
                  <a:schemeClr val="accent2"/>
                </a:solidFill>
              </a:rPr>
              <a:t>(</a:t>
            </a:r>
            <a:r>
              <a:rPr lang="en-US">
                <a:solidFill>
                  <a:schemeClr val="accent2"/>
                </a:solidFill>
              </a:rPr>
              <a:t>v</a:t>
            </a:r>
            <a:r>
              <a:rPr lang="en-US" b="0" i="0">
                <a:solidFill>
                  <a:schemeClr val="accent2"/>
                </a:solidFill>
              </a:rPr>
              <a:t>))</a:t>
            </a:r>
          </a:p>
        </p:txBody>
      </p:sp>
      <p:grpSp>
        <p:nvGrpSpPr>
          <p:cNvPr id="55303" name="Group 5"/>
          <p:cNvGrpSpPr>
            <a:grpSpLocks/>
          </p:cNvGrpSpPr>
          <p:nvPr/>
        </p:nvGrpSpPr>
        <p:grpSpPr bwMode="auto">
          <a:xfrm>
            <a:off x="2122488" y="3962400"/>
            <a:ext cx="3429000" cy="2286000"/>
            <a:chOff x="2928" y="2256"/>
            <a:chExt cx="2160" cy="1440"/>
          </a:xfrm>
        </p:grpSpPr>
        <p:sp>
          <p:nvSpPr>
            <p:cNvPr id="55313" name="Oval 6"/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</a:endParaRPr>
            </a:p>
          </p:txBody>
        </p:sp>
        <p:sp>
          <p:nvSpPr>
            <p:cNvPr id="55314" name="Oval 7"/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  <a:sym typeface="Symbol" pitchFamily="18" charset="2"/>
              </a:endParaRPr>
            </a:p>
          </p:txBody>
        </p:sp>
        <p:sp>
          <p:nvSpPr>
            <p:cNvPr id="55315" name="Oval 8"/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</a:endParaRPr>
            </a:p>
          </p:txBody>
        </p:sp>
        <p:sp>
          <p:nvSpPr>
            <p:cNvPr id="55316" name="Oval 9"/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Symbol" pitchFamily="18" charset="2"/>
              </a:endParaRPr>
            </a:p>
          </p:txBody>
        </p:sp>
        <p:sp>
          <p:nvSpPr>
            <p:cNvPr id="55317" name="Rectangle 10"/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55318" name="Rectangle 11"/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55319" name="Rectangle 12"/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55320" name="Rectangle 13"/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sp>
          <p:nvSpPr>
            <p:cNvPr id="55321" name="Rectangle 14"/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en-US" b="0" i="0">
                <a:solidFill>
                  <a:schemeClr val="tx1"/>
                </a:solidFill>
                <a:latin typeface="Tahoma" pitchFamily="34" charset="0"/>
              </a:endParaRPr>
            </a:p>
          </p:txBody>
        </p:sp>
        <p:cxnSp>
          <p:nvCxnSpPr>
            <p:cNvPr id="55322" name="AutoShape 15"/>
            <p:cNvCxnSpPr>
              <a:cxnSpLocks noChangeShapeType="1"/>
              <a:stCxn id="55313" idx="3"/>
              <a:endCxn id="55315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23" name="AutoShape 16"/>
            <p:cNvCxnSpPr>
              <a:cxnSpLocks noChangeShapeType="1"/>
              <a:stCxn id="55314" idx="1"/>
              <a:endCxn id="55313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24" name="AutoShape 17"/>
            <p:cNvCxnSpPr>
              <a:cxnSpLocks noChangeShapeType="1"/>
              <a:stCxn id="55321" idx="0"/>
              <a:endCxn id="55314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25" name="AutoShape 18"/>
            <p:cNvCxnSpPr>
              <a:cxnSpLocks noChangeShapeType="1"/>
              <a:stCxn id="55320" idx="0"/>
              <a:endCxn id="55314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26" name="AutoShape 19"/>
            <p:cNvCxnSpPr>
              <a:cxnSpLocks noChangeShapeType="1"/>
              <a:stCxn id="55319" idx="0"/>
              <a:endCxn id="55316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27" name="AutoShape 20"/>
            <p:cNvCxnSpPr>
              <a:cxnSpLocks noChangeShapeType="1"/>
              <a:stCxn id="55318" idx="0"/>
              <a:endCxn id="55316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28" name="AutoShape 21"/>
            <p:cNvCxnSpPr>
              <a:cxnSpLocks noChangeShapeType="1"/>
              <a:stCxn id="55317" idx="0"/>
              <a:endCxn id="55315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329" name="AutoShape 22"/>
            <p:cNvCxnSpPr>
              <a:cxnSpLocks noChangeShapeType="1"/>
              <a:stCxn id="55316" idx="1"/>
              <a:endCxn id="55315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5304" name="Text Box 23"/>
          <p:cNvSpPr txBox="1">
            <a:spLocks noChangeArrowheads="1"/>
          </p:cNvSpPr>
          <p:nvPr/>
        </p:nvSpPr>
        <p:spPr bwMode="auto">
          <a:xfrm>
            <a:off x="2714625" y="54864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3</a:t>
            </a:r>
          </a:p>
        </p:txBody>
      </p:sp>
      <p:sp>
        <p:nvSpPr>
          <p:cNvPr id="55305" name="Text Box 24"/>
          <p:cNvSpPr txBox="1">
            <a:spLocks noChangeArrowheads="1"/>
          </p:cNvSpPr>
          <p:nvPr/>
        </p:nvSpPr>
        <p:spPr bwMode="auto">
          <a:xfrm>
            <a:off x="1905000" y="48387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1</a:t>
            </a:r>
          </a:p>
        </p:txBody>
      </p:sp>
      <p:sp>
        <p:nvSpPr>
          <p:cNvPr id="55306" name="Text Box 25"/>
          <p:cNvSpPr txBox="1">
            <a:spLocks noChangeArrowheads="1"/>
          </p:cNvSpPr>
          <p:nvPr/>
        </p:nvSpPr>
        <p:spPr bwMode="auto">
          <a:xfrm>
            <a:off x="2333625" y="4259263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2</a:t>
            </a:r>
          </a:p>
        </p:txBody>
      </p:sp>
      <p:sp>
        <p:nvSpPr>
          <p:cNvPr id="55307" name="Text Box 26"/>
          <p:cNvSpPr txBox="1">
            <a:spLocks noChangeArrowheads="1"/>
          </p:cNvSpPr>
          <p:nvPr/>
        </p:nvSpPr>
        <p:spPr bwMode="auto">
          <a:xfrm>
            <a:off x="3798888" y="54864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5</a:t>
            </a:r>
          </a:p>
        </p:txBody>
      </p:sp>
      <p:sp>
        <p:nvSpPr>
          <p:cNvPr id="55308" name="Text Box 27"/>
          <p:cNvSpPr txBox="1">
            <a:spLocks noChangeArrowheads="1"/>
          </p:cNvSpPr>
          <p:nvPr/>
        </p:nvSpPr>
        <p:spPr bwMode="auto">
          <a:xfrm>
            <a:off x="3781425" y="3733800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6</a:t>
            </a:r>
          </a:p>
        </p:txBody>
      </p:sp>
      <p:sp>
        <p:nvSpPr>
          <p:cNvPr id="55309" name="Text Box 28"/>
          <p:cNvSpPr txBox="1">
            <a:spLocks noChangeArrowheads="1"/>
          </p:cNvSpPr>
          <p:nvPr/>
        </p:nvSpPr>
        <p:spPr bwMode="auto">
          <a:xfrm>
            <a:off x="4256088" y="48387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7</a:t>
            </a:r>
          </a:p>
        </p:txBody>
      </p:sp>
      <p:sp>
        <p:nvSpPr>
          <p:cNvPr id="55310" name="Text Box 29"/>
          <p:cNvSpPr txBox="1">
            <a:spLocks noChangeArrowheads="1"/>
          </p:cNvSpPr>
          <p:nvPr/>
        </p:nvSpPr>
        <p:spPr bwMode="auto">
          <a:xfrm>
            <a:off x="5399088" y="48387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9</a:t>
            </a:r>
          </a:p>
        </p:txBody>
      </p:sp>
      <p:sp>
        <p:nvSpPr>
          <p:cNvPr id="55311" name="Text Box 30"/>
          <p:cNvSpPr txBox="1">
            <a:spLocks noChangeArrowheads="1"/>
          </p:cNvSpPr>
          <p:nvPr/>
        </p:nvSpPr>
        <p:spPr bwMode="auto">
          <a:xfrm>
            <a:off x="4951413" y="4259263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8</a:t>
            </a:r>
          </a:p>
        </p:txBody>
      </p:sp>
      <p:sp>
        <p:nvSpPr>
          <p:cNvPr id="55312" name="Text Box 31"/>
          <p:cNvSpPr txBox="1">
            <a:spLocks noChangeArrowheads="1"/>
          </p:cNvSpPr>
          <p:nvPr/>
        </p:nvSpPr>
        <p:spPr bwMode="auto">
          <a:xfrm>
            <a:off x="3341688" y="4838700"/>
            <a:ext cx="322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2000" b="0" i="0">
                <a:latin typeface="Tahoma" pitchFamily="34" charset="0"/>
              </a:rPr>
              <a:t>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Trees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4A24F6-42A5-4207-A03F-DDF261836B7F}" type="slidenum">
              <a:rPr lang="ar-SA" smtClean="0"/>
              <a:pPr>
                <a:defRPr/>
              </a:pPr>
              <a:t>52</a:t>
            </a:fld>
            <a:endParaRPr lang="en-US"/>
          </a:p>
        </p:txBody>
      </p:sp>
      <p:pic>
        <p:nvPicPr>
          <p:cNvPr id="5632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0"/>
            <a:ext cx="8458200" cy="6324600"/>
          </a:xfrm>
          <a:noFill/>
          <a:extLst>
            <a:ext uri="{91240B29-F687-4F45-9708-019B960494DF}">
              <a14:hiddenLine xmlns:a14="http://schemas.microsoft.com/office/drawing/2010/main" w="1905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81000"/>
            <a:ext cx="77724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mtClean="0"/>
              <a:t>Expression tree</a:t>
            </a:r>
          </a:p>
        </p:txBody>
      </p:sp>
      <p:sp>
        <p:nvSpPr>
          <p:cNvPr id="573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304800" y="2209800"/>
            <a:ext cx="8077200" cy="1371600"/>
          </a:xfrm>
          <a:noFill/>
        </p:spPr>
        <p:txBody>
          <a:bodyPr lIns="92075" tIns="46038" rIns="92075" bIns="46038"/>
          <a:lstStyle/>
          <a:p>
            <a:pPr marL="628650" indent="-447675" algn="l" eaLnBrk="1" hangingPunct="1"/>
            <a:r>
              <a:rPr lang="en-US" smtClean="0">
                <a:latin typeface="Times New Roman" pitchFamily="18" charset="0"/>
                <a:cs typeface="Tahoma" pitchFamily="34" charset="0"/>
              </a:rPr>
              <a:t>   You can generate a formula of expression called postfix, prefix, infix expressions.</a:t>
            </a:r>
          </a:p>
          <a:p>
            <a:pPr marL="628650" indent="-447675" algn="l" eaLnBrk="1" hangingPunct="1"/>
            <a:endParaRPr lang="en-US" smtClean="0">
              <a:latin typeface="Times New Roman" pitchFamily="18" charset="0"/>
              <a:cs typeface="Tahoma" pitchFamily="34" charset="0"/>
            </a:endParaRPr>
          </a:p>
          <a:p>
            <a:pPr marL="628650" indent="-447675" algn="l" eaLnBrk="1" hangingPunct="1"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i="1" smtClean="0">
                <a:solidFill>
                  <a:schemeClr val="tx2"/>
                </a:solidFill>
                <a:latin typeface="Times New Roman" pitchFamily="18" charset="0"/>
                <a:cs typeface="Tahoma" pitchFamily="34" charset="0"/>
              </a:rPr>
              <a:t>Inorder</a:t>
            </a:r>
            <a:r>
              <a:rPr lang="en-US" smtClean="0">
                <a:latin typeface="Times New Roman" pitchFamily="18" charset="0"/>
                <a:cs typeface="Tahoma" pitchFamily="34" charset="0"/>
              </a:rPr>
              <a:t>: 3 * 7 + 4 ^ 2 		(</a:t>
            </a:r>
            <a:r>
              <a:rPr lang="en-US" i="1" smtClean="0">
                <a:latin typeface="Times New Roman" pitchFamily="18" charset="0"/>
                <a:cs typeface="Tahoma" pitchFamily="34" charset="0"/>
              </a:rPr>
              <a:t>infix</a:t>
            </a:r>
            <a:r>
              <a:rPr lang="en-US" smtClean="0">
                <a:latin typeface="Times New Roman" pitchFamily="18" charset="0"/>
                <a:cs typeface="Tahoma" pitchFamily="34" charset="0"/>
              </a:rPr>
              <a:t> form)</a:t>
            </a:r>
          </a:p>
          <a:p>
            <a:pPr marL="628650" indent="-447675" algn="l" eaLnBrk="1" hangingPunct="1"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i="1" smtClean="0">
                <a:solidFill>
                  <a:schemeClr val="tx2"/>
                </a:solidFill>
                <a:latin typeface="Times New Roman" pitchFamily="18" charset="0"/>
                <a:cs typeface="Tahoma" pitchFamily="34" charset="0"/>
              </a:rPr>
              <a:t>Preorder</a:t>
            </a:r>
            <a:r>
              <a:rPr lang="en-US" smtClean="0">
                <a:latin typeface="Times New Roman" pitchFamily="18" charset="0"/>
                <a:cs typeface="Tahoma" pitchFamily="34" charset="0"/>
              </a:rPr>
              <a:t>: + * 3 7 ^ 4 2		(</a:t>
            </a:r>
            <a:r>
              <a:rPr lang="en-US" i="1" smtClean="0">
                <a:latin typeface="Times New Roman" pitchFamily="18" charset="0"/>
                <a:cs typeface="Tahoma" pitchFamily="34" charset="0"/>
              </a:rPr>
              <a:t>prefix</a:t>
            </a:r>
            <a:r>
              <a:rPr lang="en-US" smtClean="0">
                <a:latin typeface="Times New Roman" pitchFamily="18" charset="0"/>
                <a:cs typeface="Tahoma" pitchFamily="34" charset="0"/>
              </a:rPr>
              <a:t> form)</a:t>
            </a:r>
          </a:p>
          <a:p>
            <a:pPr marL="628650" indent="-447675" algn="l" eaLnBrk="1" hangingPunct="1"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i="1" smtClean="0">
                <a:solidFill>
                  <a:schemeClr val="tx2"/>
                </a:solidFill>
                <a:latin typeface="Times New Roman" pitchFamily="18" charset="0"/>
                <a:cs typeface="Tahoma" pitchFamily="34" charset="0"/>
              </a:rPr>
              <a:t>Postorder</a:t>
            </a:r>
            <a:r>
              <a:rPr lang="en-US" smtClean="0">
                <a:latin typeface="Times New Roman" pitchFamily="18" charset="0"/>
                <a:cs typeface="Tahoma" pitchFamily="34" charset="0"/>
              </a:rPr>
              <a:t>: 3 7 * 4 2 ^ + 	(</a:t>
            </a:r>
            <a:r>
              <a:rPr lang="en-US" i="1" smtClean="0">
                <a:latin typeface="Times New Roman" pitchFamily="18" charset="0"/>
                <a:cs typeface="Tahoma" pitchFamily="34" charset="0"/>
              </a:rPr>
              <a:t>postfix</a:t>
            </a:r>
            <a:r>
              <a:rPr lang="en-US" smtClean="0">
                <a:latin typeface="Times New Roman" pitchFamily="18" charset="0"/>
                <a:cs typeface="Tahoma" pitchFamily="34" charset="0"/>
              </a:rPr>
              <a:t> form)</a:t>
            </a:r>
          </a:p>
          <a:p>
            <a:pPr marL="628650" indent="-447675" algn="l" eaLnBrk="1" hangingPunct="1"/>
            <a:endParaRPr lang="en-US" smtClean="0">
              <a:latin typeface="Times New Roman" pitchFamily="18" charset="0"/>
              <a:cs typeface="Tahoma" pitchFamily="34" charset="0"/>
            </a:endParaRPr>
          </a:p>
        </p:txBody>
      </p:sp>
      <p:grpSp>
        <p:nvGrpSpPr>
          <p:cNvPr id="57348" name="Group 4"/>
          <p:cNvGrpSpPr>
            <a:grpSpLocks/>
          </p:cNvGrpSpPr>
          <p:nvPr/>
        </p:nvGrpSpPr>
        <p:grpSpPr bwMode="auto">
          <a:xfrm>
            <a:off x="5181600" y="457200"/>
            <a:ext cx="3276600" cy="1600200"/>
            <a:chOff x="2928" y="2256"/>
            <a:chExt cx="2160" cy="1440"/>
          </a:xfrm>
        </p:grpSpPr>
        <p:sp>
          <p:nvSpPr>
            <p:cNvPr id="57349" name="Oval 5"/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Symbol" pitchFamily="18" charset="2"/>
                  <a:cs typeface="Tahoma" pitchFamily="34" charset="0"/>
                </a:rPr>
                <a:t>+</a:t>
              </a:r>
              <a:endParaRPr lang="en-US" b="0" i="0">
                <a:solidFill>
                  <a:schemeClr val="tx1"/>
                </a:solidFill>
                <a:cs typeface="Tahoma" pitchFamily="34" charset="0"/>
              </a:endParaRPr>
            </a:p>
          </p:txBody>
        </p:sp>
        <p:sp>
          <p:nvSpPr>
            <p:cNvPr id="57350" name="Oval 6"/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Symbol" pitchFamily="18" charset="2"/>
                  <a:cs typeface="Tahoma" pitchFamily="34" charset="0"/>
                  <a:sym typeface="Symbol" pitchFamily="18" charset="2"/>
                </a:rPr>
                <a:t></a:t>
              </a:r>
              <a:endParaRPr lang="en-US" b="0" i="0">
                <a:solidFill>
                  <a:schemeClr val="tx1"/>
                </a:solidFill>
                <a:cs typeface="Tahoma" pitchFamily="34" charset="0"/>
              </a:endParaRPr>
            </a:p>
          </p:txBody>
        </p:sp>
        <p:sp>
          <p:nvSpPr>
            <p:cNvPr id="57351" name="Oval 7"/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Symbol" pitchFamily="18" charset="2"/>
                  <a:cs typeface="Tahoma" pitchFamily="34" charset="0"/>
                  <a:sym typeface="Symbol" pitchFamily="18" charset="2"/>
                </a:rPr>
                <a:t></a:t>
              </a:r>
              <a:endParaRPr lang="en-US" b="0" i="0">
                <a:solidFill>
                  <a:schemeClr val="tx1"/>
                </a:solidFill>
                <a:cs typeface="Tahoma" pitchFamily="34" charset="0"/>
              </a:endParaRPr>
            </a:p>
          </p:txBody>
        </p:sp>
        <p:sp>
          <p:nvSpPr>
            <p:cNvPr id="57352" name="Oval 8"/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Symbol" pitchFamily="18" charset="2"/>
                  <a:cs typeface="Tahoma" pitchFamily="34" charset="0"/>
                </a:rPr>
                <a:t>-</a:t>
              </a:r>
              <a:endParaRPr lang="en-US" b="0" i="0">
                <a:solidFill>
                  <a:schemeClr val="tx1"/>
                </a:solidFill>
                <a:cs typeface="Tahoma" pitchFamily="34" charset="0"/>
              </a:endParaRPr>
            </a:p>
          </p:txBody>
        </p:sp>
        <p:sp>
          <p:nvSpPr>
            <p:cNvPr id="57353" name="Rectangle 9"/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  <a:cs typeface="Tahoma" pitchFamily="34" charset="0"/>
                </a:rPr>
                <a:t>2</a:t>
              </a:r>
              <a:endParaRPr lang="en-US" b="0" i="0">
                <a:solidFill>
                  <a:schemeClr val="tx1"/>
                </a:solidFill>
                <a:cs typeface="Tahoma" pitchFamily="34" charset="0"/>
              </a:endParaRPr>
            </a:p>
          </p:txBody>
        </p:sp>
        <p:sp>
          <p:nvSpPr>
            <p:cNvPr id="57354" name="Rectangle 10"/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  <a:cs typeface="Tahoma" pitchFamily="34" charset="0"/>
                </a:rPr>
                <a:t>a</a:t>
              </a:r>
              <a:endParaRPr lang="en-US" b="0" i="0">
                <a:solidFill>
                  <a:schemeClr val="tx1"/>
                </a:solidFill>
                <a:cs typeface="Tahoma" pitchFamily="34" charset="0"/>
              </a:endParaRPr>
            </a:p>
          </p:txBody>
        </p:sp>
        <p:sp>
          <p:nvSpPr>
            <p:cNvPr id="57355" name="Rectangle 11"/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  <a:cs typeface="Tahoma" pitchFamily="34" charset="0"/>
                </a:rPr>
                <a:t>1</a:t>
              </a:r>
              <a:endParaRPr lang="en-US" b="0" i="0">
                <a:solidFill>
                  <a:schemeClr val="tx1"/>
                </a:solidFill>
                <a:cs typeface="Tahoma" pitchFamily="34" charset="0"/>
              </a:endParaRPr>
            </a:p>
          </p:txBody>
        </p:sp>
        <p:sp>
          <p:nvSpPr>
            <p:cNvPr id="57356" name="Rectangle 12"/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  <a:cs typeface="Tahoma" pitchFamily="34" charset="0"/>
                </a:rPr>
                <a:t>3</a:t>
              </a:r>
              <a:endParaRPr lang="en-US" b="0" i="0">
                <a:solidFill>
                  <a:schemeClr val="tx1"/>
                </a:solidFill>
                <a:cs typeface="Tahoma" pitchFamily="34" charset="0"/>
              </a:endParaRPr>
            </a:p>
          </p:txBody>
        </p:sp>
        <p:sp>
          <p:nvSpPr>
            <p:cNvPr id="57357" name="Rectangle 13"/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  <a:cs typeface="Tahoma" pitchFamily="34" charset="0"/>
                </a:rPr>
                <a:t>b</a:t>
              </a:r>
              <a:endParaRPr lang="en-US" b="0" i="0">
                <a:solidFill>
                  <a:schemeClr val="tx1"/>
                </a:solidFill>
                <a:cs typeface="Tahoma" pitchFamily="34" charset="0"/>
              </a:endParaRPr>
            </a:p>
          </p:txBody>
        </p:sp>
        <p:cxnSp>
          <p:nvCxnSpPr>
            <p:cNvPr id="57358" name="AutoShape 14"/>
            <p:cNvCxnSpPr>
              <a:cxnSpLocks noChangeShapeType="1"/>
              <a:stCxn id="57349" idx="3"/>
              <a:endCxn id="57351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59" name="AutoShape 15"/>
            <p:cNvCxnSpPr>
              <a:cxnSpLocks noChangeShapeType="1"/>
              <a:stCxn id="57350" idx="1"/>
              <a:endCxn id="57349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60" name="AutoShape 16"/>
            <p:cNvCxnSpPr>
              <a:cxnSpLocks noChangeShapeType="1"/>
              <a:stCxn id="57357" idx="0"/>
              <a:endCxn id="57350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61" name="AutoShape 17"/>
            <p:cNvCxnSpPr>
              <a:cxnSpLocks noChangeShapeType="1"/>
              <a:stCxn id="57356" idx="0"/>
              <a:endCxn id="57350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62" name="AutoShape 18"/>
            <p:cNvCxnSpPr>
              <a:cxnSpLocks noChangeShapeType="1"/>
              <a:stCxn id="57355" idx="0"/>
              <a:endCxn id="57352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63" name="AutoShape 19"/>
            <p:cNvCxnSpPr>
              <a:cxnSpLocks noChangeShapeType="1"/>
              <a:stCxn id="57354" idx="0"/>
              <a:endCxn id="57352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64" name="AutoShape 20"/>
            <p:cNvCxnSpPr>
              <a:cxnSpLocks noChangeShapeType="1"/>
              <a:stCxn id="57353" idx="0"/>
              <a:endCxn id="57351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365" name="AutoShape 21"/>
            <p:cNvCxnSpPr>
              <a:cxnSpLocks noChangeShapeType="1"/>
              <a:stCxn id="57352" idx="1"/>
              <a:endCxn id="57351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Trees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ED572A-5C9A-4534-9355-241CB8FA0E73}" type="slidenum">
              <a:rPr lang="ar-SA" smtClean="0"/>
              <a:pPr>
                <a:defRPr/>
              </a:pPr>
              <a:t>54</a:t>
            </a:fld>
            <a:endParaRPr lang="en-US"/>
          </a:p>
        </p:txBody>
      </p:sp>
      <p:pic>
        <p:nvPicPr>
          <p:cNvPr id="5837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248400"/>
          </a:xfrm>
          <a:noFill/>
          <a:extLst>
            <a:ext uri="{91240B29-F687-4F45-9708-019B960494DF}">
              <a14:hiddenLine xmlns:a14="http://schemas.microsoft.com/office/drawing/2010/main" w="1905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81000"/>
            <a:ext cx="7772400" cy="9144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z="3200" smtClean="0"/>
              <a:t>4. Level-order traversal</a:t>
            </a:r>
          </a:p>
        </p:txBody>
      </p:sp>
      <p:sp>
        <p:nvSpPr>
          <p:cNvPr id="593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304800" y="1295400"/>
            <a:ext cx="8077200" cy="3505200"/>
          </a:xfrm>
          <a:noFill/>
        </p:spPr>
        <p:txBody>
          <a:bodyPr lIns="92075" tIns="46038" rIns="92075" bIns="46038"/>
          <a:lstStyle/>
          <a:p>
            <a:pPr marL="342900" indent="-342900" algn="l" eaLnBrk="1" hangingPunct="1"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ahoma" pitchFamily="34" charset="0"/>
              </a:rPr>
              <a:t>Visit the root, then visit all depth-1 nodes (left to right), then all depth -2 nodes, ... etc.</a:t>
            </a:r>
          </a:p>
          <a:p>
            <a:pPr marL="342900" indent="-342900" algn="l" eaLnBrk="1" hangingPunct="1">
              <a:buFont typeface="Wingdings" pitchFamily="2" charset="2"/>
              <a:buChar char="§"/>
            </a:pPr>
            <a:r>
              <a:rPr lang="en-US" sz="2000" b="1" dirty="0" smtClean="0">
                <a:latin typeface="Times New Roman" pitchFamily="18" charset="0"/>
                <a:cs typeface="Tahoma" pitchFamily="34" charset="0"/>
              </a:rPr>
              <a:t>+ * * 2  - 3  b  a  1 </a:t>
            </a:r>
            <a:endParaRPr lang="en-US" sz="2000" dirty="0" smtClean="0">
              <a:latin typeface="Times New Roman" pitchFamily="18" charset="0"/>
              <a:cs typeface="Tahoma" pitchFamily="34" charset="0"/>
            </a:endParaRPr>
          </a:p>
          <a:p>
            <a:pPr marL="342900" indent="-342900" algn="l" eaLnBrk="1" hangingPunct="1"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ahoma" pitchFamily="34" charset="0"/>
              </a:rPr>
              <a:t>Implementation: not recursive.</a:t>
            </a:r>
          </a:p>
          <a:p>
            <a:pPr marL="342900" indent="-342900" algn="l" eaLnBrk="1" hangingPunct="1"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ahoma" pitchFamily="34" charset="0"/>
              </a:rPr>
              <a:t>Use a </a:t>
            </a:r>
            <a:r>
              <a:rPr lang="en-US" sz="2000" i="1" dirty="0" smtClean="0">
                <a:latin typeface="Times New Roman" pitchFamily="18" charset="0"/>
                <a:cs typeface="Tahoma" pitchFamily="34" charset="0"/>
              </a:rPr>
              <a:t>queue</a:t>
            </a:r>
            <a:r>
              <a:rPr lang="en-US" sz="2000" dirty="0" smtClean="0">
                <a:latin typeface="Times New Roman" pitchFamily="18" charset="0"/>
                <a:cs typeface="Tahoma" pitchFamily="34" charset="0"/>
              </a:rPr>
              <a:t>: which initially contains only the root.</a:t>
            </a:r>
          </a:p>
          <a:p>
            <a:pPr marL="342900" indent="-342900" algn="l" eaLnBrk="1" hangingPunct="1">
              <a:buFont typeface="Wingdings" pitchFamily="2" charset="2"/>
              <a:buChar char="§"/>
            </a:pP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Repeat, </a:t>
            </a:r>
            <a:r>
              <a:rPr lang="en-US" sz="2000" i="1" dirty="0" err="1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dequeue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 a node from the list, </a:t>
            </a:r>
          </a:p>
          <a:p>
            <a:pPr marL="342900" indent="-342900" algn="l" eaLnBrk="1" hangingPunct="1"/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		    visit it,</a:t>
            </a:r>
          </a:p>
          <a:p>
            <a:pPr marL="342900" indent="-342900" algn="l" eaLnBrk="1" hangingPunct="1"/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		    </a:t>
            </a:r>
            <a:r>
              <a:rPr lang="en-US" sz="2000" i="1" dirty="0" err="1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enqueue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 its children (left to right)</a:t>
            </a:r>
          </a:p>
          <a:p>
            <a:pPr marL="342900" indent="-342900" algn="l" eaLnBrk="1" hangingPunct="1"/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	Until </a:t>
            </a:r>
            <a:r>
              <a:rPr lang="en-US" sz="2000" i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queue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 is empty</a:t>
            </a:r>
          </a:p>
        </p:txBody>
      </p:sp>
      <p:grpSp>
        <p:nvGrpSpPr>
          <p:cNvPr id="59396" name="Group 4"/>
          <p:cNvGrpSpPr>
            <a:grpSpLocks/>
          </p:cNvGrpSpPr>
          <p:nvPr/>
        </p:nvGrpSpPr>
        <p:grpSpPr bwMode="auto">
          <a:xfrm>
            <a:off x="4648200" y="4038600"/>
            <a:ext cx="3886200" cy="2209800"/>
            <a:chOff x="2928" y="2256"/>
            <a:chExt cx="2160" cy="1440"/>
          </a:xfrm>
        </p:grpSpPr>
        <p:sp>
          <p:nvSpPr>
            <p:cNvPr id="59397" name="Oval 5"/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r>
                <a:rPr lang="en-US" b="0" i="0" dirty="0">
                  <a:solidFill>
                    <a:schemeClr val="tx1"/>
                  </a:solidFill>
                  <a:latin typeface="Symbol" pitchFamily="18" charset="2"/>
                  <a:cs typeface="Tahoma" pitchFamily="34" charset="0"/>
                </a:rPr>
                <a:t>+</a:t>
              </a:r>
              <a:endParaRPr lang="en-US" b="0" i="0" dirty="0">
                <a:solidFill>
                  <a:schemeClr val="tx1"/>
                </a:solidFill>
                <a:cs typeface="Tahoma" pitchFamily="34" charset="0"/>
              </a:endParaRPr>
            </a:p>
          </p:txBody>
        </p:sp>
        <p:sp>
          <p:nvSpPr>
            <p:cNvPr id="59398" name="Oval 6"/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r>
                <a:rPr lang="en-US" b="0" i="0" dirty="0">
                  <a:solidFill>
                    <a:schemeClr val="tx1"/>
                  </a:solidFill>
                  <a:latin typeface="Symbol" pitchFamily="18" charset="2"/>
                  <a:cs typeface="Tahoma" pitchFamily="34" charset="0"/>
                  <a:sym typeface="Symbol" pitchFamily="18" charset="2"/>
                </a:rPr>
                <a:t></a:t>
              </a:r>
              <a:endParaRPr lang="en-US" b="0" i="0" dirty="0">
                <a:solidFill>
                  <a:schemeClr val="tx1"/>
                </a:solidFill>
                <a:cs typeface="Tahoma" pitchFamily="34" charset="0"/>
              </a:endParaRPr>
            </a:p>
          </p:txBody>
        </p:sp>
        <p:sp>
          <p:nvSpPr>
            <p:cNvPr id="59399" name="Oval 7"/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Symbol" pitchFamily="18" charset="2"/>
                  <a:cs typeface="Tahoma" pitchFamily="34" charset="0"/>
                  <a:sym typeface="Symbol" pitchFamily="18" charset="2"/>
                </a:rPr>
                <a:t></a:t>
              </a:r>
              <a:endParaRPr lang="en-US" b="0" i="0">
                <a:solidFill>
                  <a:schemeClr val="tx1"/>
                </a:solidFill>
                <a:cs typeface="Tahoma" pitchFamily="34" charset="0"/>
              </a:endParaRPr>
            </a:p>
          </p:txBody>
        </p:sp>
        <p:sp>
          <p:nvSpPr>
            <p:cNvPr id="59400" name="Oval 8"/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Symbol" pitchFamily="18" charset="2"/>
                  <a:cs typeface="Tahoma" pitchFamily="34" charset="0"/>
                </a:rPr>
                <a:t>-</a:t>
              </a:r>
              <a:endParaRPr lang="en-US" b="0" i="0">
                <a:solidFill>
                  <a:schemeClr val="tx1"/>
                </a:solidFill>
                <a:cs typeface="Tahoma" pitchFamily="34" charset="0"/>
              </a:endParaRPr>
            </a:p>
          </p:txBody>
        </p:sp>
        <p:sp>
          <p:nvSpPr>
            <p:cNvPr id="59401" name="Rectangle 9"/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  <a:cs typeface="Tahoma" pitchFamily="34" charset="0"/>
                </a:rPr>
                <a:t>2</a:t>
              </a:r>
              <a:endParaRPr lang="en-US" b="0" i="0">
                <a:solidFill>
                  <a:schemeClr val="tx1"/>
                </a:solidFill>
                <a:cs typeface="Tahoma" pitchFamily="34" charset="0"/>
              </a:endParaRPr>
            </a:p>
          </p:txBody>
        </p:sp>
        <p:sp>
          <p:nvSpPr>
            <p:cNvPr id="59402" name="Rectangle 10"/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  <a:cs typeface="Tahoma" pitchFamily="34" charset="0"/>
                </a:rPr>
                <a:t>a</a:t>
              </a:r>
              <a:endParaRPr lang="en-US" b="0" i="0">
                <a:solidFill>
                  <a:schemeClr val="tx1"/>
                </a:solidFill>
                <a:cs typeface="Tahoma" pitchFamily="34" charset="0"/>
              </a:endParaRPr>
            </a:p>
          </p:txBody>
        </p:sp>
        <p:sp>
          <p:nvSpPr>
            <p:cNvPr id="59403" name="Rectangle 11"/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  <a:cs typeface="Tahoma" pitchFamily="34" charset="0"/>
                </a:rPr>
                <a:t>1</a:t>
              </a:r>
              <a:endParaRPr lang="en-US" b="0" i="0">
                <a:solidFill>
                  <a:schemeClr val="tx1"/>
                </a:solidFill>
                <a:cs typeface="Tahoma" pitchFamily="34" charset="0"/>
              </a:endParaRPr>
            </a:p>
          </p:txBody>
        </p:sp>
        <p:sp>
          <p:nvSpPr>
            <p:cNvPr id="59404" name="Rectangle 12"/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  <a:cs typeface="Tahoma" pitchFamily="34" charset="0"/>
                </a:rPr>
                <a:t>3</a:t>
              </a:r>
              <a:endParaRPr lang="en-US" b="0" i="0">
                <a:solidFill>
                  <a:schemeClr val="tx1"/>
                </a:solidFill>
                <a:cs typeface="Tahoma" pitchFamily="34" charset="0"/>
              </a:endParaRPr>
            </a:p>
          </p:txBody>
        </p:sp>
        <p:sp>
          <p:nvSpPr>
            <p:cNvPr id="59405" name="Rectangle 13"/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  <a:cs typeface="Tahoma" pitchFamily="34" charset="0"/>
                </a:rPr>
                <a:t>b</a:t>
              </a:r>
              <a:endParaRPr lang="en-US" b="0" i="0">
                <a:solidFill>
                  <a:schemeClr val="tx1"/>
                </a:solidFill>
                <a:cs typeface="Tahoma" pitchFamily="34" charset="0"/>
              </a:endParaRPr>
            </a:p>
          </p:txBody>
        </p:sp>
        <p:cxnSp>
          <p:nvCxnSpPr>
            <p:cNvPr id="59406" name="AutoShape 14"/>
            <p:cNvCxnSpPr>
              <a:cxnSpLocks noChangeShapeType="1"/>
              <a:stCxn id="59397" idx="3"/>
              <a:endCxn id="59399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407" name="AutoShape 15"/>
            <p:cNvCxnSpPr>
              <a:cxnSpLocks noChangeShapeType="1"/>
              <a:stCxn id="59398" idx="1"/>
              <a:endCxn id="59397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408" name="AutoShape 16"/>
            <p:cNvCxnSpPr>
              <a:cxnSpLocks noChangeShapeType="1"/>
              <a:stCxn id="59405" idx="0"/>
              <a:endCxn id="59398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409" name="AutoShape 17"/>
            <p:cNvCxnSpPr>
              <a:cxnSpLocks noChangeShapeType="1"/>
              <a:stCxn id="59404" idx="0"/>
              <a:endCxn id="59398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410" name="AutoShape 18"/>
            <p:cNvCxnSpPr>
              <a:cxnSpLocks noChangeShapeType="1"/>
              <a:stCxn id="59403" idx="0"/>
              <a:endCxn id="59400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411" name="AutoShape 19"/>
            <p:cNvCxnSpPr>
              <a:cxnSpLocks noChangeShapeType="1"/>
              <a:stCxn id="59402" idx="0"/>
              <a:endCxn id="59400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412" name="AutoShape 20"/>
            <p:cNvCxnSpPr>
              <a:cxnSpLocks noChangeShapeType="1"/>
              <a:stCxn id="59401" idx="0"/>
              <a:endCxn id="59399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413" name="AutoShape 21"/>
            <p:cNvCxnSpPr>
              <a:cxnSpLocks noChangeShapeType="1"/>
              <a:stCxn id="59400" idx="1"/>
              <a:endCxn id="59399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Euler Tour Traversal</a:t>
            </a:r>
          </a:p>
        </p:txBody>
      </p:sp>
      <p:sp>
        <p:nvSpPr>
          <p:cNvPr id="60419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609600" y="1676400"/>
            <a:ext cx="8001000" cy="4343400"/>
          </a:xfrm>
        </p:spPr>
        <p:txBody>
          <a:bodyPr/>
          <a:lstStyle/>
          <a:p>
            <a:r>
              <a:rPr lang="en-US" smtClean="0"/>
              <a:t> edges in a tree are bi-directional.</a:t>
            </a:r>
          </a:p>
          <a:p>
            <a:r>
              <a:rPr lang="en-US" smtClean="0"/>
              <a:t> the Euler tour is a path that begins at the root and ends at the root.</a:t>
            </a:r>
          </a:p>
          <a:p>
            <a:r>
              <a:rPr lang="en-US" smtClean="0"/>
              <a:t> each edge is traversed exactly twice – once to enter the subtree and once to exit the subtree.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Trees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97FD9F-790C-451D-A488-6CAF206A5193}" type="slidenum">
              <a:rPr lang="ar-SA" smtClean="0"/>
              <a:pPr>
                <a:defRPr/>
              </a:pPr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: An Euler tour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Trees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0D6B55-3F79-42DA-B728-FD6EA7C4A90B}" type="slidenum">
              <a:rPr lang="ar-SA" smtClean="0"/>
              <a:pPr>
                <a:defRPr/>
              </a:pPr>
              <a:t>57</a:t>
            </a:fld>
            <a:endParaRPr lang="en-US"/>
          </a:p>
        </p:txBody>
      </p:sp>
      <p:pic>
        <p:nvPicPr>
          <p:cNvPr id="6144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752600"/>
            <a:ext cx="8153400" cy="4419600"/>
          </a:xfrm>
          <a:noFill/>
          <a:extLst>
            <a:ext uri="{91240B29-F687-4F45-9708-019B960494DF}">
              <a14:hiddenLine xmlns:a14="http://schemas.microsoft.com/office/drawing/2010/main" w="19050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076608-12DF-4391-B506-79BB0C4E803F}" type="slidenum">
              <a:rPr lang="ar-SA"/>
              <a:pPr>
                <a:defRPr/>
              </a:pPr>
              <a:t>58</a:t>
            </a:fld>
            <a:endParaRPr lang="en-US"/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mtClean="0"/>
              <a:t>Euler Tour Traversal of a binary tree</a:t>
            </a:r>
          </a:p>
        </p:txBody>
      </p:sp>
      <p:sp>
        <p:nvSpPr>
          <p:cNvPr id="6246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447800"/>
            <a:ext cx="7486650" cy="20145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sz="1600" smtClean="0"/>
          </a:p>
          <a:p>
            <a:pPr eaLnBrk="1" hangingPunct="1">
              <a:lnSpc>
                <a:spcPct val="80000"/>
              </a:lnSpc>
            </a:pPr>
            <a:r>
              <a:rPr lang="en-US" sz="1600" smtClean="0"/>
              <a:t>Visiting the node more than one time.</a:t>
            </a:r>
          </a:p>
          <a:p>
            <a:pPr eaLnBrk="1" hangingPunct="1">
              <a:lnSpc>
                <a:spcPct val="80000"/>
              </a:lnSpc>
            </a:pPr>
            <a:r>
              <a:rPr lang="en-US" sz="1600" smtClean="0"/>
              <a:t>Generic traversal of a binary tree</a:t>
            </a:r>
          </a:p>
          <a:p>
            <a:pPr eaLnBrk="1" hangingPunct="1">
              <a:lnSpc>
                <a:spcPct val="80000"/>
              </a:lnSpc>
            </a:pPr>
            <a:r>
              <a:rPr lang="en-US" sz="1600" smtClean="0"/>
              <a:t>Walk around the tree and visit each node v of T three times: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smtClean="0"/>
              <a:t>on the left (before the Euler tour of v’s left subtree)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smtClean="0"/>
              <a:t>from below (between the Euler tours of v’s two subtrees)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smtClean="0"/>
              <a:t>on the right (after the Euler tour of v’s right subtree)</a:t>
            </a:r>
          </a:p>
        </p:txBody>
      </p:sp>
      <p:sp>
        <p:nvSpPr>
          <p:cNvPr id="62470" name="Oval 5"/>
          <p:cNvSpPr>
            <a:spLocks noChangeArrowheads="1"/>
          </p:cNvSpPr>
          <p:nvPr/>
        </p:nvSpPr>
        <p:spPr bwMode="auto">
          <a:xfrm>
            <a:off x="5580063" y="3551238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pPr algn="ctr" eaLnBrk="1" hangingPunct="1"/>
            <a:r>
              <a:rPr lang="en-US" b="0" i="0">
                <a:solidFill>
                  <a:schemeClr val="tx1"/>
                </a:solidFill>
                <a:latin typeface="Symbol" pitchFamily="18" charset="2"/>
              </a:rPr>
              <a:t>+</a:t>
            </a:r>
          </a:p>
        </p:txBody>
      </p:sp>
      <p:sp>
        <p:nvSpPr>
          <p:cNvPr id="62471" name="Oval 6"/>
          <p:cNvSpPr>
            <a:spLocks noChangeArrowheads="1"/>
          </p:cNvSpPr>
          <p:nvPr/>
        </p:nvSpPr>
        <p:spPr bwMode="auto">
          <a:xfrm>
            <a:off x="6665913" y="4160838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pPr algn="ctr" eaLnBrk="1" hangingPunct="1"/>
            <a:r>
              <a:rPr lang="en-US" b="0" i="0">
                <a:solidFill>
                  <a:schemeClr val="tx1"/>
                </a:solidFill>
                <a:latin typeface="Symbol" pitchFamily="18" charset="2"/>
                <a:sym typeface="Symbol" pitchFamily="18" charset="2"/>
              </a:rPr>
              <a:t></a:t>
            </a:r>
          </a:p>
        </p:txBody>
      </p:sp>
      <p:sp>
        <p:nvSpPr>
          <p:cNvPr id="62472" name="Oval 8"/>
          <p:cNvSpPr>
            <a:spLocks noChangeArrowheads="1"/>
          </p:cNvSpPr>
          <p:nvPr/>
        </p:nvSpPr>
        <p:spPr bwMode="auto">
          <a:xfrm>
            <a:off x="4494213" y="4770438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pPr algn="ctr" eaLnBrk="1" hangingPunct="1"/>
            <a:r>
              <a:rPr lang="en-US" b="0" i="0">
                <a:solidFill>
                  <a:schemeClr val="tx1"/>
                </a:solidFill>
                <a:latin typeface="Symbol" pitchFamily="18" charset="2"/>
              </a:rPr>
              <a:t>-</a:t>
            </a:r>
          </a:p>
        </p:txBody>
      </p:sp>
      <p:sp>
        <p:nvSpPr>
          <p:cNvPr id="62473" name="Rectangle 13"/>
          <p:cNvSpPr>
            <a:spLocks noChangeArrowheads="1"/>
          </p:cNvSpPr>
          <p:nvPr/>
        </p:nvSpPr>
        <p:spPr bwMode="auto">
          <a:xfrm>
            <a:off x="7208838" y="4770438"/>
            <a:ext cx="381000" cy="38100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2</a:t>
            </a:r>
          </a:p>
        </p:txBody>
      </p:sp>
      <p:cxnSp>
        <p:nvCxnSpPr>
          <p:cNvPr id="62474" name="AutoShape 15"/>
          <p:cNvCxnSpPr>
            <a:cxnSpLocks noChangeShapeType="1"/>
            <a:stCxn id="62471" idx="1"/>
            <a:endCxn id="62470" idx="5"/>
          </p:cNvCxnSpPr>
          <p:nvPr/>
        </p:nvCxnSpPr>
        <p:spPr bwMode="auto">
          <a:xfrm flipH="1" flipV="1">
            <a:off x="5905500" y="3886200"/>
            <a:ext cx="815975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475" name="AutoShape 16"/>
          <p:cNvCxnSpPr>
            <a:cxnSpLocks noChangeShapeType="1"/>
            <a:stCxn id="62473" idx="0"/>
            <a:endCxn id="62471" idx="5"/>
          </p:cNvCxnSpPr>
          <p:nvPr/>
        </p:nvCxnSpPr>
        <p:spPr bwMode="auto">
          <a:xfrm flipH="1" flipV="1">
            <a:off x="6991350" y="4495800"/>
            <a:ext cx="407988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476" name="AutoShape 17"/>
          <p:cNvCxnSpPr>
            <a:cxnSpLocks noChangeShapeType="1"/>
            <a:stCxn id="62490" idx="0"/>
            <a:endCxn id="62471" idx="3"/>
          </p:cNvCxnSpPr>
          <p:nvPr/>
        </p:nvCxnSpPr>
        <p:spPr bwMode="auto">
          <a:xfrm flipV="1">
            <a:off x="6313488" y="4495800"/>
            <a:ext cx="407987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477" name="AutoShape 18"/>
          <p:cNvCxnSpPr>
            <a:cxnSpLocks noChangeShapeType="1"/>
            <a:stCxn id="62489" idx="0"/>
            <a:endCxn id="62472" idx="5"/>
          </p:cNvCxnSpPr>
          <p:nvPr/>
        </p:nvCxnSpPr>
        <p:spPr bwMode="auto">
          <a:xfrm flipH="1" flipV="1">
            <a:off x="4819650" y="5105400"/>
            <a:ext cx="407988" cy="341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478" name="AutoShape 19"/>
          <p:cNvCxnSpPr>
            <a:cxnSpLocks noChangeShapeType="1"/>
            <a:stCxn id="62488" idx="0"/>
            <a:endCxn id="62472" idx="3"/>
          </p:cNvCxnSpPr>
          <p:nvPr/>
        </p:nvCxnSpPr>
        <p:spPr bwMode="auto">
          <a:xfrm flipV="1">
            <a:off x="4141788" y="5105400"/>
            <a:ext cx="407987" cy="3413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2479" name="Group 26"/>
          <p:cNvGrpSpPr>
            <a:grpSpLocks/>
          </p:cNvGrpSpPr>
          <p:nvPr/>
        </p:nvGrpSpPr>
        <p:grpSpPr bwMode="auto">
          <a:xfrm>
            <a:off x="2600325" y="3322638"/>
            <a:ext cx="5246688" cy="2790825"/>
            <a:chOff x="2600325" y="3322638"/>
            <a:chExt cx="5246688" cy="2790825"/>
          </a:xfrm>
        </p:grpSpPr>
        <p:sp>
          <p:nvSpPr>
            <p:cNvPr id="62487" name="Rectangle 9"/>
            <p:cNvSpPr>
              <a:spLocks noChangeArrowheads="1"/>
            </p:cNvSpPr>
            <p:nvPr/>
          </p:nvSpPr>
          <p:spPr bwMode="auto">
            <a:xfrm>
              <a:off x="2865438" y="4770438"/>
              <a:ext cx="381000" cy="38100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</a:rPr>
                <a:t>2</a:t>
              </a:r>
            </a:p>
          </p:txBody>
        </p:sp>
        <p:sp>
          <p:nvSpPr>
            <p:cNvPr id="62488" name="Rectangle 10"/>
            <p:cNvSpPr>
              <a:spLocks noChangeArrowheads="1"/>
            </p:cNvSpPr>
            <p:nvPr/>
          </p:nvSpPr>
          <p:spPr bwMode="auto">
            <a:xfrm>
              <a:off x="3951288" y="5456238"/>
              <a:ext cx="381000" cy="38100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</a:rPr>
                <a:t>5</a:t>
              </a:r>
            </a:p>
          </p:txBody>
        </p:sp>
        <p:sp>
          <p:nvSpPr>
            <p:cNvPr id="62489" name="Rectangle 11"/>
            <p:cNvSpPr>
              <a:spLocks noChangeArrowheads="1"/>
            </p:cNvSpPr>
            <p:nvPr/>
          </p:nvSpPr>
          <p:spPr bwMode="auto">
            <a:xfrm>
              <a:off x="5037138" y="5456238"/>
              <a:ext cx="381000" cy="38100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</a:rPr>
                <a:t>1</a:t>
              </a:r>
            </a:p>
          </p:txBody>
        </p:sp>
        <p:sp>
          <p:nvSpPr>
            <p:cNvPr id="62490" name="Rectangle 12"/>
            <p:cNvSpPr>
              <a:spLocks noChangeArrowheads="1"/>
            </p:cNvSpPr>
            <p:nvPr/>
          </p:nvSpPr>
          <p:spPr bwMode="auto">
            <a:xfrm>
              <a:off x="6122988" y="4770438"/>
              <a:ext cx="381000" cy="38100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</a:rPr>
                <a:t>3</a:t>
              </a:r>
            </a:p>
          </p:txBody>
        </p:sp>
        <p:sp>
          <p:nvSpPr>
            <p:cNvPr id="62491" name="Freeform 23"/>
            <p:cNvSpPr>
              <a:spLocks/>
            </p:cNvSpPr>
            <p:nvPr/>
          </p:nvSpPr>
          <p:spPr bwMode="auto">
            <a:xfrm>
              <a:off x="2600325" y="3322638"/>
              <a:ext cx="5246688" cy="2790825"/>
            </a:xfrm>
            <a:custGeom>
              <a:avLst/>
              <a:gdLst>
                <a:gd name="T0" fmla="*/ 2147483647 w 3305"/>
                <a:gd name="T1" fmla="*/ 2147483647 h 1758"/>
                <a:gd name="T2" fmla="*/ 2147483647 w 3305"/>
                <a:gd name="T3" fmla="*/ 2147483647 h 1758"/>
                <a:gd name="T4" fmla="*/ 2147483647 w 3305"/>
                <a:gd name="T5" fmla="*/ 2147483647 h 1758"/>
                <a:gd name="T6" fmla="*/ 2147483647 w 3305"/>
                <a:gd name="T7" fmla="*/ 2147483647 h 1758"/>
                <a:gd name="T8" fmla="*/ 2147483647 w 3305"/>
                <a:gd name="T9" fmla="*/ 2147483647 h 1758"/>
                <a:gd name="T10" fmla="*/ 2147483647 w 3305"/>
                <a:gd name="T11" fmla="*/ 2147483647 h 1758"/>
                <a:gd name="T12" fmla="*/ 2147483647 w 3305"/>
                <a:gd name="T13" fmla="*/ 2147483647 h 1758"/>
                <a:gd name="T14" fmla="*/ 2147483647 w 3305"/>
                <a:gd name="T15" fmla="*/ 2147483647 h 1758"/>
                <a:gd name="T16" fmla="*/ 2147483647 w 3305"/>
                <a:gd name="T17" fmla="*/ 2147483647 h 1758"/>
                <a:gd name="T18" fmla="*/ 2147483647 w 3305"/>
                <a:gd name="T19" fmla="*/ 2147483647 h 1758"/>
                <a:gd name="T20" fmla="*/ 2147483647 w 3305"/>
                <a:gd name="T21" fmla="*/ 2147483647 h 1758"/>
                <a:gd name="T22" fmla="*/ 2147483647 w 3305"/>
                <a:gd name="T23" fmla="*/ 2147483647 h 1758"/>
                <a:gd name="T24" fmla="*/ 2147483647 w 3305"/>
                <a:gd name="T25" fmla="*/ 2147483647 h 1758"/>
                <a:gd name="T26" fmla="*/ 2147483647 w 3305"/>
                <a:gd name="T27" fmla="*/ 2147483647 h 1758"/>
                <a:gd name="T28" fmla="*/ 2147483647 w 3305"/>
                <a:gd name="T29" fmla="*/ 2147483647 h 1758"/>
                <a:gd name="T30" fmla="*/ 2147483647 w 3305"/>
                <a:gd name="T31" fmla="*/ 2147483647 h 1758"/>
                <a:gd name="T32" fmla="*/ 2147483647 w 3305"/>
                <a:gd name="T33" fmla="*/ 2147483647 h 1758"/>
                <a:gd name="T34" fmla="*/ 2147483647 w 3305"/>
                <a:gd name="T35" fmla="*/ 2147483647 h 1758"/>
                <a:gd name="T36" fmla="*/ 2147483647 w 3305"/>
                <a:gd name="T37" fmla="*/ 2147483647 h 1758"/>
                <a:gd name="T38" fmla="*/ 2147483647 w 3305"/>
                <a:gd name="T39" fmla="*/ 2147483647 h 1758"/>
                <a:gd name="T40" fmla="*/ 2147483647 w 3305"/>
                <a:gd name="T41" fmla="*/ 2147483647 h 1758"/>
                <a:gd name="T42" fmla="*/ 2147483647 w 3305"/>
                <a:gd name="T43" fmla="*/ 2147483647 h 1758"/>
                <a:gd name="T44" fmla="*/ 2147483647 w 3305"/>
                <a:gd name="T45" fmla="*/ 2147483647 h 1758"/>
                <a:gd name="T46" fmla="*/ 2147483647 w 3305"/>
                <a:gd name="T47" fmla="*/ 2147483647 h 1758"/>
                <a:gd name="T48" fmla="*/ 2147483647 w 3305"/>
                <a:gd name="T49" fmla="*/ 2147483647 h 1758"/>
                <a:gd name="T50" fmla="*/ 2147483647 w 3305"/>
                <a:gd name="T51" fmla="*/ 2147483647 h 1758"/>
                <a:gd name="T52" fmla="*/ 2147483647 w 3305"/>
                <a:gd name="T53" fmla="*/ 2147483647 h 1758"/>
                <a:gd name="T54" fmla="*/ 2147483647 w 3305"/>
                <a:gd name="T55" fmla="*/ 2147483647 h 1758"/>
                <a:gd name="T56" fmla="*/ 2147483647 w 3305"/>
                <a:gd name="T57" fmla="*/ 2147483647 h 1758"/>
                <a:gd name="T58" fmla="*/ 2147483647 w 3305"/>
                <a:gd name="T59" fmla="*/ 2147483647 h 1758"/>
                <a:gd name="T60" fmla="*/ 2147483647 w 3305"/>
                <a:gd name="T61" fmla="*/ 2147483647 h 1758"/>
                <a:gd name="T62" fmla="*/ 2147483647 w 3305"/>
                <a:gd name="T63" fmla="*/ 2147483647 h 1758"/>
                <a:gd name="T64" fmla="*/ 2147483647 w 3305"/>
                <a:gd name="T65" fmla="*/ 2147483647 h 1758"/>
                <a:gd name="T66" fmla="*/ 2147483647 w 3305"/>
                <a:gd name="T67" fmla="*/ 2147483647 h 1758"/>
                <a:gd name="T68" fmla="*/ 2147483647 w 3305"/>
                <a:gd name="T69" fmla="*/ 0 h 175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305"/>
                <a:gd name="T106" fmla="*/ 0 h 1758"/>
                <a:gd name="T107" fmla="*/ 3305 w 3305"/>
                <a:gd name="T108" fmla="*/ 1758 h 175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305" h="1758">
                  <a:moveTo>
                    <a:pt x="1751" y="48"/>
                  </a:moveTo>
                  <a:cubicBezTo>
                    <a:pt x="1755" y="81"/>
                    <a:pt x="1903" y="194"/>
                    <a:pt x="1775" y="246"/>
                  </a:cubicBezTo>
                  <a:cubicBezTo>
                    <a:pt x="1647" y="298"/>
                    <a:pt x="1218" y="299"/>
                    <a:pt x="983" y="360"/>
                  </a:cubicBezTo>
                  <a:cubicBezTo>
                    <a:pt x="748" y="421"/>
                    <a:pt x="525" y="496"/>
                    <a:pt x="365" y="612"/>
                  </a:cubicBezTo>
                  <a:cubicBezTo>
                    <a:pt x="205" y="728"/>
                    <a:pt x="46" y="945"/>
                    <a:pt x="23" y="1056"/>
                  </a:cubicBezTo>
                  <a:cubicBezTo>
                    <a:pt x="0" y="1167"/>
                    <a:pt x="139" y="1272"/>
                    <a:pt x="227" y="1278"/>
                  </a:cubicBezTo>
                  <a:cubicBezTo>
                    <a:pt x="315" y="1284"/>
                    <a:pt x="479" y="1165"/>
                    <a:pt x="551" y="1092"/>
                  </a:cubicBezTo>
                  <a:cubicBezTo>
                    <a:pt x="623" y="1019"/>
                    <a:pt x="566" y="846"/>
                    <a:pt x="659" y="840"/>
                  </a:cubicBezTo>
                  <a:cubicBezTo>
                    <a:pt x="752" y="834"/>
                    <a:pt x="1085" y="989"/>
                    <a:pt x="1109" y="1056"/>
                  </a:cubicBezTo>
                  <a:cubicBezTo>
                    <a:pt x="1133" y="1123"/>
                    <a:pt x="873" y="1171"/>
                    <a:pt x="803" y="1242"/>
                  </a:cubicBezTo>
                  <a:cubicBezTo>
                    <a:pt x="733" y="1313"/>
                    <a:pt x="661" y="1408"/>
                    <a:pt x="689" y="1482"/>
                  </a:cubicBezTo>
                  <a:cubicBezTo>
                    <a:pt x="717" y="1556"/>
                    <a:pt x="888" y="1673"/>
                    <a:pt x="971" y="1686"/>
                  </a:cubicBezTo>
                  <a:cubicBezTo>
                    <a:pt x="1054" y="1699"/>
                    <a:pt x="1129" y="1633"/>
                    <a:pt x="1187" y="1560"/>
                  </a:cubicBezTo>
                  <a:cubicBezTo>
                    <a:pt x="1245" y="1487"/>
                    <a:pt x="1269" y="1238"/>
                    <a:pt x="1319" y="1248"/>
                  </a:cubicBezTo>
                  <a:cubicBezTo>
                    <a:pt x="1369" y="1258"/>
                    <a:pt x="1416" y="1543"/>
                    <a:pt x="1487" y="1620"/>
                  </a:cubicBezTo>
                  <a:cubicBezTo>
                    <a:pt x="1558" y="1697"/>
                    <a:pt x="1672" y="1758"/>
                    <a:pt x="1745" y="1710"/>
                  </a:cubicBezTo>
                  <a:cubicBezTo>
                    <a:pt x="1818" y="1662"/>
                    <a:pt x="1962" y="1448"/>
                    <a:pt x="1925" y="1332"/>
                  </a:cubicBezTo>
                  <a:cubicBezTo>
                    <a:pt x="1888" y="1216"/>
                    <a:pt x="1617" y="1101"/>
                    <a:pt x="1523" y="1014"/>
                  </a:cubicBezTo>
                  <a:cubicBezTo>
                    <a:pt x="1429" y="927"/>
                    <a:pt x="1478" y="870"/>
                    <a:pt x="1361" y="810"/>
                  </a:cubicBezTo>
                  <a:cubicBezTo>
                    <a:pt x="1244" y="750"/>
                    <a:pt x="717" y="709"/>
                    <a:pt x="821" y="654"/>
                  </a:cubicBezTo>
                  <a:cubicBezTo>
                    <a:pt x="925" y="599"/>
                    <a:pt x="1707" y="480"/>
                    <a:pt x="1985" y="480"/>
                  </a:cubicBezTo>
                  <a:cubicBezTo>
                    <a:pt x="2263" y="480"/>
                    <a:pt x="2471" y="578"/>
                    <a:pt x="2489" y="654"/>
                  </a:cubicBezTo>
                  <a:cubicBezTo>
                    <a:pt x="2507" y="730"/>
                    <a:pt x="2142" y="833"/>
                    <a:pt x="2093" y="936"/>
                  </a:cubicBezTo>
                  <a:cubicBezTo>
                    <a:pt x="2044" y="1039"/>
                    <a:pt x="2138" y="1216"/>
                    <a:pt x="2195" y="1272"/>
                  </a:cubicBezTo>
                  <a:cubicBezTo>
                    <a:pt x="2252" y="1328"/>
                    <a:pt x="2372" y="1312"/>
                    <a:pt x="2435" y="1272"/>
                  </a:cubicBezTo>
                  <a:cubicBezTo>
                    <a:pt x="2498" y="1232"/>
                    <a:pt x="2529" y="1104"/>
                    <a:pt x="2573" y="1032"/>
                  </a:cubicBezTo>
                  <a:cubicBezTo>
                    <a:pt x="2617" y="960"/>
                    <a:pt x="2660" y="836"/>
                    <a:pt x="2699" y="840"/>
                  </a:cubicBezTo>
                  <a:cubicBezTo>
                    <a:pt x="2738" y="844"/>
                    <a:pt x="2779" y="985"/>
                    <a:pt x="2807" y="1056"/>
                  </a:cubicBezTo>
                  <a:cubicBezTo>
                    <a:pt x="2835" y="1127"/>
                    <a:pt x="2814" y="1223"/>
                    <a:pt x="2867" y="1266"/>
                  </a:cubicBezTo>
                  <a:cubicBezTo>
                    <a:pt x="2920" y="1309"/>
                    <a:pt x="3058" y="1366"/>
                    <a:pt x="3125" y="1314"/>
                  </a:cubicBezTo>
                  <a:cubicBezTo>
                    <a:pt x="3192" y="1262"/>
                    <a:pt x="3305" y="1066"/>
                    <a:pt x="3269" y="954"/>
                  </a:cubicBezTo>
                  <a:cubicBezTo>
                    <a:pt x="3233" y="842"/>
                    <a:pt x="2997" y="721"/>
                    <a:pt x="2909" y="642"/>
                  </a:cubicBezTo>
                  <a:cubicBezTo>
                    <a:pt x="2821" y="563"/>
                    <a:pt x="2851" y="541"/>
                    <a:pt x="2741" y="480"/>
                  </a:cubicBezTo>
                  <a:cubicBezTo>
                    <a:pt x="2631" y="419"/>
                    <a:pt x="2334" y="356"/>
                    <a:pt x="2249" y="276"/>
                  </a:cubicBezTo>
                  <a:cubicBezTo>
                    <a:pt x="2164" y="196"/>
                    <a:pt x="2235" y="58"/>
                    <a:pt x="2231" y="0"/>
                  </a:cubicBezTo>
                </a:path>
              </a:pathLst>
            </a:custGeom>
            <a:noFill/>
            <a:ln w="12700" cap="flat" cmpd="sng">
              <a:solidFill>
                <a:schemeClr val="tx2"/>
              </a:solidFill>
              <a:prstDash val="lgDash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62480" name="Text Box 24"/>
          <p:cNvSpPr txBox="1">
            <a:spLocks noChangeArrowheads="1"/>
          </p:cNvSpPr>
          <p:nvPr/>
        </p:nvSpPr>
        <p:spPr bwMode="auto">
          <a:xfrm>
            <a:off x="3048000" y="4191000"/>
            <a:ext cx="2984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1800" b="0" i="0">
                <a:latin typeface="Tahoma" pitchFamily="34" charset="0"/>
              </a:rPr>
              <a:t>L</a:t>
            </a:r>
          </a:p>
        </p:txBody>
      </p:sp>
      <p:sp>
        <p:nvSpPr>
          <p:cNvPr id="62481" name="Text Box 25"/>
          <p:cNvSpPr txBox="1">
            <a:spLocks noChangeArrowheads="1"/>
          </p:cNvSpPr>
          <p:nvPr/>
        </p:nvSpPr>
        <p:spPr bwMode="auto">
          <a:xfrm>
            <a:off x="3443288" y="4510088"/>
            <a:ext cx="319087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1800" b="0" i="0">
                <a:latin typeface="Tahoma" pitchFamily="34" charset="0"/>
              </a:rPr>
              <a:t>B</a:t>
            </a:r>
          </a:p>
        </p:txBody>
      </p:sp>
      <p:sp>
        <p:nvSpPr>
          <p:cNvPr id="62482" name="Text Box 26"/>
          <p:cNvSpPr txBox="1">
            <a:spLocks noChangeArrowheads="1"/>
          </p:cNvSpPr>
          <p:nvPr/>
        </p:nvSpPr>
        <p:spPr bwMode="auto">
          <a:xfrm>
            <a:off x="3810000" y="4191000"/>
            <a:ext cx="325438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sz="1800" b="0" i="0">
                <a:latin typeface="Tahoma" pitchFamily="34" charset="0"/>
              </a:rPr>
              <a:t>R</a:t>
            </a:r>
          </a:p>
        </p:txBody>
      </p:sp>
      <p:cxnSp>
        <p:nvCxnSpPr>
          <p:cNvPr id="62483" name="AutoShape 14"/>
          <p:cNvCxnSpPr>
            <a:cxnSpLocks noChangeShapeType="1"/>
            <a:stCxn id="62470" idx="3"/>
            <a:endCxn id="62486" idx="7"/>
          </p:cNvCxnSpPr>
          <p:nvPr/>
        </p:nvCxnSpPr>
        <p:spPr bwMode="auto">
          <a:xfrm flipH="1">
            <a:off x="3733800" y="3886200"/>
            <a:ext cx="1901825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484" name="AutoShape 20"/>
          <p:cNvCxnSpPr>
            <a:cxnSpLocks noChangeShapeType="1"/>
            <a:stCxn id="62487" idx="0"/>
            <a:endCxn id="62486" idx="3"/>
          </p:cNvCxnSpPr>
          <p:nvPr/>
        </p:nvCxnSpPr>
        <p:spPr bwMode="auto">
          <a:xfrm flipV="1">
            <a:off x="3055938" y="4495800"/>
            <a:ext cx="407987" cy="2651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485" name="AutoShape 21"/>
          <p:cNvCxnSpPr>
            <a:cxnSpLocks noChangeShapeType="1"/>
            <a:stCxn id="62472" idx="1"/>
            <a:endCxn id="62486" idx="5"/>
          </p:cNvCxnSpPr>
          <p:nvPr/>
        </p:nvCxnSpPr>
        <p:spPr bwMode="auto">
          <a:xfrm flipH="1" flipV="1">
            <a:off x="3733800" y="4495800"/>
            <a:ext cx="815975" cy="32067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486" name="Oval 7"/>
          <p:cNvSpPr>
            <a:spLocks noChangeArrowheads="1"/>
          </p:cNvSpPr>
          <p:nvPr/>
        </p:nvSpPr>
        <p:spPr bwMode="auto">
          <a:xfrm>
            <a:off x="3408363" y="4160838"/>
            <a:ext cx="381000" cy="3810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anchor="ctr" anchorCtr="1"/>
          <a:lstStyle/>
          <a:p>
            <a:pPr algn="ctr" eaLnBrk="1" hangingPunct="1"/>
            <a:r>
              <a:rPr lang="en-US" b="0" i="0">
                <a:solidFill>
                  <a:schemeClr val="tx1"/>
                </a:solidFill>
                <a:latin typeface="Symbol" pitchFamily="18" charset="2"/>
                <a:sym typeface="Symbol" pitchFamily="18" charset="2"/>
              </a:rPr>
              <a:t></a:t>
            </a:r>
            <a:endParaRPr lang="en-US" b="0" i="0">
              <a:solidFill>
                <a:schemeClr val="tx1"/>
              </a:solidFill>
              <a:latin typeface="Symbol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92CEA6-4655-41DA-849C-02C60E9D324D}" type="slidenum">
              <a:rPr lang="ar-SA"/>
              <a:pPr>
                <a:defRPr/>
              </a:pPr>
              <a:t>59</a:t>
            </a:fld>
            <a:endParaRPr lang="en-US"/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Euler Tour Algorithm</a:t>
            </a:r>
          </a:p>
        </p:txBody>
      </p:sp>
      <p:sp>
        <p:nvSpPr>
          <p:cNvPr id="6349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114800" y="1524000"/>
            <a:ext cx="4267200" cy="3810000"/>
          </a:xfrm>
          <a:solidFill>
            <a:schemeClr val="folHlink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400" dirty="0" smtClean="0">
                <a:latin typeface="Times New Roman" pitchFamily="18" charset="0"/>
              </a:rPr>
              <a:t>Algorithm </a:t>
            </a:r>
            <a:r>
              <a:rPr lang="en-US" sz="2400" b="1" i="1" dirty="0" err="1" smtClean="0">
                <a:solidFill>
                  <a:schemeClr val="tx2"/>
                </a:solidFill>
                <a:latin typeface="Times New Roman" pitchFamily="18" charset="0"/>
              </a:rPr>
              <a:t>eulerTour</a:t>
            </a:r>
            <a:r>
              <a:rPr lang="en-US" sz="2400" i="1" dirty="0" smtClean="0">
                <a:solidFill>
                  <a:schemeClr val="tx2"/>
                </a:solidFill>
                <a:latin typeface="Times New Roman" pitchFamily="18" charset="0"/>
              </a:rPr>
              <a:t>(</a:t>
            </a:r>
            <a:r>
              <a:rPr lang="en-US" sz="2400" i="1" dirty="0" err="1" smtClean="0">
                <a:solidFill>
                  <a:schemeClr val="tx2"/>
                </a:solidFill>
                <a:latin typeface="Times New Roman" pitchFamily="18" charset="0"/>
              </a:rPr>
              <a:t>T,v</a:t>
            </a:r>
            <a:r>
              <a:rPr lang="en-US" sz="2400" i="1" dirty="0" smtClean="0">
                <a:solidFill>
                  <a:schemeClr val="tx2"/>
                </a:solidFill>
                <a:latin typeface="Times New Roman" pitchFamily="18" charset="0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i="1" dirty="0" smtClean="0">
                <a:solidFill>
                  <a:schemeClr val="tx2"/>
                </a:solidFill>
                <a:latin typeface="Times New Roman" pitchFamily="18" charset="0"/>
              </a:rPr>
              <a:t>	</a:t>
            </a:r>
            <a:r>
              <a:rPr lang="en-US" sz="2400" i="1" dirty="0" smtClean="0">
                <a:latin typeface="Times New Roman" pitchFamily="18" charset="0"/>
              </a:rPr>
              <a:t>visit(v) </a:t>
            </a:r>
            <a:r>
              <a:rPr lang="en-US" sz="2400" dirty="0" smtClean="0">
                <a:latin typeface="Times New Roman" pitchFamily="18" charset="0"/>
              </a:rPr>
              <a:t>on the left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dirty="0" smtClean="0">
                <a:latin typeface="Times New Roman" pitchFamily="18" charset="0"/>
              </a:rPr>
              <a:t>	</a:t>
            </a:r>
            <a:r>
              <a:rPr lang="en-US" sz="2400" b="1" dirty="0" smtClean="0">
                <a:latin typeface="Times New Roman" pitchFamily="18" charset="0"/>
              </a:rPr>
              <a:t>If</a:t>
            </a:r>
            <a:r>
              <a:rPr lang="en-US" sz="2400" dirty="0" smtClean="0">
                <a:latin typeface="Times New Roman" pitchFamily="18" charset="0"/>
              </a:rPr>
              <a:t> </a:t>
            </a:r>
            <a:r>
              <a:rPr lang="en-US" sz="2400" i="1" dirty="0" err="1" smtClean="0">
                <a:latin typeface="Times New Roman" pitchFamily="18" charset="0"/>
              </a:rPr>
              <a:t>hasLeft</a:t>
            </a:r>
            <a:r>
              <a:rPr lang="en-US" sz="2400" i="1" dirty="0" smtClean="0">
                <a:latin typeface="Times New Roman" pitchFamily="18" charset="0"/>
              </a:rPr>
              <a:t> (v)</a:t>
            </a:r>
            <a:r>
              <a:rPr lang="en-US" sz="2400" dirty="0" smtClean="0">
                <a:latin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</a:rPr>
              <a:t>then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b="1" dirty="0" smtClean="0">
                <a:latin typeface="Times New Roman" pitchFamily="18" charset="0"/>
              </a:rPr>
              <a:t>		</a:t>
            </a:r>
            <a:r>
              <a:rPr lang="en-US" sz="2400" i="1" dirty="0" err="1" smtClean="0">
                <a:latin typeface="Times New Roman" pitchFamily="18" charset="0"/>
              </a:rPr>
              <a:t>eulerTour</a:t>
            </a:r>
            <a:r>
              <a:rPr lang="en-US" sz="2400" i="1" dirty="0" smtClean="0">
                <a:latin typeface="Times New Roman" pitchFamily="18" charset="0"/>
              </a:rPr>
              <a:t>(</a:t>
            </a:r>
            <a:r>
              <a:rPr lang="en-US" sz="2400" i="1" dirty="0" err="1" smtClean="0">
                <a:latin typeface="Times New Roman" pitchFamily="18" charset="0"/>
              </a:rPr>
              <a:t>T,left</a:t>
            </a:r>
            <a:r>
              <a:rPr lang="en-US" sz="2400" i="1" dirty="0" smtClean="0">
                <a:latin typeface="Times New Roman" pitchFamily="18" charset="0"/>
              </a:rPr>
              <a:t>(</a:t>
            </a:r>
            <a:r>
              <a:rPr lang="en-US" sz="2400" i="1" dirty="0" err="1" smtClean="0">
                <a:latin typeface="Times New Roman" pitchFamily="18" charset="0"/>
              </a:rPr>
              <a:t>T,v</a:t>
            </a:r>
            <a:r>
              <a:rPr lang="en-US" sz="2400" i="1" dirty="0" smtClean="0">
                <a:latin typeface="Times New Roman" pitchFamily="18" charset="0"/>
              </a:rPr>
              <a:t>))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i="1" dirty="0" smtClean="0">
                <a:latin typeface="Times New Roman" pitchFamily="18" charset="0"/>
              </a:rPr>
              <a:t>	visit(v) </a:t>
            </a:r>
            <a:r>
              <a:rPr lang="en-US" sz="2400" dirty="0" smtClean="0">
                <a:latin typeface="Times New Roman" pitchFamily="18" charset="0"/>
              </a:rPr>
              <a:t>from below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i="1" dirty="0" smtClean="0">
                <a:latin typeface="Times New Roman" pitchFamily="18" charset="0"/>
              </a:rPr>
              <a:t>	 </a:t>
            </a:r>
            <a:r>
              <a:rPr lang="en-US" sz="2400" b="1" dirty="0" smtClean="0">
                <a:latin typeface="Times New Roman" pitchFamily="18" charset="0"/>
              </a:rPr>
              <a:t>If</a:t>
            </a:r>
            <a:r>
              <a:rPr lang="en-US" sz="2400" dirty="0" smtClean="0">
                <a:latin typeface="Times New Roman" pitchFamily="18" charset="0"/>
              </a:rPr>
              <a:t> </a:t>
            </a:r>
            <a:r>
              <a:rPr lang="en-US" sz="2400" i="1" dirty="0" err="1" smtClean="0">
                <a:latin typeface="Times New Roman" pitchFamily="18" charset="0"/>
              </a:rPr>
              <a:t>hasRight</a:t>
            </a:r>
            <a:r>
              <a:rPr lang="en-US" sz="2400" i="1" dirty="0" smtClean="0">
                <a:latin typeface="Times New Roman" pitchFamily="18" charset="0"/>
              </a:rPr>
              <a:t> (v)</a:t>
            </a:r>
            <a:r>
              <a:rPr lang="en-US" sz="2400" dirty="0" smtClean="0">
                <a:latin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</a:rPr>
              <a:t>then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b="1" dirty="0" smtClean="0">
                <a:latin typeface="Times New Roman" pitchFamily="18" charset="0"/>
              </a:rPr>
              <a:t>		</a:t>
            </a:r>
            <a:r>
              <a:rPr lang="en-US" sz="2400" i="1" dirty="0" err="1" smtClean="0">
                <a:latin typeface="Times New Roman" pitchFamily="18" charset="0"/>
              </a:rPr>
              <a:t>eulerTour</a:t>
            </a:r>
            <a:r>
              <a:rPr lang="en-US" sz="2400" i="1" dirty="0" smtClean="0">
                <a:latin typeface="Times New Roman" pitchFamily="18" charset="0"/>
              </a:rPr>
              <a:t>(</a:t>
            </a:r>
            <a:r>
              <a:rPr lang="en-US" sz="2400" i="1" dirty="0" err="1" smtClean="0">
                <a:latin typeface="Times New Roman" pitchFamily="18" charset="0"/>
              </a:rPr>
              <a:t>T,right</a:t>
            </a:r>
            <a:r>
              <a:rPr lang="en-US" sz="2400" i="1" dirty="0" smtClean="0">
                <a:latin typeface="Times New Roman" pitchFamily="18" charset="0"/>
              </a:rPr>
              <a:t>(</a:t>
            </a:r>
            <a:r>
              <a:rPr lang="en-US" sz="2400" i="1" dirty="0" err="1" smtClean="0">
                <a:latin typeface="Times New Roman" pitchFamily="18" charset="0"/>
              </a:rPr>
              <a:t>T,v</a:t>
            </a:r>
            <a:r>
              <a:rPr lang="en-US" sz="2400" i="1" dirty="0" smtClean="0">
                <a:latin typeface="Times New Roman" pitchFamily="18" charset="0"/>
              </a:rPr>
              <a:t>))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i="1" dirty="0" smtClean="0">
                <a:latin typeface="Times New Roman" pitchFamily="18" charset="0"/>
              </a:rPr>
              <a:t>	visit(v) </a:t>
            </a:r>
            <a:r>
              <a:rPr lang="en-US" sz="2400" dirty="0" smtClean="0">
                <a:latin typeface="Times New Roman" pitchFamily="18" charset="0"/>
              </a:rPr>
              <a:t>on the right</a:t>
            </a:r>
          </a:p>
        </p:txBody>
      </p:sp>
      <p:sp>
        <p:nvSpPr>
          <p:cNvPr id="63494" name="Text Box 4"/>
          <p:cNvSpPr txBox="1">
            <a:spLocks noChangeArrowheads="1"/>
          </p:cNvSpPr>
          <p:nvPr/>
        </p:nvSpPr>
        <p:spPr bwMode="auto">
          <a:xfrm>
            <a:off x="381000" y="1752600"/>
            <a:ext cx="3505200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0975" indent="-180975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542925" indent="-182563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buClr>
                <a:schemeClr val="tx2"/>
              </a:buClr>
              <a:buSzPct val="140000"/>
              <a:buFontTx/>
              <a:buChar char="•"/>
            </a:pPr>
            <a:r>
              <a:rPr lang="en-US" sz="2000" b="0" i="0">
                <a:solidFill>
                  <a:schemeClr val="tx1"/>
                </a:solidFill>
              </a:rPr>
              <a:t>We</a:t>
            </a:r>
            <a:r>
              <a:rPr lang="en-US" sz="2000" b="0" i="0"/>
              <a:t> </a:t>
            </a:r>
            <a:r>
              <a:rPr lang="en-US" sz="2000" b="0" i="0">
                <a:solidFill>
                  <a:schemeClr val="tx1"/>
                </a:solidFill>
              </a:rPr>
              <a:t>can unify all </a:t>
            </a:r>
            <a:r>
              <a:rPr lang="en-US" sz="2000" b="0">
                <a:solidFill>
                  <a:schemeClr val="tx1"/>
                </a:solidFill>
              </a:rPr>
              <a:t>three</a:t>
            </a:r>
            <a:r>
              <a:rPr lang="en-US" sz="2000" b="0" i="0">
                <a:solidFill>
                  <a:schemeClr val="tx1"/>
                </a:solidFill>
              </a:rPr>
              <a:t> tree traversal algorithms given above into a </a:t>
            </a:r>
            <a:r>
              <a:rPr lang="en-US" sz="2000" b="0">
                <a:solidFill>
                  <a:schemeClr val="tx1"/>
                </a:solidFill>
              </a:rPr>
              <a:t>single</a:t>
            </a:r>
            <a:r>
              <a:rPr lang="en-US" sz="2000" b="0" i="0">
                <a:solidFill>
                  <a:schemeClr val="tx1"/>
                </a:solidFill>
              </a:rPr>
              <a:t> framework by </a:t>
            </a:r>
            <a:r>
              <a:rPr lang="en-US" sz="2000" b="0">
                <a:solidFill>
                  <a:schemeClr val="tx1"/>
                </a:solidFill>
              </a:rPr>
              <a:t>relaxing</a:t>
            </a:r>
            <a:r>
              <a:rPr lang="en-US" sz="2000" b="0" i="0">
                <a:solidFill>
                  <a:schemeClr val="tx1"/>
                </a:solidFill>
              </a:rPr>
              <a:t> the requirement that each node be visited </a:t>
            </a:r>
            <a:r>
              <a:rPr lang="en-US" sz="2000">
                <a:solidFill>
                  <a:schemeClr val="tx1"/>
                </a:solidFill>
              </a:rPr>
              <a:t>once</a:t>
            </a:r>
            <a:r>
              <a:rPr lang="en-US" sz="2000" b="0" i="0">
                <a:solidFill>
                  <a:schemeClr val="tx1"/>
                </a:solidFill>
              </a:rPr>
              <a:t>. 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140000"/>
              <a:buFontTx/>
              <a:buChar char="•"/>
            </a:pPr>
            <a:r>
              <a:rPr lang="en-US" sz="2000" i="0">
                <a:solidFill>
                  <a:schemeClr val="tx1"/>
                </a:solidFill>
              </a:rPr>
              <a:t>Applications:</a:t>
            </a:r>
          </a:p>
          <a:p>
            <a:pPr lvl="1">
              <a:spcBef>
                <a:spcPct val="5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</a:pPr>
            <a:r>
              <a:rPr lang="en-US" sz="2000" b="0" i="0">
                <a:solidFill>
                  <a:schemeClr val="tx1"/>
                </a:solidFill>
              </a:rPr>
              <a:t>Calculate the No. of </a:t>
            </a:r>
            <a:r>
              <a:rPr lang="en-US" sz="2000" b="0">
                <a:solidFill>
                  <a:schemeClr val="tx1"/>
                </a:solidFill>
              </a:rPr>
              <a:t>descendants</a:t>
            </a:r>
            <a:r>
              <a:rPr lang="en-US" sz="2000" b="0" i="0">
                <a:solidFill>
                  <a:schemeClr val="tx1"/>
                </a:solidFill>
              </a:rPr>
              <a:t> of a node.</a:t>
            </a:r>
          </a:p>
          <a:p>
            <a:pPr lvl="1">
              <a:spcBef>
                <a:spcPct val="5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</a:pPr>
            <a:r>
              <a:rPr lang="en-US" sz="2000" b="0" i="0">
                <a:solidFill>
                  <a:schemeClr val="tx1"/>
                </a:solidFill>
              </a:rPr>
              <a:t>Print a fully parenthesized arithmetic expression.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Trees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DE987A-A10C-4261-93B8-2568BF1CBCB6}" type="slidenum">
              <a:rPr lang="ar-SA"/>
              <a:pPr>
                <a:defRPr/>
              </a:pPr>
              <a:t>60</a:t>
            </a:fld>
            <a:endParaRPr lang="en-US"/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-152400"/>
            <a:ext cx="8077200" cy="1143000"/>
          </a:xfrm>
        </p:spPr>
        <p:txBody>
          <a:bodyPr/>
          <a:lstStyle/>
          <a:p>
            <a:pPr eaLnBrk="1" hangingPunct="1"/>
            <a:r>
              <a:rPr lang="en-US" smtClean="0"/>
              <a:t>Print Arithmetic Expressions</a:t>
            </a:r>
          </a:p>
        </p:txBody>
      </p:sp>
      <p:sp>
        <p:nvSpPr>
          <p:cNvPr id="64517" name="Text Box 3"/>
          <p:cNvSpPr txBox="1">
            <a:spLocks noChangeArrowheads="1"/>
          </p:cNvSpPr>
          <p:nvPr/>
        </p:nvSpPr>
        <p:spPr bwMode="auto">
          <a:xfrm>
            <a:off x="4343400" y="1295400"/>
            <a:ext cx="4572000" cy="3078163"/>
          </a:xfrm>
          <a:prstGeom prst="rect">
            <a:avLst/>
          </a:prstGeom>
          <a:solidFill>
            <a:schemeClr val="folHlink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i="0">
                <a:solidFill>
                  <a:schemeClr val="tx1"/>
                </a:solidFill>
                <a:cs typeface="Tahoma" pitchFamily="34" charset="0"/>
              </a:rPr>
              <a:t>Algorithm </a:t>
            </a:r>
            <a:r>
              <a:rPr lang="en-US" sz="2000">
                <a:cs typeface="Tahoma" pitchFamily="34" charset="0"/>
              </a:rPr>
              <a:t>printExpression(T,v)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i="0">
                <a:solidFill>
                  <a:schemeClr val="tx1"/>
                </a:solidFill>
                <a:cs typeface="Tahoma" pitchFamily="34" charset="0"/>
              </a:rPr>
              <a:t>    if </a:t>
            </a:r>
            <a:r>
              <a:rPr lang="en-US" sz="2000">
                <a:solidFill>
                  <a:schemeClr val="tx1"/>
                </a:solidFill>
                <a:cs typeface="Tahoma" pitchFamily="34" charset="0"/>
              </a:rPr>
              <a:t>T.isExternal (v)</a:t>
            </a:r>
            <a:r>
              <a:rPr lang="en-US" sz="2000" i="0">
                <a:solidFill>
                  <a:schemeClr val="tx1"/>
                </a:solidFill>
                <a:cs typeface="Tahoma" pitchFamily="34" charset="0"/>
              </a:rPr>
              <a:t> then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i="0">
                <a:solidFill>
                  <a:schemeClr val="tx1"/>
                </a:solidFill>
                <a:cs typeface="Tahoma" pitchFamily="34" charset="0"/>
              </a:rPr>
              <a:t>        print  the value stored at v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i="0">
                <a:solidFill>
                  <a:schemeClr val="tx1"/>
                </a:solidFill>
                <a:cs typeface="Tahoma" pitchFamily="34" charset="0"/>
              </a:rPr>
              <a:t>    else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i="0">
                <a:solidFill>
                  <a:schemeClr val="tx1"/>
                </a:solidFill>
                <a:cs typeface="Tahoma" pitchFamily="34" charset="0"/>
              </a:rPr>
              <a:t>         print “(“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i="0">
                <a:solidFill>
                  <a:schemeClr val="tx1"/>
                </a:solidFill>
                <a:cs typeface="Tahoma" pitchFamily="34" charset="0"/>
              </a:rPr>
              <a:t>         </a:t>
            </a:r>
            <a:r>
              <a:rPr lang="en-US" sz="2000">
                <a:solidFill>
                  <a:schemeClr val="tx1"/>
                </a:solidFill>
                <a:cs typeface="Tahoma" pitchFamily="34" charset="0"/>
              </a:rPr>
              <a:t>printExpression (T, T. leftChild(v))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i="0">
                <a:solidFill>
                  <a:schemeClr val="tx1"/>
                </a:solidFill>
                <a:cs typeface="Tahoma" pitchFamily="34" charset="0"/>
              </a:rPr>
              <a:t>         print </a:t>
            </a:r>
            <a:r>
              <a:rPr lang="en-US" sz="2000" b="0" i="0">
                <a:solidFill>
                  <a:schemeClr val="tx1"/>
                </a:solidFill>
                <a:cs typeface="Tahoma" pitchFamily="34" charset="0"/>
              </a:rPr>
              <a:t>the operator stored at </a:t>
            </a:r>
            <a:r>
              <a:rPr lang="en-US" sz="2000" b="0">
                <a:solidFill>
                  <a:schemeClr val="tx1"/>
                </a:solidFill>
                <a:cs typeface="Tahoma" pitchFamily="34" charset="0"/>
              </a:rPr>
              <a:t>v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>
                <a:solidFill>
                  <a:schemeClr val="tx1"/>
                </a:solidFill>
                <a:cs typeface="Tahoma" pitchFamily="34" charset="0"/>
              </a:rPr>
              <a:t>        printExpression (T, T. rightChild(v))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i="0">
                <a:solidFill>
                  <a:schemeClr val="tx1"/>
                </a:solidFill>
                <a:cs typeface="Tahoma" pitchFamily="34" charset="0"/>
              </a:rPr>
              <a:t>        print  ")"</a:t>
            </a:r>
          </a:p>
        </p:txBody>
      </p:sp>
      <p:grpSp>
        <p:nvGrpSpPr>
          <p:cNvPr id="64518" name="Group 4"/>
          <p:cNvGrpSpPr>
            <a:grpSpLocks/>
          </p:cNvGrpSpPr>
          <p:nvPr/>
        </p:nvGrpSpPr>
        <p:grpSpPr bwMode="auto">
          <a:xfrm>
            <a:off x="762000" y="1981200"/>
            <a:ext cx="3429000" cy="2286000"/>
            <a:chOff x="2928" y="2256"/>
            <a:chExt cx="2160" cy="1440"/>
          </a:xfrm>
        </p:grpSpPr>
        <p:sp>
          <p:nvSpPr>
            <p:cNvPr id="64521" name="Oval 5"/>
            <p:cNvSpPr>
              <a:spLocks noChangeArrowheads="1"/>
            </p:cNvSpPr>
            <p:nvPr/>
          </p:nvSpPr>
          <p:spPr bwMode="auto">
            <a:xfrm>
              <a:off x="4128" y="2256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Symbol" pitchFamily="18" charset="2"/>
                </a:rPr>
                <a:t>+</a:t>
              </a:r>
            </a:p>
          </p:txBody>
        </p:sp>
        <p:sp>
          <p:nvSpPr>
            <p:cNvPr id="64522" name="Oval 6"/>
            <p:cNvSpPr>
              <a:spLocks noChangeArrowheads="1"/>
            </p:cNvSpPr>
            <p:nvPr/>
          </p:nvSpPr>
          <p:spPr bwMode="auto">
            <a:xfrm>
              <a:off x="460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Symbol" pitchFamily="18" charset="2"/>
                  <a:sym typeface="Symbol" pitchFamily="18" charset="2"/>
                </a:rPr>
                <a:t></a:t>
              </a:r>
            </a:p>
          </p:txBody>
        </p:sp>
        <p:sp>
          <p:nvSpPr>
            <p:cNvPr id="64523" name="Oval 7"/>
            <p:cNvSpPr>
              <a:spLocks noChangeArrowheads="1"/>
            </p:cNvSpPr>
            <p:nvPr/>
          </p:nvSpPr>
          <p:spPr bwMode="auto">
            <a:xfrm>
              <a:off x="3168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Symbol" pitchFamily="18" charset="2"/>
                  <a:sym typeface="Symbol" pitchFamily="18" charset="2"/>
                </a:rPr>
                <a:t></a:t>
              </a:r>
              <a:endParaRPr lang="en-US" b="0" i="0">
                <a:solidFill>
                  <a:schemeClr val="tx1"/>
                </a:solidFill>
                <a:latin typeface="Symbol" pitchFamily="18" charset="2"/>
              </a:endParaRPr>
            </a:p>
          </p:txBody>
        </p:sp>
        <p:sp>
          <p:nvSpPr>
            <p:cNvPr id="64524" name="Oval 8"/>
            <p:cNvSpPr>
              <a:spLocks noChangeArrowheads="1"/>
            </p:cNvSpPr>
            <p:nvPr/>
          </p:nvSpPr>
          <p:spPr bwMode="auto">
            <a:xfrm>
              <a:off x="3648" y="3024"/>
              <a:ext cx="240" cy="24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Symbol" pitchFamily="18" charset="2"/>
                </a:rPr>
                <a:t>-</a:t>
              </a:r>
            </a:p>
          </p:txBody>
        </p:sp>
        <p:sp>
          <p:nvSpPr>
            <p:cNvPr id="64525" name="Rectangle 9"/>
            <p:cNvSpPr>
              <a:spLocks noChangeArrowheads="1"/>
            </p:cNvSpPr>
            <p:nvPr/>
          </p:nvSpPr>
          <p:spPr bwMode="auto">
            <a:xfrm>
              <a:off x="292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</a:rPr>
                <a:t>2</a:t>
              </a:r>
            </a:p>
          </p:txBody>
        </p:sp>
        <p:sp>
          <p:nvSpPr>
            <p:cNvPr id="64526" name="Rectangle 10"/>
            <p:cNvSpPr>
              <a:spLocks noChangeArrowheads="1"/>
            </p:cNvSpPr>
            <p:nvPr/>
          </p:nvSpPr>
          <p:spPr bwMode="auto">
            <a:xfrm>
              <a:off x="340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</a:rPr>
                <a:t>a</a:t>
              </a:r>
            </a:p>
          </p:txBody>
        </p:sp>
        <p:sp>
          <p:nvSpPr>
            <p:cNvPr id="64527" name="Rectangle 11"/>
            <p:cNvSpPr>
              <a:spLocks noChangeArrowheads="1"/>
            </p:cNvSpPr>
            <p:nvPr/>
          </p:nvSpPr>
          <p:spPr bwMode="auto">
            <a:xfrm>
              <a:off x="3888" y="3456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</a:rPr>
                <a:t>1</a:t>
              </a:r>
            </a:p>
          </p:txBody>
        </p:sp>
        <p:sp>
          <p:nvSpPr>
            <p:cNvPr id="64528" name="Rectangle 12"/>
            <p:cNvSpPr>
              <a:spLocks noChangeArrowheads="1"/>
            </p:cNvSpPr>
            <p:nvPr/>
          </p:nvSpPr>
          <p:spPr bwMode="auto">
            <a:xfrm>
              <a:off x="436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</a:rPr>
                <a:t>3</a:t>
              </a:r>
            </a:p>
          </p:txBody>
        </p:sp>
        <p:sp>
          <p:nvSpPr>
            <p:cNvPr id="64529" name="Rectangle 13"/>
            <p:cNvSpPr>
              <a:spLocks noChangeArrowheads="1"/>
            </p:cNvSpPr>
            <p:nvPr/>
          </p:nvSpPr>
          <p:spPr bwMode="auto">
            <a:xfrm>
              <a:off x="4848" y="3024"/>
              <a:ext cx="240" cy="240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r>
                <a:rPr lang="en-US" b="0" i="0">
                  <a:solidFill>
                    <a:schemeClr val="tx1"/>
                  </a:solidFill>
                  <a:latin typeface="Tahoma" pitchFamily="34" charset="0"/>
                </a:rPr>
                <a:t>b</a:t>
              </a:r>
            </a:p>
          </p:txBody>
        </p:sp>
        <p:cxnSp>
          <p:nvCxnSpPr>
            <p:cNvPr id="64530" name="AutoShape 14"/>
            <p:cNvCxnSpPr>
              <a:cxnSpLocks noChangeShapeType="1"/>
              <a:stCxn id="64521" idx="3"/>
              <a:endCxn id="64523" idx="7"/>
            </p:cNvCxnSpPr>
            <p:nvPr/>
          </p:nvCxnSpPr>
          <p:spPr bwMode="auto">
            <a:xfrm flipH="1">
              <a:off x="3373" y="2467"/>
              <a:ext cx="79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531" name="AutoShape 15"/>
            <p:cNvCxnSpPr>
              <a:cxnSpLocks noChangeShapeType="1"/>
              <a:stCxn id="64522" idx="1"/>
              <a:endCxn id="64521" idx="5"/>
            </p:cNvCxnSpPr>
            <p:nvPr/>
          </p:nvCxnSpPr>
          <p:spPr bwMode="auto">
            <a:xfrm flipH="1" flipV="1">
              <a:off x="4333" y="2467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532" name="AutoShape 16"/>
            <p:cNvCxnSpPr>
              <a:cxnSpLocks noChangeShapeType="1"/>
              <a:stCxn id="64529" idx="0"/>
              <a:endCxn id="64522" idx="5"/>
            </p:cNvCxnSpPr>
            <p:nvPr/>
          </p:nvCxnSpPr>
          <p:spPr bwMode="auto">
            <a:xfrm flipH="1" flipV="1">
              <a:off x="4813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533" name="AutoShape 17"/>
            <p:cNvCxnSpPr>
              <a:cxnSpLocks noChangeShapeType="1"/>
              <a:stCxn id="64528" idx="0"/>
              <a:endCxn id="64522" idx="3"/>
            </p:cNvCxnSpPr>
            <p:nvPr/>
          </p:nvCxnSpPr>
          <p:spPr bwMode="auto">
            <a:xfrm flipV="1">
              <a:off x="448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534" name="AutoShape 18"/>
            <p:cNvCxnSpPr>
              <a:cxnSpLocks noChangeShapeType="1"/>
              <a:stCxn id="64527" idx="0"/>
              <a:endCxn id="64524" idx="5"/>
            </p:cNvCxnSpPr>
            <p:nvPr/>
          </p:nvCxnSpPr>
          <p:spPr bwMode="auto">
            <a:xfrm flipH="1" flipV="1">
              <a:off x="3853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535" name="AutoShape 19"/>
            <p:cNvCxnSpPr>
              <a:cxnSpLocks noChangeShapeType="1"/>
              <a:stCxn id="64526" idx="0"/>
              <a:endCxn id="64524" idx="3"/>
            </p:cNvCxnSpPr>
            <p:nvPr/>
          </p:nvCxnSpPr>
          <p:spPr bwMode="auto">
            <a:xfrm flipV="1">
              <a:off x="3528" y="3235"/>
              <a:ext cx="155" cy="21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536" name="AutoShape 20"/>
            <p:cNvCxnSpPr>
              <a:cxnSpLocks noChangeShapeType="1"/>
              <a:stCxn id="64525" idx="0"/>
              <a:endCxn id="64523" idx="3"/>
            </p:cNvCxnSpPr>
            <p:nvPr/>
          </p:nvCxnSpPr>
          <p:spPr bwMode="auto">
            <a:xfrm flipV="1">
              <a:off x="3048" y="2851"/>
              <a:ext cx="155" cy="1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537" name="AutoShape 21"/>
            <p:cNvCxnSpPr>
              <a:cxnSpLocks noChangeShapeType="1"/>
              <a:stCxn id="64524" idx="1"/>
              <a:endCxn id="64523" idx="5"/>
            </p:cNvCxnSpPr>
            <p:nvPr/>
          </p:nvCxnSpPr>
          <p:spPr bwMode="auto">
            <a:xfrm flipH="1" flipV="1">
              <a:off x="3373" y="2851"/>
              <a:ext cx="310" cy="20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4519" name="Text Box 22"/>
          <p:cNvSpPr txBox="1">
            <a:spLocks noChangeArrowheads="1"/>
          </p:cNvSpPr>
          <p:nvPr/>
        </p:nvSpPr>
        <p:spPr bwMode="auto">
          <a:xfrm>
            <a:off x="228600" y="1143000"/>
            <a:ext cx="332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1pPr>
            <a:lvl2pPr marL="742950" indent="-28575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2pPr>
            <a:lvl3pPr marL="11430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3pPr>
            <a:lvl4pPr marL="16002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4pPr>
            <a:lvl5pPr marL="2057400" indent="-228600"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((2 </a:t>
            </a:r>
            <a:r>
              <a:rPr lang="en-US" b="0" i="0">
                <a:solidFill>
                  <a:schemeClr val="tx1"/>
                </a:solidFill>
                <a:latin typeface="Symbol" pitchFamily="18" charset="2"/>
                <a:sym typeface="Symbol" pitchFamily="18" charset="2"/>
              </a:rPr>
              <a:t> </a:t>
            </a:r>
            <a:r>
              <a:rPr lang="en-US" b="0" i="0">
                <a:solidFill>
                  <a:schemeClr val="tx1"/>
                </a:solidFill>
                <a:sym typeface="Symbol" pitchFamily="18" charset="2"/>
              </a:rPr>
              <a:t>(</a:t>
            </a:r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a </a:t>
            </a:r>
            <a:r>
              <a:rPr lang="en-US" b="0" i="0">
                <a:solidFill>
                  <a:schemeClr val="tx1"/>
                </a:solidFill>
                <a:latin typeface="Symbol" pitchFamily="18" charset="2"/>
              </a:rPr>
              <a:t>-</a:t>
            </a:r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 1)) </a:t>
            </a:r>
            <a:r>
              <a:rPr lang="en-US" b="0" i="0">
                <a:solidFill>
                  <a:schemeClr val="tx1"/>
                </a:solidFill>
                <a:latin typeface="Symbol" pitchFamily="18" charset="2"/>
              </a:rPr>
              <a:t>+</a:t>
            </a:r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 (3 </a:t>
            </a:r>
            <a:r>
              <a:rPr lang="en-US" b="0" i="0">
                <a:solidFill>
                  <a:schemeClr val="tx1"/>
                </a:solidFill>
                <a:latin typeface="Symbol" pitchFamily="18" charset="2"/>
                <a:sym typeface="Symbol" pitchFamily="18" charset="2"/>
              </a:rPr>
              <a:t> </a:t>
            </a:r>
            <a:r>
              <a:rPr lang="en-US" b="0" i="0">
                <a:solidFill>
                  <a:schemeClr val="tx1"/>
                </a:solidFill>
                <a:latin typeface="Tahoma" pitchFamily="34" charset="0"/>
              </a:rPr>
              <a:t>b))</a:t>
            </a:r>
          </a:p>
        </p:txBody>
      </p:sp>
      <p:sp>
        <p:nvSpPr>
          <p:cNvPr id="64520" name="Rectangle 24"/>
          <p:cNvSpPr>
            <a:spLocks noChangeArrowheads="1"/>
          </p:cNvSpPr>
          <p:nvPr/>
        </p:nvSpPr>
        <p:spPr bwMode="auto">
          <a:xfrm>
            <a:off x="685800" y="4648200"/>
            <a:ext cx="7924800" cy="1600200"/>
          </a:xfrm>
          <a:prstGeom prst="rect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buFont typeface="Arial" charset="0"/>
              <a:buChar char="•"/>
            </a:pPr>
            <a:r>
              <a:rPr lang="en-US"/>
              <a:t> on the left : if node is internal, print “(“</a:t>
            </a:r>
          </a:p>
          <a:p>
            <a:pPr>
              <a:buFont typeface="Arial" charset="0"/>
              <a:buChar char="•"/>
            </a:pPr>
            <a:r>
              <a:rPr lang="en-US"/>
              <a:t> from below : print the value/operator stored at the node</a:t>
            </a:r>
          </a:p>
          <a:p>
            <a:pPr>
              <a:buFont typeface="Arial" charset="0"/>
              <a:buChar char="•"/>
            </a:pPr>
            <a:r>
              <a:rPr lang="en-US"/>
              <a:t>On the right : if the node is internal, print “)”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1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1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6773</TotalTime>
  <Words>3598</Words>
  <Application>Microsoft Office PowerPoint</Application>
  <PresentationFormat>On-screen Show (4:3)</PresentationFormat>
  <Paragraphs>844</Paragraphs>
  <Slides>60</Slides>
  <Notes>6</Notes>
  <HiddenSlides>4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Blueprint</vt:lpstr>
      <vt:lpstr>      Chapter 2.3   Trees</vt:lpstr>
      <vt:lpstr>2.3 General Trees</vt:lpstr>
      <vt:lpstr>Tree Structure</vt:lpstr>
      <vt:lpstr>Tree Definitions and Properties</vt:lpstr>
      <vt:lpstr>Example</vt:lpstr>
      <vt:lpstr>  Formal Definition of a Tree</vt:lpstr>
      <vt:lpstr>Recursive Definition of a Tree:</vt:lpstr>
      <vt:lpstr>Subtree of  Tree T</vt:lpstr>
      <vt:lpstr>Ordered Trees</vt:lpstr>
      <vt:lpstr>2.3.1   Tree ADT</vt:lpstr>
      <vt:lpstr>Methods of a Tree ADT</vt:lpstr>
      <vt:lpstr>PowerPoint Presentation</vt:lpstr>
      <vt:lpstr>PowerPoint Presentation</vt:lpstr>
      <vt:lpstr>Methods of a Tree ADT (Cont.)</vt:lpstr>
      <vt:lpstr>Example  </vt:lpstr>
      <vt:lpstr>2.3.2  Tree Traversal Algorithms</vt:lpstr>
      <vt:lpstr>PowerPoint Presentation</vt:lpstr>
      <vt:lpstr>Height</vt:lpstr>
      <vt:lpstr>Performance Analysis of height Algorithm</vt:lpstr>
      <vt:lpstr>Proposition 7.5</vt:lpstr>
      <vt:lpstr>2.3.2 Tree Traversal</vt:lpstr>
      <vt:lpstr>Preorder Traversal</vt:lpstr>
      <vt:lpstr> Preorder Traversal</vt:lpstr>
      <vt:lpstr>Postorder Traversal</vt:lpstr>
      <vt:lpstr>   Postorder Traversal</vt:lpstr>
      <vt:lpstr>Other Kinds of Traversals </vt:lpstr>
      <vt:lpstr>2.3.3 Binary Trees</vt:lpstr>
      <vt:lpstr>   Binary Trees</vt:lpstr>
      <vt:lpstr>Arithmetic Expression Tree</vt:lpstr>
      <vt:lpstr>Decision Tree</vt:lpstr>
      <vt:lpstr>2.3.3 Binary Tree ADT</vt:lpstr>
      <vt:lpstr>Properties of Proper Binary Trees</vt:lpstr>
      <vt:lpstr>Maximum Number Of Nodes</vt:lpstr>
      <vt:lpstr>Full Binary Tree</vt:lpstr>
      <vt:lpstr>Justification of Proposition 7.10</vt:lpstr>
      <vt:lpstr>Justification of Proposition 7.10 (Cont.)</vt:lpstr>
      <vt:lpstr>Internal Nodes &amp; External Nodes in a Proper Binary Tree</vt:lpstr>
      <vt:lpstr>   2.3.4  Binary Tree representation</vt:lpstr>
      <vt:lpstr>Linked Structure for Trees</vt:lpstr>
      <vt:lpstr>A Linked Structure for Binary Trees</vt:lpstr>
      <vt:lpstr>Performance of Linked Implementation of Binary Trees</vt:lpstr>
      <vt:lpstr>7.3.5 Array-List Representation of Binary Trees</vt:lpstr>
      <vt:lpstr>Example</vt:lpstr>
      <vt:lpstr>Array Representation</vt:lpstr>
      <vt:lpstr> Array-List Representation of Binary Trees</vt:lpstr>
      <vt:lpstr>Performance of Array Implementation of Binary Trees</vt:lpstr>
      <vt:lpstr>Time Complexity</vt:lpstr>
      <vt:lpstr>Binary Tree Traversal</vt:lpstr>
      <vt:lpstr>1. PreOrder Traversal</vt:lpstr>
      <vt:lpstr>2. PostOrder Traversal</vt:lpstr>
      <vt:lpstr>3. Inorder Traversal</vt:lpstr>
      <vt:lpstr>PowerPoint Presentation</vt:lpstr>
      <vt:lpstr>Expression tree</vt:lpstr>
      <vt:lpstr>PowerPoint Presentation</vt:lpstr>
      <vt:lpstr>4. Level-order traversal</vt:lpstr>
      <vt:lpstr>Euler Tour Traversal</vt:lpstr>
      <vt:lpstr>Example : An Euler tour</vt:lpstr>
      <vt:lpstr>Euler Tour Traversal of a binary tree</vt:lpstr>
      <vt:lpstr>Euler Tour Algorithm</vt:lpstr>
      <vt:lpstr>Print Arithmetic Expressions</vt:lpstr>
    </vt:vector>
  </TitlesOfParts>
  <Company>Brown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Roberto Tamassia</dc:creator>
  <cp:lastModifiedBy>manimaran</cp:lastModifiedBy>
  <cp:revision>793</cp:revision>
  <dcterms:created xsi:type="dcterms:W3CDTF">2002-01-21T02:22:10Z</dcterms:created>
  <dcterms:modified xsi:type="dcterms:W3CDTF">2014-03-27T07:07:42Z</dcterms:modified>
</cp:coreProperties>
</file>