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60" r:id="rId5"/>
    <p:sldId id="261" r:id="rId6"/>
    <p:sldId id="262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540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53026-E003-46FE-89E2-972C57A746FD}" type="datetimeFigureOut">
              <a:rPr lang="en-US" smtClean="0"/>
              <a:t>5/7/2014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4E47-513B-480D-BC87-A40BAFE248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036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53026-E003-46FE-89E2-972C57A746FD}" type="datetimeFigureOut">
              <a:rPr lang="en-US" smtClean="0"/>
              <a:t>5/7/2014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4E47-513B-480D-BC87-A40BAFE248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504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53026-E003-46FE-89E2-972C57A746FD}" type="datetimeFigureOut">
              <a:rPr lang="en-US" smtClean="0"/>
              <a:t>5/7/2014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4E47-513B-480D-BC87-A40BAFE248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0339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53026-E003-46FE-89E2-972C57A746FD}" type="datetimeFigureOut">
              <a:rPr lang="en-US" smtClean="0"/>
              <a:t>5/7/2014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4E47-513B-480D-BC87-A40BAFE248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5281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53026-E003-46FE-89E2-972C57A746FD}" type="datetimeFigureOut">
              <a:rPr lang="en-US" smtClean="0"/>
              <a:t>5/7/2014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4E47-513B-480D-BC87-A40BAFE248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189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53026-E003-46FE-89E2-972C57A746FD}" type="datetimeFigureOut">
              <a:rPr lang="en-US" smtClean="0"/>
              <a:t>5/7/2014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4E47-513B-480D-BC87-A40BAFE248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0098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53026-E003-46FE-89E2-972C57A746FD}" type="datetimeFigureOut">
              <a:rPr lang="en-US" smtClean="0"/>
              <a:t>5/7/2014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4E47-513B-480D-BC87-A40BAFE248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323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53026-E003-46FE-89E2-972C57A746FD}" type="datetimeFigureOut">
              <a:rPr lang="en-US" smtClean="0"/>
              <a:t>5/7/2014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4E47-513B-480D-BC87-A40BAFE248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916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53026-E003-46FE-89E2-972C57A746FD}" type="datetimeFigureOut">
              <a:rPr lang="en-US" smtClean="0"/>
              <a:t>5/7/2014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4E47-513B-480D-BC87-A40BAFE248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441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53026-E003-46FE-89E2-972C57A746FD}" type="datetimeFigureOut">
              <a:rPr lang="en-US" smtClean="0"/>
              <a:t>5/7/2014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4E47-513B-480D-BC87-A40BAFE248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6313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53026-E003-46FE-89E2-972C57A746FD}" type="datetimeFigureOut">
              <a:rPr lang="en-US" smtClean="0"/>
              <a:t>5/7/2014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4E47-513B-480D-BC87-A40BAFE248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4766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C53026-E003-46FE-89E2-972C57A746FD}" type="datetimeFigureOut">
              <a:rPr lang="en-US" smtClean="0"/>
              <a:t>5/7/2014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9D4E47-513B-480D-BC87-A40BAFE248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020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381000"/>
            <a:ext cx="7772400" cy="685799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Bloom Filters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143000"/>
            <a:ext cx="7924800" cy="5257800"/>
          </a:xfrm>
        </p:spPr>
        <p:txBody>
          <a:bodyPr>
            <a:normAutofit fontScale="92500" lnSpcReduction="20000"/>
          </a:bodyPr>
          <a:lstStyle/>
          <a:p>
            <a:pPr marL="457200" indent="-457200" algn="l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A space-efficient probabilistic data structure</a:t>
            </a:r>
          </a:p>
          <a:p>
            <a:pPr marL="457200" indent="-457200" algn="l">
              <a:buFont typeface="Arial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u</a:t>
            </a:r>
            <a:r>
              <a:rPr lang="en-US" dirty="0" smtClean="0">
                <a:solidFill>
                  <a:schemeClr val="tx1"/>
                </a:solidFill>
              </a:rPr>
              <a:t>sed to test whether an element is in a set.</a:t>
            </a:r>
          </a:p>
          <a:p>
            <a:pPr marL="457200" indent="-457200" algn="l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False positive matches are possible</a:t>
            </a:r>
          </a:p>
          <a:p>
            <a:pPr marL="457200" indent="-457200" algn="l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A search query returns either</a:t>
            </a:r>
          </a:p>
          <a:p>
            <a:pPr marL="914400" lvl="1" indent="-457200" algn="l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“possibly in the set” or</a:t>
            </a:r>
          </a:p>
          <a:p>
            <a:pPr marL="914400" lvl="1" indent="-457200" algn="l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“definitely not in the set”</a:t>
            </a:r>
          </a:p>
          <a:p>
            <a:pPr marL="457200" indent="-457200" algn="l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Elements can be added to the set, but not removed.</a:t>
            </a:r>
          </a:p>
          <a:p>
            <a:pPr marL="457200" indent="-457200" algn="l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Used?</a:t>
            </a:r>
          </a:p>
          <a:p>
            <a:pPr marL="914400" lvl="1" indent="-457200" algn="l">
              <a:buFont typeface="Arial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w</a:t>
            </a:r>
            <a:r>
              <a:rPr lang="en-US" dirty="0" smtClean="0">
                <a:solidFill>
                  <a:schemeClr val="tx1"/>
                </a:solidFill>
              </a:rPr>
              <a:t>here ever the source data needs a large hash area in memory with conventional hashing techniques. </a:t>
            </a: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11627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381000"/>
            <a:ext cx="7772400" cy="685799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Bloom Filters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143000"/>
            <a:ext cx="7924800" cy="5257800"/>
          </a:xfrm>
        </p:spPr>
        <p:txBody>
          <a:bodyPr>
            <a:normAutofit/>
          </a:bodyPr>
          <a:lstStyle/>
          <a:p>
            <a:pPr marL="457200" indent="-457200" algn="l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Operations : test and add</a:t>
            </a:r>
          </a:p>
          <a:p>
            <a:pPr marL="457200" indent="-457200" algn="l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Test</a:t>
            </a:r>
          </a:p>
          <a:p>
            <a:pPr marL="914400" lvl="1" indent="-457200" algn="l">
              <a:buFont typeface="Arial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check whether a given element is in the set or not. Returns</a:t>
            </a:r>
          </a:p>
          <a:p>
            <a:pPr marL="1371600" lvl="2" indent="-457200" algn="l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False – element is definitely not in the set</a:t>
            </a:r>
          </a:p>
          <a:p>
            <a:pPr marL="1371600" lvl="2" indent="-457200" algn="l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True – element is probably in the set.</a:t>
            </a:r>
          </a:p>
          <a:p>
            <a:pPr marL="914400" lvl="1" indent="-457200" algn="l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False positive rate – depends on </a:t>
            </a:r>
          </a:p>
          <a:p>
            <a:pPr marL="1371600" lvl="2" indent="-457200" algn="l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the size of the filter</a:t>
            </a:r>
          </a:p>
          <a:p>
            <a:pPr marL="1371600" lvl="2" indent="-457200" algn="l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No. of hash functions used their independence</a:t>
            </a:r>
          </a:p>
          <a:p>
            <a:pPr marL="1371600" lvl="2" indent="-457200" algn="l">
              <a:buFont typeface="Arial" pitchFamily="34" charset="0"/>
              <a:buChar char="•"/>
            </a:pPr>
            <a:endParaRPr lang="en-US" dirty="0" smtClean="0">
              <a:solidFill>
                <a:schemeClr val="tx1"/>
              </a:solidFill>
            </a:endParaRP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4920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r>
              <a:rPr lang="en-US" dirty="0" smtClean="0"/>
              <a:t>Bloom Filters…..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/>
          <a:lstStyle/>
          <a:p>
            <a:r>
              <a:rPr lang="en-US" dirty="0" smtClean="0"/>
              <a:t>Add </a:t>
            </a:r>
          </a:p>
          <a:p>
            <a:pPr lvl="1"/>
            <a:r>
              <a:rPr lang="en-US" dirty="0" smtClean="0"/>
              <a:t>Adds an element to the set.</a:t>
            </a:r>
          </a:p>
          <a:p>
            <a:r>
              <a:rPr lang="en-US" dirty="0" smtClean="0"/>
              <a:t>Removal</a:t>
            </a:r>
          </a:p>
          <a:p>
            <a:pPr lvl="1"/>
            <a:r>
              <a:rPr lang="en-US" dirty="0" smtClean="0"/>
              <a:t>Is impossible without introducing false negatives</a:t>
            </a:r>
          </a:p>
          <a:p>
            <a:pPr lvl="1"/>
            <a:r>
              <a:rPr lang="en-US" dirty="0" smtClean="0"/>
              <a:t>Done using an extension to bloom filters – counting filters.</a:t>
            </a:r>
          </a:p>
          <a:p>
            <a:pPr marL="0" indent="0"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2714428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US" dirty="0" smtClean="0"/>
              <a:t>Bloom Filters…..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Algorithm Description</a:t>
            </a:r>
          </a:p>
          <a:p>
            <a:pPr lvl="1"/>
            <a:r>
              <a:rPr lang="en-US" dirty="0" smtClean="0"/>
              <a:t>An empty bloom filter is a bit array of m bits, all set to 0.</a:t>
            </a:r>
          </a:p>
          <a:p>
            <a:pPr lvl="1"/>
            <a:r>
              <a:rPr lang="en-US" dirty="0" err="1"/>
              <a:t>a</a:t>
            </a:r>
            <a:r>
              <a:rPr lang="en-US" dirty="0" err="1" smtClean="0"/>
              <a:t>tleast</a:t>
            </a:r>
            <a:r>
              <a:rPr lang="en-US" dirty="0" smtClean="0"/>
              <a:t> k different hash functions </a:t>
            </a:r>
          </a:p>
          <a:p>
            <a:pPr lvl="1"/>
            <a:r>
              <a:rPr lang="en-US" dirty="0"/>
              <a:t>e</a:t>
            </a:r>
            <a:r>
              <a:rPr lang="en-US" dirty="0" smtClean="0"/>
              <a:t>ach maps a given element to one of the m positions of the bit array.</a:t>
            </a:r>
          </a:p>
          <a:p>
            <a:pPr lvl="1"/>
            <a:r>
              <a:rPr lang="en-US" dirty="0" smtClean="0"/>
              <a:t>To add an element:</a:t>
            </a:r>
          </a:p>
          <a:p>
            <a:pPr lvl="2"/>
            <a:r>
              <a:rPr lang="en-US" dirty="0" smtClean="0"/>
              <a:t>Feed it to each of the k hash functions</a:t>
            </a:r>
          </a:p>
          <a:p>
            <a:pPr lvl="2"/>
            <a:r>
              <a:rPr lang="en-US" dirty="0" smtClean="0"/>
              <a:t>Get the k array positions</a:t>
            </a:r>
          </a:p>
          <a:p>
            <a:pPr lvl="2"/>
            <a:r>
              <a:rPr lang="en-US" dirty="0" smtClean="0"/>
              <a:t>Set all these bit positions to 1 </a:t>
            </a:r>
          </a:p>
          <a:p>
            <a:pPr lvl="2"/>
            <a:r>
              <a:rPr lang="en-US" dirty="0" smtClean="0"/>
              <a:t>Adding an element will set k or less than k bit positions.</a:t>
            </a:r>
          </a:p>
          <a:p>
            <a:pPr marL="914400" lvl="2" indent="0">
              <a:buNone/>
            </a:pPr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832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To test for an element in the filter:</a:t>
            </a:r>
          </a:p>
          <a:p>
            <a:pPr lvl="1"/>
            <a:r>
              <a:rPr lang="en-US" dirty="0" smtClean="0"/>
              <a:t>Feed it to the k hash functions</a:t>
            </a:r>
          </a:p>
          <a:p>
            <a:pPr lvl="1"/>
            <a:r>
              <a:rPr lang="en-US" dirty="0" smtClean="0"/>
              <a:t>If any of the bits at these positions are not set</a:t>
            </a:r>
          </a:p>
          <a:p>
            <a:pPr lvl="2"/>
            <a:r>
              <a:rPr lang="en-US" dirty="0" smtClean="0"/>
              <a:t>Item is definitely not in the set.</a:t>
            </a:r>
          </a:p>
          <a:p>
            <a:pPr lvl="2"/>
            <a:r>
              <a:rPr lang="en-US" dirty="0" smtClean="0"/>
              <a:t>Else, it is probably in the set.</a:t>
            </a:r>
          </a:p>
          <a:p>
            <a:r>
              <a:rPr lang="en-US" dirty="0" smtClean="0"/>
              <a:t>Example on board</a:t>
            </a: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54616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Applications</a:t>
            </a:r>
          </a:p>
          <a:p>
            <a:r>
              <a:rPr lang="en-US" dirty="0" smtClean="0"/>
              <a:t>Traditional - Weak password dictionary</a:t>
            </a:r>
          </a:p>
          <a:p>
            <a:pPr lvl="1"/>
            <a:r>
              <a:rPr lang="en-US" dirty="0" smtClean="0"/>
              <a:t>“Opus : Preventing Weak Password Dictionary”, e. </a:t>
            </a:r>
            <a:r>
              <a:rPr lang="en-US" dirty="0" err="1" smtClean="0"/>
              <a:t>Spafford</a:t>
            </a:r>
            <a:r>
              <a:rPr lang="en-US" dirty="0" smtClean="0"/>
              <a:t>, Computer and Security, 1991</a:t>
            </a:r>
          </a:p>
          <a:p>
            <a:pPr lvl="1"/>
            <a:r>
              <a:rPr lang="en-US" dirty="0" smtClean="0"/>
              <a:t>Create a dictionary of easily guessable passwords as bloom filter</a:t>
            </a:r>
          </a:p>
          <a:p>
            <a:pPr lvl="1"/>
            <a:r>
              <a:rPr lang="en-US" dirty="0" smtClean="0"/>
              <a:t>Query when users pick weak passwords.</a:t>
            </a:r>
          </a:p>
          <a:p>
            <a:pPr lvl="1"/>
            <a:r>
              <a:rPr lang="en-US" dirty="0" smtClean="0"/>
              <a:t>New entries added – previously used </a:t>
            </a:r>
            <a:r>
              <a:rPr lang="en-US" dirty="0" err="1" smtClean="0"/>
              <a:t>passwds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Google’s </a:t>
            </a:r>
            <a:r>
              <a:rPr lang="en-US" dirty="0" err="1" smtClean="0"/>
              <a:t>BigTables</a:t>
            </a:r>
            <a:r>
              <a:rPr lang="en-US" dirty="0" smtClean="0"/>
              <a:t> are stored using Bloom filters to avoid expensive look ups for non-existent rows and columns.</a:t>
            </a:r>
          </a:p>
          <a:p>
            <a:pPr lvl="1"/>
            <a:r>
              <a:rPr lang="en-US" dirty="0" smtClean="0"/>
              <a:t>Google Chrome – uses Bloom filters to avoid malicious URLs</a:t>
            </a:r>
          </a:p>
          <a:p>
            <a:pPr lvl="2"/>
            <a:r>
              <a:rPr lang="en-US" dirty="0" smtClean="0"/>
              <a:t>Any URL is checked against a local Bloom filter</a:t>
            </a:r>
          </a:p>
          <a:p>
            <a:pPr lvl="2"/>
            <a:r>
              <a:rPr lang="en-US" dirty="0" smtClean="0"/>
              <a:t>Only if it is not malicious the URL is performed.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10948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387</Words>
  <Application>Microsoft Office PowerPoint</Application>
  <PresentationFormat>On-screen Show (4:3)</PresentationFormat>
  <Paragraphs>52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Bloom Filters</vt:lpstr>
      <vt:lpstr>Bloom Filters</vt:lpstr>
      <vt:lpstr>Bloom Filters…..</vt:lpstr>
      <vt:lpstr>Bloom Filters…..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Bloom Filters</dc:title>
  <dc:creator>manimaran</dc:creator>
  <cp:lastModifiedBy>manimaran</cp:lastModifiedBy>
  <cp:revision>11</cp:revision>
  <dcterms:created xsi:type="dcterms:W3CDTF">2014-05-07T09:16:41Z</dcterms:created>
  <dcterms:modified xsi:type="dcterms:W3CDTF">2014-05-07T11:28:41Z</dcterms:modified>
</cp:coreProperties>
</file>