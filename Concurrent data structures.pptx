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04801"/>
            <a:ext cx="7772400" cy="914400"/>
          </a:xfrm>
        </p:spPr>
        <p:txBody>
          <a:bodyPr/>
          <a:lstStyle/>
          <a:p>
            <a:r>
              <a:rPr lang="en-US" dirty="0" smtClean="0"/>
              <a:t>Concurrent data structures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447800"/>
            <a:ext cx="8305800" cy="4876800"/>
          </a:xfrm>
        </p:spPr>
        <p:txBody>
          <a:bodyPr>
            <a:normAutofit/>
          </a:bodyPr>
          <a:lstStyle/>
          <a:p>
            <a:pPr marL="457200" indent="-457200"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A way of storing and </a:t>
            </a:r>
            <a:r>
              <a:rPr lang="en-US" dirty="0" smtClean="0">
                <a:solidFill>
                  <a:schemeClr val="tx1"/>
                </a:solidFill>
              </a:rPr>
              <a:t>organizing </a:t>
            </a:r>
            <a:r>
              <a:rPr lang="en-US" dirty="0" smtClean="0">
                <a:solidFill>
                  <a:schemeClr val="tx1"/>
                </a:solidFill>
              </a:rPr>
              <a:t>data to be accessed by multiple threads/processes at the same time.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Mainly used in parallel or distributed computing environments.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Different from sequential data structures designed to be used on a </a:t>
            </a:r>
            <a:r>
              <a:rPr lang="en-US" dirty="0" err="1" smtClean="0">
                <a:solidFill>
                  <a:schemeClr val="tx1"/>
                </a:solidFill>
              </a:rPr>
              <a:t>uni</a:t>
            </a:r>
            <a:r>
              <a:rPr lang="en-US" dirty="0" smtClean="0">
                <a:solidFill>
                  <a:schemeClr val="tx1"/>
                </a:solidFill>
              </a:rPr>
              <a:t>-processor machine.</a:t>
            </a:r>
          </a:p>
          <a:p>
            <a:pPr algn="l"/>
            <a:endParaRPr lang="en-US" dirty="0" smtClean="0"/>
          </a:p>
          <a:p>
            <a:pPr marL="457200" indent="-457200" algn="l">
              <a:buFont typeface="Arial" pitchFamily="34" charset="0"/>
              <a:buChar char="•"/>
            </a:pPr>
            <a:endParaRPr lang="en-US" dirty="0" smtClean="0"/>
          </a:p>
          <a:p>
            <a:pPr marL="457200" indent="-457200" algn="l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162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Concurrent Data Structures…..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More difficult to design and verify </a:t>
            </a:r>
          </a:p>
          <a:p>
            <a:pPr lvl="1"/>
            <a:r>
              <a:rPr lang="en-US" dirty="0" smtClean="0"/>
              <a:t>Due to concurrent access</a:t>
            </a:r>
          </a:p>
          <a:p>
            <a:pPr lvl="1"/>
            <a:r>
              <a:rPr lang="en-US" dirty="0" smtClean="0"/>
              <a:t>Multiple threads will access the same memory location simultaneously.</a:t>
            </a:r>
          </a:p>
          <a:p>
            <a:r>
              <a:rPr lang="en-US" dirty="0" smtClean="0"/>
              <a:t>Lock-Based Concurrent data structures</a:t>
            </a:r>
          </a:p>
          <a:p>
            <a:pPr lvl="1"/>
            <a:r>
              <a:rPr lang="en-US" dirty="0" smtClean="0"/>
              <a:t>Designed using locks - mutual exclusion</a:t>
            </a:r>
          </a:p>
          <a:p>
            <a:pPr lvl="1"/>
            <a:r>
              <a:rPr lang="en-US" dirty="0" smtClean="0"/>
              <a:t>Critical section </a:t>
            </a:r>
          </a:p>
          <a:p>
            <a:pPr lvl="1"/>
            <a:r>
              <a:rPr lang="en-US" dirty="0" smtClean="0"/>
              <a:t>Each process locks the shared resource when it is in its critical section.</a:t>
            </a:r>
          </a:p>
          <a:p>
            <a:pPr lvl="1"/>
            <a:r>
              <a:rPr lang="en-US" dirty="0" smtClean="0"/>
              <a:t>It unlocks it when it comes out of its critical section.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792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dirty="0" smtClean="0"/>
              <a:t>Linux based C</a:t>
            </a:r>
          </a:p>
          <a:p>
            <a:r>
              <a:rPr lang="en-US" dirty="0" err="1" smtClean="0"/>
              <a:t>Mutex</a:t>
            </a:r>
            <a:r>
              <a:rPr lang="en-US" dirty="0" smtClean="0"/>
              <a:t> – a mutual exclusion device</a:t>
            </a:r>
          </a:p>
          <a:p>
            <a:pPr lvl="1"/>
            <a:r>
              <a:rPr lang="en-US" dirty="0" smtClean="0"/>
              <a:t>Protects shared data structures from concurrent modifications, implementing critical sections</a:t>
            </a:r>
          </a:p>
          <a:p>
            <a:pPr lvl="1"/>
            <a:r>
              <a:rPr lang="en-US" dirty="0" smtClean="0"/>
              <a:t>Two states : </a:t>
            </a:r>
          </a:p>
          <a:p>
            <a:pPr lvl="2"/>
            <a:r>
              <a:rPr lang="en-US" dirty="0" smtClean="0"/>
              <a:t>unlocked – not owned by any thread</a:t>
            </a:r>
          </a:p>
          <a:p>
            <a:pPr lvl="2"/>
            <a:r>
              <a:rPr lang="en-US" dirty="0" smtClean="0"/>
              <a:t>Locked- owned by a thread</a:t>
            </a:r>
          </a:p>
          <a:p>
            <a:pPr lvl="1"/>
            <a:r>
              <a:rPr lang="en-US" dirty="0" smtClean="0"/>
              <a:t>A process thread should own this </a:t>
            </a:r>
            <a:r>
              <a:rPr lang="en-US" dirty="0" err="1" smtClean="0"/>
              <a:t>mutex</a:t>
            </a:r>
            <a:r>
              <a:rPr lang="en-US" dirty="0" smtClean="0"/>
              <a:t> to access a shared </a:t>
            </a:r>
            <a:r>
              <a:rPr lang="en-US" dirty="0" err="1" smtClean="0"/>
              <a:t>d.s.</a:t>
            </a:r>
            <a:endParaRPr lang="en-US" dirty="0" smtClean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428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declare a </a:t>
            </a:r>
            <a:r>
              <a:rPr lang="en-US" dirty="0" err="1"/>
              <a:t>mutex</a:t>
            </a:r>
            <a:r>
              <a:rPr lang="en-US" dirty="0"/>
              <a:t> variable</a:t>
            </a:r>
          </a:p>
          <a:p>
            <a:pPr lvl="1"/>
            <a:r>
              <a:rPr lang="en-US" dirty="0" err="1">
                <a:solidFill>
                  <a:srgbClr val="FF0000"/>
                </a:solidFill>
              </a:rPr>
              <a:t>pthread_mutex_t</a:t>
            </a:r>
            <a:r>
              <a:rPr lang="en-US" dirty="0">
                <a:solidFill>
                  <a:srgbClr val="FF0000"/>
                </a:solidFill>
              </a:rPr>
              <a:t>   </a:t>
            </a:r>
            <a:r>
              <a:rPr lang="en-US" dirty="0" err="1"/>
              <a:t>mymutexvariable</a:t>
            </a:r>
            <a:endParaRPr lang="en-US" dirty="0"/>
          </a:p>
          <a:p>
            <a:r>
              <a:rPr lang="en-US" dirty="0" err="1" smtClean="0">
                <a:solidFill>
                  <a:srgbClr val="FF0000"/>
                </a:solidFill>
              </a:rPr>
              <a:t>pthread_mutex_init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Initializes the </a:t>
            </a:r>
            <a:r>
              <a:rPr lang="en-US" dirty="0" err="1" smtClean="0"/>
              <a:t>mutex</a:t>
            </a:r>
            <a:r>
              <a:rPr lang="en-US" dirty="0" smtClean="0"/>
              <a:t> object</a:t>
            </a:r>
          </a:p>
          <a:p>
            <a:r>
              <a:rPr lang="en-US" dirty="0" err="1">
                <a:solidFill>
                  <a:srgbClr val="FF0000"/>
                </a:solidFill>
              </a:rPr>
              <a:t>p</a:t>
            </a:r>
            <a:r>
              <a:rPr lang="en-US" dirty="0" err="1" smtClean="0">
                <a:solidFill>
                  <a:srgbClr val="FF0000"/>
                </a:solidFill>
              </a:rPr>
              <a:t>thread_mutex_lock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en-US" dirty="0" smtClean="0"/>
              <a:t>if </a:t>
            </a:r>
            <a:r>
              <a:rPr lang="en-US" dirty="0" err="1" smtClean="0"/>
              <a:t>mutex</a:t>
            </a:r>
            <a:r>
              <a:rPr lang="en-US" dirty="0" smtClean="0"/>
              <a:t> is currently unlocked – locks it</a:t>
            </a:r>
          </a:p>
          <a:p>
            <a:pPr lvl="1"/>
            <a:r>
              <a:rPr lang="en-US" dirty="0" smtClean="0"/>
              <a:t>Else - suspends a calling thread, until </a:t>
            </a:r>
            <a:r>
              <a:rPr lang="en-US" dirty="0" err="1" smtClean="0"/>
              <a:t>mutex</a:t>
            </a:r>
            <a:r>
              <a:rPr lang="en-US" dirty="0" smtClean="0"/>
              <a:t> is unlocked. </a:t>
            </a:r>
          </a:p>
          <a:p>
            <a:r>
              <a:rPr lang="en-US" dirty="0" err="1">
                <a:solidFill>
                  <a:srgbClr val="FF0000"/>
                </a:solidFill>
              </a:rPr>
              <a:t>p</a:t>
            </a:r>
            <a:r>
              <a:rPr lang="en-US" dirty="0" err="1" smtClean="0">
                <a:solidFill>
                  <a:srgbClr val="FF0000"/>
                </a:solidFill>
              </a:rPr>
              <a:t>thread_mutex_unlock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Unlocks the given </a:t>
            </a:r>
            <a:r>
              <a:rPr lang="en-US" dirty="0" err="1" smtClean="0"/>
              <a:t>mutex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67300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accessing a shared resource each process</a:t>
            </a:r>
          </a:p>
          <a:p>
            <a:r>
              <a:rPr lang="en-US" dirty="0" err="1">
                <a:solidFill>
                  <a:srgbClr val="FF0000"/>
                </a:solidFill>
              </a:rPr>
              <a:t>p</a:t>
            </a:r>
            <a:r>
              <a:rPr lang="en-US" dirty="0" err="1" smtClean="0">
                <a:solidFill>
                  <a:srgbClr val="FF0000"/>
                </a:solidFill>
              </a:rPr>
              <a:t>thread_mutex_lock</a:t>
            </a:r>
            <a:r>
              <a:rPr lang="en-US" dirty="0" smtClean="0">
                <a:solidFill>
                  <a:srgbClr val="FF0000"/>
                </a:solidFill>
              </a:rPr>
              <a:t>(&amp;</a:t>
            </a:r>
            <a:r>
              <a:rPr lang="en-US" dirty="0" err="1" smtClean="0">
                <a:solidFill>
                  <a:srgbClr val="FF0000"/>
                </a:solidFill>
              </a:rPr>
              <a:t>mymutexvariable</a:t>
            </a:r>
            <a:r>
              <a:rPr lang="en-US" dirty="0" smtClean="0">
                <a:solidFill>
                  <a:srgbClr val="FF0000"/>
                </a:solidFill>
              </a:rPr>
              <a:t>);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 /* critical section*/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</a:t>
            </a:r>
            <a:r>
              <a:rPr lang="en-US" dirty="0" err="1" smtClean="0">
                <a:solidFill>
                  <a:srgbClr val="FF0000"/>
                </a:solidFill>
              </a:rPr>
              <a:t>pthread_mutex_unlock</a:t>
            </a:r>
            <a:r>
              <a:rPr lang="en-US" dirty="0" smtClean="0">
                <a:solidFill>
                  <a:srgbClr val="FF0000"/>
                </a:solidFill>
              </a:rPr>
              <a:t>(&amp;</a:t>
            </a:r>
            <a:r>
              <a:rPr lang="en-US" dirty="0" err="1" smtClean="0">
                <a:solidFill>
                  <a:srgbClr val="FF0000"/>
                </a:solidFill>
              </a:rPr>
              <a:t>mymutevariable</a:t>
            </a:r>
            <a:r>
              <a:rPr lang="en-US" smtClean="0">
                <a:solidFill>
                  <a:srgbClr val="FF0000"/>
                </a:solidFill>
              </a:rPr>
              <a:t>);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737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 Counter without locks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t</a:t>
            </a:r>
            <a:r>
              <a:rPr lang="en-US" dirty="0" err="1" smtClean="0"/>
              <a:t>ypedef</a:t>
            </a:r>
            <a:r>
              <a:rPr lang="en-US" dirty="0" smtClean="0"/>
              <a:t> </a:t>
            </a:r>
            <a:r>
              <a:rPr lang="en-US" b="1" dirty="0" err="1" smtClean="0">
                <a:solidFill>
                  <a:srgbClr val="0070C0"/>
                </a:solidFill>
              </a:rPr>
              <a:t>struct_counter_t</a:t>
            </a: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</a:t>
            </a:r>
            <a:r>
              <a:rPr lang="en-US" dirty="0" err="1" smtClean="0"/>
              <a:t>int</a:t>
            </a:r>
            <a:r>
              <a:rPr lang="en-US" dirty="0" smtClean="0"/>
              <a:t> value;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} </a:t>
            </a:r>
            <a:r>
              <a:rPr lang="en-US" dirty="0" err="1" smtClean="0"/>
              <a:t>counter_t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void </a:t>
            </a:r>
            <a:r>
              <a:rPr lang="en-US" b="1" dirty="0" smtClean="0">
                <a:solidFill>
                  <a:srgbClr val="0070C0"/>
                </a:solidFill>
              </a:rPr>
              <a:t>increment</a:t>
            </a:r>
            <a:r>
              <a:rPr lang="en-US" dirty="0" smtClean="0"/>
              <a:t>(</a:t>
            </a:r>
            <a:r>
              <a:rPr lang="en-US" dirty="0" err="1" smtClean="0"/>
              <a:t>counter_t</a:t>
            </a:r>
            <a:r>
              <a:rPr lang="en-US" dirty="0" smtClean="0"/>
              <a:t> *c){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c-&gt;value++;</a:t>
            </a:r>
          </a:p>
          <a:p>
            <a:pPr marL="0" indent="0">
              <a:buNone/>
            </a:pPr>
            <a:r>
              <a:rPr lang="en-US" dirty="0" smtClean="0"/>
              <a:t>      }</a:t>
            </a:r>
          </a:p>
          <a:p>
            <a:pPr marL="0" indent="0">
              <a:buNone/>
            </a:pPr>
            <a:r>
              <a:rPr lang="en-US" dirty="0" smtClean="0"/>
              <a:t>     void </a:t>
            </a:r>
            <a:r>
              <a:rPr lang="en-US" b="1" dirty="0" smtClean="0">
                <a:solidFill>
                  <a:srgbClr val="0070C0"/>
                </a:solidFill>
              </a:rPr>
              <a:t>decrement</a:t>
            </a:r>
            <a:r>
              <a:rPr lang="en-US" dirty="0" smtClean="0"/>
              <a:t>(</a:t>
            </a:r>
            <a:r>
              <a:rPr lang="en-US" dirty="0" err="1" smtClean="0"/>
              <a:t>counter_t</a:t>
            </a:r>
            <a:r>
              <a:rPr lang="en-US" dirty="0" smtClean="0"/>
              <a:t> *c){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c-&gt;value--;</a:t>
            </a:r>
          </a:p>
          <a:p>
            <a:pPr marL="0" indent="0">
              <a:buNone/>
            </a:pPr>
            <a:r>
              <a:rPr lang="en-US" dirty="0" smtClean="0"/>
              <a:t>      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0070C0"/>
                </a:solidFill>
              </a:rPr>
              <a:t>get</a:t>
            </a:r>
            <a:r>
              <a:rPr lang="en-US" dirty="0" smtClean="0"/>
              <a:t>(</a:t>
            </a:r>
            <a:r>
              <a:rPr lang="en-US" dirty="0" err="1" smtClean="0"/>
              <a:t>counter_t</a:t>
            </a:r>
            <a:r>
              <a:rPr lang="en-US" dirty="0" smtClean="0"/>
              <a:t> *c){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return c-&gt;value; </a:t>
            </a:r>
          </a:p>
          <a:p>
            <a:pPr marL="0" indent="0">
              <a:buNone/>
            </a:pPr>
            <a:r>
              <a:rPr lang="en-US" dirty="0" smtClean="0"/>
              <a:t>     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985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counter with Locks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typedef</a:t>
            </a:r>
            <a:r>
              <a:rPr lang="en-US" dirty="0"/>
              <a:t> </a:t>
            </a:r>
            <a:r>
              <a:rPr lang="en-US" b="1" dirty="0" err="1">
                <a:solidFill>
                  <a:srgbClr val="0070C0"/>
                </a:solidFill>
              </a:rPr>
              <a:t>struct_counter_t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int</a:t>
            </a:r>
            <a:r>
              <a:rPr lang="en-US" dirty="0"/>
              <a:t> value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</a:t>
            </a:r>
            <a:r>
              <a:rPr lang="en-US" dirty="0" err="1" smtClean="0">
                <a:solidFill>
                  <a:srgbClr val="FF0000"/>
                </a:solidFill>
              </a:rPr>
              <a:t>pthread_mutex_t</a:t>
            </a:r>
            <a:r>
              <a:rPr lang="en-US" dirty="0" smtClean="0">
                <a:solidFill>
                  <a:srgbClr val="FF0000"/>
                </a:solidFill>
              </a:rPr>
              <a:t>   lock;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   } </a:t>
            </a:r>
            <a:r>
              <a:rPr lang="en-US" dirty="0" err="1"/>
              <a:t>counter_t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void </a:t>
            </a:r>
            <a:r>
              <a:rPr lang="en-US" dirty="0" err="1" smtClean="0"/>
              <a:t>init</a:t>
            </a:r>
            <a:r>
              <a:rPr lang="en-US" dirty="0" smtClean="0"/>
              <a:t>(</a:t>
            </a:r>
            <a:r>
              <a:rPr lang="en-US" dirty="0" err="1" smtClean="0"/>
              <a:t>counter_t</a:t>
            </a:r>
            <a:r>
              <a:rPr lang="en-US" dirty="0" smtClean="0"/>
              <a:t>  *c){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c-&gt;value = 0;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</a:t>
            </a:r>
            <a:r>
              <a:rPr lang="en-US" dirty="0" err="1" smtClean="0">
                <a:solidFill>
                  <a:srgbClr val="FF0000"/>
                </a:solidFill>
              </a:rPr>
              <a:t>pthread_mutex_init</a:t>
            </a:r>
            <a:r>
              <a:rPr lang="en-US" dirty="0" smtClean="0">
                <a:solidFill>
                  <a:srgbClr val="FF0000"/>
                </a:solidFill>
              </a:rPr>
              <a:t>(&amp;c-&gt;lock, NULL);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4212011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void </a:t>
            </a:r>
            <a:r>
              <a:rPr lang="en-US" b="1" dirty="0">
                <a:solidFill>
                  <a:srgbClr val="0070C0"/>
                </a:solidFill>
              </a:rPr>
              <a:t>increment</a:t>
            </a:r>
            <a:r>
              <a:rPr lang="en-US" dirty="0"/>
              <a:t>(</a:t>
            </a:r>
            <a:r>
              <a:rPr lang="en-US" dirty="0" err="1"/>
              <a:t>counter_t</a:t>
            </a:r>
            <a:r>
              <a:rPr lang="en-US" dirty="0"/>
              <a:t> *c</a:t>
            </a:r>
            <a:r>
              <a:rPr lang="en-US" dirty="0" smtClean="0"/>
              <a:t>){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     </a:t>
            </a:r>
            <a:r>
              <a:rPr lang="en-US" dirty="0" err="1" smtClean="0">
                <a:solidFill>
                  <a:srgbClr val="FF0000"/>
                </a:solidFill>
              </a:rPr>
              <a:t>pthread_mutex_lock</a:t>
            </a:r>
            <a:r>
              <a:rPr lang="en-US" dirty="0" smtClean="0">
                <a:solidFill>
                  <a:srgbClr val="FF0000"/>
                </a:solidFill>
              </a:rPr>
              <a:t>(&amp;c-&gt;lock);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    </a:t>
            </a:r>
            <a:r>
              <a:rPr lang="en-US" dirty="0"/>
              <a:t>c-&gt;value</a:t>
            </a:r>
            <a:r>
              <a:rPr lang="en-US" dirty="0" smtClean="0"/>
              <a:t>++;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     </a:t>
            </a:r>
            <a:r>
              <a:rPr lang="en-US" dirty="0" err="1" smtClean="0">
                <a:solidFill>
                  <a:srgbClr val="FF0000"/>
                </a:solidFill>
              </a:rPr>
              <a:t>pthread_mutex_unlock</a:t>
            </a:r>
            <a:r>
              <a:rPr lang="en-US" dirty="0" smtClean="0">
                <a:solidFill>
                  <a:srgbClr val="FF0000"/>
                </a:solidFill>
              </a:rPr>
              <a:t>(&amp;c-&gt;unlock);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 smtClean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/>
              <a:t>void </a:t>
            </a:r>
            <a:r>
              <a:rPr lang="en-US" b="1" dirty="0">
                <a:solidFill>
                  <a:srgbClr val="0070C0"/>
                </a:solidFill>
              </a:rPr>
              <a:t>decrement</a:t>
            </a:r>
            <a:r>
              <a:rPr lang="en-US" dirty="0"/>
              <a:t>(</a:t>
            </a:r>
            <a:r>
              <a:rPr lang="en-US" dirty="0" err="1"/>
              <a:t>counter_t</a:t>
            </a:r>
            <a:r>
              <a:rPr lang="en-US" dirty="0"/>
              <a:t> *c</a:t>
            </a:r>
            <a:r>
              <a:rPr lang="en-US" dirty="0" smtClean="0"/>
              <a:t>){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pthread_mutex_lock</a:t>
            </a:r>
            <a:r>
              <a:rPr lang="en-US" dirty="0">
                <a:solidFill>
                  <a:srgbClr val="FF0000"/>
                </a:solidFill>
              </a:rPr>
              <a:t>(&amp;c-&gt;lock);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smtClean="0"/>
              <a:t>   </a:t>
            </a:r>
            <a:r>
              <a:rPr lang="en-US" dirty="0"/>
              <a:t>c-&gt;</a:t>
            </a:r>
            <a:r>
              <a:rPr lang="en-US" dirty="0" smtClean="0"/>
              <a:t>value--;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</a:t>
            </a:r>
            <a:r>
              <a:rPr lang="en-US" dirty="0" smtClean="0">
                <a:solidFill>
                  <a:srgbClr val="FF0000"/>
                </a:solidFill>
              </a:rPr>
              <a:t>    </a:t>
            </a:r>
            <a:r>
              <a:rPr lang="en-US" dirty="0" err="1">
                <a:solidFill>
                  <a:srgbClr val="FF0000"/>
                </a:solidFill>
              </a:rPr>
              <a:t>pthread_mutex_unlock</a:t>
            </a:r>
            <a:r>
              <a:rPr lang="en-US" dirty="0">
                <a:solidFill>
                  <a:srgbClr val="FF0000"/>
                </a:solidFill>
              </a:rPr>
              <a:t>(&amp;c-&gt;unlock);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1730817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get</a:t>
            </a:r>
            <a:r>
              <a:rPr lang="en-US" dirty="0"/>
              <a:t>(</a:t>
            </a:r>
            <a:r>
              <a:rPr lang="en-US" dirty="0" err="1"/>
              <a:t>counter_t</a:t>
            </a:r>
            <a:r>
              <a:rPr lang="en-US" dirty="0"/>
              <a:t> *c</a:t>
            </a:r>
            <a:r>
              <a:rPr lang="en-US" dirty="0" smtClean="0"/>
              <a:t>){</a:t>
            </a:r>
          </a:p>
          <a:p>
            <a:pPr marL="0" indent="0">
              <a:buNone/>
            </a:pPr>
            <a:r>
              <a:rPr lang="en-US" dirty="0" smtClean="0"/>
              <a:t>      </a:t>
            </a:r>
            <a:r>
              <a:rPr lang="en-US" dirty="0" err="1" smtClean="0">
                <a:solidFill>
                  <a:srgbClr val="FF0000"/>
                </a:solidFill>
              </a:rPr>
              <a:t>pthread_mutex_lock</a:t>
            </a:r>
            <a:r>
              <a:rPr lang="en-US" dirty="0">
                <a:solidFill>
                  <a:srgbClr val="FF0000"/>
                </a:solidFill>
              </a:rPr>
              <a:t>(&amp;c-&gt;lock);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rc</a:t>
            </a:r>
            <a:r>
              <a:rPr lang="en-US" dirty="0" smtClean="0"/>
              <a:t> =  </a:t>
            </a:r>
            <a:r>
              <a:rPr lang="en-US" dirty="0"/>
              <a:t>c-&gt;value;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</a:t>
            </a:r>
            <a:r>
              <a:rPr lang="en-US" dirty="0" err="1">
                <a:solidFill>
                  <a:srgbClr val="FF0000"/>
                </a:solidFill>
              </a:rPr>
              <a:t>pthread_mutex_unlock</a:t>
            </a:r>
            <a:r>
              <a:rPr lang="en-US" dirty="0">
                <a:solidFill>
                  <a:srgbClr val="FF0000"/>
                </a:solidFill>
              </a:rPr>
              <a:t>(&amp;c-&gt;unlock);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return </a:t>
            </a:r>
            <a:r>
              <a:rPr lang="en-US" dirty="0" err="1" smtClean="0"/>
              <a:t>rc</a:t>
            </a:r>
            <a:r>
              <a:rPr lang="en-US" dirty="0" smtClean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}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967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Concurrent Linked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r>
              <a:rPr lang="en-US" dirty="0" smtClean="0"/>
              <a:t>// basic node structure</a:t>
            </a:r>
          </a:p>
          <a:p>
            <a:r>
              <a:rPr lang="en-US" dirty="0" err="1" smtClean="0"/>
              <a:t>typedef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930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409</Words>
  <Application>Microsoft Office PowerPoint</Application>
  <PresentationFormat>On-screen Show (4:3)</PresentationFormat>
  <Paragraphs>82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Concurrent data structures</vt:lpstr>
      <vt:lpstr>Concurrent Data Structures…..</vt:lpstr>
      <vt:lpstr>PowerPoint Presentation</vt:lpstr>
      <vt:lpstr>PowerPoint Presentation</vt:lpstr>
      <vt:lpstr>PowerPoint Presentation</vt:lpstr>
      <vt:lpstr>A Counter without locks</vt:lpstr>
      <vt:lpstr>A counter with Locks</vt:lpstr>
      <vt:lpstr>PowerPoint Presentation</vt:lpstr>
      <vt:lpstr>PowerPoint Presentation</vt:lpstr>
      <vt:lpstr>Concurrent Linked List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Concurrent data structures</dc:title>
  <dc:creator>user1</dc:creator>
  <cp:lastModifiedBy>manimaran</cp:lastModifiedBy>
  <cp:revision>15</cp:revision>
  <dcterms:created xsi:type="dcterms:W3CDTF">2006-08-16T00:00:00Z</dcterms:created>
  <dcterms:modified xsi:type="dcterms:W3CDTF">2014-05-18T10:40:54Z</dcterms:modified>
</cp:coreProperties>
</file>